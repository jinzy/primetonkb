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624" r:id="rId2"/>
    <p:sldId id="636" r:id="rId3"/>
    <p:sldId id="637" r:id="rId4"/>
    <p:sldId id="638" r:id="rId5"/>
    <p:sldId id="648" r:id="rId6"/>
    <p:sldId id="639" r:id="rId7"/>
    <p:sldId id="641" r:id="rId8"/>
    <p:sldId id="642" r:id="rId9"/>
    <p:sldId id="649" r:id="rId10"/>
    <p:sldId id="643" r:id="rId11"/>
    <p:sldId id="644" r:id="rId12"/>
    <p:sldId id="645" r:id="rId13"/>
    <p:sldId id="646" r:id="rId14"/>
    <p:sldId id="647" r:id="rId15"/>
    <p:sldId id="640" r:id="rId16"/>
    <p:sldId id="634" r:id="rId17"/>
    <p:sldId id="635" r:id="rId18"/>
    <p:sldId id="597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aoly" initials="j" lastIdx="1" clrIdx="0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D5DB2"/>
    <a:srgbClr val="17375E"/>
    <a:srgbClr val="000000"/>
    <a:srgbClr val="1737AB"/>
    <a:srgbClr val="178586"/>
    <a:srgbClr val="00007F"/>
    <a:srgbClr val="929292"/>
    <a:srgbClr val="D6D6D6"/>
    <a:srgbClr val="797979"/>
    <a:srgbClr val="4242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0" autoAdjust="0"/>
    <p:restoredTop sz="79070" autoAdjust="0"/>
  </p:normalViewPr>
  <p:slideViewPr>
    <p:cSldViewPr snapToObjects="1" showGuides="1">
      <p:cViewPr varScale="1">
        <p:scale>
          <a:sx n="69" d="100"/>
          <a:sy n="69" d="100"/>
        </p:scale>
        <p:origin x="1296" y="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120" d="100"/>
          <a:sy n="120" d="100"/>
        </p:scale>
        <p:origin x="3712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34051-BEF0-7D4C-9196-86755A91DC50}" type="datetimeFigureOut">
              <a:rPr kumimoji="1" lang="zh-CN" altLang="en-US" smtClean="0"/>
              <a:pPr/>
              <a:t>2016-04-22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50FCA8-6321-0949-96E4-AD67B1E048D6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9388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E5CB33-C662-8F41-8A71-5104D135C80E}" type="datetimeFigureOut">
              <a:rPr kumimoji="1" lang="zh-CN" altLang="en-US" smtClean="0"/>
              <a:pPr/>
              <a:t>2016-04-22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863DDE-E268-D241-A46D-5F7888E658E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44612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542121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有人说：老做同一件事，烦死了，感觉自己没有成长</a:t>
            </a:r>
            <a:endParaRPr lang="en-US" altLang="zh-CN" dirty="0" smtClean="0"/>
          </a:p>
          <a:p>
            <a:r>
              <a:rPr lang="zh-CN" altLang="en-US" dirty="0" smtClean="0"/>
              <a:t>有人说：不同部门之间基本没有沟通，不知道别人都做了什么，在客户现场呆久了，感觉被公司遗忘</a:t>
            </a:r>
            <a:endParaRPr lang="en-US" altLang="zh-CN" dirty="0" smtClean="0"/>
          </a:p>
          <a:p>
            <a:r>
              <a:rPr lang="zh-CN" altLang="en-US" dirty="0" smtClean="0"/>
              <a:t>有的团队负责人说：想要建立学习型组织，通过鼓励大家分享，促进团队成长，但做起来总感觉是在布置行政任务，搞一段时间效果不好，然后，也就没有然后了。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我个人也有这个感受，以前</a:t>
            </a:r>
            <a:r>
              <a:rPr lang="en-US" altLang="zh-CN" dirty="0" smtClean="0"/>
              <a:t>PS</a:t>
            </a:r>
            <a:r>
              <a:rPr lang="zh-CN" altLang="en-US" dirty="0" smtClean="0"/>
              <a:t>时期，大家虽然分散在各地，而且大多数时候都是独自一人面对，可那时为何没有这样的感觉？那时的知识分享为啥做的风生水起？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这里面的问题究竟在哪里呢？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70002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员工满意度主要受三方面的因素影响：公司平台、薪资激励、个人成长。</a:t>
            </a:r>
            <a:endParaRPr lang="en-US" altLang="zh-CN" dirty="0" smtClean="0"/>
          </a:p>
          <a:p>
            <a:r>
              <a:rPr lang="en-US" altLang="zh-CN" dirty="0" smtClean="0"/>
              <a:t>28</a:t>
            </a:r>
            <a:r>
              <a:rPr lang="zh-CN" altLang="en-US" dirty="0" smtClean="0"/>
              <a:t>岁以前，更关注个人成长；</a:t>
            </a:r>
            <a:endParaRPr lang="en-US" altLang="zh-CN" dirty="0" smtClean="0"/>
          </a:p>
          <a:p>
            <a:r>
              <a:rPr lang="en-US" altLang="zh-CN" dirty="0" smtClean="0"/>
              <a:t>28-35</a:t>
            </a:r>
            <a:r>
              <a:rPr lang="zh-CN" altLang="en-US" dirty="0" smtClean="0"/>
              <a:t>岁，更看重薪资，因为这个时候要成家买房买车；</a:t>
            </a:r>
            <a:endParaRPr lang="en-US" altLang="zh-CN" dirty="0" smtClean="0"/>
          </a:p>
          <a:p>
            <a:r>
              <a:rPr lang="en-US" altLang="zh-CN" dirty="0" smtClean="0"/>
              <a:t>35</a:t>
            </a:r>
            <a:r>
              <a:rPr lang="zh-CN" altLang="en-US" dirty="0" smtClean="0"/>
              <a:t>岁以后，更看重职业平台，以及在这个平台之上的长期发展；</a:t>
            </a:r>
            <a:endParaRPr lang="en-US" altLang="zh-CN" dirty="0" smtClean="0"/>
          </a:p>
          <a:p>
            <a:r>
              <a:rPr lang="zh-CN" altLang="en-US" dirty="0" smtClean="0"/>
              <a:t>一个人在不同阶段关注点有所不同，但这中间始终以个人发展作为主线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60699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个人的发展需要建立在“利他”的基础之上，</a:t>
            </a:r>
            <a:endParaRPr lang="en-US" altLang="zh-CN" dirty="0" smtClean="0"/>
          </a:p>
          <a:p>
            <a:r>
              <a:rPr lang="zh-CN" altLang="en-US" dirty="0" smtClean="0"/>
              <a:t>就像司总以前讲的</a:t>
            </a:r>
            <a:r>
              <a:rPr lang="en-US" altLang="zh-CN" dirty="0" smtClean="0"/>
              <a:t>《</a:t>
            </a:r>
            <a:r>
              <a:rPr lang="zh-CN" altLang="en-US" dirty="0" smtClean="0"/>
              <a:t>高效能人士的</a:t>
            </a:r>
            <a:r>
              <a:rPr lang="en-US" altLang="zh-CN" dirty="0" smtClean="0"/>
              <a:t>7</a:t>
            </a:r>
            <a:r>
              <a:rPr lang="zh-CN" altLang="en-US" dirty="0" smtClean="0"/>
              <a:t>个习惯</a:t>
            </a:r>
            <a:r>
              <a:rPr lang="en-US" altLang="zh-CN" dirty="0" smtClean="0"/>
              <a:t>》</a:t>
            </a:r>
            <a:r>
              <a:rPr lang="zh-CN" altLang="en-US" dirty="0" smtClean="0"/>
              <a:t>中所说，先从个人成功的行为准则入手，最终达到公众成功，也就是说，公司的成功建立在个人成功的基础之上。</a:t>
            </a:r>
            <a:endParaRPr lang="en-US" altLang="zh-CN" dirty="0" smtClean="0"/>
          </a:p>
          <a:p>
            <a:r>
              <a:rPr lang="zh-CN" altLang="en-US" dirty="0" smtClean="0"/>
              <a:t>所以很多成功企业家都希望通过帮助公司员工成长，以达到公司成长的最终愿景</a:t>
            </a:r>
            <a:endParaRPr lang="en-US" altLang="zh-CN" dirty="0" smtClean="0"/>
          </a:p>
          <a:p>
            <a:r>
              <a:rPr lang="zh-CN" altLang="en-US" dirty="0" smtClean="0"/>
              <a:t>来看看这些企业家们都说了什么？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zh-CN" altLang="en-US" dirty="0" smtClean="0"/>
              <a:t>其实马云和任正非所说的和稻盛和夫讲的是一致的，那就是“利他”之心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21878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此版用于打印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22461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此处需要和前面提的问题进行呼应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283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什么是客户价值规划，或者说做什么才算客户价值规划？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75497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2863DDE-E268-D241-A46D-5F7888E658E3}" type="slidenum">
              <a:rPr kumimoji="1" lang="zh-CN" altLang="en-US" smtClean="0"/>
              <a:pPr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9742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ro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1709441"/>
            <a:ext cx="10363200" cy="988281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2882455"/>
            <a:ext cx="8534400" cy="81668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pic>
        <p:nvPicPr>
          <p:cNvPr id="10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让创新无限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2"/>
          <p:cNvSpPr>
            <a:spLocks noGrp="1"/>
          </p:cNvSpPr>
          <p:nvPr>
            <p:ph idx="13" hasCustomPrompt="1"/>
          </p:nvPr>
        </p:nvSpPr>
        <p:spPr>
          <a:xfrm>
            <a:off x="612605" y="1052737"/>
            <a:ext cx="10972800" cy="5040560"/>
          </a:xfrm>
          <a:prstGeom prst="rect">
            <a:avLst/>
          </a:prstGeom>
        </p:spPr>
        <p:txBody>
          <a:bodyPr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 sz="2800">
                <a:solidFill>
                  <a:schemeClr val="tx2">
                    <a:lumMod val="75000"/>
                  </a:schemeClr>
                </a:solidFill>
              </a:defRPr>
            </a:lvl1pPr>
            <a:lvl2pPr marL="742950" indent="-285750">
              <a:spcBef>
                <a:spcPts val="1000"/>
              </a:spcBef>
              <a:buFont typeface="Arial"/>
              <a:buChar char="•"/>
              <a:defRPr sz="2400">
                <a:solidFill>
                  <a:schemeClr val="tx2">
                    <a:lumMod val="75000"/>
                  </a:schemeClr>
                </a:solidFill>
              </a:defRPr>
            </a:lvl2pPr>
            <a:lvl3pPr marL="1143000" indent="-228600">
              <a:spcBef>
                <a:spcPts val="1000"/>
              </a:spcBef>
              <a:buFont typeface="Symbol" charset="2"/>
              <a:buChar char="-"/>
              <a:defRPr sz="2000">
                <a:solidFill>
                  <a:schemeClr val="tx2">
                    <a:lumMod val="75000"/>
                  </a:schemeClr>
                </a:solidFill>
              </a:defRPr>
            </a:lvl3pPr>
            <a:lvl4pPr marL="1600200" indent="-228600">
              <a:buFont typeface="Arial"/>
              <a:buChar char="•"/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dirty="0"/>
              <a:t>一级正文</a:t>
            </a:r>
            <a:r>
              <a:rPr lang="en-US" altLang="zh-CN" dirty="0"/>
              <a:t>28P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1"/>
            <a:r>
              <a:rPr lang="zh-CN" altLang="en-US" dirty="0"/>
              <a:t>二级正文</a:t>
            </a:r>
            <a:r>
              <a:rPr lang="en-US" altLang="zh-CN" dirty="0"/>
              <a:t>24P</a:t>
            </a:r>
            <a:r>
              <a:rPr lang="zh-CN" altLang="en-US" dirty="0"/>
              <a:t>微软雅黑</a:t>
            </a:r>
            <a:endParaRPr lang="en-US" altLang="zh-CN" dirty="0"/>
          </a:p>
          <a:p>
            <a:pPr lvl="2"/>
            <a:r>
              <a:rPr lang="zh-CN" altLang="en-US" dirty="0"/>
              <a:t>三级正文</a:t>
            </a:r>
            <a:r>
              <a:rPr lang="en-US" altLang="zh-CN" dirty="0"/>
              <a:t>20P</a:t>
            </a:r>
            <a:r>
              <a:rPr lang="zh-CN" altLang="en-US" dirty="0"/>
              <a:t>微软雅黑</a:t>
            </a:r>
            <a:endParaRPr lang="en-US" altLang="zh-CN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9" name="Rectangle 8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295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872078"/>
            <a:ext cx="3503712" cy="5985922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zh-CN" altLang="en-US" sz="3200" dirty="0">
                <a:latin typeface="Microsoft YaHei" charset="0"/>
                <a:ea typeface="Microsoft YaHei" charset="0"/>
                <a:cs typeface="Microsoft YaHei" charset="0"/>
              </a:rPr>
              <a:t> 目录</a:t>
            </a:r>
            <a:endParaRPr lang="en-US" sz="32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3648074" y="1341438"/>
            <a:ext cx="7920534" cy="4607842"/>
          </a:xfrm>
          <a:prstGeom prst="rect">
            <a:avLst/>
          </a:prstGeom>
        </p:spPr>
        <p:txBody>
          <a:bodyPr/>
          <a:lstStyle>
            <a:lvl1pPr marL="342900" indent="-342900">
              <a:buFont typeface="Arial" charset="0"/>
              <a:buChar char="•"/>
              <a:defRPr>
                <a:solidFill>
                  <a:schemeClr val="tx2">
                    <a:lumMod val="75000"/>
                  </a:schemeClr>
                </a:solidFill>
              </a:defRPr>
            </a:lvl1pPr>
            <a:lvl2pPr>
              <a:defRPr>
                <a:solidFill>
                  <a:schemeClr val="tx2">
                    <a:lumMod val="75000"/>
                  </a:schemeClr>
                </a:solidFill>
              </a:defRPr>
            </a:lvl2pPr>
            <a:lvl3pPr>
              <a:defRPr>
                <a:solidFill>
                  <a:schemeClr val="tx2">
                    <a:lumMod val="75000"/>
                  </a:schemeClr>
                </a:solidFill>
              </a:defRPr>
            </a:lvl3pPr>
            <a:lvl4pPr>
              <a:defRPr>
                <a:solidFill>
                  <a:schemeClr val="tx2">
                    <a:lumMod val="75000"/>
                  </a:schemeClr>
                </a:solidFill>
              </a:defRPr>
            </a:lvl4pPr>
            <a:lvl5pPr>
              <a:defRPr>
                <a:solidFill>
                  <a:schemeClr val="tx2">
                    <a:lumMod val="75000"/>
                  </a:schemeClr>
                </a:solidFill>
              </a:defRPr>
            </a:lvl5pPr>
          </a:lstStyle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0"/>
            <a:endParaRPr lang="zh-CN" altLang="en-US" dirty="0"/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51570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68341" y="6428047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Rectangle 6"/>
          <p:cNvSpPr/>
          <p:nvPr userDrawn="1"/>
        </p:nvSpPr>
        <p:spPr>
          <a:xfrm>
            <a:off x="-1489" y="0"/>
            <a:ext cx="12193488" cy="71798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Rectangle 11"/>
          <p:cNvSpPr/>
          <p:nvPr userDrawn="1"/>
        </p:nvSpPr>
        <p:spPr>
          <a:xfrm flipV="1">
            <a:off x="-1489" y="772173"/>
            <a:ext cx="12193488" cy="45719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43339" y="6307038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14" name="Title 2"/>
          <p:cNvSpPr>
            <a:spLocks noGrp="1"/>
          </p:cNvSpPr>
          <p:nvPr>
            <p:ph type="title"/>
          </p:nvPr>
        </p:nvSpPr>
        <p:spPr>
          <a:xfrm>
            <a:off x="142595" y="85722"/>
            <a:ext cx="11905321" cy="546544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779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3488" cy="602128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600" dirty="0">
                <a:latin typeface="Microsoft YaHei" charset="0"/>
                <a:ea typeface="Microsoft YaHei" charset="0"/>
                <a:cs typeface="Microsoft YaHei" charset="0"/>
              </a:rPr>
              <a:t>谢谢</a:t>
            </a:r>
            <a:endParaRPr lang="en-US" sz="66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1695" y="6367933"/>
            <a:ext cx="2768608" cy="2433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日期占位符 3"/>
          <p:cNvSpPr>
            <a:spLocks noGrp="1"/>
          </p:cNvSpPr>
          <p:nvPr>
            <p:ph type="dt" sz="half" idx="10"/>
          </p:nvPr>
        </p:nvSpPr>
        <p:spPr>
          <a:xfrm>
            <a:off x="9072331" y="6307039"/>
            <a:ext cx="2844800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pPr algn="ctr"/>
            <a:r>
              <a:rPr lang="en-US" altLang="zh-CN"/>
              <a:t>November 17, 2015</a:t>
            </a:r>
            <a:endParaRPr lang="zh-CN" altLang="en-US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5517232"/>
            <a:ext cx="12193488" cy="504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上海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北京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广州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西安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武汉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成都 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dirty="0">
                <a:latin typeface="Microsoft YaHei" charset="0"/>
                <a:ea typeface="Microsoft YaHei" charset="0"/>
                <a:cs typeface="Microsoft YaHei" charset="0"/>
              </a:rPr>
              <a:t>  ☎ </a:t>
            </a:r>
            <a:r>
              <a:rPr lang="en-US" altLang="zh-CN" sz="1800" dirty="0">
                <a:latin typeface="Microsoft YaHei" charset="0"/>
                <a:ea typeface="Microsoft YaHei" charset="0"/>
                <a:cs typeface="Microsoft YaHei" charset="0"/>
              </a:rPr>
              <a:t>400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820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5821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普元软件 </a:t>
            </a:r>
            <a:r>
              <a:rPr lang="en-US" altLang="zh-CN" sz="1800" baseline="0" dirty="0">
                <a:latin typeface="Microsoft YaHei" charset="0"/>
                <a:ea typeface="Microsoft YaHei" charset="0"/>
                <a:cs typeface="Microsoft YaHei" charset="0"/>
              </a:rPr>
              <a:t>|</a:t>
            </a:r>
            <a:r>
              <a:rPr lang="zh-CN" altLang="en-US" sz="1800" baseline="0" dirty="0">
                <a:latin typeface="Microsoft YaHei" charset="0"/>
                <a:ea typeface="Microsoft YaHei" charset="0"/>
                <a:cs typeface="Microsoft YaHei" charset="0"/>
              </a:rPr>
              <a:t>      普元信息</a:t>
            </a:r>
            <a:endParaRPr lang="en-US" sz="1800" dirty="0">
              <a:latin typeface="Microsoft YaHei" charset="0"/>
              <a:ea typeface="Microsoft YaHei" charset="0"/>
              <a:cs typeface="Microsoft YaHei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192344" y="5638087"/>
            <a:ext cx="270249" cy="270249"/>
          </a:xfrm>
          <a:prstGeom prst="rect">
            <a:avLst/>
          </a:prstGeom>
          <a:noFill/>
        </p:spPr>
      </p:pic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752184" y="5630248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7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120C7143-BB4D-47C6-9008-44C955299D49}" type="datetimeFigureOut">
              <a:rPr lang="zh-CN" altLang="en-US" smtClean="0"/>
              <a:pPr/>
              <a:t>2016-04-22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fld id="{8222EC5C-8AE4-417F-927C-71FD1BF6CFB7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9" r:id="rId3"/>
    <p:sldLayoutId id="2147483657" r:id="rId4"/>
    <p:sldLayoutId id="2147483656" r:id="rId5"/>
  </p:sldLayoutIdLst>
  <p:txStyles>
    <p:titleStyle>
      <a:lvl1pPr algn="l" defTabSz="914400" rtl="0" eaLnBrk="1" latinLnBrk="0" hangingPunct="1">
        <a:spcBef>
          <a:spcPct val="0"/>
        </a:spcBef>
        <a:buNone/>
        <a:defRPr sz="4000" b="1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微软雅黑"/>
          <a:ea typeface="微软雅黑"/>
          <a:cs typeface="微软雅黑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微软雅黑"/>
          <a:ea typeface="微软雅黑"/>
          <a:cs typeface="微软雅黑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软雅黑"/>
          <a:ea typeface="微软雅黑"/>
          <a:cs typeface="微软雅黑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0" y="1772816"/>
            <a:ext cx="12192000" cy="2839670"/>
          </a:xfrm>
        </p:spPr>
        <p:txBody>
          <a:bodyPr anchor="ctr">
            <a:noAutofit/>
          </a:bodyPr>
          <a:lstStyle/>
          <a:p>
            <a:pPr>
              <a:lnSpc>
                <a:spcPts val="8000"/>
              </a:lnSpc>
              <a:spcBef>
                <a:spcPts val="1200"/>
              </a:spcBef>
              <a:spcAft>
                <a:spcPts val="600"/>
              </a:spcAft>
            </a:pPr>
            <a:r>
              <a:rPr lang="zh-CN" altLang="en-US" sz="6600" dirty="0" smtClean="0">
                <a:solidFill>
                  <a:srgbClr val="05BAC8"/>
                </a:solidFill>
              </a:rPr>
              <a:t>客户价值规划</a:t>
            </a:r>
            <a:r>
              <a:rPr lang="en-US" altLang="zh-CN" sz="5400" dirty="0" smtClean="0">
                <a:solidFill>
                  <a:srgbClr val="05BAC8"/>
                </a:solidFill>
              </a:rPr>
              <a:t/>
            </a:r>
            <a:br>
              <a:rPr lang="en-US" altLang="zh-CN" sz="5400" dirty="0" smtClean="0">
                <a:solidFill>
                  <a:srgbClr val="05BAC8"/>
                </a:solidFill>
              </a:rPr>
            </a:br>
            <a:r>
              <a:rPr lang="zh-CN" altLang="en-US" sz="3600" b="0" dirty="0"/>
              <a:t>让</a:t>
            </a:r>
            <a:r>
              <a:rPr lang="zh-CN" altLang="en-US" sz="3600" b="0" dirty="0" smtClean="0"/>
              <a:t>我们遇见未来</a:t>
            </a:r>
            <a:endParaRPr lang="en-US" sz="3600" b="0" dirty="0"/>
          </a:p>
        </p:txBody>
      </p:sp>
      <p:pic>
        <p:nvPicPr>
          <p:cNvPr id="3074" name="Picture 2" descr="C:\Users\cuishan\Desktop\普元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692696"/>
            <a:ext cx="1872208" cy="21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4295800" y="6114782"/>
            <a:ext cx="36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平台 </a:t>
            </a:r>
            <a:r>
              <a:rPr lang="en-US" altLang="zh-CN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·</a:t>
            </a:r>
            <a:r>
              <a:rPr lang="zh-CN" altLang="en-US" sz="1600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 让创新</a:t>
            </a:r>
            <a:r>
              <a:rPr lang="zh-CN" altLang="en-US" sz="1600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无限</a:t>
            </a:r>
            <a:endParaRPr lang="en-US" altLang="zh-CN" sz="1600" dirty="0">
              <a:solidFill>
                <a:schemeClr val="bg1"/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15680" y="3356992"/>
            <a:ext cx="5832648" cy="0"/>
          </a:xfrm>
          <a:prstGeom prst="line">
            <a:avLst/>
          </a:prstGeom>
          <a:ln w="12700">
            <a:solidFill>
              <a:srgbClr val="05BAC8"/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60959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今天的话题缘起于一次在新一代现场的聊天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484784"/>
            <a:ext cx="5677705" cy="4258277"/>
          </a:xfrm>
          <a:prstGeom prst="rect">
            <a:avLst/>
          </a:prstGeom>
        </p:spPr>
      </p:pic>
      <p:sp>
        <p:nvSpPr>
          <p:cNvPr id="7" name="流程图: 过程 6"/>
          <p:cNvSpPr/>
          <p:nvPr/>
        </p:nvSpPr>
        <p:spPr>
          <a:xfrm>
            <a:off x="7090676" y="208689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为什么我们的客户满意度不够高？</a:t>
            </a:r>
          </a:p>
        </p:txBody>
      </p:sp>
      <p:sp>
        <p:nvSpPr>
          <p:cNvPr id="8" name="流程图: 过程 7"/>
          <p:cNvSpPr/>
          <p:nvPr/>
        </p:nvSpPr>
        <p:spPr>
          <a:xfrm>
            <a:off x="7104112" y="4149080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为什么我们的员工满意度不够高？</a:t>
            </a:r>
          </a:p>
        </p:txBody>
      </p:sp>
      <p:sp>
        <p:nvSpPr>
          <p:cNvPr id="9" name="流程图: 过程 8"/>
          <p:cNvSpPr/>
          <p:nvPr/>
        </p:nvSpPr>
        <p:spPr>
          <a:xfrm>
            <a:off x="7104112" y="3117985"/>
            <a:ext cx="4104456" cy="720080"/>
          </a:xfrm>
          <a:prstGeom prst="flowChartProcess">
            <a:avLst/>
          </a:prstGeom>
          <a:solidFill>
            <a:srgbClr val="17375E"/>
          </a:solidFill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b="1" dirty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是因为</a:t>
            </a:r>
            <a:r>
              <a:rPr lang="zh-CN" altLang="en-US" sz="2000" b="1" dirty="0" smtClean="0">
                <a:solidFill>
                  <a:schemeClr val="bg1"/>
                </a:solidFill>
                <a:latin typeface="Microsoft YaHei" charset="0"/>
                <a:ea typeface="Microsoft YaHei" charset="0"/>
                <a:cs typeface="Microsoft YaHei" charset="0"/>
              </a:rPr>
              <a:t>我们的员工满意度不够高！</a:t>
            </a:r>
          </a:p>
        </p:txBody>
      </p:sp>
    </p:spTree>
    <p:extLst>
      <p:ext uri="{BB962C8B-B14F-4D97-AF65-F5344CB8AC3E}">
        <p14:creationId xmlns:p14="http://schemas.microsoft.com/office/powerpoint/2010/main" val="3100532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员工</a:t>
            </a:r>
            <a:r>
              <a:rPr lang="zh-CN" altLang="en-US" dirty="0" smtClean="0"/>
              <a:t>满意度来自于多方面，个人发展是主线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279576" y="4276508"/>
            <a:ext cx="7544080" cy="1279556"/>
          </a:xfrm>
          <a:prstGeom prst="rect">
            <a:avLst/>
          </a:prstGeom>
          <a:solidFill>
            <a:srgbClr val="00B0F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公司平台</a:t>
            </a:r>
          </a:p>
        </p:txBody>
      </p:sp>
      <p:sp>
        <p:nvSpPr>
          <p:cNvPr id="15" name="矩形 14"/>
          <p:cNvSpPr/>
          <p:nvPr/>
        </p:nvSpPr>
        <p:spPr>
          <a:xfrm>
            <a:off x="2279576" y="3006260"/>
            <a:ext cx="7544080" cy="1279556"/>
          </a:xfrm>
          <a:prstGeom prst="rect">
            <a:avLst/>
          </a:prstGeom>
          <a:solidFill>
            <a:srgbClr val="FFC00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薪资激励</a:t>
            </a:r>
          </a:p>
        </p:txBody>
      </p:sp>
      <p:sp>
        <p:nvSpPr>
          <p:cNvPr id="16" name="矩形 15"/>
          <p:cNvSpPr/>
          <p:nvPr/>
        </p:nvSpPr>
        <p:spPr>
          <a:xfrm>
            <a:off x="2279576" y="1726705"/>
            <a:ext cx="7544080" cy="1279556"/>
          </a:xfrm>
          <a:prstGeom prst="rect">
            <a:avLst/>
          </a:prstGeom>
          <a:solidFill>
            <a:srgbClr val="92D050">
              <a:alpha val="60000"/>
            </a:srgb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0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个人成长</a:t>
            </a:r>
          </a:p>
        </p:txBody>
      </p:sp>
      <p:cxnSp>
        <p:nvCxnSpPr>
          <p:cNvPr id="8" name="直接箭头连接符 7"/>
          <p:cNvCxnSpPr/>
          <p:nvPr/>
        </p:nvCxnSpPr>
        <p:spPr>
          <a:xfrm flipV="1">
            <a:off x="2279576" y="1321447"/>
            <a:ext cx="0" cy="4248472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/>
          <p:cNvCxnSpPr/>
          <p:nvPr/>
        </p:nvCxnSpPr>
        <p:spPr>
          <a:xfrm>
            <a:off x="2279576" y="5556064"/>
            <a:ext cx="8136904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V="1">
            <a:off x="4799856" y="3196388"/>
            <a:ext cx="2376264" cy="28803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V="1">
            <a:off x="2855640" y="3484420"/>
            <a:ext cx="1944216" cy="136815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/>
          <p:nvPr/>
        </p:nvCxnSpPr>
        <p:spPr>
          <a:xfrm flipV="1">
            <a:off x="7176120" y="1972252"/>
            <a:ext cx="2376264" cy="1224136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4813711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7176120" y="1307592"/>
            <a:ext cx="0" cy="4234617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2639616" y="1321447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岁以前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50927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28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-35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7543800" y="1325420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35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岁以后</a:t>
            </a:r>
          </a:p>
        </p:txBody>
      </p:sp>
      <p:sp>
        <p:nvSpPr>
          <p:cNvPr id="40" name="流程图: 联系 39"/>
          <p:cNvSpPr/>
          <p:nvPr/>
        </p:nvSpPr>
        <p:spPr>
          <a:xfrm>
            <a:off x="3650240" y="206825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1" name="流程图: 联系 40"/>
          <p:cNvSpPr/>
          <p:nvPr/>
        </p:nvSpPr>
        <p:spPr>
          <a:xfrm>
            <a:off x="3128728" y="205168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2" name="流程图: 联系 41"/>
          <p:cNvSpPr/>
          <p:nvPr/>
        </p:nvSpPr>
        <p:spPr>
          <a:xfrm>
            <a:off x="2732683" y="24452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3" name="流程图: 联系 42"/>
          <p:cNvSpPr/>
          <p:nvPr/>
        </p:nvSpPr>
        <p:spPr>
          <a:xfrm>
            <a:off x="3162326" y="2489068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3685049" y="253176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5" name="流程图: 联系 44"/>
          <p:cNvSpPr/>
          <p:nvPr/>
        </p:nvSpPr>
        <p:spPr>
          <a:xfrm>
            <a:off x="4134433" y="215975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6" name="流程图: 联系 45"/>
          <p:cNvSpPr/>
          <p:nvPr/>
        </p:nvSpPr>
        <p:spPr>
          <a:xfrm>
            <a:off x="3170847" y="3406868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7" name="流程图: 联系 46"/>
          <p:cNvSpPr/>
          <p:nvPr/>
        </p:nvSpPr>
        <p:spPr>
          <a:xfrm>
            <a:off x="3736794" y="3676526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8" name="流程图: 联系 47"/>
          <p:cNvSpPr/>
          <p:nvPr/>
        </p:nvSpPr>
        <p:spPr>
          <a:xfrm>
            <a:off x="3451478" y="4799028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5528573" y="4534573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0" name="流程图: 联系 49"/>
          <p:cNvSpPr/>
          <p:nvPr/>
        </p:nvSpPr>
        <p:spPr>
          <a:xfrm>
            <a:off x="6386200" y="5131420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1" name="流程图: 联系 50"/>
          <p:cNvSpPr/>
          <p:nvPr/>
        </p:nvSpPr>
        <p:spPr>
          <a:xfrm>
            <a:off x="5626046" y="3211167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2" name="流程图: 联系 51"/>
          <p:cNvSpPr/>
          <p:nvPr/>
        </p:nvSpPr>
        <p:spPr>
          <a:xfrm>
            <a:off x="6223987" y="3223146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3" name="流程图: 联系 52"/>
          <p:cNvSpPr/>
          <p:nvPr/>
        </p:nvSpPr>
        <p:spPr>
          <a:xfrm>
            <a:off x="6648827" y="3533282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6386199" y="3875872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5" name="流程图: 联系 54"/>
          <p:cNvSpPr/>
          <p:nvPr/>
        </p:nvSpPr>
        <p:spPr>
          <a:xfrm>
            <a:off x="6034680" y="3837262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6" name="流程图: 联系 55"/>
          <p:cNvSpPr/>
          <p:nvPr/>
        </p:nvSpPr>
        <p:spPr>
          <a:xfrm>
            <a:off x="5354042" y="3767798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7" name="流程图: 联系 56"/>
          <p:cNvSpPr/>
          <p:nvPr/>
        </p:nvSpPr>
        <p:spPr>
          <a:xfrm>
            <a:off x="5651529" y="1925239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8" name="流程图: 联系 57"/>
          <p:cNvSpPr/>
          <p:nvPr/>
        </p:nvSpPr>
        <p:spPr>
          <a:xfrm>
            <a:off x="6327962" y="196246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59" name="流程图: 联系 58"/>
          <p:cNvSpPr/>
          <p:nvPr/>
        </p:nvSpPr>
        <p:spPr>
          <a:xfrm>
            <a:off x="5399771" y="245059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0" name="流程图: 联系 59"/>
          <p:cNvSpPr/>
          <p:nvPr/>
        </p:nvSpPr>
        <p:spPr>
          <a:xfrm>
            <a:off x="6019168" y="257689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1" name="流程图: 联系 60"/>
          <p:cNvSpPr/>
          <p:nvPr/>
        </p:nvSpPr>
        <p:spPr>
          <a:xfrm>
            <a:off x="8206868" y="4534024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2" name="流程图: 联系 61"/>
          <p:cNvSpPr/>
          <p:nvPr/>
        </p:nvSpPr>
        <p:spPr>
          <a:xfrm>
            <a:off x="8770271" y="4618909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3" name="流程图: 联系 62"/>
          <p:cNvSpPr/>
          <p:nvPr/>
        </p:nvSpPr>
        <p:spPr>
          <a:xfrm>
            <a:off x="7970762" y="4887384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4" name="流程图: 联系 63"/>
          <p:cNvSpPr/>
          <p:nvPr/>
        </p:nvSpPr>
        <p:spPr>
          <a:xfrm>
            <a:off x="8479904" y="4982171"/>
            <a:ext cx="245913" cy="234516"/>
          </a:xfrm>
          <a:prstGeom prst="flowChartConnector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8050461" y="3332815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6" name="流程图: 联系 65"/>
          <p:cNvSpPr/>
          <p:nvPr/>
        </p:nvSpPr>
        <p:spPr>
          <a:xfrm>
            <a:off x="8615190" y="3236066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7" name="流程图: 联系 66"/>
          <p:cNvSpPr/>
          <p:nvPr/>
        </p:nvSpPr>
        <p:spPr>
          <a:xfrm>
            <a:off x="8324018" y="3775485"/>
            <a:ext cx="245913" cy="234516"/>
          </a:xfrm>
          <a:prstGeom prst="flowChartConnector">
            <a:avLst/>
          </a:prstGeom>
          <a:solidFill>
            <a:srgbClr val="4D5DB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8" name="流程图: 联系 67"/>
          <p:cNvSpPr/>
          <p:nvPr/>
        </p:nvSpPr>
        <p:spPr>
          <a:xfrm>
            <a:off x="8167732" y="1934422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69" name="流程图: 联系 68"/>
          <p:cNvSpPr/>
          <p:nvPr/>
        </p:nvSpPr>
        <p:spPr>
          <a:xfrm>
            <a:off x="8688810" y="1995536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0" name="流程图: 联系 69"/>
          <p:cNvSpPr/>
          <p:nvPr/>
        </p:nvSpPr>
        <p:spPr>
          <a:xfrm>
            <a:off x="7997674" y="22935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1" name="流程图: 联系 70"/>
          <p:cNvSpPr/>
          <p:nvPr/>
        </p:nvSpPr>
        <p:spPr>
          <a:xfrm>
            <a:off x="9027475" y="2445985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2" name="流程图: 联系 71"/>
          <p:cNvSpPr/>
          <p:nvPr/>
        </p:nvSpPr>
        <p:spPr>
          <a:xfrm>
            <a:off x="8442897" y="2558370"/>
            <a:ext cx="245913" cy="234516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780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1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1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1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1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1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1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1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1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1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1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1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1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9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0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4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6" fill="hold">
                      <p:stCondLst>
                        <p:cond delay="indefinite"/>
                      </p:stCondLst>
                      <p:childTnLst>
                        <p:par>
                          <p:cTn id="217" fill="hold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7" fill="hold">
                            <p:stCondLst>
                              <p:cond delay="500"/>
                            </p:stCondLst>
                            <p:childTnLst>
                              <p:par>
                                <p:cTn id="31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5" grpId="0" animBg="1"/>
      <p:bldP spid="16" grpId="0" animBg="1"/>
      <p:bldP spid="37" grpId="0"/>
      <p:bldP spid="38" grpId="0"/>
      <p:bldP spid="39" grpId="0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个人的发展需要建立在“利他”的基础之上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909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</p:spTree>
    <p:extLst>
      <p:ext uri="{BB962C8B-B14F-4D97-AF65-F5344CB8AC3E}">
        <p14:creationId xmlns:p14="http://schemas.microsoft.com/office/powerpoint/2010/main" val="285683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个人</a:t>
            </a:r>
            <a:r>
              <a:rPr lang="zh-CN" altLang="en-US" dirty="0" smtClean="0"/>
              <a:t>的</a:t>
            </a:r>
            <a:r>
              <a:rPr lang="zh-CN" altLang="en-US" dirty="0"/>
              <a:t>发展</a:t>
            </a:r>
            <a:r>
              <a:rPr lang="zh-CN" altLang="en-US" dirty="0" smtClean="0"/>
              <a:t>需要</a:t>
            </a:r>
            <a:r>
              <a:rPr lang="zh-CN" altLang="en-US" dirty="0" smtClean="0"/>
              <a:t>建立在“利他”的基础之上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148857"/>
            <a:ext cx="5134692" cy="56967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2024" y="1426902"/>
            <a:ext cx="5328592" cy="8744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稻盛和夫：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以利他之心度人生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6312024" y="2522896"/>
            <a:ext cx="53285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马云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阿里巴巴考核我们自己是否成功的一个重要因素，不是我们有没有成功，而是我们的客户因为我们有没有成功</a:t>
            </a:r>
            <a:endParaRPr lang="zh-CN" altLang="en-US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312024" y="4498809"/>
            <a:ext cx="532859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任正非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en-US" altLang="zh-CN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150000"/>
              </a:lnSpc>
            </a:pPr>
            <a:r>
              <a:rPr lang="en-US" altLang="zh-CN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华为的核心价值观是“以客户为中心，以奋斗者为本，长期艰苦奋斗，坚持自我批判”</a:t>
            </a:r>
          </a:p>
        </p:txBody>
      </p:sp>
      <p:sp>
        <p:nvSpPr>
          <p:cNvPr id="2" name="圆角矩形 1"/>
          <p:cNvSpPr/>
          <p:nvPr/>
        </p:nvSpPr>
        <p:spPr>
          <a:xfrm rot="2455371">
            <a:off x="10351351" y="848251"/>
            <a:ext cx="1666301" cy="714129"/>
          </a:xfrm>
          <a:prstGeom prst="roundRect">
            <a:avLst/>
          </a:prstGeom>
          <a:solidFill>
            <a:schemeClr val="lt1">
              <a:alpha val="0"/>
            </a:schemeClr>
          </a:solidFill>
          <a:ln w="508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zh-CN" altLang="en-US" sz="2600" b="1" dirty="0" smtClean="0">
                <a:solidFill>
                  <a:srgbClr val="FF0000"/>
                </a:solidFill>
                <a:latin typeface="仿宋" panose="02010609060101010101" pitchFamily="49" charset="-122"/>
                <a:ea typeface="仿宋" panose="02010609060101010101" pitchFamily="49" charset="-122"/>
                <a:cs typeface="Microsoft YaHei" charset="0"/>
              </a:rPr>
              <a:t>打 印 版</a:t>
            </a:r>
          </a:p>
        </p:txBody>
      </p:sp>
    </p:spTree>
    <p:extLst>
      <p:ext uri="{BB962C8B-B14F-4D97-AF65-F5344CB8AC3E}">
        <p14:creationId xmlns:p14="http://schemas.microsoft.com/office/powerpoint/2010/main" val="18393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“利他”的本质是通过帮助他人成功，实现</a:t>
            </a:r>
            <a:r>
              <a:rPr lang="zh-CN" altLang="en-US" dirty="0"/>
              <a:t>利己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791744" y="2564904"/>
            <a:ext cx="619268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诚实    尊重    超越自我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>
              <a:lnSpc>
                <a:spcPct val="200000"/>
              </a:lnSpc>
            </a:pPr>
            <a:r>
              <a:rPr lang="en-US" altLang="zh-CN" sz="2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	</a:t>
            </a: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合作    共赢    创造价值</a:t>
            </a:r>
          </a:p>
        </p:txBody>
      </p:sp>
    </p:spTree>
    <p:extLst>
      <p:ext uri="{BB962C8B-B14F-4D97-AF65-F5344CB8AC3E}">
        <p14:creationId xmlns:p14="http://schemas.microsoft.com/office/powerpoint/2010/main" val="1205217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通过“客户价值规划”实现个人、公司、客户的双赢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2602867" y="2420888"/>
            <a:ext cx="6984776" cy="2372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站在客户的角度，结合公司价值，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想客户之所想，解客户之所困，规划路径，</a:t>
            </a:r>
            <a:endParaRPr lang="en-US" altLang="zh-CN" sz="2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>
              <a:lnSpc>
                <a:spcPct val="200000"/>
              </a:lnSpc>
            </a:pPr>
            <a:r>
              <a:rPr lang="zh-CN" altLang="en-US" sz="2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在这个过程中得到个人成长，体现自我价值</a:t>
            </a:r>
          </a:p>
        </p:txBody>
      </p:sp>
    </p:spTree>
    <p:extLst>
      <p:ext uri="{BB962C8B-B14F-4D97-AF65-F5344CB8AC3E}">
        <p14:creationId xmlns:p14="http://schemas.microsoft.com/office/powerpoint/2010/main" val="3368003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9525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281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9426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4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83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6788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2707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519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培训安排</a:t>
            </a:r>
            <a:endParaRPr lang="zh-CN" altLang="en-US" dirty="0"/>
          </a:p>
        </p:txBody>
      </p:sp>
      <p:sp>
        <p:nvSpPr>
          <p:cNvPr id="9" name="Rectangle 28"/>
          <p:cNvSpPr/>
          <p:nvPr/>
        </p:nvSpPr>
        <p:spPr>
          <a:xfrm>
            <a:off x="1415840" y="1124744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为什么研发新一代云计算平台</a:t>
            </a:r>
            <a:r>
              <a:rPr lang="en-US" altLang="zh-CN" dirty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  <a:endParaRPr lang="en-US" altLang="zh-CN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企业数字化转型趋势下，</a:t>
            </a:r>
            <a:r>
              <a:rPr lang="en-US" altLang="zh-CN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</a:t>
            </a: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需要精益运营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新一代与新、老客户的关系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新一代与普元人的关系</a:t>
            </a:r>
            <a:endParaRPr lang="en-US" altLang="zh-CN" sz="14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新一代与现有产品的关系</a:t>
            </a:r>
            <a:endParaRPr lang="en-US" altLang="zh-CN" sz="1600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295800" y="2708920"/>
            <a:ext cx="2729913" cy="107721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(60min)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1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、企业数字化的案例</a:t>
            </a:r>
            <a:endParaRPr lang="en-US" altLang="zh-CN" sz="1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、客户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精益运营的案例</a:t>
            </a:r>
            <a:endParaRPr lang="en-US" altLang="zh-CN" sz="1600" dirty="0" smtClean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/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312024" y="5661248"/>
            <a:ext cx="288032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</a:t>
            </a:r>
            <a:r>
              <a:rPr lang="en-US" altLang="zh-CN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</a:p>
          <a:p>
            <a:pPr algn="ctr"/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以所在项目进行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客户价值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规划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19" name="直接箭头连接符 18"/>
          <p:cNvCxnSpPr>
            <a:stCxn id="9" idx="3"/>
            <a:endCxn id="18" idx="1"/>
          </p:cNvCxnSpPr>
          <p:nvPr/>
        </p:nvCxnSpPr>
        <p:spPr>
          <a:xfrm>
            <a:off x="4655840" y="1916832"/>
            <a:ext cx="1872568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肘形连接符 23"/>
          <p:cNvCxnSpPr>
            <a:stCxn id="18" idx="3"/>
            <a:endCxn id="17" idx="3"/>
          </p:cNvCxnSpPr>
          <p:nvPr/>
        </p:nvCxnSpPr>
        <p:spPr>
          <a:xfrm>
            <a:off x="9768408" y="1916832"/>
            <a:ext cx="1894787" cy="2822936"/>
          </a:xfrm>
          <a:prstGeom prst="bentConnector3">
            <a:avLst>
              <a:gd name="adj1" fmla="val 112065"/>
            </a:avLst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9192344" y="2780928"/>
            <a:ext cx="3162018" cy="73866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 </a:t>
            </a:r>
            <a:r>
              <a:rPr lang="en-US" altLang="zh-CN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(60min)</a:t>
            </a:r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  <a:endParaRPr lang="zh-CN" altLang="en-US" sz="1600" b="1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1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、你如何理解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</a:p>
          <a:p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2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、如何在客户中应用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36" name="Rectangle 28"/>
          <p:cNvSpPr/>
          <p:nvPr/>
        </p:nvSpPr>
        <p:spPr>
          <a:xfrm>
            <a:off x="142275" y="3933056"/>
            <a:ext cx="2281317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总结</a:t>
            </a:r>
            <a:endParaRPr lang="en-US" altLang="zh-CN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algn="ctr"/>
            <a:r>
              <a:rPr 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(20min)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1703512" y="5733256"/>
            <a:ext cx="288032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zh-CN" altLang="en-US" sz="1600" b="1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讨论 </a:t>
            </a:r>
            <a:r>
              <a:rPr lang="en-US" altLang="zh-CN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(60min)</a:t>
            </a:r>
            <a:r>
              <a:rPr lang="zh-CN" altLang="en-US" sz="1600" b="1" dirty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：</a:t>
            </a:r>
          </a:p>
          <a:p>
            <a:pPr algn="ctr"/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所在客户 </a:t>
            </a:r>
            <a:r>
              <a:rPr lang="en-US" altLang="zh-CN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600" dirty="0" smtClean="0">
                <a:solidFill>
                  <a:schemeClr val="tx2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能力评估</a:t>
            </a:r>
            <a:endParaRPr lang="zh-CN" altLang="en-US" sz="1600" dirty="0">
              <a:solidFill>
                <a:schemeClr val="tx2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7" name="Rectangle 28"/>
          <p:cNvSpPr/>
          <p:nvPr/>
        </p:nvSpPr>
        <p:spPr>
          <a:xfrm>
            <a:off x="8423195" y="3947680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通过客户价值规划提高客户满意度，实现个人与团队的成长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  <a:endParaRPr lang="en-US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18" name="Rectangle 28"/>
          <p:cNvSpPr/>
          <p:nvPr/>
        </p:nvSpPr>
        <p:spPr>
          <a:xfrm>
            <a:off x="6528408" y="1124744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数字化企业云平台的第一步</a:t>
            </a:r>
            <a:r>
              <a:rPr lang="en-US" altLang="zh-CN" dirty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DevOps (60min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数字化企业云平台核心架构</a:t>
            </a:r>
            <a:endParaRPr lang="en-US" altLang="zh-CN" sz="14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实施云计算从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开始</a:t>
            </a:r>
            <a:endParaRPr lang="en-US" altLang="zh-CN" sz="14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基本概念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DevOps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功能与关键技术</a:t>
            </a:r>
            <a:endParaRPr lang="en-US" dirty="0" smtClean="0">
              <a:solidFill>
                <a:schemeClr val="tx1">
                  <a:lumMod val="75000"/>
                </a:scheme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sp>
        <p:nvSpPr>
          <p:cNvPr id="25" name="Rectangle 28"/>
          <p:cNvSpPr/>
          <p:nvPr/>
        </p:nvSpPr>
        <p:spPr>
          <a:xfrm>
            <a:off x="3791744" y="3933056"/>
            <a:ext cx="3240000" cy="1584176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108000" tIns="36000" rIns="0" bIns="0" numCol="1" spcCol="0" rtlCol="0" fromWordArt="0" anchor="ctr" anchorCtr="0" forceAA="0" compatLnSpc="1">
            <a:noAutofit/>
          </a:bodyPr>
          <a:lstStyle/>
          <a:p>
            <a:pPr algn="ctr"/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从 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能力看 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的精益运营</a:t>
            </a:r>
            <a:r>
              <a:rPr lang="en-US" altLang="zh-CN" dirty="0" smtClean="0">
                <a:solidFill>
                  <a:schemeClr val="tx1">
                    <a:lumMod val="75000"/>
                  </a:schemeClr>
                </a:solidFill>
                <a:latin typeface="Microsoft YaHei" charset="0"/>
                <a:ea typeface="Microsoft YaHei" charset="0"/>
                <a:cs typeface="Microsoft YaHei" charset="0"/>
              </a:rPr>
              <a:t>(40min)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什么是能力模型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管理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的基本能力模型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普元产品与企业 </a:t>
            </a:r>
            <a:r>
              <a:rPr lang="en-US" altLang="zh-CN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IT </a:t>
            </a:r>
            <a:r>
              <a:rPr lang="zh-CN" altLang="en-US" sz="14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能力的关系</a:t>
            </a:r>
            <a:endParaRPr lang="en-US" altLang="zh-CN" sz="1400" dirty="0" smtClean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en-US" sz="1600" dirty="0" smtClean="0">
                <a:solidFill>
                  <a:srgbClr val="011892">
                    <a:lumMod val="75000"/>
                  </a:srgbClr>
                </a:solidFill>
                <a:latin typeface="Microsoft YaHei" charset="0"/>
                <a:ea typeface="Microsoft YaHei" charset="0"/>
                <a:cs typeface="Microsoft YaHei" charset="0"/>
              </a:rPr>
              <a:t>如何进行能力调研</a:t>
            </a:r>
            <a:endParaRPr lang="en-US" altLang="zh-CN" sz="1600" dirty="0">
              <a:solidFill>
                <a:srgbClr val="011892">
                  <a:lumMod val="75000"/>
                </a:srgbClr>
              </a:solidFill>
              <a:latin typeface="Microsoft YaHei" charset="0"/>
              <a:ea typeface="Microsoft YaHei" charset="0"/>
              <a:cs typeface="Microsoft YaHei" charset="0"/>
            </a:endParaRPr>
          </a:p>
        </p:txBody>
      </p:sp>
      <p:cxnSp>
        <p:nvCxnSpPr>
          <p:cNvPr id="29" name="直接箭头连接符 28"/>
          <p:cNvCxnSpPr>
            <a:stCxn id="17" idx="1"/>
            <a:endCxn id="25" idx="3"/>
          </p:cNvCxnSpPr>
          <p:nvPr/>
        </p:nvCxnSpPr>
        <p:spPr>
          <a:xfrm flipH="1" flipV="1">
            <a:off x="7031744" y="4725144"/>
            <a:ext cx="1391451" cy="14624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/>
          <p:cNvCxnSpPr>
            <a:stCxn id="25" idx="1"/>
            <a:endCxn id="36" idx="3"/>
          </p:cNvCxnSpPr>
          <p:nvPr/>
        </p:nvCxnSpPr>
        <p:spPr>
          <a:xfrm flipH="1">
            <a:off x="2423592" y="4725144"/>
            <a:ext cx="1368152" cy="0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0973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zh-CN" altLang="en-US" dirty="0" smtClean="0"/>
              <a:t>分组讨论，每组 </a:t>
            </a:r>
            <a:r>
              <a:rPr lang="en-US" altLang="zh-CN" dirty="0" smtClean="0"/>
              <a:t>7 </a:t>
            </a:r>
            <a:r>
              <a:rPr lang="zh-CN" altLang="en-US" dirty="0" smtClean="0"/>
              <a:t>人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由于讨论会涉及所在客户情况，按所在客户情况分组</a:t>
            </a:r>
            <a:endParaRPr lang="en-US" altLang="zh-CN" dirty="0" smtClean="0"/>
          </a:p>
          <a:p>
            <a:r>
              <a:rPr lang="zh-CN" altLang="en-US" dirty="0"/>
              <a:t>讨论</a:t>
            </a:r>
            <a:r>
              <a:rPr lang="zh-CN" altLang="en-US" dirty="0" smtClean="0"/>
              <a:t>后陈述，每组陈述不超过 </a:t>
            </a:r>
            <a:r>
              <a:rPr lang="en-US" altLang="zh-CN" dirty="0" smtClean="0"/>
              <a:t>5 </a:t>
            </a:r>
            <a:r>
              <a:rPr lang="zh-CN" altLang="en-US" dirty="0" smtClean="0"/>
              <a:t>分钟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培训要求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1980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zh-CN" altLang="en-US" sz="6000" dirty="0" smtClean="0"/>
              <a:t>让我们遇见未来</a:t>
            </a:r>
            <a:endParaRPr lang="zh-CN" altLang="en-US" sz="6000" dirty="0"/>
          </a:p>
        </p:txBody>
      </p:sp>
    </p:spTree>
    <p:extLst>
      <p:ext uri="{BB962C8B-B14F-4D97-AF65-F5344CB8AC3E}">
        <p14:creationId xmlns:p14="http://schemas.microsoft.com/office/powerpoint/2010/main" val="3724687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PrimetonBlue">
      <a:dk1>
        <a:srgbClr val="011892"/>
      </a:dk1>
      <a:lt1>
        <a:srgbClr val="FE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tx1">
              <a:lumMod val="75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000" dirty="0" smtClean="0">
            <a:solidFill>
              <a:schemeClr val="tx1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>
        <a:ln w="25400">
          <a:solidFill>
            <a:schemeClr val="tx1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smtClean="0">
            <a:solidFill>
              <a:schemeClr val="tx2">
                <a:lumMod val="75000"/>
              </a:schemeClr>
            </a:solidFill>
            <a:latin typeface="Microsoft YaHei" charset="0"/>
            <a:ea typeface="Microsoft YaHei" charset="0"/>
            <a:cs typeface="Microsoft YaHei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主题">
  <a:themeElements>
    <a:clrScheme name="办公室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办公室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办公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48252</TotalTime>
  <Words>787</Words>
  <Application>Microsoft Office PowerPoint</Application>
  <PresentationFormat>宽屏</PresentationFormat>
  <Paragraphs>98</Paragraphs>
  <Slides>18</Slides>
  <Notes>8</Notes>
  <HiddenSlides>1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仿宋</vt:lpstr>
      <vt:lpstr>宋体</vt:lpstr>
      <vt:lpstr>Microsoft YaHei</vt:lpstr>
      <vt:lpstr>Microsoft YaHei</vt:lpstr>
      <vt:lpstr>Arial</vt:lpstr>
      <vt:lpstr>Calibri</vt:lpstr>
      <vt:lpstr>Symbol</vt:lpstr>
      <vt:lpstr>Office 主题</vt:lpstr>
      <vt:lpstr>客户价值规划 让我们遇见未来</vt:lpstr>
      <vt:lpstr>今天的话题缘起于一次在新一代现场的聊天</vt:lpstr>
      <vt:lpstr>员工满意度来自于多方面，个人发展是主线</vt:lpstr>
      <vt:lpstr>个人的发展需要建立在“利他”的基础之上</vt:lpstr>
      <vt:lpstr>个人的发展需要建立在“利他”的基础之上</vt:lpstr>
      <vt:lpstr>“利他”的本质是通过帮助他人成功，实现利己</vt:lpstr>
      <vt:lpstr>通过“客户价值规划”实现个人、公司、客户的双赢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培训安排</vt:lpstr>
      <vt:lpstr>培训要求</vt:lpstr>
      <vt:lpstr>让我们遇见未来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产品</dc:title>
  <dc:subject/>
  <dc:creator>jiaoly</dc:creator>
  <cp:keywords/>
  <dc:description/>
  <cp:lastModifiedBy>ZHUJIANG</cp:lastModifiedBy>
  <cp:revision>2840</cp:revision>
  <dcterms:created xsi:type="dcterms:W3CDTF">2014-11-20T02:29:45Z</dcterms:created>
  <dcterms:modified xsi:type="dcterms:W3CDTF">2016-04-22T07:35:45Z</dcterms:modified>
  <cp:category/>
</cp:coreProperties>
</file>