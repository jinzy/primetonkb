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624" r:id="rId2"/>
    <p:sldId id="634" r:id="rId3"/>
    <p:sldId id="635" r:id="rId4"/>
    <p:sldId id="597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aoly" initials="j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375E"/>
    <a:srgbClr val="4D5DB2"/>
    <a:srgbClr val="000000"/>
    <a:srgbClr val="1737AB"/>
    <a:srgbClr val="178586"/>
    <a:srgbClr val="00007F"/>
    <a:srgbClr val="929292"/>
    <a:srgbClr val="D6D6D6"/>
    <a:srgbClr val="797979"/>
    <a:srgbClr val="424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20" autoAdjust="0"/>
    <p:restoredTop sz="79231" autoAdjust="0"/>
  </p:normalViewPr>
  <p:slideViewPr>
    <p:cSldViewPr snapToObjects="1" showGuides="1">
      <p:cViewPr>
        <p:scale>
          <a:sx n="60" d="100"/>
          <a:sy n="60" d="100"/>
        </p:scale>
        <p:origin x="1098" y="-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120" d="100"/>
          <a:sy n="120" d="100"/>
        </p:scale>
        <p:origin x="3712" y="20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34051-BEF0-7D4C-9196-86755A91DC50}" type="datetimeFigureOut">
              <a:rPr kumimoji="1" lang="zh-CN" altLang="en-US" smtClean="0"/>
              <a:pPr/>
              <a:t>2016/4/15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50FCA8-6321-0949-96E4-AD67B1E048D6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9388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E5CB33-C662-8F41-8A71-5104D135C80E}" type="datetimeFigureOut">
              <a:rPr kumimoji="1" lang="zh-CN" altLang="en-US" smtClean="0"/>
              <a:pPr/>
              <a:t>2016/4/15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863DDE-E268-D241-A46D-5F7888E658E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4612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4212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9742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ro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1709441"/>
            <a:ext cx="10363200" cy="988281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2882455"/>
            <a:ext cx="8534400" cy="81668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让创新无限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2"/>
          <p:cNvSpPr>
            <a:spLocks noGrp="1"/>
          </p:cNvSpPr>
          <p:nvPr>
            <p:ph idx="13" hasCustomPrompt="1"/>
          </p:nvPr>
        </p:nvSpPr>
        <p:spPr>
          <a:xfrm>
            <a:off x="612605" y="1052737"/>
            <a:ext cx="10972800" cy="5040560"/>
          </a:xfrm>
          <a:prstGeom prst="rect">
            <a:avLst/>
          </a:prstGeo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 sz="2800">
                <a:solidFill>
                  <a:schemeClr val="tx2">
                    <a:lumMod val="75000"/>
                  </a:schemeClr>
                </a:solidFill>
              </a:defRPr>
            </a:lvl1pPr>
            <a:lvl2pPr marL="742950" indent="-285750">
              <a:spcBef>
                <a:spcPts val="1000"/>
              </a:spcBef>
              <a:buFont typeface="Arial"/>
              <a:buChar char="•"/>
              <a:defRPr sz="2400">
                <a:solidFill>
                  <a:schemeClr val="tx2">
                    <a:lumMod val="75000"/>
                  </a:schemeClr>
                </a:solidFill>
              </a:defRPr>
            </a:lvl2pPr>
            <a:lvl3pPr marL="1143000" indent="-228600">
              <a:spcBef>
                <a:spcPts val="1000"/>
              </a:spcBef>
              <a:buFont typeface="Symbol" charset="2"/>
              <a:buChar char="-"/>
              <a:defRPr sz="2000">
                <a:solidFill>
                  <a:schemeClr val="tx2">
                    <a:lumMod val="75000"/>
                  </a:schemeClr>
                </a:solidFill>
              </a:defRPr>
            </a:lvl3pPr>
            <a:lvl4pPr marL="1600200" indent="-228600">
              <a:buFont typeface="Arial"/>
              <a:buChar char="•"/>
              <a:defRPr sz="1600"/>
            </a:lvl4pPr>
            <a:lvl5pPr>
              <a:defRPr sz="1600"/>
            </a:lvl5pPr>
          </a:lstStyle>
          <a:p>
            <a:pPr lvl="0"/>
            <a:r>
              <a:rPr lang="zh-CN" altLang="en-US" dirty="0"/>
              <a:t>一级正文</a:t>
            </a:r>
            <a:r>
              <a:rPr lang="en-US" altLang="zh-CN" dirty="0"/>
              <a:t>28P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1"/>
            <a:r>
              <a:rPr lang="zh-CN" altLang="en-US" dirty="0"/>
              <a:t>二级正文</a:t>
            </a:r>
            <a:r>
              <a:rPr lang="en-US" altLang="zh-CN" dirty="0"/>
              <a:t>24P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2"/>
            <a:r>
              <a:rPr lang="zh-CN" altLang="en-US" dirty="0"/>
              <a:t>三级正文</a:t>
            </a:r>
            <a:r>
              <a:rPr lang="en-US" altLang="zh-CN" dirty="0"/>
              <a:t>20P</a:t>
            </a:r>
            <a:r>
              <a:rPr lang="zh-CN" altLang="en-US" dirty="0"/>
              <a:t>微软雅黑</a:t>
            </a:r>
            <a:endParaRPr lang="en-US" altLang="zh-CN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295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872078"/>
            <a:ext cx="3503712" cy="598592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en-US" sz="3200" dirty="0">
                <a:latin typeface="Microsoft YaHei" charset="0"/>
                <a:ea typeface="Microsoft YaHei" charset="0"/>
                <a:cs typeface="Microsoft YaHei" charset="0"/>
              </a:rPr>
              <a:t> 目录</a:t>
            </a:r>
            <a:endParaRPr lang="en-US" sz="32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3648074" y="1341438"/>
            <a:ext cx="7920534" cy="4607842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charset="0"/>
              <a:buChar char="•"/>
              <a:defRPr>
                <a:solidFill>
                  <a:schemeClr val="tx2">
                    <a:lumMod val="75000"/>
                  </a:schemeClr>
                </a:solidFill>
              </a:defRPr>
            </a:lvl1pPr>
            <a:lvl2pPr>
              <a:defRPr>
                <a:solidFill>
                  <a:schemeClr val="tx2">
                    <a:lumMod val="75000"/>
                  </a:schemeClr>
                </a:solidFill>
              </a:defRPr>
            </a:lvl2pPr>
            <a:lvl3pPr>
              <a:defRPr>
                <a:solidFill>
                  <a:schemeClr val="tx2">
                    <a:lumMod val="75000"/>
                  </a:schemeClr>
                </a:solidFill>
              </a:defRPr>
            </a:lvl3pPr>
            <a:lvl4pPr>
              <a:defRPr>
                <a:solidFill>
                  <a:schemeClr val="tx2">
                    <a:lumMod val="75000"/>
                  </a:schemeClr>
                </a:solidFill>
              </a:defRPr>
            </a:lvl4pPr>
            <a:lvl5pPr>
              <a:defRPr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0"/>
            <a:endParaRPr lang="zh-CN" altLang="en-US" dirty="0"/>
          </a:p>
          <a:p>
            <a:pPr lvl="0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5157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4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779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600" dirty="0">
                <a:latin typeface="Microsoft YaHei" charset="0"/>
                <a:ea typeface="Microsoft YaHei" charset="0"/>
                <a:cs typeface="Microsoft YaHei" charset="0"/>
              </a:rPr>
              <a:t>谢谢</a:t>
            </a:r>
            <a:endParaRPr lang="en-US" sz="66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上海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北京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广州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西安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武汉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成都 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 ☎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400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820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5821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普元软件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普元信息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192344" y="5638087"/>
            <a:ext cx="270249" cy="270249"/>
          </a:xfrm>
          <a:prstGeom prst="rect">
            <a:avLst/>
          </a:prstGeom>
          <a:noFill/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752184" y="5630248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7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120C7143-BB4D-47C6-9008-44C955299D49}" type="datetimeFigureOut">
              <a:rPr lang="zh-CN" altLang="en-US" smtClean="0"/>
              <a:pPr/>
              <a:t>2016/4/15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9" r:id="rId3"/>
    <p:sldLayoutId id="2147483657" r:id="rId4"/>
    <p:sldLayoutId id="2147483656" r:id="rId5"/>
  </p:sldLayoutIdLst>
  <p:txStyles>
    <p:titleStyle>
      <a:lvl1pPr algn="l" defTabSz="914400" rtl="0" eaLnBrk="1" latinLnBrk="0" hangingPunct="1">
        <a:spcBef>
          <a:spcPct val="0"/>
        </a:spcBef>
        <a:buNone/>
        <a:defRPr sz="4000" b="1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微软雅黑"/>
          <a:ea typeface="微软雅黑"/>
          <a:cs typeface="微软雅黑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0" y="1772816"/>
            <a:ext cx="12192000" cy="2839670"/>
          </a:xfrm>
        </p:spPr>
        <p:txBody>
          <a:bodyPr anchor="ctr">
            <a:noAutofit/>
          </a:bodyPr>
          <a:lstStyle/>
          <a:p>
            <a:pPr>
              <a:lnSpc>
                <a:spcPts val="8000"/>
              </a:lnSpc>
              <a:spcBef>
                <a:spcPts val="1200"/>
              </a:spcBef>
              <a:spcAft>
                <a:spcPts val="600"/>
              </a:spcAft>
            </a:pPr>
            <a:r>
              <a:rPr lang="zh-CN" altLang="en-US" sz="6600" dirty="0" smtClean="0">
                <a:solidFill>
                  <a:srgbClr val="05BAC8"/>
                </a:solidFill>
              </a:rPr>
              <a:t>让我们遇见未来</a:t>
            </a:r>
            <a:r>
              <a:rPr lang="en-US" altLang="zh-CN" sz="5400" dirty="0" smtClean="0">
                <a:solidFill>
                  <a:srgbClr val="05BAC8"/>
                </a:solidFill>
              </a:rPr>
              <a:t/>
            </a:r>
            <a:br>
              <a:rPr lang="en-US" altLang="zh-CN" sz="5400" dirty="0" smtClean="0">
                <a:solidFill>
                  <a:srgbClr val="05BAC8"/>
                </a:solidFill>
              </a:rPr>
            </a:br>
            <a:r>
              <a:rPr lang="zh-CN" altLang="en-US" sz="3600" b="0" dirty="0"/>
              <a:t>数字化企业云</a:t>
            </a:r>
            <a:r>
              <a:rPr lang="zh-CN" altLang="en-US" sz="3600" b="0" dirty="0" smtClean="0"/>
              <a:t>平台</a:t>
            </a:r>
            <a:endParaRPr lang="en-US" sz="3600" b="0" dirty="0"/>
          </a:p>
        </p:txBody>
      </p:sp>
      <p:pic>
        <p:nvPicPr>
          <p:cNvPr id="3074" name="Picture 2" descr="C:\Users\cuishan\Desktop\普元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92" y="692696"/>
            <a:ext cx="1872208" cy="21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/>
          <p:cNvSpPr txBox="1"/>
          <p:nvPr/>
        </p:nvSpPr>
        <p:spPr>
          <a:xfrm>
            <a:off x="4295800" y="6114782"/>
            <a:ext cx="36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 让创新</a:t>
            </a:r>
            <a:r>
              <a:rPr lang="zh-CN" altLang="en-US" sz="1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无限</a:t>
            </a:r>
            <a:endParaRPr lang="en-US" altLang="zh-CN" sz="1600" dirty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15680" y="3356992"/>
            <a:ext cx="5832648" cy="0"/>
          </a:xfrm>
          <a:prstGeom prst="line">
            <a:avLst/>
          </a:prstGeom>
          <a:ln w="12700">
            <a:solidFill>
              <a:srgbClr val="05BAC8"/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6095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培训安排</a:t>
            </a:r>
            <a:endParaRPr lang="zh-CN" altLang="en-US" dirty="0"/>
          </a:p>
        </p:txBody>
      </p:sp>
      <p:sp>
        <p:nvSpPr>
          <p:cNvPr id="9" name="Rectangle 28"/>
          <p:cNvSpPr/>
          <p:nvPr/>
        </p:nvSpPr>
        <p:spPr>
          <a:xfrm>
            <a:off x="1415840" y="1124744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10800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为什么研发新一代云计算平台</a:t>
            </a:r>
            <a:r>
              <a:rPr lang="en-US" altLang="zh-CN" dirty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(40min)</a:t>
            </a:r>
            <a:endParaRPr lang="en-US" altLang="zh-CN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企业数字化转型趋势下，</a:t>
            </a:r>
            <a:r>
              <a:rPr lang="en-US" altLang="zh-CN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</a:t>
            </a: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需要精益运营</a:t>
            </a:r>
            <a:endParaRPr lang="en-US" altLang="zh-CN" sz="14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新一代与新、老客户的关系</a:t>
            </a:r>
            <a:endParaRPr lang="en-US" altLang="zh-CN" sz="14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新一代与普元人的关系</a:t>
            </a:r>
            <a:endParaRPr lang="en-US" altLang="zh-CN" sz="14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新一代与现有产品的关系</a:t>
            </a:r>
            <a:endParaRPr lang="en-US" altLang="zh-CN" sz="16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295800" y="2708920"/>
            <a:ext cx="2729913" cy="10772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)</a:t>
            </a: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zh-CN" altLang="en-US" sz="1600" b="1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1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、企业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数字化的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案例</a:t>
            </a:r>
            <a:endParaRPr lang="en-US" altLang="zh-CN" sz="1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、客户 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精益运营的案例</a:t>
            </a:r>
            <a:endParaRPr lang="en-US" altLang="zh-CN" sz="1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/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12024" y="5661248"/>
            <a:ext cx="288032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</a:t>
            </a:r>
            <a:r>
              <a:rPr lang="en-US" altLang="zh-CN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)</a:t>
            </a:r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</a:p>
          <a:p>
            <a:pPr algn="ctr"/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以所在项目进行</a:t>
            </a:r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客户价值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规划</a:t>
            </a:r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19" name="直接箭头连接符 18"/>
          <p:cNvCxnSpPr>
            <a:stCxn id="9" idx="3"/>
            <a:endCxn id="18" idx="1"/>
          </p:cNvCxnSpPr>
          <p:nvPr/>
        </p:nvCxnSpPr>
        <p:spPr>
          <a:xfrm>
            <a:off x="4655840" y="1916832"/>
            <a:ext cx="1872568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肘形连接符 23"/>
          <p:cNvCxnSpPr>
            <a:stCxn id="18" idx="3"/>
            <a:endCxn id="17" idx="3"/>
          </p:cNvCxnSpPr>
          <p:nvPr/>
        </p:nvCxnSpPr>
        <p:spPr>
          <a:xfrm>
            <a:off x="9768408" y="1916832"/>
            <a:ext cx="1894787" cy="2822936"/>
          </a:xfrm>
          <a:prstGeom prst="bentConnector3">
            <a:avLst>
              <a:gd name="adj1" fmla="val 112065"/>
            </a:avLst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9192344" y="2780928"/>
            <a:ext cx="3162018" cy="73866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</a:t>
            </a: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)</a:t>
            </a: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zh-CN" altLang="en-US" sz="1600" b="1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1</a:t>
            </a:r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、你如何理解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、如何在客户中应用 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36" name="Rectangle 28"/>
          <p:cNvSpPr/>
          <p:nvPr/>
        </p:nvSpPr>
        <p:spPr>
          <a:xfrm>
            <a:off x="142275" y="3933056"/>
            <a:ext cx="2281317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总结</a:t>
            </a:r>
            <a:endParaRPr lang="en-US" altLang="zh-CN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/>
            <a:r>
              <a:rPr 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(20min)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1703512" y="5733256"/>
            <a:ext cx="288032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 </a:t>
            </a:r>
            <a:r>
              <a:rPr lang="en-US" altLang="zh-CN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(60min)</a:t>
            </a:r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</a:p>
          <a:p>
            <a:pPr algn="ctr"/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所在客户 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能力评估</a:t>
            </a:r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7" name="Rectangle 28"/>
          <p:cNvSpPr/>
          <p:nvPr/>
        </p:nvSpPr>
        <p:spPr>
          <a:xfrm>
            <a:off x="8423195" y="3947680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通过客户价值规划提高客户满意度，实现个人与团队的成长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(40min)</a:t>
            </a:r>
            <a:endParaRPr lang="en-US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8" name="Rectangle 28"/>
          <p:cNvSpPr/>
          <p:nvPr/>
        </p:nvSpPr>
        <p:spPr>
          <a:xfrm>
            <a:off x="6528408" y="1124744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10800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数字化企业云平台的第一步</a:t>
            </a:r>
            <a:r>
              <a:rPr lang="en-US" altLang="zh-CN" dirty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DevOps (60min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数字化企业云平台核心架构</a:t>
            </a:r>
            <a:endParaRPr lang="en-US" altLang="zh-CN" sz="1400" dirty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实施云计算从 </a:t>
            </a: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DevOps 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开始</a:t>
            </a:r>
            <a:endParaRPr lang="en-US" altLang="zh-CN" sz="1400" dirty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基本概念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功能与关键技术</a:t>
            </a:r>
            <a:endParaRPr lang="en-US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25" name="Rectangle 28"/>
          <p:cNvSpPr/>
          <p:nvPr/>
        </p:nvSpPr>
        <p:spPr>
          <a:xfrm>
            <a:off x="3791744" y="3933056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10800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从 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能力看 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的精益运营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(40min)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什么是能力模型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管理 </a:t>
            </a: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的基本能力模型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普元产品与企业 </a:t>
            </a: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能力的关系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6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如何进行能力调研</a:t>
            </a:r>
            <a:endParaRPr lang="en-US" altLang="zh-CN" sz="1600" dirty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29" name="直接箭头连接符 28"/>
          <p:cNvCxnSpPr>
            <a:stCxn id="17" idx="1"/>
            <a:endCxn id="25" idx="3"/>
          </p:cNvCxnSpPr>
          <p:nvPr/>
        </p:nvCxnSpPr>
        <p:spPr>
          <a:xfrm flipH="1" flipV="1">
            <a:off x="7031744" y="4725144"/>
            <a:ext cx="1391451" cy="14624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25" idx="1"/>
            <a:endCxn id="36" idx="3"/>
          </p:cNvCxnSpPr>
          <p:nvPr/>
        </p:nvCxnSpPr>
        <p:spPr>
          <a:xfrm flipH="1">
            <a:off x="2423592" y="4725144"/>
            <a:ext cx="1368152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0973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 dirty="0" smtClean="0"/>
              <a:t>分组讨论，每组 </a:t>
            </a:r>
            <a:r>
              <a:rPr lang="en-US" altLang="zh-CN" dirty="0" smtClean="0"/>
              <a:t>7 </a:t>
            </a:r>
            <a:r>
              <a:rPr lang="zh-CN" altLang="en-US" dirty="0" smtClean="0"/>
              <a:t>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由于讨论会涉及所在客户情况，按所在客户情况分组</a:t>
            </a:r>
            <a:endParaRPr lang="en-US" altLang="zh-CN" dirty="0" smtClean="0"/>
          </a:p>
          <a:p>
            <a:r>
              <a:rPr lang="zh-CN" altLang="en-US" dirty="0"/>
              <a:t>讨论</a:t>
            </a:r>
            <a:r>
              <a:rPr lang="zh-CN" altLang="en-US" dirty="0" smtClean="0"/>
              <a:t>后陈述，每组陈述不超过 </a:t>
            </a:r>
            <a:r>
              <a:rPr lang="en-US" altLang="zh-CN" dirty="0" smtClean="0"/>
              <a:t>5 </a:t>
            </a:r>
            <a:r>
              <a:rPr lang="zh-CN" altLang="en-US" dirty="0" smtClean="0"/>
              <a:t>分钟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培训要求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1980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zh-CN" altLang="en-US" sz="6000" dirty="0" smtClean="0"/>
              <a:t>让我们遇见未来</a:t>
            </a:r>
            <a:endParaRPr lang="zh-CN" altLang="en-US" sz="6000" dirty="0"/>
          </a:p>
        </p:txBody>
      </p:sp>
    </p:spTree>
    <p:extLst>
      <p:ext uri="{BB962C8B-B14F-4D97-AF65-F5344CB8AC3E}">
        <p14:creationId xmlns:p14="http://schemas.microsoft.com/office/powerpoint/2010/main" val="3724687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PrimetonBlue">
      <a:dk1>
        <a:srgbClr val="011892"/>
      </a:dk1>
      <a:lt1>
        <a:srgbClr val="FE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tx1">
              <a:lumMod val="75000"/>
            </a:schemeClr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000" dirty="0" smtClean="0">
            <a:solidFill>
              <a:schemeClr val="tx1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25400">
          <a:solidFill>
            <a:schemeClr val="tx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>
            <a:solidFill>
              <a:schemeClr val="tx2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47531</TotalTime>
  <Words>238</Words>
  <Application>Microsoft Office PowerPoint</Application>
  <PresentationFormat>宽屏</PresentationFormat>
  <Paragraphs>38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宋体</vt:lpstr>
      <vt:lpstr>Microsoft YaHei</vt:lpstr>
      <vt:lpstr>Microsoft YaHei</vt:lpstr>
      <vt:lpstr>Arial</vt:lpstr>
      <vt:lpstr>Calibri</vt:lpstr>
      <vt:lpstr>Symbol</vt:lpstr>
      <vt:lpstr>Office 主题</vt:lpstr>
      <vt:lpstr>让我们遇见未来 数字化企业云平台</vt:lpstr>
      <vt:lpstr>培训安排</vt:lpstr>
      <vt:lpstr>培训要求</vt:lpstr>
      <vt:lpstr>让我们遇见未来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产品</dc:title>
  <dc:subject/>
  <dc:creator>jiaoly</dc:creator>
  <cp:keywords/>
  <dc:description/>
  <cp:lastModifiedBy>jiaoly</cp:lastModifiedBy>
  <cp:revision>2707</cp:revision>
  <dcterms:created xsi:type="dcterms:W3CDTF">2014-11-20T02:29:45Z</dcterms:created>
  <dcterms:modified xsi:type="dcterms:W3CDTF">2016-04-15T07:02:46Z</dcterms:modified>
  <cp:category/>
</cp:coreProperties>
</file>