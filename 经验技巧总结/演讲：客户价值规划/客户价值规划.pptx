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624" r:id="rId2"/>
    <p:sldId id="636" r:id="rId3"/>
    <p:sldId id="637" r:id="rId4"/>
    <p:sldId id="638" r:id="rId5"/>
    <p:sldId id="648" r:id="rId6"/>
    <p:sldId id="639" r:id="rId7"/>
    <p:sldId id="641" r:id="rId8"/>
    <p:sldId id="642" r:id="rId9"/>
    <p:sldId id="649" r:id="rId10"/>
    <p:sldId id="643" r:id="rId11"/>
    <p:sldId id="644" r:id="rId12"/>
    <p:sldId id="645" r:id="rId13"/>
    <p:sldId id="646" r:id="rId14"/>
    <p:sldId id="647" r:id="rId15"/>
    <p:sldId id="640" r:id="rId16"/>
    <p:sldId id="650" r:id="rId17"/>
    <p:sldId id="597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aoly" initials="j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375E"/>
    <a:srgbClr val="000000"/>
    <a:srgbClr val="4D5DB2"/>
    <a:srgbClr val="1737AB"/>
    <a:srgbClr val="178586"/>
    <a:srgbClr val="00007F"/>
    <a:srgbClr val="929292"/>
    <a:srgbClr val="D6D6D6"/>
    <a:srgbClr val="797979"/>
    <a:srgbClr val="42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20" autoAdjust="0"/>
    <p:restoredTop sz="78779" autoAdjust="0"/>
  </p:normalViewPr>
  <p:slideViewPr>
    <p:cSldViewPr snapToObjects="1" showGuides="1">
      <p:cViewPr varScale="1">
        <p:scale>
          <a:sx n="69" d="100"/>
          <a:sy n="69" d="100"/>
        </p:scale>
        <p:origin x="738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20" d="100"/>
          <a:sy n="120" d="100"/>
        </p:scale>
        <p:origin x="3712" y="20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34051-BEF0-7D4C-9196-86755A91DC50}" type="datetimeFigureOut">
              <a:rPr kumimoji="1" lang="zh-CN" altLang="en-US" smtClean="0"/>
              <a:pPr/>
              <a:t>2016-05-13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50FCA8-6321-0949-96E4-AD67B1E048D6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9388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E5CB33-C662-8F41-8A71-5104D135C80E}" type="datetimeFigureOut">
              <a:rPr kumimoji="1" lang="zh-CN" altLang="en-US" smtClean="0"/>
              <a:pPr/>
              <a:t>2016-05-13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63DDE-E268-D241-A46D-5F7888E658E3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44612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863DDE-E268-D241-A46D-5F7888E658E3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54212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有人说：老做同一件事，烦死了，感觉自己没有成长</a:t>
            </a:r>
            <a:endParaRPr lang="en-US" altLang="zh-CN" dirty="0" smtClean="0"/>
          </a:p>
          <a:p>
            <a:r>
              <a:rPr lang="zh-CN" altLang="en-US" dirty="0" smtClean="0"/>
              <a:t>有人说：不同部门之间基本没有沟通，不知道别人都做了什么，在客户现场呆久了，感觉被公司遗忘</a:t>
            </a:r>
            <a:endParaRPr lang="en-US" altLang="zh-CN" dirty="0" smtClean="0"/>
          </a:p>
          <a:p>
            <a:r>
              <a:rPr lang="zh-CN" altLang="en-US" dirty="0" smtClean="0"/>
              <a:t>有的团队负责人说：想要建立学习型组织，通过鼓励大家分享，促进团队成长，但做起来总感觉是在布置行政任务，搞一段时间效果不好，然后，也就没有然后了。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我个人也有这个感受，以前</a:t>
            </a:r>
            <a:r>
              <a:rPr lang="en-US" altLang="zh-CN" dirty="0" smtClean="0"/>
              <a:t>PS</a:t>
            </a:r>
            <a:r>
              <a:rPr lang="zh-CN" altLang="en-US" dirty="0" smtClean="0"/>
              <a:t>时期，大家虽然分散在各地，而且大多数时候都是独自一人面对，可那时为何没有这样的感觉？那时的知识分享为啥做的风生水起？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这里面的问题究竟在哪里呢？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863DDE-E268-D241-A46D-5F7888E658E3}" type="slidenum">
              <a:rPr kumimoji="1" lang="zh-CN" altLang="en-US" smtClean="0"/>
              <a:pPr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00029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员工满意度主要受三方面的因素影响：公司平台、薪资激励、个人成长。</a:t>
            </a:r>
            <a:endParaRPr lang="en-US" altLang="zh-CN" dirty="0" smtClean="0"/>
          </a:p>
          <a:p>
            <a:r>
              <a:rPr lang="en-US" altLang="zh-CN" dirty="0" smtClean="0"/>
              <a:t>28</a:t>
            </a:r>
            <a:r>
              <a:rPr lang="zh-CN" altLang="en-US" dirty="0" smtClean="0"/>
              <a:t>岁以前，更关注个人成长；</a:t>
            </a:r>
            <a:endParaRPr lang="en-US" altLang="zh-CN" dirty="0" smtClean="0"/>
          </a:p>
          <a:p>
            <a:r>
              <a:rPr lang="en-US" altLang="zh-CN" dirty="0" smtClean="0"/>
              <a:t>28-35</a:t>
            </a:r>
            <a:r>
              <a:rPr lang="zh-CN" altLang="en-US" dirty="0" smtClean="0"/>
              <a:t>岁，更看重薪资，因为这个时候要成家买房买车；</a:t>
            </a:r>
            <a:endParaRPr lang="en-US" altLang="zh-CN" dirty="0" smtClean="0"/>
          </a:p>
          <a:p>
            <a:r>
              <a:rPr lang="en-US" altLang="zh-CN" dirty="0" smtClean="0"/>
              <a:t>35</a:t>
            </a:r>
            <a:r>
              <a:rPr lang="zh-CN" altLang="en-US" dirty="0" smtClean="0"/>
              <a:t>岁以后，更看重职业平台，以及在这个平台之上的长期发展；</a:t>
            </a:r>
            <a:endParaRPr lang="en-US" altLang="zh-CN" dirty="0" smtClean="0"/>
          </a:p>
          <a:p>
            <a:r>
              <a:rPr lang="zh-CN" altLang="en-US" dirty="0" smtClean="0"/>
              <a:t>一个人在不同阶段关注点有所不同，但这中间始终以个人发展作为主线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863DDE-E268-D241-A46D-5F7888E658E3}" type="slidenum">
              <a:rPr kumimoji="1" lang="zh-CN" altLang="en-US" smtClean="0"/>
              <a:pPr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606998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个人的发展需要建立在“利他”的基础之上，</a:t>
            </a:r>
            <a:endParaRPr lang="en-US" altLang="zh-CN" dirty="0" smtClean="0"/>
          </a:p>
          <a:p>
            <a:r>
              <a:rPr lang="zh-CN" altLang="en-US" dirty="0" smtClean="0"/>
              <a:t>就像司总以前讲的</a:t>
            </a:r>
            <a:r>
              <a:rPr lang="en-US" altLang="zh-CN" dirty="0" smtClean="0"/>
              <a:t>《</a:t>
            </a:r>
            <a:r>
              <a:rPr lang="zh-CN" altLang="en-US" dirty="0" smtClean="0"/>
              <a:t>高效能人士的</a:t>
            </a:r>
            <a:r>
              <a:rPr lang="en-US" altLang="zh-CN" dirty="0" smtClean="0"/>
              <a:t>7</a:t>
            </a:r>
            <a:r>
              <a:rPr lang="zh-CN" altLang="en-US" dirty="0" smtClean="0"/>
              <a:t>个习惯</a:t>
            </a:r>
            <a:r>
              <a:rPr lang="en-US" altLang="zh-CN" dirty="0" smtClean="0"/>
              <a:t>》</a:t>
            </a:r>
            <a:r>
              <a:rPr lang="zh-CN" altLang="en-US" dirty="0" smtClean="0"/>
              <a:t>中所说，先从个人成功的行为准则入手，最终达到公众成功，也就是说，公司的成功建立在个人成功的基础之上。</a:t>
            </a:r>
            <a:endParaRPr lang="en-US" altLang="zh-CN" dirty="0" smtClean="0"/>
          </a:p>
          <a:p>
            <a:r>
              <a:rPr lang="zh-CN" altLang="en-US" dirty="0" smtClean="0"/>
              <a:t>所以很多成功企业家都希望通过帮助公司员工成长，以达到公司成长的最终愿景</a:t>
            </a:r>
            <a:endParaRPr lang="en-US" altLang="zh-CN" dirty="0" smtClean="0"/>
          </a:p>
          <a:p>
            <a:r>
              <a:rPr lang="zh-CN" altLang="en-US" dirty="0" smtClean="0"/>
              <a:t>来看看这些企业家们都说了什么？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其实马云和任正非所说的和稻盛和夫讲的是一致的，那就是“利他”之心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863DDE-E268-D241-A46D-5F7888E658E3}" type="slidenum">
              <a:rPr kumimoji="1" lang="zh-CN" altLang="en-US" smtClean="0"/>
              <a:pPr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18788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此版用于打印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863DDE-E268-D241-A46D-5F7888E658E3}" type="slidenum">
              <a:rPr kumimoji="1" lang="zh-CN" altLang="en-US" smtClean="0"/>
              <a:pPr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22461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此处需要和前面提的问题进行呼应</a:t>
            </a:r>
            <a:endParaRPr lang="en-US" altLang="zh-CN" dirty="0" smtClean="0"/>
          </a:p>
          <a:p>
            <a:r>
              <a:rPr lang="zh-CN" altLang="en-US" dirty="0" smtClean="0"/>
              <a:t>就拿知识分享这件事来说，</a:t>
            </a:r>
            <a:endParaRPr lang="en-US" altLang="zh-CN" dirty="0" smtClean="0"/>
          </a:p>
          <a:p>
            <a:endParaRPr lang="en-US" altLang="zh-CN" dirty="0" smtClean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那么在和客户打交道时，怎么做才是“以利他之心度人生”</a:t>
            </a:r>
            <a:r>
              <a:rPr lang="zh-CN" altLang="en-US" smtClean="0"/>
              <a:t>呢？怎样才能“合作  共赢  创造价值”呢？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863DDE-E268-D241-A46D-5F7888E658E3}" type="slidenum">
              <a:rPr kumimoji="1" lang="zh-CN" altLang="en-US" smtClean="0"/>
              <a:pPr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09283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什么是客户价值规划，或者说做什么才算客户价值规划？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863DDE-E268-D241-A46D-5F7888E658E3}" type="slidenum">
              <a:rPr kumimoji="1" lang="zh-CN" altLang="en-US" smtClean="0"/>
              <a:pPr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312380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863DDE-E268-D241-A46D-5F7888E658E3}" type="slidenum">
              <a:rPr kumimoji="1" lang="zh-CN" altLang="en-US" smtClean="0"/>
              <a:pPr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754976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863DDE-E268-D241-A46D-5F7888E658E3}" type="slidenum">
              <a:rPr kumimoji="1" lang="zh-CN" altLang="en-US" smtClean="0"/>
              <a:pPr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412100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863DDE-E268-D241-A46D-5F7888E658E3}" type="slidenum">
              <a:rPr kumimoji="1" lang="zh-CN" altLang="en-US" smtClean="0"/>
              <a:pPr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49691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漫长的创作，成功后短暂的喜悦，然后是毫不犹豫的毁灭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863DDE-E268-D241-A46D-5F7888E658E3}" type="slidenum">
              <a:rPr kumimoji="1" lang="zh-CN" altLang="en-US" smtClean="0"/>
              <a:pPr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9311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ro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3488" cy="60212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709441"/>
            <a:ext cx="10363200" cy="988281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882455"/>
            <a:ext cx="8534400" cy="81668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9072331" y="6307039"/>
            <a:ext cx="2844800" cy="3651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algn="ctr"/>
            <a:r>
              <a:rPr lang="en-US" altLang="zh-CN"/>
              <a:t>November 17, 2015</a:t>
            </a:r>
            <a:endParaRPr lang="zh-CN" altLang="en-US" dirty="0"/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1695" y="6367933"/>
            <a:ext cx="2768608" cy="243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10"/>
          <p:cNvSpPr/>
          <p:nvPr userDrawn="1"/>
        </p:nvSpPr>
        <p:spPr>
          <a:xfrm>
            <a:off x="0" y="5517232"/>
            <a:ext cx="12193488" cy="50405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>
                <a:latin typeface="Microsoft YaHei" charset="0"/>
                <a:ea typeface="Microsoft YaHei" charset="0"/>
                <a:cs typeface="Microsoft YaHei" charset="0"/>
              </a:rPr>
              <a:t>平台 </a:t>
            </a:r>
            <a:r>
              <a:rPr lang="en-US" altLang="zh-CN" sz="1800" dirty="0">
                <a:latin typeface="Microsoft YaHei" charset="0"/>
                <a:ea typeface="Microsoft YaHei" charset="0"/>
                <a:cs typeface="Microsoft YaHei" charset="0"/>
              </a:rPr>
              <a:t>·</a:t>
            </a:r>
            <a:r>
              <a:rPr lang="zh-CN" altLang="en-US" sz="1800" baseline="0" dirty="0">
                <a:latin typeface="Microsoft YaHei" charset="0"/>
                <a:ea typeface="Microsoft YaHei" charset="0"/>
                <a:cs typeface="Microsoft YaHei" charset="0"/>
              </a:rPr>
              <a:t> 让创新无限</a:t>
            </a:r>
            <a:endParaRPr lang="en-US" sz="1800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3" hasCustomPrompt="1"/>
          </p:nvPr>
        </p:nvSpPr>
        <p:spPr>
          <a:xfrm>
            <a:off x="612605" y="1052737"/>
            <a:ext cx="10972800" cy="5040560"/>
          </a:xfrm>
          <a:prstGeom prst="rect">
            <a:avLst/>
          </a:prstGeom>
        </p:spPr>
        <p:txBody>
          <a:bodyPr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 sz="2800">
                <a:solidFill>
                  <a:schemeClr val="tx2">
                    <a:lumMod val="75000"/>
                  </a:schemeClr>
                </a:solidFill>
              </a:defRPr>
            </a:lvl1pPr>
            <a:lvl2pPr marL="742950" indent="-285750">
              <a:spcBef>
                <a:spcPts val="1000"/>
              </a:spcBef>
              <a:buFont typeface="Arial"/>
              <a:buChar char="•"/>
              <a:defRPr sz="2400">
                <a:solidFill>
                  <a:schemeClr val="tx2">
                    <a:lumMod val="75000"/>
                  </a:schemeClr>
                </a:solidFill>
              </a:defRPr>
            </a:lvl2pPr>
            <a:lvl3pPr marL="1143000" indent="-228600">
              <a:spcBef>
                <a:spcPts val="1000"/>
              </a:spcBef>
              <a:buFont typeface="Symbol" charset="2"/>
              <a:buChar char="-"/>
              <a:defRPr sz="2000">
                <a:solidFill>
                  <a:schemeClr val="tx2">
                    <a:lumMod val="75000"/>
                  </a:schemeClr>
                </a:solidFill>
              </a:defRPr>
            </a:lvl3pPr>
            <a:lvl4pPr marL="1600200" indent="-228600">
              <a:buFont typeface="Arial"/>
              <a:buChar char="•"/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一级正文</a:t>
            </a:r>
            <a:r>
              <a:rPr lang="en-US" altLang="zh-CN" dirty="0"/>
              <a:t>28P</a:t>
            </a:r>
            <a:r>
              <a:rPr lang="zh-CN" altLang="en-US" dirty="0"/>
              <a:t>微软雅黑</a:t>
            </a:r>
            <a:endParaRPr lang="en-US" altLang="zh-CN" dirty="0"/>
          </a:p>
          <a:p>
            <a:pPr lvl="1"/>
            <a:r>
              <a:rPr lang="zh-CN" altLang="en-US" dirty="0"/>
              <a:t>二级正文</a:t>
            </a:r>
            <a:r>
              <a:rPr lang="en-US" altLang="zh-CN" dirty="0"/>
              <a:t>24P</a:t>
            </a:r>
            <a:r>
              <a:rPr lang="zh-CN" altLang="en-US" dirty="0"/>
              <a:t>微软雅黑</a:t>
            </a:r>
            <a:endParaRPr lang="en-US" altLang="zh-CN" dirty="0"/>
          </a:p>
          <a:p>
            <a:pPr lvl="2"/>
            <a:r>
              <a:rPr lang="zh-CN" altLang="en-US" dirty="0"/>
              <a:t>三级正文</a:t>
            </a:r>
            <a:r>
              <a:rPr lang="en-US" altLang="zh-CN" dirty="0"/>
              <a:t>20P</a:t>
            </a:r>
            <a:r>
              <a:rPr lang="zh-CN" altLang="en-US" dirty="0"/>
              <a:t>微软雅黑</a:t>
            </a:r>
            <a:endParaRPr lang="en-US" altLang="zh-CN" dirty="0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68341" y="6428047"/>
            <a:ext cx="2768608" cy="243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3339" y="6307038"/>
            <a:ext cx="2844800" cy="3651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8222EC5C-8AE4-417F-927C-71FD1BF6CFB7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0" y="0"/>
            <a:ext cx="12193488" cy="71798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3" name="Title 2"/>
          <p:cNvSpPr>
            <a:spLocks noGrp="1"/>
          </p:cNvSpPr>
          <p:nvPr>
            <p:ph type="title"/>
          </p:nvPr>
        </p:nvSpPr>
        <p:spPr>
          <a:xfrm>
            <a:off x="142595" y="85722"/>
            <a:ext cx="11905321" cy="546544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 flipV="1">
            <a:off x="-1489" y="772173"/>
            <a:ext cx="12193488" cy="45719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950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872078"/>
            <a:ext cx="3503712" cy="598592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68341" y="6428047"/>
            <a:ext cx="2768608" cy="243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 userDrawn="1"/>
        </p:nvSpPr>
        <p:spPr>
          <a:xfrm>
            <a:off x="-1489" y="0"/>
            <a:ext cx="12193488" cy="71798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3200" dirty="0">
                <a:latin typeface="Microsoft YaHei" charset="0"/>
                <a:ea typeface="Microsoft YaHei" charset="0"/>
                <a:cs typeface="Microsoft YaHei" charset="0"/>
              </a:rPr>
              <a:t> 目录</a:t>
            </a:r>
            <a:endParaRPr lang="en-US" sz="3200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 flipV="1">
            <a:off x="-1489" y="772173"/>
            <a:ext cx="12193488" cy="45719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3339" y="6307038"/>
            <a:ext cx="2844800" cy="3651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8222EC5C-8AE4-417F-927C-71FD1BF6CFB7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648074" y="1341438"/>
            <a:ext cx="7920534" cy="4607842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charset="0"/>
              <a:buChar char="•"/>
              <a:defRPr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  <a:endParaRPr lang="zh-CN" altLang="en-US" dirty="0"/>
          </a:p>
          <a:p>
            <a:pPr lvl="0"/>
            <a:endParaRPr lang="zh-CN" altLang="en-US" dirty="0"/>
          </a:p>
          <a:p>
            <a:pPr lvl="0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35157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68341" y="6428047"/>
            <a:ext cx="2768608" cy="243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 userDrawn="1"/>
        </p:nvSpPr>
        <p:spPr>
          <a:xfrm>
            <a:off x="-1489" y="0"/>
            <a:ext cx="12193488" cy="71798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Rectangle 11"/>
          <p:cNvSpPr/>
          <p:nvPr userDrawn="1"/>
        </p:nvSpPr>
        <p:spPr>
          <a:xfrm flipV="1">
            <a:off x="-1489" y="772173"/>
            <a:ext cx="12193488" cy="45719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3339" y="6307038"/>
            <a:ext cx="2844800" cy="3651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8222EC5C-8AE4-417F-927C-71FD1BF6CFB7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>
          <a:xfrm>
            <a:off x="142595" y="85722"/>
            <a:ext cx="11905321" cy="546544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779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-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68341" y="6428047"/>
            <a:ext cx="2768608" cy="243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49005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1723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3488" cy="60212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600" dirty="0">
                <a:latin typeface="Microsoft YaHei" charset="0"/>
                <a:ea typeface="Microsoft YaHei" charset="0"/>
                <a:cs typeface="Microsoft YaHei" charset="0"/>
              </a:rPr>
              <a:t>谢谢</a:t>
            </a:r>
            <a:endParaRPr lang="en-US" sz="6600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1695" y="6367933"/>
            <a:ext cx="2768608" cy="243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日期占位符 3"/>
          <p:cNvSpPr>
            <a:spLocks noGrp="1"/>
          </p:cNvSpPr>
          <p:nvPr>
            <p:ph type="dt" sz="half" idx="10"/>
          </p:nvPr>
        </p:nvSpPr>
        <p:spPr>
          <a:xfrm>
            <a:off x="9072331" y="6307039"/>
            <a:ext cx="2844800" cy="3651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algn="ctr"/>
            <a:r>
              <a:rPr lang="en-US" altLang="zh-CN"/>
              <a:t>November 17, 2015</a:t>
            </a:r>
            <a:endParaRPr lang="zh-CN" alt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0" y="5517232"/>
            <a:ext cx="12193488" cy="50405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>
                <a:latin typeface="Microsoft YaHei" charset="0"/>
                <a:ea typeface="Microsoft YaHei" charset="0"/>
                <a:cs typeface="Microsoft YaHei" charset="0"/>
              </a:rPr>
              <a:t>上海 </a:t>
            </a:r>
            <a:r>
              <a:rPr lang="en-US" altLang="zh-CN" sz="1800" dirty="0">
                <a:latin typeface="Microsoft YaHei" charset="0"/>
                <a:ea typeface="Microsoft YaHei" charset="0"/>
                <a:cs typeface="Microsoft YaHei" charset="0"/>
              </a:rPr>
              <a:t>·</a:t>
            </a:r>
            <a:r>
              <a:rPr lang="zh-CN" altLang="en-US" sz="1800" dirty="0">
                <a:latin typeface="Microsoft YaHei" charset="0"/>
                <a:ea typeface="Microsoft YaHei" charset="0"/>
                <a:cs typeface="Microsoft YaHei" charset="0"/>
              </a:rPr>
              <a:t> 北京 </a:t>
            </a:r>
            <a:r>
              <a:rPr lang="en-US" altLang="zh-CN" sz="1800" dirty="0">
                <a:latin typeface="Microsoft YaHei" charset="0"/>
                <a:ea typeface="Microsoft YaHei" charset="0"/>
                <a:cs typeface="Microsoft YaHei" charset="0"/>
              </a:rPr>
              <a:t>·</a:t>
            </a:r>
            <a:r>
              <a:rPr lang="zh-CN" altLang="en-US" sz="1800" dirty="0">
                <a:latin typeface="Microsoft YaHei" charset="0"/>
                <a:ea typeface="Microsoft YaHei" charset="0"/>
                <a:cs typeface="Microsoft YaHei" charset="0"/>
              </a:rPr>
              <a:t> 广州 </a:t>
            </a:r>
            <a:r>
              <a:rPr lang="en-US" altLang="zh-CN" sz="1800" dirty="0">
                <a:latin typeface="Microsoft YaHei" charset="0"/>
                <a:ea typeface="Microsoft YaHei" charset="0"/>
                <a:cs typeface="Microsoft YaHei" charset="0"/>
              </a:rPr>
              <a:t>·</a:t>
            </a:r>
            <a:r>
              <a:rPr lang="zh-CN" altLang="en-US" sz="1800" dirty="0">
                <a:latin typeface="Microsoft YaHei" charset="0"/>
                <a:ea typeface="Microsoft YaHei" charset="0"/>
                <a:cs typeface="Microsoft YaHei" charset="0"/>
              </a:rPr>
              <a:t> 西安 </a:t>
            </a:r>
            <a:r>
              <a:rPr lang="en-US" altLang="zh-CN" sz="1800" dirty="0">
                <a:latin typeface="Microsoft YaHei" charset="0"/>
                <a:ea typeface="Microsoft YaHei" charset="0"/>
                <a:cs typeface="Microsoft YaHei" charset="0"/>
              </a:rPr>
              <a:t>·</a:t>
            </a:r>
            <a:r>
              <a:rPr lang="zh-CN" altLang="en-US" sz="1800" dirty="0">
                <a:latin typeface="Microsoft YaHei" charset="0"/>
                <a:ea typeface="Microsoft YaHei" charset="0"/>
                <a:cs typeface="Microsoft YaHei" charset="0"/>
              </a:rPr>
              <a:t> 武汉 </a:t>
            </a:r>
            <a:r>
              <a:rPr lang="en-US" altLang="zh-CN" sz="1800" dirty="0">
                <a:latin typeface="Microsoft YaHei" charset="0"/>
                <a:ea typeface="Microsoft YaHei" charset="0"/>
                <a:cs typeface="Microsoft YaHei" charset="0"/>
              </a:rPr>
              <a:t>·</a:t>
            </a:r>
            <a:r>
              <a:rPr lang="zh-CN" altLang="en-US" sz="1800" dirty="0">
                <a:latin typeface="Microsoft YaHei" charset="0"/>
                <a:ea typeface="Microsoft YaHei" charset="0"/>
                <a:cs typeface="Microsoft YaHei" charset="0"/>
              </a:rPr>
              <a:t> 成都  </a:t>
            </a:r>
            <a:r>
              <a:rPr lang="en-US" altLang="zh-CN" sz="1800" dirty="0">
                <a:latin typeface="Microsoft YaHei" charset="0"/>
                <a:ea typeface="Microsoft YaHei" charset="0"/>
                <a:cs typeface="Microsoft YaHei" charset="0"/>
              </a:rPr>
              <a:t>|</a:t>
            </a:r>
            <a:r>
              <a:rPr lang="zh-CN" altLang="en-US" sz="1800" dirty="0">
                <a:latin typeface="Microsoft YaHei" charset="0"/>
                <a:ea typeface="Microsoft YaHei" charset="0"/>
                <a:cs typeface="Microsoft YaHei" charset="0"/>
              </a:rPr>
              <a:t>  ☎ </a:t>
            </a:r>
            <a:r>
              <a:rPr lang="en-US" altLang="zh-CN" sz="1800" dirty="0">
                <a:latin typeface="Microsoft YaHei" charset="0"/>
                <a:ea typeface="Microsoft YaHei" charset="0"/>
                <a:cs typeface="Microsoft YaHei" charset="0"/>
              </a:rPr>
              <a:t>400</a:t>
            </a:r>
            <a:r>
              <a:rPr lang="zh-CN" altLang="en-US" sz="1800" baseline="0" dirty="0">
                <a:latin typeface="Microsoft YaHei" charset="0"/>
                <a:ea typeface="Microsoft YaHei" charset="0"/>
                <a:cs typeface="Microsoft YaHei" charset="0"/>
              </a:rPr>
              <a:t> </a:t>
            </a:r>
            <a:r>
              <a:rPr lang="en-US" altLang="zh-CN" sz="1800" baseline="0" dirty="0">
                <a:latin typeface="Microsoft YaHei" charset="0"/>
                <a:ea typeface="Microsoft YaHei" charset="0"/>
                <a:cs typeface="Microsoft YaHei" charset="0"/>
              </a:rPr>
              <a:t>820</a:t>
            </a:r>
            <a:r>
              <a:rPr lang="zh-CN" altLang="en-US" sz="1800" baseline="0" dirty="0">
                <a:latin typeface="Microsoft YaHei" charset="0"/>
                <a:ea typeface="Microsoft YaHei" charset="0"/>
                <a:cs typeface="Microsoft YaHei" charset="0"/>
              </a:rPr>
              <a:t> </a:t>
            </a:r>
            <a:r>
              <a:rPr lang="en-US" altLang="zh-CN" sz="1800" baseline="0" dirty="0">
                <a:latin typeface="Microsoft YaHei" charset="0"/>
                <a:ea typeface="Microsoft YaHei" charset="0"/>
                <a:cs typeface="Microsoft YaHei" charset="0"/>
              </a:rPr>
              <a:t>5821</a:t>
            </a:r>
            <a:r>
              <a:rPr lang="zh-CN" altLang="en-US" sz="1800" baseline="0" dirty="0">
                <a:latin typeface="Microsoft YaHei" charset="0"/>
                <a:ea typeface="Microsoft YaHei" charset="0"/>
                <a:cs typeface="Microsoft YaHei" charset="0"/>
              </a:rPr>
              <a:t> </a:t>
            </a:r>
            <a:r>
              <a:rPr lang="en-US" altLang="zh-CN" sz="1800" baseline="0" dirty="0">
                <a:latin typeface="Microsoft YaHei" charset="0"/>
                <a:ea typeface="Microsoft YaHei" charset="0"/>
                <a:cs typeface="Microsoft YaHei" charset="0"/>
              </a:rPr>
              <a:t>|</a:t>
            </a:r>
            <a:r>
              <a:rPr lang="zh-CN" altLang="en-US" sz="1800" baseline="0" dirty="0">
                <a:latin typeface="Microsoft YaHei" charset="0"/>
                <a:ea typeface="Microsoft YaHei" charset="0"/>
                <a:cs typeface="Microsoft YaHei" charset="0"/>
              </a:rPr>
              <a:t>      普元软件 </a:t>
            </a:r>
            <a:r>
              <a:rPr lang="en-US" altLang="zh-CN" sz="1800" baseline="0" dirty="0">
                <a:latin typeface="Microsoft YaHei" charset="0"/>
                <a:ea typeface="Microsoft YaHei" charset="0"/>
                <a:cs typeface="Microsoft YaHei" charset="0"/>
              </a:rPr>
              <a:t>|</a:t>
            </a:r>
            <a:r>
              <a:rPr lang="zh-CN" altLang="en-US" sz="1800" baseline="0" dirty="0">
                <a:latin typeface="Microsoft YaHei" charset="0"/>
                <a:ea typeface="Microsoft YaHei" charset="0"/>
                <a:cs typeface="Microsoft YaHei" charset="0"/>
              </a:rPr>
              <a:t>      普元信息</a:t>
            </a:r>
            <a:endParaRPr lang="en-US" sz="1800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9192344" y="5638087"/>
            <a:ext cx="270249" cy="270249"/>
          </a:xfrm>
          <a:prstGeom prst="rect">
            <a:avLst/>
          </a:prstGeom>
          <a:noFill/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7752184" y="5630248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781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fld id="{120C7143-BB4D-47C6-9008-44C955299D49}" type="datetimeFigureOut">
              <a:rPr lang="zh-CN" altLang="en-US" smtClean="0"/>
              <a:pPr/>
              <a:t>2016-05-13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fld id="{8222EC5C-8AE4-417F-927C-71FD1BF6CFB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9" r:id="rId3"/>
    <p:sldLayoutId id="2147483657" r:id="rId4"/>
    <p:sldLayoutId id="2147483660" r:id="rId5"/>
    <p:sldLayoutId id="2147483661" r:id="rId6"/>
    <p:sldLayoutId id="2147483656" r:id="rId7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微软雅黑"/>
          <a:ea typeface="微软雅黑"/>
          <a:cs typeface="微软雅黑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微软雅黑"/>
          <a:ea typeface="微软雅黑"/>
          <a:cs typeface="微软雅黑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微软雅黑"/>
          <a:ea typeface="微软雅黑"/>
          <a:cs typeface="微软雅黑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0" y="1772816"/>
            <a:ext cx="12192000" cy="2839670"/>
          </a:xfrm>
        </p:spPr>
        <p:txBody>
          <a:bodyPr anchor="ctr">
            <a:noAutofit/>
          </a:bodyPr>
          <a:lstStyle/>
          <a:p>
            <a:pPr>
              <a:lnSpc>
                <a:spcPts val="8000"/>
              </a:lnSpc>
              <a:spcBef>
                <a:spcPts val="1200"/>
              </a:spcBef>
              <a:spcAft>
                <a:spcPts val="600"/>
              </a:spcAft>
            </a:pPr>
            <a:r>
              <a:rPr lang="zh-CN" altLang="en-US" sz="6600" dirty="0" smtClean="0">
                <a:solidFill>
                  <a:srgbClr val="05BAC8"/>
                </a:solidFill>
              </a:rPr>
              <a:t>客户价值规划</a:t>
            </a:r>
            <a:r>
              <a:rPr lang="en-US" altLang="zh-CN" sz="5400" dirty="0" smtClean="0">
                <a:solidFill>
                  <a:srgbClr val="05BAC8"/>
                </a:solidFill>
              </a:rPr>
              <a:t/>
            </a:r>
            <a:br>
              <a:rPr lang="en-US" altLang="zh-CN" sz="5400" dirty="0" smtClean="0">
                <a:solidFill>
                  <a:srgbClr val="05BAC8"/>
                </a:solidFill>
              </a:rPr>
            </a:br>
            <a:r>
              <a:rPr lang="zh-CN" altLang="en-US" sz="3600" b="0" dirty="0"/>
              <a:t>让</a:t>
            </a:r>
            <a:r>
              <a:rPr lang="zh-CN" altLang="en-US" sz="3600" b="0" dirty="0" smtClean="0"/>
              <a:t>我们遇见未来</a:t>
            </a:r>
            <a:endParaRPr lang="en-US" sz="3600" b="0" dirty="0"/>
          </a:p>
        </p:txBody>
      </p:sp>
      <p:pic>
        <p:nvPicPr>
          <p:cNvPr id="3074" name="Picture 2" descr="C:\Users\cuishan\Desktop\普元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92" y="692696"/>
            <a:ext cx="1872208" cy="21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/>
          <p:cNvSpPr txBox="1"/>
          <p:nvPr/>
        </p:nvSpPr>
        <p:spPr>
          <a:xfrm>
            <a:off x="4295800" y="6114782"/>
            <a:ext cx="3600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rPr>
              <a:t>平台 </a:t>
            </a:r>
            <a:r>
              <a:rPr lang="en-US" altLang="zh-CN" sz="1600" dirty="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rPr>
              <a:t>·</a:t>
            </a:r>
            <a:r>
              <a:rPr lang="zh-CN" altLang="en-US" sz="1600" dirty="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rPr>
              <a:t> 让创新</a:t>
            </a:r>
            <a:r>
              <a:rPr lang="zh-CN" altLang="en-US" sz="1600" dirty="0" smtClean="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rPr>
              <a:t>无限</a:t>
            </a:r>
            <a:endParaRPr lang="en-US" altLang="zh-CN" sz="1600" dirty="0">
              <a:solidFill>
                <a:schemeClr val="bg1"/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cxnSp>
        <p:nvCxnSpPr>
          <p:cNvPr id="43" name="直接连接符 42"/>
          <p:cNvCxnSpPr/>
          <p:nvPr/>
        </p:nvCxnSpPr>
        <p:spPr>
          <a:xfrm>
            <a:off x="3215680" y="3356992"/>
            <a:ext cx="5832648" cy="0"/>
          </a:xfrm>
          <a:prstGeom prst="line">
            <a:avLst/>
          </a:prstGeom>
          <a:ln w="12700">
            <a:solidFill>
              <a:srgbClr val="05BAC8"/>
            </a:solidFill>
            <a:prstDash val="sysDot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6095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今天的话题缘起于一次在新一代现场的聊天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16" y="1484784"/>
            <a:ext cx="5677705" cy="4258277"/>
          </a:xfrm>
          <a:prstGeom prst="rect">
            <a:avLst/>
          </a:prstGeom>
        </p:spPr>
      </p:pic>
      <p:sp>
        <p:nvSpPr>
          <p:cNvPr id="7" name="流程图: 过程 6"/>
          <p:cNvSpPr/>
          <p:nvPr/>
        </p:nvSpPr>
        <p:spPr>
          <a:xfrm>
            <a:off x="7090676" y="2086890"/>
            <a:ext cx="4104456" cy="720080"/>
          </a:xfrm>
          <a:prstGeom prst="flowChartProcess">
            <a:avLst/>
          </a:prstGeom>
          <a:solidFill>
            <a:srgbClr val="17375E"/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000" b="1" dirty="0" smtClean="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rPr>
              <a:t>为什么我们的客户满意度不够高？</a:t>
            </a:r>
          </a:p>
        </p:txBody>
      </p:sp>
      <p:sp>
        <p:nvSpPr>
          <p:cNvPr id="8" name="流程图: 过程 7"/>
          <p:cNvSpPr/>
          <p:nvPr/>
        </p:nvSpPr>
        <p:spPr>
          <a:xfrm>
            <a:off x="7104112" y="4149080"/>
            <a:ext cx="4104456" cy="720080"/>
          </a:xfrm>
          <a:prstGeom prst="flowChartProcess">
            <a:avLst/>
          </a:prstGeom>
          <a:solidFill>
            <a:srgbClr val="17375E"/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000" b="1" dirty="0" smtClean="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rPr>
              <a:t>为什么我们的员工满意度不够高？</a:t>
            </a:r>
          </a:p>
        </p:txBody>
      </p:sp>
      <p:sp>
        <p:nvSpPr>
          <p:cNvPr id="9" name="流程图: 过程 8"/>
          <p:cNvSpPr/>
          <p:nvPr/>
        </p:nvSpPr>
        <p:spPr>
          <a:xfrm>
            <a:off x="7104112" y="3117985"/>
            <a:ext cx="4104456" cy="720080"/>
          </a:xfrm>
          <a:prstGeom prst="flowChartProcess">
            <a:avLst/>
          </a:prstGeom>
          <a:solidFill>
            <a:srgbClr val="17375E"/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rPr>
              <a:t>是因为</a:t>
            </a:r>
            <a:r>
              <a:rPr lang="zh-CN" altLang="en-US" sz="2000" b="1" dirty="0" smtClean="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rPr>
              <a:t>我们的员工满意度不够高！</a:t>
            </a:r>
          </a:p>
        </p:txBody>
      </p:sp>
    </p:spTree>
    <p:extLst>
      <p:ext uri="{BB962C8B-B14F-4D97-AF65-F5344CB8AC3E}">
        <p14:creationId xmlns:p14="http://schemas.microsoft.com/office/powerpoint/2010/main" val="3100532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员工</a:t>
            </a:r>
            <a:r>
              <a:rPr lang="zh-CN" altLang="en-US" dirty="0" smtClean="0"/>
              <a:t>满意度来自于多方面，个人发展是主线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2279576" y="4276508"/>
            <a:ext cx="7544080" cy="1279556"/>
          </a:xfrm>
          <a:prstGeom prst="rect">
            <a:avLst/>
          </a:prstGeom>
          <a:solidFill>
            <a:srgbClr val="00B0F0">
              <a:alpha val="60000"/>
            </a:srgb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 smtClean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279576" y="3006260"/>
            <a:ext cx="7544080" cy="1279556"/>
          </a:xfrm>
          <a:prstGeom prst="rect">
            <a:avLst/>
          </a:prstGeom>
          <a:solidFill>
            <a:srgbClr val="FFC000">
              <a:alpha val="60000"/>
            </a:srgb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 smtClean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279576" y="1726705"/>
            <a:ext cx="7544080" cy="1279556"/>
          </a:xfrm>
          <a:prstGeom prst="rect">
            <a:avLst/>
          </a:prstGeom>
          <a:solidFill>
            <a:srgbClr val="92D050">
              <a:alpha val="60000"/>
            </a:srgb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 smtClean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V="1">
            <a:off x="2279576" y="1321447"/>
            <a:ext cx="0" cy="4248472"/>
          </a:xfrm>
          <a:prstGeom prst="straightConnector1">
            <a:avLst/>
          </a:prstGeom>
          <a:ln w="25400">
            <a:solidFill>
              <a:schemeClr val="tx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2279576" y="5556064"/>
            <a:ext cx="8136904" cy="0"/>
          </a:xfrm>
          <a:prstGeom prst="straightConnector1">
            <a:avLst/>
          </a:prstGeom>
          <a:ln w="25400">
            <a:solidFill>
              <a:schemeClr val="tx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4799856" y="3196388"/>
            <a:ext cx="2376264" cy="288032"/>
          </a:xfrm>
          <a:prstGeom prst="line">
            <a:avLst/>
          </a:prstGeom>
          <a:ln w="25400"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2855640" y="3484420"/>
            <a:ext cx="1944216" cy="1368152"/>
          </a:xfrm>
          <a:prstGeom prst="line">
            <a:avLst/>
          </a:prstGeom>
          <a:ln w="25400"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 flipV="1">
            <a:off x="7176120" y="1972252"/>
            <a:ext cx="2376264" cy="1224136"/>
          </a:xfrm>
          <a:prstGeom prst="straightConnector1">
            <a:avLst/>
          </a:prstGeom>
          <a:ln w="25400">
            <a:solidFill>
              <a:schemeClr val="tx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4813711" y="1307592"/>
            <a:ext cx="0" cy="4234617"/>
          </a:xfrm>
          <a:prstGeom prst="line">
            <a:avLst/>
          </a:prstGeom>
          <a:ln w="25400">
            <a:solidFill>
              <a:schemeClr val="tx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7176120" y="1307592"/>
            <a:ext cx="0" cy="4234617"/>
          </a:xfrm>
          <a:prstGeom prst="line">
            <a:avLst/>
          </a:prstGeom>
          <a:ln w="25400">
            <a:solidFill>
              <a:schemeClr val="tx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2639616" y="1321447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28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岁以前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5092700" y="1325420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28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岁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-35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岁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7543800" y="1325420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35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岁以后</a:t>
            </a:r>
          </a:p>
        </p:txBody>
      </p:sp>
      <p:sp>
        <p:nvSpPr>
          <p:cNvPr id="40" name="流程图: 联系 39"/>
          <p:cNvSpPr/>
          <p:nvPr/>
        </p:nvSpPr>
        <p:spPr>
          <a:xfrm>
            <a:off x="3650240" y="2068252"/>
            <a:ext cx="245913" cy="23451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 smtClean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41" name="流程图: 联系 40"/>
          <p:cNvSpPr/>
          <p:nvPr/>
        </p:nvSpPr>
        <p:spPr>
          <a:xfrm>
            <a:off x="3128728" y="2051680"/>
            <a:ext cx="245913" cy="23451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 smtClean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42" name="流程图: 联系 41"/>
          <p:cNvSpPr/>
          <p:nvPr/>
        </p:nvSpPr>
        <p:spPr>
          <a:xfrm>
            <a:off x="2732683" y="2445222"/>
            <a:ext cx="245913" cy="23451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 smtClean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43" name="流程图: 联系 42"/>
          <p:cNvSpPr/>
          <p:nvPr/>
        </p:nvSpPr>
        <p:spPr>
          <a:xfrm>
            <a:off x="3162326" y="2489068"/>
            <a:ext cx="245913" cy="23451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 smtClean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44" name="流程图: 联系 43"/>
          <p:cNvSpPr/>
          <p:nvPr/>
        </p:nvSpPr>
        <p:spPr>
          <a:xfrm>
            <a:off x="3685049" y="2531765"/>
            <a:ext cx="245913" cy="23451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 smtClean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45" name="流程图: 联系 44"/>
          <p:cNvSpPr/>
          <p:nvPr/>
        </p:nvSpPr>
        <p:spPr>
          <a:xfrm>
            <a:off x="4134433" y="2159755"/>
            <a:ext cx="245913" cy="23451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 smtClean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46" name="流程图: 联系 45"/>
          <p:cNvSpPr/>
          <p:nvPr/>
        </p:nvSpPr>
        <p:spPr>
          <a:xfrm>
            <a:off x="3170847" y="3406868"/>
            <a:ext cx="245913" cy="23451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47" name="流程图: 联系 46"/>
          <p:cNvSpPr/>
          <p:nvPr/>
        </p:nvSpPr>
        <p:spPr>
          <a:xfrm>
            <a:off x="3736794" y="3676526"/>
            <a:ext cx="245913" cy="23451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48" name="流程图: 联系 47"/>
          <p:cNvSpPr/>
          <p:nvPr/>
        </p:nvSpPr>
        <p:spPr>
          <a:xfrm>
            <a:off x="3451478" y="4799028"/>
            <a:ext cx="245913" cy="23451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49" name="流程图: 联系 48"/>
          <p:cNvSpPr/>
          <p:nvPr/>
        </p:nvSpPr>
        <p:spPr>
          <a:xfrm>
            <a:off x="5528573" y="4534573"/>
            <a:ext cx="245913" cy="23451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50" name="流程图: 联系 49"/>
          <p:cNvSpPr/>
          <p:nvPr/>
        </p:nvSpPr>
        <p:spPr>
          <a:xfrm>
            <a:off x="6386200" y="5131420"/>
            <a:ext cx="245913" cy="23451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51" name="流程图: 联系 50"/>
          <p:cNvSpPr/>
          <p:nvPr/>
        </p:nvSpPr>
        <p:spPr>
          <a:xfrm>
            <a:off x="5626046" y="3211167"/>
            <a:ext cx="245913" cy="23451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52" name="流程图: 联系 51"/>
          <p:cNvSpPr/>
          <p:nvPr/>
        </p:nvSpPr>
        <p:spPr>
          <a:xfrm>
            <a:off x="6223987" y="3223146"/>
            <a:ext cx="245913" cy="23451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53" name="流程图: 联系 52"/>
          <p:cNvSpPr/>
          <p:nvPr/>
        </p:nvSpPr>
        <p:spPr>
          <a:xfrm>
            <a:off x="6648827" y="3533282"/>
            <a:ext cx="245913" cy="23451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54" name="流程图: 联系 53"/>
          <p:cNvSpPr/>
          <p:nvPr/>
        </p:nvSpPr>
        <p:spPr>
          <a:xfrm>
            <a:off x="6386199" y="3875872"/>
            <a:ext cx="245913" cy="23451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55" name="流程图: 联系 54"/>
          <p:cNvSpPr/>
          <p:nvPr/>
        </p:nvSpPr>
        <p:spPr>
          <a:xfrm>
            <a:off x="6034680" y="3837262"/>
            <a:ext cx="245913" cy="23451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56" name="流程图: 联系 55"/>
          <p:cNvSpPr/>
          <p:nvPr/>
        </p:nvSpPr>
        <p:spPr>
          <a:xfrm>
            <a:off x="5354042" y="3767798"/>
            <a:ext cx="245913" cy="23451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57" name="流程图: 联系 56"/>
          <p:cNvSpPr/>
          <p:nvPr/>
        </p:nvSpPr>
        <p:spPr>
          <a:xfrm>
            <a:off x="5651529" y="1925239"/>
            <a:ext cx="245913" cy="23451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 smtClean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58" name="流程图: 联系 57"/>
          <p:cNvSpPr/>
          <p:nvPr/>
        </p:nvSpPr>
        <p:spPr>
          <a:xfrm>
            <a:off x="6327962" y="1962466"/>
            <a:ext cx="245913" cy="23451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 smtClean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59" name="流程图: 联系 58"/>
          <p:cNvSpPr/>
          <p:nvPr/>
        </p:nvSpPr>
        <p:spPr>
          <a:xfrm>
            <a:off x="5399771" y="2450596"/>
            <a:ext cx="245913" cy="23451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 smtClean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60" name="流程图: 联系 59"/>
          <p:cNvSpPr/>
          <p:nvPr/>
        </p:nvSpPr>
        <p:spPr>
          <a:xfrm>
            <a:off x="6019168" y="2576890"/>
            <a:ext cx="245913" cy="23451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 smtClean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61" name="流程图: 联系 60"/>
          <p:cNvSpPr/>
          <p:nvPr/>
        </p:nvSpPr>
        <p:spPr>
          <a:xfrm>
            <a:off x="8206868" y="4534024"/>
            <a:ext cx="245913" cy="23451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62" name="流程图: 联系 61"/>
          <p:cNvSpPr/>
          <p:nvPr/>
        </p:nvSpPr>
        <p:spPr>
          <a:xfrm>
            <a:off x="8770271" y="4618909"/>
            <a:ext cx="245913" cy="23451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63" name="流程图: 联系 62"/>
          <p:cNvSpPr/>
          <p:nvPr/>
        </p:nvSpPr>
        <p:spPr>
          <a:xfrm>
            <a:off x="7970762" y="4887384"/>
            <a:ext cx="245913" cy="23451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64" name="流程图: 联系 63"/>
          <p:cNvSpPr/>
          <p:nvPr/>
        </p:nvSpPr>
        <p:spPr>
          <a:xfrm>
            <a:off x="8479904" y="4982171"/>
            <a:ext cx="245913" cy="23451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65" name="流程图: 联系 64"/>
          <p:cNvSpPr/>
          <p:nvPr/>
        </p:nvSpPr>
        <p:spPr>
          <a:xfrm>
            <a:off x="8050461" y="3332815"/>
            <a:ext cx="245913" cy="23451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66" name="流程图: 联系 65"/>
          <p:cNvSpPr/>
          <p:nvPr/>
        </p:nvSpPr>
        <p:spPr>
          <a:xfrm>
            <a:off x="8615190" y="3236066"/>
            <a:ext cx="245913" cy="23451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67" name="流程图: 联系 66"/>
          <p:cNvSpPr/>
          <p:nvPr/>
        </p:nvSpPr>
        <p:spPr>
          <a:xfrm>
            <a:off x="8324018" y="3775485"/>
            <a:ext cx="245913" cy="23451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68" name="流程图: 联系 67"/>
          <p:cNvSpPr/>
          <p:nvPr/>
        </p:nvSpPr>
        <p:spPr>
          <a:xfrm>
            <a:off x="8167732" y="1934422"/>
            <a:ext cx="245913" cy="23451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 smtClean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69" name="流程图: 联系 68"/>
          <p:cNvSpPr/>
          <p:nvPr/>
        </p:nvSpPr>
        <p:spPr>
          <a:xfrm>
            <a:off x="8688810" y="1995536"/>
            <a:ext cx="245913" cy="23451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 smtClean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70" name="流程图: 联系 69"/>
          <p:cNvSpPr/>
          <p:nvPr/>
        </p:nvSpPr>
        <p:spPr>
          <a:xfrm>
            <a:off x="7997674" y="2293585"/>
            <a:ext cx="245913" cy="23451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 smtClean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71" name="流程图: 联系 70"/>
          <p:cNvSpPr/>
          <p:nvPr/>
        </p:nvSpPr>
        <p:spPr>
          <a:xfrm>
            <a:off x="8861103" y="3694929"/>
            <a:ext cx="245913" cy="23451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 smtClean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72" name="流程图: 联系 71"/>
          <p:cNvSpPr/>
          <p:nvPr/>
        </p:nvSpPr>
        <p:spPr>
          <a:xfrm>
            <a:off x="8442897" y="2558370"/>
            <a:ext cx="245913" cy="23451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 smtClean="0">
              <a:solidFill>
                <a:schemeClr val="tx1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4957" y="2123661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个人成长</a:t>
            </a:r>
            <a:endParaRPr lang="zh-CN" altLang="en-US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650010" y="3390900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薪资激励</a:t>
            </a:r>
            <a:endParaRPr lang="zh-CN" altLang="en-US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650010" y="4660900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公司平台</a:t>
            </a:r>
            <a:endParaRPr lang="zh-CN" altLang="en-US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780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6" fill="hold">
                            <p:stCondLst>
                              <p:cond delay="500"/>
                            </p:stCondLst>
                            <p:childTnLst>
                              <p:par>
                                <p:cTn id="3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16" grpId="0" animBg="1"/>
      <p:bldP spid="37" grpId="0"/>
      <p:bldP spid="38" grpId="0"/>
      <p:bldP spid="39" grpId="0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8" grpId="0" animBg="1"/>
      <p:bldP spid="68" grpId="1" animBg="1"/>
      <p:bldP spid="69" grpId="0" animBg="1"/>
      <p:bldP spid="69" grpId="1" animBg="1"/>
      <p:bldP spid="70" grpId="0" animBg="1"/>
      <p:bldP spid="70" grpId="1" animBg="1"/>
      <p:bldP spid="71" grpId="0" animBg="1"/>
      <p:bldP spid="71" grpId="1" animBg="1"/>
      <p:bldP spid="72" grpId="0" animBg="1"/>
      <p:bldP spid="72" grpId="1" animBg="1"/>
      <p:bldP spid="2" grpId="0"/>
      <p:bldP spid="73" grpId="0"/>
      <p:bldP spid="7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个人的发展需要建立在“利他”的基础之上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909" y="1148857"/>
            <a:ext cx="5134692" cy="56967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312024" y="1426902"/>
            <a:ext cx="5328592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稻盛和夫：</a:t>
            </a:r>
            <a:endParaRPr lang="en-US" altLang="zh-CN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	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以利他之心度人生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312024" y="2522896"/>
            <a:ext cx="53285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马云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：</a:t>
            </a:r>
            <a:endParaRPr lang="en-US" altLang="zh-CN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	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阿里巴巴考核我们自己是否成功的一个重要因素，不是我们有没有成功，而是我们的客户因为我们有没有成功</a:t>
            </a:r>
            <a:endParaRPr lang="zh-CN" altLang="en-US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12024" y="4498809"/>
            <a:ext cx="532859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任正非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：</a:t>
            </a:r>
            <a:endParaRPr lang="en-US" altLang="zh-CN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	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华为的核心价值观是“以客户为中心，以奋斗者为本，长期艰苦奋斗，坚持自我批判”</a:t>
            </a:r>
          </a:p>
        </p:txBody>
      </p:sp>
    </p:spTree>
    <p:extLst>
      <p:ext uri="{BB962C8B-B14F-4D97-AF65-F5344CB8AC3E}">
        <p14:creationId xmlns:p14="http://schemas.microsoft.com/office/powerpoint/2010/main" val="2856832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个人的</a:t>
            </a:r>
            <a:r>
              <a:rPr lang="zh-CN" altLang="en-US" dirty="0"/>
              <a:t>发展</a:t>
            </a:r>
            <a:r>
              <a:rPr lang="zh-CN" altLang="en-US" dirty="0" smtClean="0"/>
              <a:t>需要建立在“利他”的基础之上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4" y="1148857"/>
            <a:ext cx="5134692" cy="56967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312024" y="1426902"/>
            <a:ext cx="5328592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稻盛和夫：</a:t>
            </a:r>
            <a:endParaRPr lang="en-US" altLang="zh-CN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	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以利他之心度人生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312024" y="2522896"/>
            <a:ext cx="53285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马云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：</a:t>
            </a:r>
            <a:endParaRPr lang="en-US" altLang="zh-CN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	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阿里巴巴考核我们自己是否成功的一个重要因素，不是我们有没有成功，而是我们的客户因为我们有没有成功</a:t>
            </a:r>
            <a:endParaRPr lang="zh-CN" altLang="en-US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12024" y="4498809"/>
            <a:ext cx="532859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任正非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：</a:t>
            </a:r>
            <a:endParaRPr lang="en-US" altLang="zh-CN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	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华为的核心价值观是“以客户为中心，以奋斗者为本，长期艰苦奋斗，坚持自我批判”</a:t>
            </a:r>
          </a:p>
        </p:txBody>
      </p:sp>
      <p:sp>
        <p:nvSpPr>
          <p:cNvPr id="2" name="圆角矩形 1"/>
          <p:cNvSpPr/>
          <p:nvPr/>
        </p:nvSpPr>
        <p:spPr>
          <a:xfrm rot="2455371">
            <a:off x="10351351" y="848251"/>
            <a:ext cx="1666301" cy="714129"/>
          </a:xfrm>
          <a:prstGeom prst="roundRect">
            <a:avLst/>
          </a:prstGeom>
          <a:solidFill>
            <a:schemeClr val="lt1">
              <a:alpha val="0"/>
            </a:schemeClr>
          </a:solidFill>
          <a:ln w="508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600" b="1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Microsoft YaHei" charset="0"/>
              </a:rPr>
              <a:t>打 印 版</a:t>
            </a:r>
          </a:p>
        </p:txBody>
      </p:sp>
    </p:spTree>
    <p:extLst>
      <p:ext uri="{BB962C8B-B14F-4D97-AF65-F5344CB8AC3E}">
        <p14:creationId xmlns:p14="http://schemas.microsoft.com/office/powerpoint/2010/main" val="183935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“利他”的本质是通过帮助他人成功，实现</a:t>
            </a:r>
            <a:r>
              <a:rPr lang="zh-CN" altLang="en-US" dirty="0"/>
              <a:t>利己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791744" y="2564904"/>
            <a:ext cx="619268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600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诚实    尊重    超越自我</a:t>
            </a:r>
            <a:endParaRPr lang="en-US" altLang="zh-CN" sz="2600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600" dirty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	</a:t>
            </a:r>
            <a:r>
              <a:rPr lang="zh-CN" altLang="en-US" sz="2600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合作    共赢    创造价值</a:t>
            </a:r>
          </a:p>
        </p:txBody>
      </p:sp>
    </p:spTree>
    <p:extLst>
      <p:ext uri="{BB962C8B-B14F-4D97-AF65-F5344CB8AC3E}">
        <p14:creationId xmlns:p14="http://schemas.microsoft.com/office/powerpoint/2010/main" val="1205217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通过“客户价值规划”实现个人、公司、客户的双赢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2602867" y="2420888"/>
            <a:ext cx="698477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2600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站在客户的角度，结合公司价值，</a:t>
            </a:r>
            <a:endParaRPr lang="en-US" altLang="zh-CN" sz="2600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 algn="ctr">
              <a:lnSpc>
                <a:spcPct val="200000"/>
              </a:lnSpc>
            </a:pPr>
            <a:r>
              <a:rPr lang="zh-CN" altLang="en-US" sz="2600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想客户之所想，解客户之所困，规划路径，</a:t>
            </a:r>
            <a:endParaRPr lang="en-US" altLang="zh-CN" sz="2600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 algn="ctr">
              <a:lnSpc>
                <a:spcPct val="200000"/>
              </a:lnSpc>
            </a:pPr>
            <a:r>
              <a:rPr lang="zh-CN" altLang="en-US" sz="2600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在这个过程中得到个人成长，</a:t>
            </a:r>
            <a:r>
              <a:rPr lang="zh-CN" altLang="en-US" sz="2600" dirty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实</a:t>
            </a:r>
            <a:r>
              <a:rPr lang="zh-CN" altLang="en-US" sz="2600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现自我价值</a:t>
            </a:r>
          </a:p>
        </p:txBody>
      </p:sp>
    </p:spTree>
    <p:extLst>
      <p:ext uri="{BB962C8B-B14F-4D97-AF65-F5344CB8AC3E}">
        <p14:creationId xmlns:p14="http://schemas.microsoft.com/office/powerpoint/2010/main" val="3368003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一个真实的客户案例</a:t>
            </a:r>
            <a:endParaRPr lang="zh-CN" altLang="en-US" dirty="0"/>
          </a:p>
        </p:txBody>
      </p:sp>
      <p:pic>
        <p:nvPicPr>
          <p:cNvPr id="3" name="Picture 1" descr="C:\Users\ASUS\Documents\Tencent Files\76431718\Image\C2C\EM_NRJO50C5W)$X`4TWNZRS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0467" y="1557687"/>
            <a:ext cx="7629575" cy="2422088"/>
          </a:xfrm>
          <a:prstGeom prst="rect">
            <a:avLst/>
          </a:prstGeom>
          <a:noFill/>
        </p:spPr>
      </p:pic>
      <p:sp>
        <p:nvSpPr>
          <p:cNvPr id="5" name="文本框 4"/>
          <p:cNvSpPr txBox="1"/>
          <p:nvPr/>
        </p:nvSpPr>
        <p:spPr>
          <a:xfrm>
            <a:off x="2711624" y="4388911"/>
            <a:ext cx="6768752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Blip>
                <a:blip r:embed="rId4"/>
              </a:buBlip>
            </a:pP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2012-2015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，保费收入增长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20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倍</a:t>
            </a:r>
            <a:endParaRPr lang="en-US" altLang="zh-CN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 marL="285750" indent="-285750">
              <a:lnSpc>
                <a:spcPct val="200000"/>
              </a:lnSpc>
              <a:buBlip>
                <a:blip r:embed="rId4"/>
              </a:buBlip>
            </a:pP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2015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年，行业排名第四</a:t>
            </a:r>
          </a:p>
        </p:txBody>
      </p:sp>
    </p:spTree>
    <p:extLst>
      <p:ext uri="{BB962C8B-B14F-4D97-AF65-F5344CB8AC3E}">
        <p14:creationId xmlns:p14="http://schemas.microsoft.com/office/powerpoint/2010/main" val="3757952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343472" y="3308323"/>
            <a:ext cx="9217024" cy="0"/>
          </a:xfrm>
          <a:prstGeom prst="line">
            <a:avLst/>
          </a:prstGeom>
          <a:ln w="25400"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/>
        </p:nvGrpSpPr>
        <p:grpSpPr>
          <a:xfrm>
            <a:off x="2200367" y="1916832"/>
            <a:ext cx="79209" cy="1391491"/>
            <a:chOff x="1932524" y="2492896"/>
            <a:chExt cx="79209" cy="1391491"/>
          </a:xfrm>
        </p:grpSpPr>
        <p:sp>
          <p:nvSpPr>
            <p:cNvPr id="6" name="流程图: 联系 5"/>
            <p:cNvSpPr/>
            <p:nvPr/>
          </p:nvSpPr>
          <p:spPr>
            <a:xfrm>
              <a:off x="1932524" y="2492896"/>
              <a:ext cx="79209" cy="79209"/>
            </a:xfrm>
            <a:prstGeom prst="flowChartConnector">
              <a:avLst/>
            </a:prstGeom>
            <a:ln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endParaRPr>
            </a:p>
          </p:txBody>
        </p:sp>
        <p:cxnSp>
          <p:nvCxnSpPr>
            <p:cNvPr id="8" name="直接连接符 7"/>
            <p:cNvCxnSpPr>
              <a:stCxn id="6" idx="4"/>
            </p:cNvCxnSpPr>
            <p:nvPr/>
          </p:nvCxnSpPr>
          <p:spPr>
            <a:xfrm>
              <a:off x="1972129" y="2572105"/>
              <a:ext cx="0" cy="1312282"/>
            </a:xfrm>
            <a:prstGeom prst="line">
              <a:avLst/>
            </a:prstGeom>
            <a:ln w="25400">
              <a:solidFill>
                <a:schemeClr val="tx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文本框 11"/>
          <p:cNvSpPr txBox="1"/>
          <p:nvPr/>
        </p:nvSpPr>
        <p:spPr>
          <a:xfrm>
            <a:off x="1955540" y="1507896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ESB</a:t>
            </a:r>
            <a:endParaRPr lang="zh-CN" altLang="en-US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 rot="10800000">
            <a:off x="3134456" y="3298839"/>
            <a:ext cx="79209" cy="1391491"/>
            <a:chOff x="1932524" y="2492896"/>
            <a:chExt cx="79209" cy="1391491"/>
          </a:xfrm>
        </p:grpSpPr>
        <p:sp>
          <p:nvSpPr>
            <p:cNvPr id="14" name="流程图: 联系 13"/>
            <p:cNvSpPr/>
            <p:nvPr/>
          </p:nvSpPr>
          <p:spPr>
            <a:xfrm>
              <a:off x="1932524" y="2492896"/>
              <a:ext cx="79209" cy="79209"/>
            </a:xfrm>
            <a:prstGeom prst="flowChartConnector">
              <a:avLst/>
            </a:prstGeom>
            <a:ln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endParaRPr>
            </a:p>
          </p:txBody>
        </p:sp>
        <p:cxnSp>
          <p:nvCxnSpPr>
            <p:cNvPr id="15" name="直接连接符 14"/>
            <p:cNvCxnSpPr>
              <a:stCxn id="14" idx="4"/>
            </p:cNvCxnSpPr>
            <p:nvPr/>
          </p:nvCxnSpPr>
          <p:spPr>
            <a:xfrm>
              <a:off x="1972129" y="2572105"/>
              <a:ext cx="0" cy="1312282"/>
            </a:xfrm>
            <a:prstGeom prst="line">
              <a:avLst/>
            </a:prstGeom>
            <a:ln w="25400">
              <a:solidFill>
                <a:schemeClr val="tx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文本框 15"/>
          <p:cNvSpPr txBox="1"/>
          <p:nvPr/>
        </p:nvSpPr>
        <p:spPr>
          <a:xfrm>
            <a:off x="2639616" y="4725564"/>
            <a:ext cx="11480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质量管理</a:t>
            </a:r>
            <a:endParaRPr lang="zh-CN" altLang="en-US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4756651" y="1921430"/>
            <a:ext cx="79209" cy="1391491"/>
            <a:chOff x="1932524" y="2492896"/>
            <a:chExt cx="79209" cy="1391491"/>
          </a:xfrm>
        </p:grpSpPr>
        <p:sp>
          <p:nvSpPr>
            <p:cNvPr id="18" name="流程图: 联系 17"/>
            <p:cNvSpPr/>
            <p:nvPr/>
          </p:nvSpPr>
          <p:spPr>
            <a:xfrm>
              <a:off x="1932524" y="2492896"/>
              <a:ext cx="79209" cy="79209"/>
            </a:xfrm>
            <a:prstGeom prst="flowChartConnector">
              <a:avLst/>
            </a:prstGeom>
            <a:ln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endParaRPr>
            </a:p>
          </p:txBody>
        </p:sp>
        <p:cxnSp>
          <p:nvCxnSpPr>
            <p:cNvPr id="19" name="直接连接符 18"/>
            <p:cNvCxnSpPr>
              <a:stCxn id="18" idx="4"/>
            </p:cNvCxnSpPr>
            <p:nvPr/>
          </p:nvCxnSpPr>
          <p:spPr>
            <a:xfrm>
              <a:off x="1972129" y="2572105"/>
              <a:ext cx="0" cy="1312282"/>
            </a:xfrm>
            <a:prstGeom prst="line">
              <a:avLst/>
            </a:prstGeom>
            <a:ln w="25400">
              <a:solidFill>
                <a:schemeClr val="tx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文本框 19"/>
          <p:cNvSpPr txBox="1"/>
          <p:nvPr/>
        </p:nvSpPr>
        <p:spPr>
          <a:xfrm>
            <a:off x="4511824" y="1512494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天池</a:t>
            </a:r>
            <a:endParaRPr lang="zh-CN" altLang="en-US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 rot="10800000">
            <a:off x="6378845" y="3298839"/>
            <a:ext cx="79209" cy="1391491"/>
            <a:chOff x="1932524" y="2492896"/>
            <a:chExt cx="79209" cy="1391491"/>
          </a:xfrm>
        </p:grpSpPr>
        <p:sp>
          <p:nvSpPr>
            <p:cNvPr id="22" name="流程图: 联系 21"/>
            <p:cNvSpPr/>
            <p:nvPr/>
          </p:nvSpPr>
          <p:spPr>
            <a:xfrm>
              <a:off x="1932524" y="2492896"/>
              <a:ext cx="79209" cy="79209"/>
            </a:xfrm>
            <a:prstGeom prst="flowChartConnector">
              <a:avLst/>
            </a:prstGeom>
            <a:ln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endParaRPr>
            </a:p>
          </p:txBody>
        </p:sp>
        <p:cxnSp>
          <p:nvCxnSpPr>
            <p:cNvPr id="23" name="直接连接符 22"/>
            <p:cNvCxnSpPr>
              <a:stCxn id="22" idx="4"/>
            </p:cNvCxnSpPr>
            <p:nvPr/>
          </p:nvCxnSpPr>
          <p:spPr>
            <a:xfrm>
              <a:off x="1972129" y="2572105"/>
              <a:ext cx="0" cy="1312282"/>
            </a:xfrm>
            <a:prstGeom prst="line">
              <a:avLst/>
            </a:prstGeom>
            <a:ln w="25400">
              <a:solidFill>
                <a:schemeClr val="tx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文本框 23"/>
          <p:cNvSpPr txBox="1"/>
          <p:nvPr/>
        </p:nvSpPr>
        <p:spPr>
          <a:xfrm>
            <a:off x="5533542" y="4725564"/>
            <a:ext cx="1849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互联网接入平台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8081393" y="1921203"/>
            <a:ext cx="79209" cy="1391491"/>
            <a:chOff x="1932524" y="2492896"/>
            <a:chExt cx="79209" cy="1391491"/>
          </a:xfrm>
        </p:grpSpPr>
        <p:sp>
          <p:nvSpPr>
            <p:cNvPr id="26" name="流程图: 联系 25"/>
            <p:cNvSpPr/>
            <p:nvPr/>
          </p:nvSpPr>
          <p:spPr>
            <a:xfrm>
              <a:off x="1932524" y="2492896"/>
              <a:ext cx="79209" cy="79209"/>
            </a:xfrm>
            <a:prstGeom prst="flowChartConnector">
              <a:avLst/>
            </a:prstGeom>
            <a:ln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endParaRPr>
            </a:p>
          </p:txBody>
        </p:sp>
        <p:cxnSp>
          <p:nvCxnSpPr>
            <p:cNvPr id="27" name="直接连接符 26"/>
            <p:cNvCxnSpPr>
              <a:stCxn id="26" idx="4"/>
            </p:cNvCxnSpPr>
            <p:nvPr/>
          </p:nvCxnSpPr>
          <p:spPr>
            <a:xfrm>
              <a:off x="1972129" y="2572105"/>
              <a:ext cx="0" cy="1312282"/>
            </a:xfrm>
            <a:prstGeom prst="line">
              <a:avLst/>
            </a:prstGeom>
            <a:ln w="25400">
              <a:solidFill>
                <a:schemeClr val="tx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文本框 27"/>
          <p:cNvSpPr txBox="1"/>
          <p:nvPr/>
        </p:nvSpPr>
        <p:spPr>
          <a:xfrm>
            <a:off x="7320136" y="1512267"/>
            <a:ext cx="16809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精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益过程管理</a:t>
            </a:r>
          </a:p>
        </p:txBody>
      </p:sp>
      <p:grpSp>
        <p:nvGrpSpPr>
          <p:cNvPr id="29" name="组合 28"/>
          <p:cNvGrpSpPr/>
          <p:nvPr/>
        </p:nvGrpSpPr>
        <p:grpSpPr>
          <a:xfrm rot="10800000">
            <a:off x="9700790" y="3300160"/>
            <a:ext cx="79209" cy="1391491"/>
            <a:chOff x="1932524" y="2492896"/>
            <a:chExt cx="79209" cy="1391491"/>
          </a:xfrm>
        </p:grpSpPr>
        <p:sp>
          <p:nvSpPr>
            <p:cNvPr id="30" name="流程图: 联系 29"/>
            <p:cNvSpPr/>
            <p:nvPr/>
          </p:nvSpPr>
          <p:spPr>
            <a:xfrm>
              <a:off x="1932524" y="2492896"/>
              <a:ext cx="79209" cy="79209"/>
            </a:xfrm>
            <a:prstGeom prst="flowChartConnector">
              <a:avLst/>
            </a:prstGeom>
            <a:ln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endParaRPr>
            </a:p>
          </p:txBody>
        </p:sp>
        <p:cxnSp>
          <p:nvCxnSpPr>
            <p:cNvPr id="31" name="直接连接符 30"/>
            <p:cNvCxnSpPr>
              <a:stCxn id="30" idx="4"/>
            </p:cNvCxnSpPr>
            <p:nvPr/>
          </p:nvCxnSpPr>
          <p:spPr>
            <a:xfrm>
              <a:off x="1972129" y="2572105"/>
              <a:ext cx="0" cy="1312282"/>
            </a:xfrm>
            <a:prstGeom prst="line">
              <a:avLst/>
            </a:prstGeom>
            <a:ln w="25400">
              <a:solidFill>
                <a:schemeClr val="tx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文本框 31"/>
          <p:cNvSpPr txBox="1"/>
          <p:nvPr/>
        </p:nvSpPr>
        <p:spPr>
          <a:xfrm>
            <a:off x="9258136" y="4726885"/>
            <a:ext cx="1043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小华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e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家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2239971" y="2943589"/>
            <a:ext cx="1580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2014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～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2015</a:t>
            </a:r>
            <a:endParaRPr lang="zh-CN" altLang="en-US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804776" y="2943589"/>
            <a:ext cx="1580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2016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～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   </a:t>
            </a:r>
            <a:endParaRPr lang="zh-CN" altLang="en-US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0281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20" grpId="0"/>
      <p:bldP spid="24" grpId="0"/>
      <p:bldP spid="28" grpId="0"/>
      <p:bldP spid="32" grpId="0"/>
      <p:bldP spid="33" grpId="0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华夏人寿的客户价值规划总结</a:t>
            </a:r>
            <a:endParaRPr lang="zh-CN" altLang="en-US" dirty="0"/>
          </a:p>
        </p:txBody>
      </p:sp>
      <p:sp>
        <p:nvSpPr>
          <p:cNvPr id="2" name="流程图: 联系 1"/>
          <p:cNvSpPr/>
          <p:nvPr/>
        </p:nvSpPr>
        <p:spPr>
          <a:xfrm>
            <a:off x="5176634" y="1772816"/>
            <a:ext cx="2160000" cy="2160000"/>
          </a:xfrm>
          <a:prstGeom prst="flowChartConnector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rPr>
              <a:t>客户</a:t>
            </a:r>
          </a:p>
        </p:txBody>
      </p:sp>
      <p:sp>
        <p:nvSpPr>
          <p:cNvPr id="4" name="流程图: 联系 3"/>
          <p:cNvSpPr/>
          <p:nvPr/>
        </p:nvSpPr>
        <p:spPr>
          <a:xfrm>
            <a:off x="4218416" y="3212976"/>
            <a:ext cx="2160000" cy="2160000"/>
          </a:xfrm>
          <a:prstGeom prst="flowChartConnector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rPr>
              <a:t>公司</a:t>
            </a:r>
          </a:p>
        </p:txBody>
      </p:sp>
      <p:sp>
        <p:nvSpPr>
          <p:cNvPr id="5" name="流程图: 联系 4"/>
          <p:cNvSpPr/>
          <p:nvPr/>
        </p:nvSpPr>
        <p:spPr>
          <a:xfrm>
            <a:off x="6198301" y="3212976"/>
            <a:ext cx="2160000" cy="2160000"/>
          </a:xfrm>
          <a:prstGeom prst="flowChartConnector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rPr>
              <a:t>员工</a:t>
            </a:r>
            <a:endParaRPr lang="zh-CN" altLang="en-US" sz="2400" b="1" dirty="0" smtClean="0">
              <a:solidFill>
                <a:schemeClr val="bg1"/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cxnSp>
        <p:nvCxnSpPr>
          <p:cNvPr id="7" name="直接连接符 6"/>
          <p:cNvCxnSpPr>
            <a:stCxn id="2" idx="1"/>
          </p:cNvCxnSpPr>
          <p:nvPr/>
        </p:nvCxnSpPr>
        <p:spPr>
          <a:xfrm flipH="1" flipV="1">
            <a:off x="4973925" y="1772816"/>
            <a:ext cx="519034" cy="316325"/>
          </a:xfrm>
          <a:prstGeom prst="line">
            <a:avLst/>
          </a:prstGeom>
          <a:ln w="25400"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>
            <a:off x="4438008" y="1772816"/>
            <a:ext cx="535917" cy="0"/>
          </a:xfrm>
          <a:prstGeom prst="line">
            <a:avLst/>
          </a:prstGeom>
          <a:ln w="25400"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751498" y="1412776"/>
            <a:ext cx="654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C00000"/>
                </a:solidFill>
                <a:latin typeface="Microsoft YaHei" charset="0"/>
                <a:ea typeface="Microsoft YaHei" charset="0"/>
                <a:cs typeface="Microsoft YaHei" charset="0"/>
              </a:rPr>
              <a:t>企业</a:t>
            </a:r>
          </a:p>
        </p:txBody>
      </p:sp>
      <p:cxnSp>
        <p:nvCxnSpPr>
          <p:cNvPr id="11" name="直接连接符 10"/>
          <p:cNvCxnSpPr>
            <a:stCxn id="2" idx="7"/>
          </p:cNvCxnSpPr>
          <p:nvPr/>
        </p:nvCxnSpPr>
        <p:spPr>
          <a:xfrm flipV="1">
            <a:off x="7020309" y="1782108"/>
            <a:ext cx="454341" cy="307033"/>
          </a:xfrm>
          <a:prstGeom prst="line">
            <a:avLst/>
          </a:prstGeom>
          <a:ln w="25400"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7455805" y="1786671"/>
            <a:ext cx="535916" cy="0"/>
          </a:xfrm>
          <a:prstGeom prst="line">
            <a:avLst/>
          </a:prstGeom>
          <a:ln w="25400"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6990149" y="1426631"/>
            <a:ext cx="654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Microsoft YaHei" charset="0"/>
                <a:ea typeface="Microsoft YaHei" charset="0"/>
                <a:cs typeface="Microsoft YaHei" charset="0"/>
              </a:rPr>
              <a:t>个人</a:t>
            </a:r>
            <a:endParaRPr lang="zh-CN" altLang="en-US" dirty="0" smtClean="0">
              <a:solidFill>
                <a:srgbClr val="C00000"/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165613" y="1268760"/>
            <a:ext cx="22723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IT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引领业务发展</a:t>
            </a:r>
            <a:endParaRPr lang="en-US" altLang="zh-CN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核心竞争力自主掌</a:t>
            </a:r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控</a:t>
            </a:r>
            <a:endParaRPr lang="en-US" altLang="zh-CN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提升企业运营效率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8083182" y="1414517"/>
            <a:ext cx="2272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个人地位的迅速确立</a:t>
            </a:r>
            <a:endParaRPr lang="en-US" altLang="zh-CN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个人视野的开拓</a:t>
            </a:r>
          </a:p>
        </p:txBody>
      </p:sp>
      <p:cxnSp>
        <p:nvCxnSpPr>
          <p:cNvPr id="20" name="直接连接符 19"/>
          <p:cNvCxnSpPr>
            <a:stCxn id="4" idx="3"/>
          </p:cNvCxnSpPr>
          <p:nvPr/>
        </p:nvCxnSpPr>
        <p:spPr>
          <a:xfrm flipH="1">
            <a:off x="4029979" y="5056651"/>
            <a:ext cx="504762" cy="316325"/>
          </a:xfrm>
          <a:prstGeom prst="line">
            <a:avLst/>
          </a:prstGeom>
          <a:ln w="25400"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>
            <a:off x="3494062" y="5372976"/>
            <a:ext cx="535917" cy="0"/>
          </a:xfrm>
          <a:prstGeom prst="line">
            <a:avLst/>
          </a:prstGeom>
          <a:ln w="25400"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127448" y="5049861"/>
            <a:ext cx="2272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长期稳定的收入来源</a:t>
            </a:r>
            <a:endParaRPr lang="en-US" altLang="zh-CN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人才培养基地</a:t>
            </a:r>
          </a:p>
        </p:txBody>
      </p:sp>
      <p:cxnSp>
        <p:nvCxnSpPr>
          <p:cNvPr id="25" name="直接连接符 24"/>
          <p:cNvCxnSpPr>
            <a:stCxn id="5" idx="5"/>
          </p:cNvCxnSpPr>
          <p:nvPr/>
        </p:nvCxnSpPr>
        <p:spPr>
          <a:xfrm>
            <a:off x="8041976" y="5056651"/>
            <a:ext cx="460341" cy="316325"/>
          </a:xfrm>
          <a:prstGeom prst="line">
            <a:avLst/>
          </a:prstGeom>
          <a:ln w="25400"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H="1">
            <a:off x="8488462" y="5381655"/>
            <a:ext cx="535917" cy="0"/>
          </a:xfrm>
          <a:prstGeom prst="line">
            <a:avLst/>
          </a:prstGeom>
          <a:ln w="25400"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9101424" y="5049810"/>
            <a:ext cx="2272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个人持续成长</a:t>
            </a:r>
            <a:endParaRPr lang="en-US" altLang="zh-CN" dirty="0" smtClean="0">
              <a:solidFill>
                <a:schemeClr val="tx2">
                  <a:lumMod val="75000"/>
                </a:schemeClr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个人价值体现</a:t>
            </a:r>
          </a:p>
        </p:txBody>
      </p:sp>
    </p:spTree>
    <p:extLst>
      <p:ext uri="{BB962C8B-B14F-4D97-AF65-F5344CB8AC3E}">
        <p14:creationId xmlns:p14="http://schemas.microsoft.com/office/powerpoint/2010/main" val="3209426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10" grpId="0"/>
      <p:bldP spid="13" grpId="0"/>
      <p:bldP spid="18" grpId="0"/>
      <p:bldP spid="19" grpId="0"/>
      <p:bldP spid="24" grpId="0"/>
      <p:bldP spid="2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每个人都可以为客户规划价值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496" y="1340768"/>
            <a:ext cx="2428875" cy="18859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4192" y="1340768"/>
            <a:ext cx="1828800" cy="18288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504" y="4211538"/>
            <a:ext cx="2533650" cy="18097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1735" y="1889774"/>
            <a:ext cx="929093" cy="73078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1734" y="4751019"/>
            <a:ext cx="929093" cy="73078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152" y="3819910"/>
            <a:ext cx="2786653" cy="250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946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36"/>
            <a:ext cx="12192000" cy="686183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67408" y="3645024"/>
            <a:ext cx="37444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rPr>
              <a:t>极尽繁华</a:t>
            </a:r>
            <a:endParaRPr lang="en-US" altLang="zh-CN" sz="3600" dirty="0" smtClean="0">
              <a:solidFill>
                <a:schemeClr val="bg1"/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r>
              <a:rPr lang="zh-CN" altLang="en-US" sz="3600" dirty="0" smtClean="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rPr>
              <a:t>不过是一掬细沙</a:t>
            </a:r>
          </a:p>
        </p:txBody>
      </p:sp>
    </p:spTree>
    <p:extLst>
      <p:ext uri="{BB962C8B-B14F-4D97-AF65-F5344CB8AC3E}">
        <p14:creationId xmlns:p14="http://schemas.microsoft.com/office/powerpoint/2010/main" val="1916833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680" y="-1"/>
            <a:ext cx="8976320" cy="6858001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43472" y="2168861"/>
            <a:ext cx="738664" cy="298833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潜心规划</a:t>
            </a:r>
          </a:p>
        </p:txBody>
      </p:sp>
    </p:spTree>
    <p:extLst>
      <p:ext uri="{BB962C8B-B14F-4D97-AF65-F5344CB8AC3E}">
        <p14:creationId xmlns:p14="http://schemas.microsoft.com/office/powerpoint/2010/main" val="856788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92344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128448" y="2348880"/>
            <a:ext cx="738664" cy="298833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3600" dirty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悉心</a:t>
            </a:r>
            <a:r>
              <a:rPr lang="zh-CN" altLang="en-US" sz="3600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协作</a:t>
            </a:r>
          </a:p>
        </p:txBody>
      </p:sp>
    </p:spTree>
    <p:extLst>
      <p:ext uri="{BB962C8B-B14F-4D97-AF65-F5344CB8AC3E}">
        <p14:creationId xmlns:p14="http://schemas.microsoft.com/office/powerpoint/2010/main" val="4032707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67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519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800"/>
            <a:ext cx="12192000" cy="599390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899756" y="620688"/>
            <a:ext cx="4392488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tx2">
                    <a:lumMod val="7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rPr>
              <a:t>忘掉繁华，重新开始</a:t>
            </a:r>
          </a:p>
        </p:txBody>
      </p:sp>
    </p:spTree>
    <p:extLst>
      <p:ext uri="{BB962C8B-B14F-4D97-AF65-F5344CB8AC3E}">
        <p14:creationId xmlns:p14="http://schemas.microsoft.com/office/powerpoint/2010/main" val="3992167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zh-CN" altLang="en-US" sz="6000" dirty="0" smtClean="0"/>
              <a:t>让我们遇见未来</a:t>
            </a:r>
            <a:endParaRPr lang="zh-CN" altLang="en-US" sz="6000" dirty="0"/>
          </a:p>
        </p:txBody>
      </p:sp>
    </p:spTree>
    <p:extLst>
      <p:ext uri="{BB962C8B-B14F-4D97-AF65-F5344CB8AC3E}">
        <p14:creationId xmlns:p14="http://schemas.microsoft.com/office/powerpoint/2010/main" val="3724687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PrimetonBlue">
      <a:dk1>
        <a:srgbClr val="011892"/>
      </a:dk1>
      <a:lt1>
        <a:srgbClr val="FE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tx1">
              <a:lumMod val="75000"/>
            </a:schemeClr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000" dirty="0" smtClean="0">
            <a:solidFill>
              <a:schemeClr val="tx1">
                <a:lumMod val="75000"/>
              </a:schemeClr>
            </a:solidFill>
            <a:latin typeface="Microsoft YaHei" charset="0"/>
            <a:ea typeface="Microsoft YaHei" charset="0"/>
            <a:cs typeface="Microsoft YaHei" charset="0"/>
          </a:defRPr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>
        <a:ln w="25400">
          <a:solidFill>
            <a:schemeClr val="tx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 smtClean="0">
            <a:solidFill>
              <a:schemeClr val="tx2">
                <a:lumMod val="75000"/>
              </a:schemeClr>
            </a:solidFill>
            <a:latin typeface="Microsoft YaHei" charset="0"/>
            <a:ea typeface="Microsoft YaHei" charset="0"/>
            <a:cs typeface="Microsoft YaHei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49588</TotalTime>
  <Words>729</Words>
  <Application>Microsoft Office PowerPoint</Application>
  <PresentationFormat>宽屏</PresentationFormat>
  <Paragraphs>104</Paragraphs>
  <Slides>17</Slides>
  <Notes>11</Notes>
  <HiddenSlides>1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仿宋</vt:lpstr>
      <vt:lpstr>宋体</vt:lpstr>
      <vt:lpstr>Microsoft YaHei</vt:lpstr>
      <vt:lpstr>Microsoft YaHei</vt:lpstr>
      <vt:lpstr>Arial</vt:lpstr>
      <vt:lpstr>Calibri</vt:lpstr>
      <vt:lpstr>Symbol</vt:lpstr>
      <vt:lpstr>Office 主题</vt:lpstr>
      <vt:lpstr>客户价值规划 让我们遇见未来</vt:lpstr>
      <vt:lpstr>今天的话题缘起于一次在新一代现场的聊天</vt:lpstr>
      <vt:lpstr>员工满意度来自于多方面，个人发展是主线</vt:lpstr>
      <vt:lpstr>个人的发展需要建立在“利他”的基础之上</vt:lpstr>
      <vt:lpstr>个人的发展需要建立在“利他”的基础之上</vt:lpstr>
      <vt:lpstr>“利他”的本质是通过帮助他人成功，实现利己</vt:lpstr>
      <vt:lpstr>通过“客户价值规划”实现个人、公司、客户的双赢</vt:lpstr>
      <vt:lpstr>一个真实的客户案例</vt:lpstr>
      <vt:lpstr>PowerPoint 演示文稿</vt:lpstr>
      <vt:lpstr>华夏人寿的客户价值规划总结</vt:lpstr>
      <vt:lpstr>每个人都可以为客户规划价值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让我们遇见未来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产品</dc:title>
  <dc:subject/>
  <dc:creator>jiaoly</dc:creator>
  <cp:keywords/>
  <dc:description/>
  <cp:lastModifiedBy>ZHUJIANG</cp:lastModifiedBy>
  <cp:revision>2959</cp:revision>
  <dcterms:created xsi:type="dcterms:W3CDTF">2014-11-20T02:29:45Z</dcterms:created>
  <dcterms:modified xsi:type="dcterms:W3CDTF">2016-05-13T13:50:21Z</dcterms:modified>
  <cp:category/>
</cp:coreProperties>
</file>