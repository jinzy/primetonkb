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96" r:id="rId2"/>
    <p:sldId id="397" r:id="rId3"/>
    <p:sldId id="428" r:id="rId4"/>
    <p:sldId id="398" r:id="rId5"/>
    <p:sldId id="399" r:id="rId6"/>
    <p:sldId id="412" r:id="rId7"/>
    <p:sldId id="413" r:id="rId8"/>
    <p:sldId id="414" r:id="rId9"/>
    <p:sldId id="418" r:id="rId10"/>
    <p:sldId id="415" r:id="rId11"/>
    <p:sldId id="419" r:id="rId12"/>
    <p:sldId id="420" r:id="rId13"/>
    <p:sldId id="424" r:id="rId14"/>
    <p:sldId id="426" r:id="rId15"/>
    <p:sldId id="425" r:id="rId16"/>
    <p:sldId id="421" r:id="rId17"/>
    <p:sldId id="427" r:id="rId18"/>
    <p:sldId id="422" r:id="rId19"/>
    <p:sldId id="429" r:id="rId20"/>
    <p:sldId id="430" r:id="rId21"/>
    <p:sldId id="431" r:id="rId22"/>
    <p:sldId id="423" r:id="rId23"/>
    <p:sldId id="416" r:id="rId24"/>
    <p:sldId id="417" r:id="rId25"/>
    <p:sldId id="409" r:id="rId26"/>
    <p:sldId id="410" r:id="rId27"/>
    <p:sldId id="411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75E"/>
    <a:srgbClr val="D6D6D6"/>
    <a:srgbClr val="1737AB"/>
    <a:srgbClr val="178586"/>
    <a:srgbClr val="00007F"/>
    <a:srgbClr val="000000"/>
    <a:srgbClr val="929292"/>
    <a:srgbClr val="797979"/>
    <a:srgbClr val="424242"/>
    <a:srgbClr val="E7E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1" autoAdjust="0"/>
    <p:restoredTop sz="79215" autoAdjust="0"/>
  </p:normalViewPr>
  <p:slideViewPr>
    <p:cSldViewPr snapToObjects="1" showGuides="1">
      <p:cViewPr varScale="1">
        <p:scale>
          <a:sx n="69" d="100"/>
          <a:sy n="69" d="100"/>
        </p:scale>
        <p:origin x="133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0" d="100"/>
          <a:sy n="120" d="100"/>
        </p:scale>
        <p:origin x="3712" y="2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34051-BEF0-7D4C-9196-86755A91DC50}" type="datetimeFigureOut">
              <a:rPr kumimoji="1" lang="zh-CN" altLang="en-US" smtClean="0"/>
              <a:pPr/>
              <a:t>2016-06-12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0FCA8-6321-0949-96E4-AD67B1E048D6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9388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5CB33-C662-8F41-8A71-5104D135C80E}" type="datetimeFigureOut">
              <a:rPr kumimoji="1" lang="zh-CN" altLang="en-US" smtClean="0"/>
              <a:pPr/>
              <a:t>2016-06-12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63DDE-E268-D241-A46D-5F7888E658E3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461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Go</a:t>
            </a:r>
            <a:r>
              <a:rPr lang="zh-CN" altLang="en-US" dirty="0" smtClean="0"/>
              <a:t>语言最近几年发展非常火爆，很多大公司都将</a:t>
            </a:r>
            <a:r>
              <a:rPr lang="en-US" altLang="zh-CN" dirty="0" smtClean="0"/>
              <a:t>Go</a:t>
            </a:r>
            <a:r>
              <a:rPr lang="zh-CN" altLang="en-US" dirty="0" smtClean="0"/>
              <a:t>语言应用到了其核心业务系统中。这些公司包括：</a:t>
            </a:r>
            <a:endParaRPr lang="en-US" altLang="zh-CN" dirty="0" smtClean="0"/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国外：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Google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 Foundry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CloudFlare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Couchbase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CoreOS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Dropbox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MongoDB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等公司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国内：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阿里云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、百度、小米、七牛、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PingCAP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、华为、金山软件、猎豹移动、饿了么等公司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甚至有人断言“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语言将制霸云计算领域”，那么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GoLang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到底牛在哪里呢？应该如何学习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语言呢？本文试图从一个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背景的程序员角度出发，来学习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这门语言。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1957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5727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6666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1666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7920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6142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4259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1438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一群牛人做出来的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也一定够牛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0860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9781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2535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6309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7049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、学习曲线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它包含了类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语法、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内置和工程工具。这一点非常重要，因为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语言容易学习，所以一个普通的大学生花一个星期就能写出来可以上手的、高性能的应用。在国内大家都追求快，这也是为什么国内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流行的原因之一。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、效率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拥有接近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的运行效率和接近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的开发效率，这就很有利的支撑了上面大家追求快速的需求。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、出身名门、血统纯正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之所以说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出身名门，是因为我们知道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语言出自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公司，这个公司在业界的知名度和实力自然不用多说。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公司聚集了一批牛人，在各种编程语言称雄争霸的局面下推出新的编程语言，自然有它的战略考虑。而且从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语言的发展态势来看，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对它这个新的宠儿还是很看重的，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自然有一个良好的发展前途。我们看看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语言的主要创造者，血统纯正这点就可见端倪了。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、自由高效：组合的思想、无侵入式的接口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语言可以说是开发效率和运行效率二者的完美融合，天生的并发编程支持。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语言支持当前所有的编程范式，包括过程式编程、面向对象编程以及函数式编程。程序员们可以各取所需、自由组合、想怎么玩就怎么玩。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、强大的标准库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这包括互联网应用、系统编程和网络编程。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里面的标准库基本上已经是非常稳定了，特别是我这里提到的三个，网络层、系统层的库非常实用。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、部署方便：二进制文件、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部署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我相信这一点是很多人选择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的最大理由，因为部署太方便了，所以现在也有很多人用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开发运维程序。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、简单的并发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它包含了降低心智的并发和简易的数据同步，我觉得这是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最大的特色。之所以写正确的并发、容错和可扩展的程序如此之难，是因为我们用了错误的工具和错误的抽象，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可以说这一块做的相当简单。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、稳定性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拥有强大的编译检查、严格的编码规范和完整的软件生命周期工具，具有很强的稳定性，稳定压倒一切。那么为什么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相比于其他程序会更稳定呢？这是因为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提供了软件生命周期（开发、测试、部署、维护等等）的各个环节的工具，如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 tool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gofmt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 test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035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21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62121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3373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57232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1530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5259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671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3488" cy="60212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709441"/>
            <a:ext cx="10363200" cy="98828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882455"/>
            <a:ext cx="8534400" cy="8166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072331" y="6307039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altLang="zh-CN" smtClean="0"/>
              <a:t>November 17, 2015</a:t>
            </a:r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695" y="6367933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 userDrawn="1"/>
        </p:nvSpPr>
        <p:spPr>
          <a:xfrm>
            <a:off x="0" y="5517232"/>
            <a:ext cx="12193488" cy="5040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平台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 让创新无限</a:t>
            </a:r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612605" y="1052737"/>
            <a:ext cx="10972800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 marL="742950" indent="-285750">
              <a:spcBef>
                <a:spcPts val="1000"/>
              </a:spcBef>
              <a:buFont typeface="Arial"/>
              <a:buChar char="•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buFont typeface="Symbol" charset="2"/>
              <a:buChar char="-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 marL="1600200" indent="-228600">
              <a:buFont typeface="Arial"/>
              <a:buChar char="•"/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 smtClean="0"/>
              <a:t>一级正文</a:t>
            </a:r>
            <a:r>
              <a:rPr lang="en-US" altLang="zh-CN" dirty="0" smtClean="0"/>
              <a:t>28P</a:t>
            </a:r>
            <a:r>
              <a:rPr lang="zh-CN" altLang="en-US" dirty="0" smtClean="0"/>
              <a:t>微软雅黑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二级正文</a:t>
            </a:r>
            <a:r>
              <a:rPr lang="en-US" altLang="zh-CN" dirty="0" smtClean="0"/>
              <a:t>24P</a:t>
            </a:r>
            <a:r>
              <a:rPr lang="zh-CN" altLang="en-US" dirty="0" smtClean="0"/>
              <a:t>微软雅黑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三级正文</a:t>
            </a:r>
            <a:r>
              <a:rPr lang="en-US" altLang="zh-CN" dirty="0" smtClean="0"/>
              <a:t>20P</a:t>
            </a:r>
            <a:r>
              <a:rPr lang="zh-CN" altLang="en-US" dirty="0" smtClean="0"/>
              <a:t>微软雅黑</a:t>
            </a:r>
            <a:endParaRPr lang="en-US" altLang="zh-CN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8341" y="6428047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339" y="6307038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2193488" cy="7179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142595" y="85722"/>
            <a:ext cx="11905321" cy="546544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 flipV="1">
            <a:off x="-1489" y="772173"/>
            <a:ext cx="12193488" cy="4571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9508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872078"/>
            <a:ext cx="3503712" cy="598592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8341" y="6428047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 userDrawn="1"/>
        </p:nvSpPr>
        <p:spPr>
          <a:xfrm>
            <a:off x="-1489" y="0"/>
            <a:ext cx="12193488" cy="7179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3200" dirty="0" smtClean="0">
                <a:latin typeface="Microsoft YaHei" charset="0"/>
                <a:ea typeface="Microsoft YaHei" charset="0"/>
                <a:cs typeface="Microsoft YaHei" charset="0"/>
              </a:rPr>
              <a:t> 目录</a:t>
            </a:r>
            <a:endParaRPr lang="en-US" sz="32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-1489" y="772173"/>
            <a:ext cx="12193488" cy="4571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339" y="6307038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648074" y="1341438"/>
            <a:ext cx="7920534" cy="4607842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  <a:endParaRPr lang="zh-CN" altLang="en-US" dirty="0" smtClean="0"/>
          </a:p>
          <a:p>
            <a:pPr lvl="0"/>
            <a:endParaRPr lang="zh-CN" altLang="en-US" dirty="0" smtClean="0"/>
          </a:p>
          <a:p>
            <a:pPr lvl="0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351570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8341" y="6428047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 userDrawn="1"/>
        </p:nvSpPr>
        <p:spPr>
          <a:xfrm>
            <a:off x="-1489" y="0"/>
            <a:ext cx="12193488" cy="7179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-1489" y="772173"/>
            <a:ext cx="12193488" cy="4571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339" y="6307038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142595" y="85722"/>
            <a:ext cx="11905321" cy="546544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779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3488" cy="60212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695" y="6367933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日期占位符 3"/>
          <p:cNvSpPr>
            <a:spLocks noGrp="1"/>
          </p:cNvSpPr>
          <p:nvPr>
            <p:ph type="dt" sz="half" idx="10"/>
          </p:nvPr>
        </p:nvSpPr>
        <p:spPr>
          <a:xfrm>
            <a:off x="9072331" y="6307039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altLang="zh-CN" dirty="0" smtClean="0"/>
              <a:t>November 17, 2015</a:t>
            </a:r>
            <a:endParaRPr lang="zh-CN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5517232"/>
            <a:ext cx="12193488" cy="5040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上海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北京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广州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西安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武汉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成都 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|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 ☎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400</a:t>
            </a:r>
            <a:r>
              <a:rPr lang="zh-CN" altLang="en-US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820</a:t>
            </a:r>
            <a:r>
              <a:rPr lang="zh-CN" altLang="en-US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5821</a:t>
            </a:r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30424" y="1909281"/>
            <a:ext cx="9862120" cy="101566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Bef>
                <a:spcPct val="0"/>
              </a:spcBef>
              <a:buNone/>
              <a:defRPr sz="6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CN" altLang="en-US" dirty="0" smtClean="0"/>
              <a:t>让我们遇见未来</a:t>
            </a:r>
          </a:p>
        </p:txBody>
      </p:sp>
    </p:spTree>
    <p:extLst>
      <p:ext uri="{BB962C8B-B14F-4D97-AF65-F5344CB8AC3E}">
        <p14:creationId xmlns:p14="http://schemas.microsoft.com/office/powerpoint/2010/main" val="2873963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3488" cy="60212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695" y="6367933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日期占位符 3"/>
          <p:cNvSpPr>
            <a:spLocks noGrp="1"/>
          </p:cNvSpPr>
          <p:nvPr>
            <p:ph type="dt" sz="half" idx="10"/>
          </p:nvPr>
        </p:nvSpPr>
        <p:spPr>
          <a:xfrm>
            <a:off x="9072331" y="6307039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altLang="zh-CN" dirty="0" smtClean="0"/>
              <a:t>November 17, 2015</a:t>
            </a:r>
            <a:endParaRPr lang="zh-CN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5517232"/>
            <a:ext cx="12193488" cy="5040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上海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北京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广州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西安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武汉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成都 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|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 ☎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400</a:t>
            </a:r>
            <a:r>
              <a:rPr lang="zh-CN" altLang="en-US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820</a:t>
            </a:r>
            <a:r>
              <a:rPr lang="zh-CN" altLang="en-US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5821</a:t>
            </a:r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16" y="1192506"/>
            <a:ext cx="3964686" cy="3964686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1012408" y="548680"/>
            <a:ext cx="5227608" cy="5847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b="0" i="0" dirty="0" smtClean="0">
                <a:solidFill>
                  <a:schemeClr val="bg1"/>
                </a:solidFill>
                <a:latin typeface="Kaiti SC Regular"/>
                <a:ea typeface="华文细黑"/>
                <a:cs typeface="Kaiti SC Regular"/>
              </a:rPr>
              <a:t>企业架构创新研究院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7561904" y="2106722"/>
            <a:ext cx="2134496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与您共同讨论</a:t>
            </a:r>
            <a:endParaRPr lang="en-US" altLang="zh-CN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公开研发过程</a:t>
            </a:r>
            <a:endParaRPr lang="en-US" altLang="zh-CN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公开研发文档</a:t>
            </a:r>
            <a:endParaRPr lang="en-US" altLang="zh-CN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公开技术细节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5711958" y="548680"/>
            <a:ext cx="5784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研究院诚邀各位加入</a:t>
            </a:r>
            <a:endParaRPr lang="en-US" altLang="zh-CN" sz="2400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普元新一代企业云平台研发</a:t>
            </a:r>
            <a:endParaRPr lang="en-US" altLang="zh-CN" sz="2400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789464" y="168828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我们将在这里</a:t>
            </a:r>
            <a:endParaRPr lang="en-US" altLang="zh-CN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</p:txBody>
      </p:sp>
    </p:spTree>
    <p:extLst>
      <p:ext uri="{BB962C8B-B14F-4D97-AF65-F5344CB8AC3E}">
        <p14:creationId xmlns:p14="http://schemas.microsoft.com/office/powerpoint/2010/main" val="22855684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120C7143-BB4D-47C6-9008-44C955299D49}" type="datetimeFigureOut">
              <a:rPr lang="zh-CN" altLang="en-US" smtClean="0"/>
              <a:pPr/>
              <a:t>2016-06-12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9" r:id="rId3"/>
    <p:sldLayoutId id="2147483657" r:id="rId4"/>
    <p:sldLayoutId id="2147483661" r:id="rId5"/>
    <p:sldLayoutId id="2147483660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olang.or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olang.org/doc/instal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908720"/>
            <a:ext cx="10363200" cy="2160240"/>
          </a:xfrm>
        </p:spPr>
        <p:txBody>
          <a:bodyPr anchor="ctr">
            <a:noAutofit/>
          </a:bodyPr>
          <a:lstStyle/>
          <a:p>
            <a:r>
              <a:rPr lang="en-US" sz="6600" dirty="0" smtClean="0"/>
              <a:t>Java</a:t>
            </a:r>
            <a:r>
              <a:rPr lang="zh-CN" altLang="en-US" sz="6600" dirty="0" smtClean="0"/>
              <a:t>程序员学习</a:t>
            </a:r>
            <a:r>
              <a:rPr lang="en-US" altLang="zh-CN" sz="6600" dirty="0" smtClean="0"/>
              <a:t>Go</a:t>
            </a:r>
            <a:endParaRPr lang="en-US" sz="66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828800" y="3548423"/>
            <a:ext cx="8534400" cy="816681"/>
          </a:xfrm>
        </p:spPr>
        <p:txBody>
          <a:bodyPr/>
          <a:lstStyle/>
          <a:p>
            <a:r>
              <a:rPr lang="zh-CN" altLang="en-US" sz="3600" dirty="0"/>
              <a:t>朱江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9396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575720" y="908720"/>
            <a:ext cx="7920534" cy="5688632"/>
          </a:xfrm>
        </p:spPr>
        <p:txBody>
          <a:bodyPr anchor="ctr"/>
          <a:lstStyle/>
          <a:p>
            <a:pPr marL="571500" indent="-571500">
              <a:buFont typeface="Wingdings" charset="2"/>
              <a:buAutoNum type="circleNumWdBlackPlain"/>
            </a:pPr>
            <a:r>
              <a:rPr lang="en-US" altLang="zh-CN" sz="2800" dirty="0" smtClean="0"/>
              <a:t>Go</a:t>
            </a:r>
            <a:r>
              <a:rPr lang="zh-CN" altLang="en-US" sz="2800" dirty="0" smtClean="0"/>
              <a:t>语言总体概览</a:t>
            </a:r>
          </a:p>
          <a:p>
            <a:pPr marL="571500" indent="-571500">
              <a:buFont typeface="Wingdings" charset="2"/>
              <a:buAutoNum type="circleNumWdBlackPlain"/>
            </a:pPr>
            <a:r>
              <a:rPr lang="en-US" altLang="zh-CN" sz="2800" dirty="0" smtClean="0"/>
              <a:t>Kick Start</a:t>
            </a:r>
          </a:p>
          <a:p>
            <a:pPr marL="571500" indent="-571500">
              <a:buFont typeface="Wingdings" charset="2"/>
              <a:buAutoNum type="circleNumWdBlackPlain"/>
            </a:pPr>
            <a:r>
              <a:rPr lang="zh-CN" altLang="en-US" sz="2800" dirty="0"/>
              <a:t>主题</a:t>
            </a:r>
            <a:endParaRPr lang="en-US" altLang="zh-CN" sz="2800" dirty="0" smtClean="0"/>
          </a:p>
          <a:p>
            <a:pPr marL="571500" indent="-571500">
              <a:buFont typeface="Wingdings" charset="2"/>
              <a:buAutoNum type="circleNumWdBlackPlain"/>
            </a:pPr>
            <a:r>
              <a:rPr lang="zh-CN" altLang="en-US" sz="2800" dirty="0"/>
              <a:t>主题</a:t>
            </a:r>
            <a:endParaRPr lang="zh-CN" altLang="en-US" sz="2800" dirty="0" smtClean="0"/>
          </a:p>
          <a:p>
            <a:pPr marL="571500" indent="-571500">
              <a:buFont typeface="Wingdings" charset="2"/>
              <a:buAutoNum type="circleNumWdBlackPlain"/>
            </a:pPr>
            <a:r>
              <a:rPr lang="zh-CN" altLang="en-US" sz="2800" dirty="0" smtClean="0"/>
              <a:t>主题</a:t>
            </a:r>
            <a:r>
              <a:rPr lang="en-US" altLang="zh-CN" sz="2800" dirty="0" smtClean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1117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2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61100" y="3167769"/>
            <a:ext cx="20313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 smtClean="0">
                <a:latin typeface="华文细黑"/>
                <a:ea typeface="华文细黑"/>
                <a:cs typeface="华文细黑"/>
              </a:rPr>
              <a:t>Go</a:t>
            </a:r>
            <a:r>
              <a:rPr lang="zh-CN" altLang="en-US" sz="3600" b="1" dirty="0" smtClean="0">
                <a:latin typeface="华文细黑"/>
                <a:ea typeface="华文细黑"/>
                <a:cs typeface="华文细黑"/>
              </a:rPr>
              <a:t>语言</a:t>
            </a:r>
            <a:endParaRPr lang="en-US" altLang="zh-CN" sz="3600" b="1" dirty="0" smtClean="0">
              <a:latin typeface="华文细黑"/>
              <a:ea typeface="华文细黑"/>
              <a:cs typeface="华文细黑"/>
            </a:endParaRPr>
          </a:p>
          <a:p>
            <a:r>
              <a:rPr lang="zh-CN" altLang="en-US" sz="3600" b="1" dirty="0" smtClean="0">
                <a:latin typeface="华文细黑"/>
                <a:ea typeface="华文细黑"/>
                <a:cs typeface="华文细黑"/>
              </a:rPr>
              <a:t>总体概览</a:t>
            </a:r>
            <a:endParaRPr lang="zh-CN" altLang="en-US" sz="3600" b="1" dirty="0">
              <a:latin typeface="华文细黑"/>
              <a:ea typeface="华文细黑"/>
              <a:cs typeface="华文细黑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51584" y="2780928"/>
            <a:ext cx="638320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3600" b="1">
                <a:latin typeface="华文细黑"/>
                <a:ea typeface="华文细黑"/>
                <a:cs typeface="华文细黑"/>
              </a:defRPr>
            </a:lvl1pPr>
          </a:lstStyle>
          <a:p>
            <a:r>
              <a:rPr lang="en-US" altLang="zh-CN" sz="4400" i="1" dirty="0">
                <a:solidFill>
                  <a:srgbClr val="797979"/>
                </a:solidFill>
              </a:rPr>
              <a:t>1</a:t>
            </a:r>
            <a:endParaRPr lang="zh-CN" altLang="en-US" sz="4400" i="1" dirty="0">
              <a:solidFill>
                <a:srgbClr val="797979"/>
              </a:solidFill>
            </a:endParaRPr>
          </a:p>
        </p:txBody>
      </p:sp>
      <p:cxnSp>
        <p:nvCxnSpPr>
          <p:cNvPr id="7" name="直线连接符 6"/>
          <p:cNvCxnSpPr/>
          <p:nvPr/>
        </p:nvCxnSpPr>
        <p:spPr>
          <a:xfrm flipH="1">
            <a:off x="2423592" y="2840231"/>
            <a:ext cx="792088" cy="940879"/>
          </a:xfrm>
          <a:prstGeom prst="line">
            <a:avLst/>
          </a:prstGeom>
          <a:ln w="25400">
            <a:solidFill>
              <a:srgbClr val="9292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5"/>
          <p:cNvCxnSpPr/>
          <p:nvPr/>
        </p:nvCxnSpPr>
        <p:spPr>
          <a:xfrm>
            <a:off x="6238508" y="1700808"/>
            <a:ext cx="0" cy="4326504"/>
          </a:xfrm>
          <a:prstGeom prst="line">
            <a:avLst/>
          </a:prstGeom>
          <a:ln w="3175" cmpd="sng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6148497" y="2348880"/>
            <a:ext cx="2214701" cy="523220"/>
            <a:chOff x="6148497" y="2780928"/>
            <a:chExt cx="2214701" cy="523220"/>
          </a:xfrm>
        </p:grpSpPr>
        <p:sp>
          <p:nvSpPr>
            <p:cNvPr id="6" name="文本框 5"/>
            <p:cNvSpPr txBox="1"/>
            <p:nvPr/>
          </p:nvSpPr>
          <p:spPr>
            <a:xfrm>
              <a:off x="6383169" y="2780928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tx2">
                      <a:lumMod val="75000"/>
                    </a:schemeClr>
                  </a:solidFill>
                  <a:latin typeface="华文细黑"/>
                  <a:ea typeface="华文细黑"/>
                  <a:cs typeface="华文细黑"/>
                </a:rPr>
                <a:t>发展</a:t>
              </a:r>
              <a:r>
                <a:rPr kumimoji="1" lang="zh-CN" altLang="en-US" sz="2800" dirty="0" smtClean="0">
                  <a:solidFill>
                    <a:schemeClr val="tx2">
                      <a:lumMod val="75000"/>
                    </a:schemeClr>
                  </a:solidFill>
                  <a:latin typeface="华文细黑"/>
                  <a:ea typeface="华文细黑"/>
                  <a:cs typeface="华文细黑"/>
                </a:rPr>
                <a:t>时间线</a:t>
              </a:r>
            </a:p>
          </p:txBody>
        </p:sp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6148497" y="2934527"/>
              <a:ext cx="180023" cy="180023"/>
            </a:xfrm>
            <a:prstGeom prst="ellipse">
              <a:avLst/>
            </a:prstGeom>
            <a:solidFill>
              <a:srgbClr val="4BACC6"/>
            </a:solidFill>
            <a:ln>
              <a:solidFill>
                <a:srgbClr val="4BACC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148497" y="3251103"/>
            <a:ext cx="2214701" cy="523220"/>
            <a:chOff x="6148497" y="3731749"/>
            <a:chExt cx="2214701" cy="523220"/>
          </a:xfrm>
        </p:grpSpPr>
        <p:sp>
          <p:nvSpPr>
            <p:cNvPr id="8" name="文本框 7"/>
            <p:cNvSpPr txBox="1"/>
            <p:nvPr/>
          </p:nvSpPr>
          <p:spPr>
            <a:xfrm>
              <a:off x="6383169" y="3731749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 smtClean="0">
                  <a:solidFill>
                    <a:schemeClr val="tx2">
                      <a:lumMod val="75000"/>
                    </a:schemeClr>
                  </a:solidFill>
                  <a:latin typeface="华文细黑"/>
                  <a:ea typeface="华文细黑"/>
                  <a:cs typeface="华文细黑"/>
                </a:rPr>
                <a:t>语言的由来</a:t>
              </a:r>
            </a:p>
          </p:txBody>
        </p:sp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6148497" y="3886237"/>
              <a:ext cx="180023" cy="180023"/>
            </a:xfrm>
            <a:prstGeom prst="ellipse">
              <a:avLst/>
            </a:prstGeom>
            <a:solidFill>
              <a:srgbClr val="4BACC6"/>
            </a:solidFill>
            <a:ln>
              <a:solidFill>
                <a:srgbClr val="4BACC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150297" y="4153326"/>
            <a:ext cx="2214701" cy="523220"/>
            <a:chOff x="6150297" y="4633972"/>
            <a:chExt cx="2214701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6384969" y="4633972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tx2">
                      <a:lumMod val="75000"/>
                    </a:schemeClr>
                  </a:solidFill>
                  <a:latin typeface="华文细黑"/>
                  <a:ea typeface="华文细黑"/>
                  <a:cs typeface="华文细黑"/>
                </a:rPr>
                <a:t>优势</a:t>
              </a:r>
              <a:r>
                <a:rPr kumimoji="1" lang="zh-CN" altLang="en-US" sz="2800" dirty="0" smtClean="0">
                  <a:solidFill>
                    <a:schemeClr val="tx2">
                      <a:lumMod val="75000"/>
                    </a:schemeClr>
                  </a:solidFill>
                  <a:latin typeface="华文细黑"/>
                  <a:ea typeface="华文细黑"/>
                  <a:cs typeface="华文细黑"/>
                </a:rPr>
                <a:t>与劣势</a:t>
              </a:r>
            </a:p>
          </p:txBody>
        </p:sp>
        <p:sp>
          <p:nvSpPr>
            <p:cNvPr id="14" name="椭圆 13"/>
            <p:cNvSpPr>
              <a:spLocks noChangeAspect="1"/>
            </p:cNvSpPr>
            <p:nvPr/>
          </p:nvSpPr>
          <p:spPr>
            <a:xfrm>
              <a:off x="6150297" y="4788460"/>
              <a:ext cx="180023" cy="180023"/>
            </a:xfrm>
            <a:prstGeom prst="ellipse">
              <a:avLst/>
            </a:prstGeom>
            <a:solidFill>
              <a:srgbClr val="4BACC6"/>
            </a:solidFill>
            <a:ln>
              <a:solidFill>
                <a:srgbClr val="4BACC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150297" y="5055550"/>
            <a:ext cx="2573774" cy="523220"/>
            <a:chOff x="6150297" y="4633972"/>
            <a:chExt cx="2573774" cy="523220"/>
          </a:xfrm>
        </p:grpSpPr>
        <p:sp>
          <p:nvSpPr>
            <p:cNvPr id="17" name="文本框 16"/>
            <p:cNvSpPr txBox="1"/>
            <p:nvPr/>
          </p:nvSpPr>
          <p:spPr>
            <a:xfrm>
              <a:off x="6384969" y="4633972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 smtClean="0">
                  <a:solidFill>
                    <a:schemeClr val="tx2">
                      <a:lumMod val="75000"/>
                    </a:schemeClr>
                  </a:solidFill>
                  <a:latin typeface="华文细黑"/>
                  <a:ea typeface="华文细黑"/>
                  <a:cs typeface="华文细黑"/>
                </a:rPr>
                <a:t>主要应用场景</a:t>
              </a:r>
            </a:p>
          </p:txBody>
        </p:sp>
        <p:sp>
          <p:nvSpPr>
            <p:cNvPr id="18" name="椭圆 17"/>
            <p:cNvSpPr>
              <a:spLocks noChangeAspect="1"/>
            </p:cNvSpPr>
            <p:nvPr/>
          </p:nvSpPr>
          <p:spPr>
            <a:xfrm>
              <a:off x="6150297" y="4788460"/>
              <a:ext cx="180023" cy="180023"/>
            </a:xfrm>
            <a:prstGeom prst="ellipse">
              <a:avLst/>
            </a:prstGeom>
            <a:solidFill>
              <a:srgbClr val="4BACC6"/>
            </a:solidFill>
            <a:ln>
              <a:solidFill>
                <a:srgbClr val="4BACC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857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GoLang</a:t>
            </a:r>
            <a:r>
              <a:rPr lang="zh-CN" altLang="en-US" dirty="0" smtClean="0"/>
              <a:t>的发展时间线</a:t>
            </a:r>
            <a:endParaRPr 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5869041" y="1026666"/>
            <a:ext cx="0" cy="5386198"/>
          </a:xfrm>
          <a:prstGeom prst="line">
            <a:avLst/>
          </a:prstGeom>
          <a:ln w="50800">
            <a:solidFill>
              <a:srgbClr val="D6D6D6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03625" y="2358832"/>
            <a:ext cx="5083797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发布第一个稳定版本</a:t>
            </a:r>
            <a:r>
              <a:rPr kumimoji="1" lang="en-US" altLang="zh-CN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Go 1</a:t>
            </a:r>
            <a:r>
              <a:rPr kumimoji="1" lang="zh-CN" altLang="en-US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，从此版本开始，</a:t>
            </a:r>
            <a:r>
              <a:rPr kumimoji="1" lang="en-US" altLang="zh-CN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Go Team</a:t>
            </a:r>
            <a:r>
              <a:rPr kumimoji="1" lang="zh-CN" altLang="en-US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承诺后续的版本都会兼容之前的版本</a:t>
            </a: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5782607" y="1535601"/>
            <a:ext cx="180023" cy="180023"/>
          </a:xfrm>
          <a:prstGeom prst="ellipse">
            <a:avLst/>
          </a:prstGeom>
          <a:solidFill>
            <a:srgbClr val="D6D6D6"/>
          </a:solidFill>
          <a:ln>
            <a:solidFill>
              <a:srgbClr val="D6D6D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77326" y="1425557"/>
            <a:ext cx="1014471" cy="40011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0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2009</a:t>
            </a:r>
            <a:r>
              <a:rPr kumimoji="1" lang="zh-CN" altLang="en-US" sz="20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年</a:t>
            </a:r>
          </a:p>
        </p:txBody>
      </p:sp>
      <p:sp>
        <p:nvSpPr>
          <p:cNvPr id="10" name="椭圆 9"/>
          <p:cNvSpPr>
            <a:spLocks noChangeAspect="1"/>
          </p:cNvSpPr>
          <p:nvPr/>
        </p:nvSpPr>
        <p:spPr>
          <a:xfrm>
            <a:off x="5782607" y="2868985"/>
            <a:ext cx="180023" cy="180023"/>
          </a:xfrm>
          <a:prstGeom prst="ellipse">
            <a:avLst/>
          </a:prstGeom>
          <a:solidFill>
            <a:srgbClr val="D6D6D6"/>
          </a:solidFill>
          <a:ln>
            <a:solidFill>
              <a:srgbClr val="D6D6D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2" name="椭圆 11"/>
          <p:cNvSpPr>
            <a:spLocks noChangeAspect="1"/>
          </p:cNvSpPr>
          <p:nvPr/>
        </p:nvSpPr>
        <p:spPr>
          <a:xfrm>
            <a:off x="5782607" y="5725603"/>
            <a:ext cx="180023" cy="180023"/>
          </a:xfrm>
          <a:prstGeom prst="ellipse">
            <a:avLst/>
          </a:prstGeom>
          <a:solidFill>
            <a:srgbClr val="D6D6D6"/>
          </a:solidFill>
          <a:ln>
            <a:solidFill>
              <a:srgbClr val="D6D6D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3" name="椭圆 12"/>
          <p:cNvSpPr>
            <a:spLocks noChangeAspect="1"/>
          </p:cNvSpPr>
          <p:nvPr/>
        </p:nvSpPr>
        <p:spPr>
          <a:xfrm>
            <a:off x="5782607" y="4227185"/>
            <a:ext cx="180023" cy="180023"/>
          </a:xfrm>
          <a:prstGeom prst="ellipse">
            <a:avLst/>
          </a:prstGeom>
          <a:solidFill>
            <a:srgbClr val="D6D6D6"/>
          </a:solidFill>
          <a:ln>
            <a:solidFill>
              <a:srgbClr val="D6D6D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57073" y="2758941"/>
            <a:ext cx="1512168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0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2012</a:t>
            </a:r>
            <a:r>
              <a:rPr kumimoji="1" lang="zh-CN" altLang="en-US" sz="20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年</a:t>
            </a:r>
            <a:r>
              <a:rPr kumimoji="1" lang="en-US" altLang="zh-CN" sz="20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3</a:t>
            </a:r>
            <a:r>
              <a:rPr kumimoji="1" lang="zh-CN" altLang="en-US" sz="20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月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64227" y="1394780"/>
            <a:ext cx="5432623" cy="46166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由</a:t>
            </a:r>
            <a:r>
              <a:rPr kumimoji="1" lang="en-US" altLang="zh-CN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Google</a:t>
            </a:r>
            <a:r>
              <a:rPr kumimoji="1" lang="zh-CN" altLang="en-US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开源，获得当年“年度语言”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079776" y="4117141"/>
            <a:ext cx="1512021" cy="40011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0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2013</a:t>
            </a:r>
            <a:r>
              <a:rPr kumimoji="1" lang="zh-CN" altLang="en-US" sz="20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年</a:t>
            </a:r>
            <a:r>
              <a:rPr kumimoji="1" lang="en-US" altLang="zh-CN" sz="20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5</a:t>
            </a:r>
            <a:r>
              <a:rPr kumimoji="1" lang="zh-CN" altLang="en-US" sz="20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月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153440" y="3717032"/>
            <a:ext cx="5432623" cy="120032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发布</a:t>
            </a:r>
            <a:r>
              <a:rPr kumimoji="1" lang="en-US" altLang="zh-CN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Go 1.1</a:t>
            </a:r>
            <a:r>
              <a:rPr kumimoji="1" lang="zh-CN" altLang="en-US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版本，后来直到</a:t>
            </a:r>
            <a:r>
              <a:rPr kumimoji="1" lang="en-US" altLang="zh-CN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1.4</a:t>
            </a:r>
            <a:r>
              <a:rPr kumimoji="1" lang="zh-CN" altLang="en-US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，语言层面都没有太大的变化，主要是一些</a:t>
            </a:r>
            <a:r>
              <a:rPr kumimoji="1" lang="en-US" altLang="zh-CN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bug</a:t>
            </a:r>
            <a:r>
              <a:rPr kumimoji="1" lang="zh-CN" altLang="en-US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华文细黑"/>
                <a:ea typeface="华文细黑"/>
                <a:cs typeface="华文细黑"/>
              </a:rPr>
              <a:t>修复和库丰富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164227" y="5615559"/>
            <a:ext cx="1512168" cy="4001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0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2015</a:t>
            </a:r>
            <a:r>
              <a:rPr kumimoji="1" lang="zh-CN" altLang="en-US" sz="20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年</a:t>
            </a:r>
            <a:r>
              <a:rPr kumimoji="1" lang="en-US" altLang="zh-CN" sz="20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8</a:t>
            </a:r>
            <a:r>
              <a:rPr kumimoji="1" lang="zh-CN" altLang="en-US" sz="20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月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97946" y="5215450"/>
            <a:ext cx="5083797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发布</a:t>
            </a:r>
            <a:r>
              <a:rPr kumimoji="1" lang="en-US" altLang="zh-CN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Go1.5</a:t>
            </a:r>
            <a:r>
              <a:rPr kumimoji="1" lang="zh-CN" altLang="en-US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，加上</a:t>
            </a:r>
            <a:r>
              <a:rPr kumimoji="1" lang="en-US" altLang="zh-CN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2016</a:t>
            </a:r>
            <a:r>
              <a:rPr kumimoji="1" lang="zh-CN" altLang="en-US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年发布的</a:t>
            </a:r>
            <a:r>
              <a:rPr kumimoji="1" lang="en-US" altLang="zh-CN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Go1.6</a:t>
            </a:r>
            <a:r>
              <a:rPr kumimoji="1" lang="zh-CN" altLang="en-US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版本，对</a:t>
            </a:r>
            <a:r>
              <a:rPr kumimoji="1" lang="en-US" altLang="zh-CN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GC</a:t>
            </a:r>
            <a:r>
              <a:rPr kumimoji="1" lang="zh-CN" altLang="en-US" sz="2400" dirty="0" smtClean="0">
                <a:solidFill>
                  <a:schemeClr val="bg1">
                    <a:lumMod val="90000"/>
                  </a:schemeClr>
                </a:solidFill>
                <a:latin typeface="华文细黑"/>
                <a:ea typeface="华文细黑"/>
                <a:cs typeface="华文细黑"/>
              </a:rPr>
              <a:t>性能进行了重大优化</a:t>
            </a:r>
          </a:p>
        </p:txBody>
      </p:sp>
    </p:spTree>
    <p:extLst>
      <p:ext uri="{BB962C8B-B14F-4D97-AF65-F5344CB8AC3E}">
        <p14:creationId xmlns:p14="http://schemas.microsoft.com/office/powerpoint/2010/main" val="284662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标题一</a:t>
            </a:r>
            <a:endParaRPr lang="en-US" dirty="0"/>
          </a:p>
        </p:txBody>
      </p:sp>
      <p:pic>
        <p:nvPicPr>
          <p:cNvPr id="1026" name="Picture 2" descr="D:\Documents\YouDaoNote\sina1863423990\abc8e974c14c4463854ed3998fd3afc9\clipboar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31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标题一</a:t>
            </a:r>
            <a:endParaRPr lang="en-US" dirty="0"/>
          </a:p>
        </p:txBody>
      </p:sp>
      <p:pic>
        <p:nvPicPr>
          <p:cNvPr id="2050" name="Picture 2" descr="D:\Documents\YouDaoNote\sina1863423990\747329ba70774b78b24ee2a142033c10\clipboar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096000" cy="3971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ocuments\YouDaoNote\sina1863423990\88ae76a90aa34d798dcc4e8f154468cf\clipboar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4509" cy="36450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:\Documents\YouDaoNote\sina1863423990\c961ad20e3cb4c82a5644465aae83be0\clipboar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71925"/>
            <a:ext cx="6528047" cy="2886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:\Documents\YouDaoNote\sina1863423990\8108969515dc43e0ae5051fd418c5cba\clipboard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8" y="3645024"/>
            <a:ext cx="5663208" cy="32129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99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Go1.4</a:t>
            </a:r>
            <a:r>
              <a:rPr lang="zh-CN" altLang="en-US" dirty="0" smtClean="0"/>
              <a:t>到</a:t>
            </a:r>
            <a:r>
              <a:rPr lang="en-US" altLang="zh-CN" dirty="0" smtClean="0"/>
              <a:t>1.5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GC Pause</a:t>
            </a:r>
            <a:r>
              <a:rPr lang="zh-CN" altLang="en-US" dirty="0" smtClean="0"/>
              <a:t>从</a:t>
            </a:r>
            <a:r>
              <a:rPr lang="en-US" altLang="zh-CN" dirty="0" smtClean="0"/>
              <a:t>300ms</a:t>
            </a:r>
            <a:r>
              <a:rPr lang="zh-CN" altLang="en-US" dirty="0" smtClean="0"/>
              <a:t>降到</a:t>
            </a:r>
            <a:r>
              <a:rPr lang="en-US" altLang="zh-CN" dirty="0" smtClean="0"/>
              <a:t>40ms</a:t>
            </a:r>
            <a:r>
              <a:rPr lang="zh-CN" altLang="en-US" dirty="0" smtClean="0"/>
              <a:t>左右</a:t>
            </a:r>
            <a:endParaRPr lang="en-US" dirty="0"/>
          </a:p>
        </p:txBody>
      </p:sp>
      <p:pic>
        <p:nvPicPr>
          <p:cNvPr id="3074" name="Picture 2" descr="D:\Documents\YouDaoNote\sina1863423990\7cf12f9e44004bf8a39a210fd72bc773\clipboar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712"/>
            <a:ext cx="12192000" cy="603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937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Go1.5</a:t>
            </a:r>
            <a:r>
              <a:rPr lang="zh-CN" altLang="en-US" dirty="0" smtClean="0"/>
              <a:t>到</a:t>
            </a:r>
            <a:r>
              <a:rPr lang="en-US" altLang="zh-CN" dirty="0" smtClean="0"/>
              <a:t>1.6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GC Pause</a:t>
            </a:r>
            <a:r>
              <a:rPr lang="zh-CN" altLang="en-US" dirty="0" smtClean="0"/>
              <a:t>从</a:t>
            </a:r>
            <a:r>
              <a:rPr lang="en-US" altLang="zh-CN" dirty="0"/>
              <a:t>4</a:t>
            </a:r>
            <a:r>
              <a:rPr lang="en-US" altLang="zh-CN" dirty="0" smtClean="0"/>
              <a:t>0ms</a:t>
            </a:r>
            <a:r>
              <a:rPr lang="zh-CN" altLang="en-US" dirty="0" smtClean="0"/>
              <a:t>降到</a:t>
            </a:r>
            <a:r>
              <a:rPr lang="en-US" altLang="zh-CN" dirty="0"/>
              <a:t>2</a:t>
            </a:r>
            <a:r>
              <a:rPr lang="en-US" altLang="zh-CN" dirty="0" smtClean="0"/>
              <a:t>ms</a:t>
            </a:r>
            <a:r>
              <a:rPr lang="zh-CN" altLang="en-US" dirty="0" smtClean="0"/>
              <a:t>左右</a:t>
            </a:r>
            <a:endParaRPr lang="en-US" dirty="0"/>
          </a:p>
        </p:txBody>
      </p:sp>
      <p:pic>
        <p:nvPicPr>
          <p:cNvPr id="4098" name="Picture 2" descr="D:\Documents\YouDaoNote\sina1863423990\b865bb6f653944839e0304c04d339806\clipboar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711"/>
            <a:ext cx="12192000" cy="603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 rot="845135">
            <a:off x="7402489" y="3855690"/>
            <a:ext cx="42693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从</a:t>
            </a:r>
            <a:r>
              <a:rPr lang="en-US" altLang="zh-CN" sz="28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1.6</a:t>
            </a:r>
            <a:r>
              <a:rPr lang="zh-CN" altLang="en-US" sz="28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版本开始</a:t>
            </a:r>
            <a:endParaRPr lang="en-US" altLang="zh-CN" sz="2800" dirty="0" smtClean="0">
              <a:solidFill>
                <a:srgbClr val="FF0000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algn="ctr"/>
            <a:r>
              <a:rPr lang="en-US" altLang="zh-CN" sz="28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GC</a:t>
            </a:r>
            <a:r>
              <a:rPr lang="zh-CN" altLang="en-US" sz="28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已经不是</a:t>
            </a:r>
            <a:r>
              <a:rPr lang="en-US" altLang="zh-CN" sz="28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Go</a:t>
            </a:r>
            <a:r>
              <a:rPr lang="zh-CN" altLang="en-US" sz="28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的问题了！</a:t>
            </a:r>
          </a:p>
        </p:txBody>
      </p:sp>
    </p:spTree>
    <p:extLst>
      <p:ext uri="{BB962C8B-B14F-4D97-AF65-F5344CB8AC3E}">
        <p14:creationId xmlns:p14="http://schemas.microsoft.com/office/powerpoint/2010/main" val="357123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Go</a:t>
            </a:r>
            <a:r>
              <a:rPr lang="zh-CN" altLang="en-US" dirty="0" smtClean="0"/>
              <a:t>的三大作者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645" y="2267253"/>
            <a:ext cx="2833885" cy="291260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43" y="2297305"/>
            <a:ext cx="2852500" cy="28525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38" y="2305949"/>
            <a:ext cx="2835212" cy="283521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矩形 9"/>
          <p:cNvSpPr/>
          <p:nvPr/>
        </p:nvSpPr>
        <p:spPr>
          <a:xfrm>
            <a:off x="1204361" y="5558675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Helvetica Neue"/>
              </a:rPr>
              <a:t>Robert </a:t>
            </a:r>
            <a:r>
              <a:rPr lang="en-US" altLang="zh-CN" b="1" dirty="0" err="1" smtClean="0">
                <a:latin typeface="Helvetica Neue"/>
              </a:rPr>
              <a:t>Griesemer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5516446" y="5558675"/>
            <a:ext cx="1120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Helvetica Neue"/>
              </a:rPr>
              <a:t>Rob Pike</a:t>
            </a:r>
            <a:endParaRPr lang="zh-CN" altLang="en-US" b="1" dirty="0">
              <a:latin typeface="Helvetica Neue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53230" y="5558675"/>
            <a:ext cx="1588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Helvetica Neue"/>
              </a:rPr>
              <a:t>Ken Thompson</a:t>
            </a:r>
            <a:endParaRPr lang="zh-CN" altLang="en-US" b="1" dirty="0">
              <a:latin typeface="Helvetica Neue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026" y="1284550"/>
            <a:ext cx="25659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3E3E3E"/>
                </a:solidFill>
                <a:latin typeface="Helvetica Neue"/>
              </a:rPr>
              <a:t>Google V8</a:t>
            </a:r>
            <a:r>
              <a:rPr lang="zh-CN" altLang="en-US" sz="2000" dirty="0">
                <a:solidFill>
                  <a:srgbClr val="3E3E3E"/>
                </a:solidFill>
                <a:latin typeface="Helvetica Neue"/>
              </a:rPr>
              <a:t>、</a:t>
            </a:r>
            <a:r>
              <a:rPr lang="en-US" altLang="zh-CN" sz="2000" dirty="0" smtClean="0">
                <a:solidFill>
                  <a:srgbClr val="3E3E3E"/>
                </a:solidFill>
                <a:latin typeface="Helvetica Neue"/>
              </a:rPr>
              <a:t>Chubby</a:t>
            </a:r>
            <a:r>
              <a:rPr lang="zh-CN" altLang="en-US" sz="2000" dirty="0" smtClean="0">
                <a:solidFill>
                  <a:srgbClr val="3E3E3E"/>
                </a:solidFill>
                <a:latin typeface="Helvetica Neue"/>
              </a:rPr>
              <a:t>、</a:t>
            </a:r>
            <a:r>
              <a:rPr lang="en-US" altLang="zh-CN" sz="2000" dirty="0" err="1" smtClean="0">
                <a:solidFill>
                  <a:srgbClr val="3E3E3E"/>
                </a:solidFill>
                <a:latin typeface="Helvetica Neue"/>
              </a:rPr>
              <a:t>HotSpot</a:t>
            </a:r>
            <a:r>
              <a:rPr lang="en-US" altLang="zh-CN" sz="2000" dirty="0">
                <a:solidFill>
                  <a:srgbClr val="3E3E3E"/>
                </a:solidFill>
                <a:latin typeface="Helvetica Neue"/>
              </a:rPr>
              <a:t> </a:t>
            </a:r>
            <a:r>
              <a:rPr lang="en-US" altLang="zh-CN" sz="2000" dirty="0" smtClean="0">
                <a:solidFill>
                  <a:srgbClr val="3E3E3E"/>
                </a:solidFill>
                <a:latin typeface="Helvetica Neue"/>
              </a:rPr>
              <a:t>JVM</a:t>
            </a:r>
            <a:endParaRPr lang="zh-CN" altLang="en-US" sz="2000" dirty="0"/>
          </a:p>
        </p:txBody>
      </p:sp>
      <p:sp>
        <p:nvSpPr>
          <p:cNvPr id="14" name="矩形 13"/>
          <p:cNvSpPr/>
          <p:nvPr/>
        </p:nvSpPr>
        <p:spPr>
          <a:xfrm>
            <a:off x="4594280" y="1530771"/>
            <a:ext cx="2952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3E3E3E"/>
                </a:solidFill>
                <a:latin typeface="Helvetica Neue"/>
              </a:rPr>
              <a:t>Unix</a:t>
            </a:r>
            <a:r>
              <a:rPr lang="zh-CN" altLang="en-US" sz="2400" dirty="0">
                <a:solidFill>
                  <a:srgbClr val="3E3E3E"/>
                </a:solidFill>
                <a:latin typeface="Helvetica Neue"/>
              </a:rPr>
              <a:t>、</a:t>
            </a:r>
            <a:r>
              <a:rPr lang="en-US" altLang="zh-CN" sz="2400" dirty="0">
                <a:solidFill>
                  <a:srgbClr val="3E3E3E"/>
                </a:solidFill>
                <a:latin typeface="Helvetica Neue"/>
              </a:rPr>
              <a:t>UTF-8</a:t>
            </a:r>
            <a:r>
              <a:rPr lang="zh-CN" altLang="en-US" sz="2400" dirty="0">
                <a:solidFill>
                  <a:srgbClr val="3E3E3E"/>
                </a:solidFill>
                <a:latin typeface="Helvetica Neue"/>
              </a:rPr>
              <a:t>、</a:t>
            </a:r>
            <a:r>
              <a:rPr lang="en-US" altLang="zh-CN" sz="2400" dirty="0" smtClean="0">
                <a:solidFill>
                  <a:srgbClr val="3E3E3E"/>
                </a:solidFill>
                <a:latin typeface="Helvetica Neue"/>
              </a:rPr>
              <a:t>plan9</a:t>
            </a:r>
            <a:endParaRPr lang="zh-CN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8082888" y="1530771"/>
            <a:ext cx="3773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3E3E3E"/>
                </a:solidFill>
                <a:latin typeface="Helvetica Neue"/>
              </a:rPr>
              <a:t>B</a:t>
            </a:r>
            <a:r>
              <a:rPr lang="zh-CN" altLang="en-US" sz="2400" dirty="0">
                <a:solidFill>
                  <a:srgbClr val="3E3E3E"/>
                </a:solidFill>
                <a:latin typeface="Helvetica Neue"/>
              </a:rPr>
              <a:t>语言、</a:t>
            </a:r>
            <a:r>
              <a:rPr lang="en-US" altLang="zh-CN" sz="2400" dirty="0">
                <a:solidFill>
                  <a:srgbClr val="3E3E3E"/>
                </a:solidFill>
                <a:latin typeface="Helvetica Neue"/>
              </a:rPr>
              <a:t>C</a:t>
            </a:r>
            <a:r>
              <a:rPr lang="zh-CN" altLang="en-US" sz="2400" dirty="0" smtClean="0">
                <a:solidFill>
                  <a:srgbClr val="3E3E3E"/>
                </a:solidFill>
                <a:latin typeface="Helvetica Neue"/>
              </a:rPr>
              <a:t>语言、</a:t>
            </a:r>
            <a:r>
              <a:rPr lang="en-US" altLang="zh-CN" sz="2400" dirty="0">
                <a:solidFill>
                  <a:srgbClr val="3E3E3E"/>
                </a:solidFill>
                <a:latin typeface="Helvetica Neue"/>
              </a:rPr>
              <a:t>Unix</a:t>
            </a:r>
            <a:r>
              <a:rPr lang="zh-CN" altLang="en-US" sz="2400" dirty="0">
                <a:solidFill>
                  <a:srgbClr val="3E3E3E"/>
                </a:solidFill>
                <a:latin typeface="Helvetica Neue"/>
              </a:rPr>
              <a:t>之父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585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其他关键人物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280" y="2308644"/>
            <a:ext cx="2851200" cy="2851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2249162"/>
            <a:ext cx="2851200" cy="297016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844" y="2268604"/>
            <a:ext cx="2851200" cy="293128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矩形 5"/>
          <p:cNvSpPr/>
          <p:nvPr/>
        </p:nvSpPr>
        <p:spPr>
          <a:xfrm>
            <a:off x="1632598" y="5606679"/>
            <a:ext cx="1120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Helvetica Neue"/>
              </a:rPr>
              <a:t>Russ Cox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9013393" y="5606679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Helvetica Neue"/>
              </a:rPr>
              <a:t>Brad Fitzpatrick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5088957" y="5606679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Helvetica Neue"/>
              </a:rPr>
              <a:t>Ian Lance Taylor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4594280" y="1530771"/>
            <a:ext cx="2952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3E3E3E"/>
                </a:solidFill>
                <a:latin typeface="Helvetica Neue"/>
              </a:rPr>
              <a:t>GCC</a:t>
            </a:r>
            <a:r>
              <a:rPr lang="zh-CN" altLang="en-US" sz="2400" dirty="0" smtClean="0">
                <a:solidFill>
                  <a:srgbClr val="3E3E3E"/>
                </a:solidFill>
                <a:latin typeface="Helvetica Neue"/>
              </a:rPr>
              <a:t>的</a:t>
            </a:r>
            <a:r>
              <a:rPr lang="en-US" altLang="zh-CN" sz="2400" dirty="0" smtClean="0">
                <a:solidFill>
                  <a:srgbClr val="3E3E3E"/>
                </a:solidFill>
                <a:latin typeface="Helvetica Neue"/>
              </a:rPr>
              <a:t>Go</a:t>
            </a:r>
            <a:r>
              <a:rPr lang="zh-CN" altLang="en-US" sz="2400" dirty="0" smtClean="0">
                <a:solidFill>
                  <a:srgbClr val="3E3E3E"/>
                </a:solidFill>
                <a:latin typeface="Helvetica Neue"/>
              </a:rPr>
              <a:t>实现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8082888" y="1530771"/>
            <a:ext cx="3773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 smtClean="0">
                <a:solidFill>
                  <a:srgbClr val="3E3E3E"/>
                </a:solidFill>
                <a:latin typeface="Helvetica Neue"/>
              </a:rPr>
              <a:t>Memcache</a:t>
            </a:r>
            <a:r>
              <a:rPr lang="zh-CN" altLang="en-US" sz="2400" dirty="0" smtClean="0">
                <a:solidFill>
                  <a:srgbClr val="3E3E3E"/>
                </a:solidFill>
                <a:latin typeface="Helvetica Neue"/>
              </a:rPr>
              <a:t>、</a:t>
            </a:r>
            <a:r>
              <a:rPr lang="en-US" altLang="zh-CN" sz="2400" dirty="0" smtClean="0">
                <a:solidFill>
                  <a:srgbClr val="3E3E3E"/>
                </a:solidFill>
                <a:latin typeface="Helvetica Neue"/>
              </a:rPr>
              <a:t>HTTP2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716844" y="1530771"/>
            <a:ext cx="2952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3E3E3E"/>
                </a:solidFill>
                <a:latin typeface="Helvetica Neue"/>
              </a:rPr>
              <a:t>Go</a:t>
            </a:r>
            <a:r>
              <a:rPr lang="zh-CN" altLang="en-US" sz="2400" dirty="0">
                <a:solidFill>
                  <a:srgbClr val="3E3E3E"/>
                </a:solidFill>
                <a:latin typeface="Helvetica Neue"/>
              </a:rPr>
              <a:t>的领导者</a:t>
            </a:r>
          </a:p>
        </p:txBody>
      </p:sp>
    </p:spTree>
    <p:extLst>
      <p:ext uri="{BB962C8B-B14F-4D97-AF65-F5344CB8AC3E}">
        <p14:creationId xmlns:p14="http://schemas.microsoft.com/office/powerpoint/2010/main" val="220889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为什么要设计</a:t>
            </a:r>
            <a:r>
              <a:rPr lang="en-US" altLang="zh-CN" dirty="0" smtClean="0"/>
              <a:t>Go</a:t>
            </a:r>
            <a:endParaRPr lang="en-US" dirty="0"/>
          </a:p>
        </p:txBody>
      </p:sp>
      <p:sp>
        <p:nvSpPr>
          <p:cNvPr id="2" name="矩形 1"/>
          <p:cNvSpPr/>
          <p:nvPr/>
        </p:nvSpPr>
        <p:spPr>
          <a:xfrm>
            <a:off x="1343472" y="980728"/>
            <a:ext cx="9577064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设计</a:t>
            </a:r>
            <a:r>
              <a:rPr lang="en-US" altLang="zh-CN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</a:t>
            </a: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语言是为了解决当时</a:t>
            </a:r>
            <a:r>
              <a:rPr lang="en-US" altLang="zh-CN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Google</a:t>
            </a: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开发遇到的以下这些问题：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大量的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C++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代码，同时又引入了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Java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Python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成千上万的工程师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数以万计行的代码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分布式的编译系统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数百万的服务器</a:t>
            </a:r>
          </a:p>
        </p:txBody>
      </p:sp>
      <p:sp>
        <p:nvSpPr>
          <p:cNvPr id="4" name="矩形 3"/>
          <p:cNvSpPr/>
          <p:nvPr/>
        </p:nvSpPr>
        <p:spPr>
          <a:xfrm>
            <a:off x="1343472" y="3573016"/>
            <a:ext cx="97930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主要</a:t>
            </a: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有以下几个方面的痛点：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编译慢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失控的依赖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每个工程师只是用了一个语言里面的一部分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程序难以维护（可读性差、文档不清晰等）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更新的花费越来越长</a:t>
            </a:r>
          </a:p>
          <a:p>
            <a:pPr marL="623888" indent="-180975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交叉编译困难</a:t>
            </a:r>
          </a:p>
        </p:txBody>
      </p:sp>
    </p:spTree>
    <p:extLst>
      <p:ext uri="{BB962C8B-B14F-4D97-AF65-F5344CB8AC3E}">
        <p14:creationId xmlns:p14="http://schemas.microsoft.com/office/powerpoint/2010/main" val="253201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</a:t>
            </a:r>
            <a:r>
              <a:rPr lang="zh-CN" altLang="en-US" dirty="0" smtClean="0"/>
              <a:t>的主要特色</a:t>
            </a:r>
            <a:endParaRPr lang="en-US" dirty="0"/>
          </a:p>
        </p:txBody>
      </p:sp>
      <p:sp>
        <p:nvSpPr>
          <p:cNvPr id="2" name="矩形 1"/>
          <p:cNvSpPr/>
          <p:nvPr/>
        </p:nvSpPr>
        <p:spPr>
          <a:xfrm>
            <a:off x="1440160" y="1124744"/>
            <a:ext cx="70321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没有继承的</a:t>
            </a:r>
            <a:r>
              <a:rPr lang="en-US" altLang="zh-CN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OO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强一致类型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Interface</a:t>
            </a: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但是不需要显示申明</a:t>
            </a:r>
            <a:r>
              <a:rPr lang="en-US" altLang="zh-CN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(Duck Type)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Function </a:t>
            </a:r>
            <a:r>
              <a:rPr lang="zh-CN" altLang="en-US" sz="24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和  </a:t>
            </a:r>
            <a:r>
              <a:rPr lang="en-US" altLang="zh-CN" sz="24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Method</a:t>
            </a:r>
            <a:endParaRPr lang="en-US" altLang="zh-CN" sz="2400" dirty="0">
              <a:solidFill>
                <a:srgbClr val="17375E"/>
              </a:solidFill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没有异常处理</a:t>
            </a:r>
            <a:r>
              <a:rPr lang="en-US" altLang="zh-CN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(Error is value)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基于首字母的可访问特性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不用的</a:t>
            </a:r>
            <a:r>
              <a:rPr lang="en-US" altLang="zh-CN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Import</a:t>
            </a: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或者变量引起编译错误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完整而卓越的标准库包</a:t>
            </a:r>
          </a:p>
        </p:txBody>
      </p:sp>
    </p:spTree>
    <p:extLst>
      <p:ext uri="{BB962C8B-B14F-4D97-AF65-F5344CB8AC3E}">
        <p14:creationId xmlns:p14="http://schemas.microsoft.com/office/powerpoint/2010/main" val="58711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Go</a:t>
            </a:r>
            <a:r>
              <a:rPr lang="zh-CN" altLang="en-US" dirty="0" smtClean="0"/>
              <a:t>的缺点</a:t>
            </a:r>
            <a:endParaRPr lang="en-US" dirty="0"/>
          </a:p>
        </p:txBody>
      </p:sp>
      <p:sp>
        <p:nvSpPr>
          <p:cNvPr id="2" name="矩形 1"/>
          <p:cNvSpPr/>
          <p:nvPr/>
        </p:nvSpPr>
        <p:spPr>
          <a:xfrm>
            <a:off x="911424" y="1412776"/>
            <a:ext cx="108012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目前，</a:t>
            </a:r>
            <a:r>
              <a:rPr lang="en-US" altLang="zh-CN" sz="24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</a:t>
            </a:r>
            <a:r>
              <a:rPr lang="zh-CN" altLang="en-US" sz="24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主要存在以下缺点：</a:t>
            </a:r>
            <a:endParaRPr lang="en-US" altLang="zh-CN" sz="2400" dirty="0">
              <a:solidFill>
                <a:srgbClr val="17375E"/>
              </a:solidFill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442913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的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goroutine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一旦启动后，不同的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goroutine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之间切换不是受程序控制，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runtime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调度的时候需要严谨的逻辑，不然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goroutine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休眠，过一段时间逻辑结束了却突然冒出来又执行了，这会导致逻辑出错等情况。这个目前无解，应该属于调度器的优化</a:t>
            </a:r>
            <a:r>
              <a:rPr lang="zh-CN" altLang="en-US" sz="20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17375E"/>
              </a:solidFill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442913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pkg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下面的图片处理库很多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bug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，还是使用成熟产品好，调用这些成熟库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imagemagick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的接口比较靠谱。总而言之，从工程的角度上来看，对于大多数后台应用场景，选择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Golang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是极为明智的选择。 这样可以很轻松的兼顾运行性能、开发效率及维护难度这三大让诸多程序猿欲仙欲死的点</a:t>
            </a:r>
            <a:r>
              <a:rPr lang="zh-CN" altLang="en-US" sz="20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17375E"/>
              </a:solidFill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442913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GC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延迟有点</a:t>
            </a:r>
            <a:r>
              <a:rPr lang="zh-CN" altLang="en-US" sz="20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大，但是在</a:t>
            </a:r>
            <a:r>
              <a:rPr lang="en-US" altLang="zh-CN" sz="20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1.6</a:t>
            </a:r>
            <a:r>
              <a:rPr lang="zh-CN" altLang="en-US" sz="20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版本后，已经得到了解决</a:t>
            </a:r>
            <a:endParaRPr lang="zh-CN" altLang="en-US" sz="2000" dirty="0">
              <a:solidFill>
                <a:srgbClr val="17375E"/>
              </a:solidFill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518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</a:t>
            </a:r>
            <a:r>
              <a:rPr lang="zh-CN" altLang="en-US" dirty="0" smtClean="0"/>
              <a:t>的主要用武之地</a:t>
            </a:r>
            <a:endParaRPr lang="en-US" dirty="0"/>
          </a:p>
        </p:txBody>
      </p:sp>
      <p:sp>
        <p:nvSpPr>
          <p:cNvPr id="2" name="矩形 1"/>
          <p:cNvSpPr/>
          <p:nvPr/>
        </p:nvSpPr>
        <p:spPr>
          <a:xfrm>
            <a:off x="874675" y="1124744"/>
            <a:ext cx="104411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目前</a:t>
            </a:r>
            <a:r>
              <a:rPr lang="en-US" altLang="zh-CN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</a:t>
            </a:r>
            <a:r>
              <a:rPr lang="zh-CN" altLang="en-US" sz="24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主要应用在下面这些系统：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服务器</a:t>
            </a:r>
            <a:r>
              <a:rPr lang="zh-CN" altLang="en-US" sz="2400" dirty="0" smtClean="0">
                <a:solidFill>
                  <a:srgbClr val="FF0000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编程</a:t>
            </a:r>
            <a:endParaRPr lang="en-US" altLang="zh-CN" sz="2400" dirty="0" smtClean="0">
              <a:solidFill>
                <a:srgbClr val="FF0000"/>
              </a:solidFill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442913" lvl="1"/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以前你如果使用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或者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C++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做的那些事情，用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来做很合适，例如处理日志、数据打包、虚拟机处理、文件系统等。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分布式系统、数据库代理器</a:t>
            </a:r>
            <a:r>
              <a:rPr lang="zh-CN" altLang="en-US" sz="24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等</a:t>
            </a:r>
            <a:endParaRPr lang="en-US" altLang="zh-CN" sz="2400" dirty="0" smtClean="0">
              <a:solidFill>
                <a:srgbClr val="17375E"/>
              </a:solidFill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442913" lvl="1"/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例如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Etcd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网络编程</a:t>
            </a:r>
            <a:endParaRPr lang="en-US" altLang="zh-CN" sz="2400" dirty="0">
              <a:solidFill>
                <a:srgbClr val="FF0000"/>
              </a:solidFill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442913" lvl="1"/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这一块目前应用最广，包括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应用、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API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应用、下载应用，而且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内置的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net/http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包基本上把我们平常用到的网络功能都实现了。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数据库</a:t>
            </a:r>
            <a:endParaRPr lang="en-US" altLang="zh-CN" sz="2400" dirty="0">
              <a:solidFill>
                <a:srgbClr val="FF0000"/>
              </a:solidFill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442913" lvl="1"/>
            <a:r>
              <a:rPr lang="en-US" altLang="zh-CN" sz="20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Google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开发的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Groupcache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，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Couchbase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部分组件，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Tidb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，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Cockroachdb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，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Influxdb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等。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云平台</a:t>
            </a:r>
            <a:endParaRPr lang="en-US" altLang="zh-CN" sz="2400" dirty="0">
              <a:solidFill>
                <a:srgbClr val="FF0000"/>
              </a:solidFill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442913" lvl="1"/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目前国外很多云平台在采用</a:t>
            </a:r>
            <a:r>
              <a:rPr lang="en-US" altLang="zh-CN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Go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开发，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CloudFoundy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部分组件，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前</a:t>
            </a:r>
            <a:r>
              <a:rPr lang="en-US" altLang="zh-CN" sz="2000" dirty="0" err="1" smtClean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VMvare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的技术总监自己出来搞的</a:t>
            </a:r>
            <a:r>
              <a:rPr lang="en-US" altLang="zh-CN" sz="2000" dirty="0" err="1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Apcera</a:t>
            </a:r>
            <a:r>
              <a:rPr lang="zh-CN" altLang="en-US" sz="2000" dirty="0">
                <a:solidFill>
                  <a:srgbClr val="17375E"/>
                </a:solidFill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云平台。</a:t>
            </a:r>
          </a:p>
        </p:txBody>
      </p:sp>
    </p:spTree>
    <p:extLst>
      <p:ext uri="{BB962C8B-B14F-4D97-AF65-F5344CB8AC3E}">
        <p14:creationId xmlns:p14="http://schemas.microsoft.com/office/powerpoint/2010/main" val="57604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选</a:t>
            </a:r>
            <a:r>
              <a:rPr lang="en-US" altLang="zh-CN" dirty="0" smtClean="0"/>
              <a:t>Go</a:t>
            </a:r>
            <a:r>
              <a:rPr lang="zh-CN" altLang="en-US" dirty="0" smtClean="0"/>
              <a:t>的八个理由</a:t>
            </a:r>
            <a:endParaRPr lang="en-US" dirty="0"/>
          </a:p>
        </p:txBody>
      </p:sp>
      <p:sp>
        <p:nvSpPr>
          <p:cNvPr id="27" name="椭圆 26"/>
          <p:cNvSpPr/>
          <p:nvPr/>
        </p:nvSpPr>
        <p:spPr>
          <a:xfrm>
            <a:off x="795118" y="1196752"/>
            <a:ext cx="2376264" cy="2376264"/>
          </a:xfrm>
          <a:prstGeom prst="ellipse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容易学习</a:t>
            </a:r>
            <a:endParaRPr lang="en-US" altLang="zh-CN" sz="2000" dirty="0" smtClean="0">
              <a:solidFill>
                <a:srgbClr val="17375E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3515522" y="1193800"/>
            <a:ext cx="2376264" cy="2376264"/>
          </a:xfrm>
          <a:prstGeom prst="ellipse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接近</a:t>
            </a:r>
            <a:r>
              <a:rPr lang="en-US" altLang="zh-CN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C</a:t>
            </a:r>
            <a:r>
              <a:rPr lang="zh-CN" altLang="en-US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的运行效率，</a:t>
            </a:r>
            <a:endParaRPr lang="en-US" altLang="zh-CN" dirty="0" smtClean="0">
              <a:solidFill>
                <a:srgbClr val="17375E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algn="ctr"/>
            <a:r>
              <a:rPr lang="zh-CN" altLang="en-US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接近</a:t>
            </a:r>
            <a:r>
              <a:rPr lang="en-US" altLang="zh-CN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PHP</a:t>
            </a:r>
            <a:r>
              <a:rPr lang="zh-CN" altLang="en-US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的开发效率</a:t>
            </a:r>
          </a:p>
        </p:txBody>
      </p:sp>
      <p:sp>
        <p:nvSpPr>
          <p:cNvPr id="29" name="椭圆 28"/>
          <p:cNvSpPr/>
          <p:nvPr/>
        </p:nvSpPr>
        <p:spPr>
          <a:xfrm>
            <a:off x="6233322" y="1193800"/>
            <a:ext cx="2376264" cy="2376264"/>
          </a:xfrm>
          <a:prstGeom prst="ellipse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出身名门，</a:t>
            </a:r>
            <a:endParaRPr lang="en-US" altLang="zh-CN" sz="2000" dirty="0" smtClean="0">
              <a:solidFill>
                <a:srgbClr val="17375E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algn="ctr"/>
            <a:r>
              <a:rPr lang="zh-CN" altLang="en-US" sz="2000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血统纯正</a:t>
            </a:r>
          </a:p>
        </p:txBody>
      </p:sp>
      <p:sp>
        <p:nvSpPr>
          <p:cNvPr id="30" name="椭圆 29"/>
          <p:cNvSpPr/>
          <p:nvPr/>
        </p:nvSpPr>
        <p:spPr>
          <a:xfrm>
            <a:off x="8951122" y="1193800"/>
            <a:ext cx="2376264" cy="2376264"/>
          </a:xfrm>
          <a:prstGeom prst="ellipse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自由高效</a:t>
            </a:r>
          </a:p>
        </p:txBody>
      </p:sp>
      <p:sp>
        <p:nvSpPr>
          <p:cNvPr id="31" name="椭圆 30"/>
          <p:cNvSpPr/>
          <p:nvPr/>
        </p:nvSpPr>
        <p:spPr>
          <a:xfrm>
            <a:off x="797722" y="3733800"/>
            <a:ext cx="2376264" cy="2376264"/>
          </a:xfrm>
          <a:prstGeom prst="ellipse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强大的标准库</a:t>
            </a:r>
          </a:p>
        </p:txBody>
      </p:sp>
      <p:sp>
        <p:nvSpPr>
          <p:cNvPr id="32" name="椭圆 31"/>
          <p:cNvSpPr/>
          <p:nvPr/>
        </p:nvSpPr>
        <p:spPr>
          <a:xfrm>
            <a:off x="3515522" y="3733800"/>
            <a:ext cx="2376264" cy="2376264"/>
          </a:xfrm>
          <a:prstGeom prst="ellipse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000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zh-CN" altLang="en-US" sz="2000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部署方便</a:t>
            </a:r>
          </a:p>
        </p:txBody>
      </p:sp>
      <p:sp>
        <p:nvSpPr>
          <p:cNvPr id="33" name="椭圆 32"/>
          <p:cNvSpPr/>
          <p:nvPr/>
        </p:nvSpPr>
        <p:spPr>
          <a:xfrm>
            <a:off x="6233322" y="3733800"/>
            <a:ext cx="2376264" cy="2376264"/>
          </a:xfrm>
          <a:prstGeom prst="ellipse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简单的并发</a:t>
            </a:r>
          </a:p>
        </p:txBody>
      </p:sp>
      <p:sp>
        <p:nvSpPr>
          <p:cNvPr id="34" name="椭圆 33"/>
          <p:cNvSpPr/>
          <p:nvPr/>
        </p:nvSpPr>
        <p:spPr>
          <a:xfrm>
            <a:off x="8951122" y="3733800"/>
            <a:ext cx="2376264" cy="2376264"/>
          </a:xfrm>
          <a:prstGeom prst="ellipse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 smtClean="0">
                <a:solidFill>
                  <a:srgbClr val="17375E"/>
                </a:solidFill>
                <a:latin typeface="Microsoft YaHei" charset="0"/>
                <a:ea typeface="Microsoft YaHei" charset="0"/>
                <a:cs typeface="Microsoft YaHei" charset="0"/>
              </a:rPr>
              <a:t>稳定性</a:t>
            </a:r>
          </a:p>
        </p:txBody>
      </p:sp>
    </p:spTree>
    <p:extLst>
      <p:ext uri="{BB962C8B-B14F-4D97-AF65-F5344CB8AC3E}">
        <p14:creationId xmlns:p14="http://schemas.microsoft.com/office/powerpoint/2010/main" val="3661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61100" y="3167769"/>
            <a:ext cx="21980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 smtClean="0">
                <a:latin typeface="华文细黑"/>
                <a:ea typeface="华文细黑"/>
                <a:cs typeface="华文细黑"/>
              </a:rPr>
              <a:t>Kick Start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51584" y="2780928"/>
            <a:ext cx="497252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3600" b="1">
                <a:latin typeface="华文细黑"/>
                <a:ea typeface="华文细黑"/>
                <a:cs typeface="华文细黑"/>
              </a:defRPr>
            </a:lvl1pPr>
          </a:lstStyle>
          <a:p>
            <a:r>
              <a:rPr lang="en-US" altLang="zh-CN" sz="4400" i="1" dirty="0">
                <a:solidFill>
                  <a:srgbClr val="797979"/>
                </a:solidFill>
              </a:rPr>
              <a:t>2</a:t>
            </a:r>
            <a:endParaRPr lang="zh-CN" altLang="en-US" sz="4400" i="1" dirty="0">
              <a:solidFill>
                <a:srgbClr val="797979"/>
              </a:solidFill>
            </a:endParaRPr>
          </a:p>
        </p:txBody>
      </p:sp>
      <p:cxnSp>
        <p:nvCxnSpPr>
          <p:cNvPr id="7" name="直线连接符 6"/>
          <p:cNvCxnSpPr/>
          <p:nvPr/>
        </p:nvCxnSpPr>
        <p:spPr>
          <a:xfrm flipH="1">
            <a:off x="2423592" y="2840231"/>
            <a:ext cx="792088" cy="940879"/>
          </a:xfrm>
          <a:prstGeom prst="line">
            <a:avLst/>
          </a:prstGeom>
          <a:ln w="25400">
            <a:solidFill>
              <a:srgbClr val="9292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5"/>
          <p:cNvCxnSpPr/>
          <p:nvPr/>
        </p:nvCxnSpPr>
        <p:spPr>
          <a:xfrm>
            <a:off x="6238508" y="1700808"/>
            <a:ext cx="0" cy="4326504"/>
          </a:xfrm>
          <a:prstGeom prst="line">
            <a:avLst/>
          </a:prstGeom>
          <a:ln w="3175" cmpd="sng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6148497" y="2348880"/>
            <a:ext cx="1137483" cy="523220"/>
            <a:chOff x="6148497" y="2780928"/>
            <a:chExt cx="1137483" cy="523220"/>
          </a:xfrm>
        </p:grpSpPr>
        <p:sp>
          <p:nvSpPr>
            <p:cNvPr id="6" name="文本框 5"/>
            <p:cNvSpPr txBox="1"/>
            <p:nvPr/>
          </p:nvSpPr>
          <p:spPr>
            <a:xfrm>
              <a:off x="6383169" y="278092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tx2">
                      <a:lumMod val="75000"/>
                    </a:schemeClr>
                  </a:solidFill>
                  <a:latin typeface="华文细黑"/>
                  <a:ea typeface="华文细黑"/>
                  <a:cs typeface="华文细黑"/>
                </a:rPr>
                <a:t>安装</a:t>
              </a:r>
              <a:endParaRPr kumimoji="1" lang="zh-CN" altLang="en-US" sz="2800" dirty="0" smtClean="0">
                <a:solidFill>
                  <a:schemeClr val="tx2">
                    <a:lumMod val="75000"/>
                  </a:schemeClr>
                </a:solidFill>
                <a:latin typeface="华文细黑"/>
                <a:ea typeface="华文细黑"/>
                <a:cs typeface="华文细黑"/>
              </a:endParaRPr>
            </a:p>
          </p:txBody>
        </p:sp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6148497" y="2934527"/>
              <a:ext cx="180023" cy="180023"/>
            </a:xfrm>
            <a:prstGeom prst="ellipse">
              <a:avLst/>
            </a:prstGeom>
            <a:solidFill>
              <a:srgbClr val="4BACC6"/>
            </a:solidFill>
            <a:ln>
              <a:solidFill>
                <a:srgbClr val="4BACC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148497" y="3251103"/>
            <a:ext cx="1855629" cy="523220"/>
            <a:chOff x="6148497" y="3731749"/>
            <a:chExt cx="1855629" cy="523220"/>
          </a:xfrm>
        </p:grpSpPr>
        <p:sp>
          <p:nvSpPr>
            <p:cNvPr id="8" name="文本框 7"/>
            <p:cNvSpPr txBox="1"/>
            <p:nvPr/>
          </p:nvSpPr>
          <p:spPr>
            <a:xfrm>
              <a:off x="6383169" y="3731749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tx2">
                      <a:lumMod val="75000"/>
                    </a:schemeClr>
                  </a:solidFill>
                  <a:latin typeface="华文细黑"/>
                  <a:ea typeface="华文细黑"/>
                  <a:cs typeface="华文细黑"/>
                </a:rPr>
                <a:t>五</a:t>
              </a:r>
              <a:r>
                <a:rPr kumimoji="1" lang="zh-CN" altLang="en-US" sz="2800" dirty="0" smtClean="0">
                  <a:solidFill>
                    <a:schemeClr val="tx2">
                      <a:lumMod val="75000"/>
                    </a:schemeClr>
                  </a:solidFill>
                  <a:latin typeface="华文细黑"/>
                  <a:ea typeface="华文细黑"/>
                  <a:cs typeface="华文细黑"/>
                </a:rPr>
                <a:t>个例子</a:t>
              </a:r>
              <a:endParaRPr kumimoji="1" lang="zh-CN" altLang="en-US" sz="2800" dirty="0" smtClean="0">
                <a:solidFill>
                  <a:schemeClr val="tx2">
                    <a:lumMod val="75000"/>
                  </a:schemeClr>
                </a:solidFill>
                <a:latin typeface="华文细黑"/>
                <a:ea typeface="华文细黑"/>
                <a:cs typeface="华文细黑"/>
              </a:endParaRPr>
            </a:p>
          </p:txBody>
        </p:sp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6148497" y="3886237"/>
              <a:ext cx="180023" cy="180023"/>
            </a:xfrm>
            <a:prstGeom prst="ellipse">
              <a:avLst/>
            </a:prstGeom>
            <a:solidFill>
              <a:srgbClr val="4BACC6"/>
            </a:solidFill>
            <a:ln>
              <a:solidFill>
                <a:srgbClr val="4BACC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48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Go</a:t>
            </a:r>
            <a:r>
              <a:rPr lang="zh-CN" altLang="en-US" dirty="0" smtClean="0"/>
              <a:t>语言学习参考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343472" y="1412776"/>
            <a:ext cx="9001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书籍</a:t>
            </a:r>
            <a:endParaRPr lang="en-US" altLang="zh-CN" sz="2400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442913">
              <a:lnSpc>
                <a:spcPct val="150000"/>
              </a:lnSpc>
            </a:pP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《Go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语言程序设计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》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，作者：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Mark Summerfield</a:t>
            </a:r>
          </a:p>
          <a:p>
            <a:pPr marL="442913">
              <a:lnSpc>
                <a:spcPct val="150000"/>
              </a:lnSpc>
            </a:pP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《Go Web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编程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》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，作者：谢孟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军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——</a:t>
            </a:r>
            <a:r>
              <a:rPr lang="en-US" altLang="zh-CN" dirty="0" err="1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beego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作者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43472" y="2989401"/>
            <a:ext cx="9001000" cy="1012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官方文档 </a:t>
            </a:r>
            <a:r>
              <a:rPr lang="en-US" altLang="zh-CN" sz="2400" dirty="0" err="1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Godoc</a:t>
            </a:r>
            <a:endParaRPr lang="en-US" altLang="zh-CN" sz="2400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442913">
              <a:lnSpc>
                <a:spcPct val="150000"/>
              </a:lnSpc>
            </a:pPr>
            <a:r>
              <a:rPr lang="en-US" altLang="zh-CN" dirty="0" err="1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godoc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-http=: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8000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43472" y="4645585"/>
            <a:ext cx="9001000" cy="1012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社区</a:t>
            </a:r>
            <a:endParaRPr lang="en-US" altLang="zh-CN" sz="2400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442913">
              <a:lnSpc>
                <a:spcPct val="150000"/>
              </a:lnSpc>
            </a:pP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http://www.github.com</a:t>
            </a:r>
          </a:p>
        </p:txBody>
      </p:sp>
    </p:spTree>
    <p:extLst>
      <p:ext uri="{BB962C8B-B14F-4D97-AF65-F5344CB8AC3E}">
        <p14:creationId xmlns:p14="http://schemas.microsoft.com/office/powerpoint/2010/main" val="304371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Go</a:t>
            </a:r>
            <a:endParaRPr lang="en-US" dirty="0"/>
          </a:p>
        </p:txBody>
      </p:sp>
      <p:sp>
        <p:nvSpPr>
          <p:cNvPr id="2" name="矩形 1"/>
          <p:cNvSpPr/>
          <p:nvPr/>
        </p:nvSpPr>
        <p:spPr>
          <a:xfrm>
            <a:off x="1775521" y="1484784"/>
            <a:ext cx="2520280" cy="93610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1 . 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下载并安装</a:t>
            </a:r>
          </a:p>
        </p:txBody>
      </p:sp>
      <p:sp>
        <p:nvSpPr>
          <p:cNvPr id="4" name="矩形 3"/>
          <p:cNvSpPr/>
          <p:nvPr/>
        </p:nvSpPr>
        <p:spPr>
          <a:xfrm>
            <a:off x="4687236" y="1629670"/>
            <a:ext cx="49215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17375E"/>
                </a:solidFill>
              </a:rPr>
              <a:t>下载地址：</a:t>
            </a:r>
            <a:r>
              <a:rPr lang="zh-CN" altLang="en-US" dirty="0" smtClean="0">
                <a:solidFill>
                  <a:srgbClr val="17375E"/>
                </a:solidFill>
                <a:hlinkClick r:id="rId3"/>
              </a:rPr>
              <a:t>https</a:t>
            </a:r>
            <a:r>
              <a:rPr lang="zh-CN" altLang="en-US" dirty="0">
                <a:solidFill>
                  <a:srgbClr val="17375E"/>
                </a:solidFill>
                <a:hlinkClick r:id="rId3"/>
              </a:rPr>
              <a:t>://golang.org/</a:t>
            </a:r>
            <a:endParaRPr lang="en-US" altLang="zh-CN" dirty="0">
              <a:solidFill>
                <a:srgbClr val="17375E"/>
              </a:solidFill>
            </a:endParaRPr>
          </a:p>
          <a:p>
            <a:r>
              <a:rPr lang="zh-CN" altLang="en-US" dirty="0" smtClean="0">
                <a:solidFill>
                  <a:srgbClr val="17375E"/>
                </a:solidFill>
              </a:rPr>
              <a:t>安装说明：</a:t>
            </a:r>
            <a:r>
              <a:rPr lang="en-US" altLang="zh-CN" dirty="0" smtClean="0">
                <a:solidFill>
                  <a:srgbClr val="17375E"/>
                </a:solidFill>
                <a:hlinkClick r:id="rId4"/>
              </a:rPr>
              <a:t>https</a:t>
            </a:r>
            <a:r>
              <a:rPr lang="en-US" altLang="zh-CN" dirty="0">
                <a:solidFill>
                  <a:srgbClr val="17375E"/>
                </a:solidFill>
                <a:hlinkClick r:id="rId4"/>
              </a:rPr>
              <a:t>://</a:t>
            </a:r>
            <a:r>
              <a:rPr lang="en-US" altLang="zh-CN" dirty="0" smtClean="0">
                <a:solidFill>
                  <a:srgbClr val="17375E"/>
                </a:solidFill>
                <a:hlinkClick r:id="rId4"/>
              </a:rPr>
              <a:t>golang.org/doc/install</a:t>
            </a:r>
            <a:endParaRPr lang="en-US" altLang="zh-CN" dirty="0" smtClean="0">
              <a:solidFill>
                <a:srgbClr val="17375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75521" y="3135016"/>
            <a:ext cx="2520280" cy="93610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2 . 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设置环境变量</a:t>
            </a:r>
          </a:p>
        </p:txBody>
      </p:sp>
      <p:sp>
        <p:nvSpPr>
          <p:cNvPr id="6" name="矩形 5"/>
          <p:cNvSpPr/>
          <p:nvPr/>
        </p:nvSpPr>
        <p:spPr>
          <a:xfrm>
            <a:off x="4687235" y="3141403"/>
            <a:ext cx="60172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17375E"/>
                </a:solidFill>
              </a:rPr>
              <a:t>GOROOT ——</a:t>
            </a:r>
            <a:r>
              <a:rPr lang="zh-CN" altLang="en-US" dirty="0" smtClean="0">
                <a:solidFill>
                  <a:srgbClr val="17375E"/>
                </a:solidFill>
              </a:rPr>
              <a:t>指向</a:t>
            </a:r>
            <a:r>
              <a:rPr lang="en-US" altLang="zh-CN" dirty="0" smtClean="0">
                <a:solidFill>
                  <a:srgbClr val="17375E"/>
                </a:solidFill>
              </a:rPr>
              <a:t>Go</a:t>
            </a:r>
            <a:r>
              <a:rPr lang="zh-CN" altLang="en-US" dirty="0" smtClean="0">
                <a:solidFill>
                  <a:srgbClr val="17375E"/>
                </a:solidFill>
              </a:rPr>
              <a:t>的安装目录</a:t>
            </a:r>
            <a:endParaRPr lang="en-US" altLang="zh-CN" dirty="0" smtClean="0">
              <a:solidFill>
                <a:srgbClr val="17375E"/>
              </a:solidFill>
            </a:endParaRPr>
          </a:p>
          <a:p>
            <a:r>
              <a:rPr lang="en-US" altLang="zh-CN" dirty="0" smtClean="0">
                <a:solidFill>
                  <a:srgbClr val="17375E"/>
                </a:solidFill>
              </a:rPr>
              <a:t>GOPATH——</a:t>
            </a:r>
            <a:r>
              <a:rPr lang="zh-CN" altLang="en-US" dirty="0" smtClean="0">
                <a:solidFill>
                  <a:srgbClr val="17375E"/>
                </a:solidFill>
              </a:rPr>
              <a:t>指向自己创建的本地程序目录，即工作空间</a:t>
            </a:r>
            <a:endParaRPr lang="en-US" altLang="zh-CN" dirty="0" smtClean="0">
              <a:solidFill>
                <a:srgbClr val="17375E"/>
              </a:solidFill>
            </a:endParaRPr>
          </a:p>
          <a:p>
            <a:r>
              <a:rPr lang="en-US" altLang="zh-CN" dirty="0" smtClean="0">
                <a:solidFill>
                  <a:srgbClr val="17375E"/>
                </a:solidFill>
              </a:rPr>
              <a:t>PATH——</a:t>
            </a:r>
            <a:r>
              <a:rPr lang="zh-CN" altLang="en-US" dirty="0">
                <a:solidFill>
                  <a:srgbClr val="17375E"/>
                </a:solidFill>
              </a:rPr>
              <a:t>包含</a:t>
            </a:r>
            <a:r>
              <a:rPr lang="en-US" altLang="zh-CN" dirty="0" smtClean="0">
                <a:solidFill>
                  <a:srgbClr val="17375E"/>
                </a:solidFill>
              </a:rPr>
              <a:t>$GOROOT/bin</a:t>
            </a:r>
            <a:endParaRPr lang="en-US" altLang="zh-CN" dirty="0">
              <a:solidFill>
                <a:srgbClr val="17375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75521" y="4725144"/>
            <a:ext cx="2520280" cy="93610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3 . 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检查是否成功</a:t>
            </a:r>
          </a:p>
        </p:txBody>
      </p:sp>
      <p:sp>
        <p:nvSpPr>
          <p:cNvPr id="8" name="矩形 7"/>
          <p:cNvSpPr/>
          <p:nvPr/>
        </p:nvSpPr>
        <p:spPr>
          <a:xfrm>
            <a:off x="4687235" y="5008530"/>
            <a:ext cx="6017277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altLang="zh-CN" dirty="0" smtClean="0">
                <a:solidFill>
                  <a:srgbClr val="17375E"/>
                </a:solidFill>
              </a:rPr>
              <a:t>go version</a:t>
            </a:r>
            <a:endParaRPr lang="en-US" altLang="zh-CN" dirty="0">
              <a:solidFill>
                <a:srgbClr val="1737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16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Hello World</a:t>
            </a:r>
            <a:r>
              <a:rPr lang="zh-CN" altLang="en-US" dirty="0" smtClean="0"/>
              <a:t>！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1196752"/>
            <a:ext cx="4266763" cy="16127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848" y="1196752"/>
            <a:ext cx="6978876" cy="5138294"/>
          </a:xfrm>
          <a:prstGeom prst="rect">
            <a:avLst/>
          </a:prstGeom>
        </p:spPr>
      </p:pic>
      <p:sp>
        <p:nvSpPr>
          <p:cNvPr id="6" name="线形标注 3(带边框和强调线) 5"/>
          <p:cNvSpPr/>
          <p:nvPr/>
        </p:nvSpPr>
        <p:spPr>
          <a:xfrm>
            <a:off x="844457" y="2883331"/>
            <a:ext cx="2875279" cy="479530"/>
          </a:xfrm>
          <a:prstGeom prst="accentBorderCallout3">
            <a:avLst>
              <a:gd name="adj1" fmla="val 24826"/>
              <a:gd name="adj2" fmla="val -3668"/>
              <a:gd name="adj3" fmla="val -45761"/>
              <a:gd name="adj4" fmla="val -24270"/>
              <a:gd name="adj5" fmla="val -305722"/>
              <a:gd name="adj6" fmla="val -24271"/>
              <a:gd name="adj7" fmla="val -304911"/>
              <a:gd name="adj8" fmla="val 257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$GOPATH</a:t>
            </a:r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" name="线形标注 3(带边框和强调线) 6"/>
          <p:cNvSpPr/>
          <p:nvPr/>
        </p:nvSpPr>
        <p:spPr>
          <a:xfrm>
            <a:off x="831992" y="3645024"/>
            <a:ext cx="2875279" cy="479530"/>
          </a:xfrm>
          <a:prstGeom prst="accentBorderCallout3">
            <a:avLst>
              <a:gd name="adj1" fmla="val 24826"/>
              <a:gd name="adj2" fmla="val -3668"/>
              <a:gd name="adj3" fmla="val -63096"/>
              <a:gd name="adj4" fmla="val -16560"/>
              <a:gd name="adj5" fmla="val -380841"/>
              <a:gd name="adj6" fmla="val -16561"/>
              <a:gd name="adj7" fmla="val -380030"/>
              <a:gd name="adj8" fmla="val 1221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规范要求</a:t>
            </a:r>
          </a:p>
        </p:txBody>
      </p:sp>
      <p:sp>
        <p:nvSpPr>
          <p:cNvPr id="8" name="线形标注 3(带边框和强调线) 7"/>
          <p:cNvSpPr/>
          <p:nvPr/>
        </p:nvSpPr>
        <p:spPr>
          <a:xfrm>
            <a:off x="831991" y="4480500"/>
            <a:ext cx="2875279" cy="479530"/>
          </a:xfrm>
          <a:prstGeom prst="accentBorderCallout3">
            <a:avLst>
              <a:gd name="adj1" fmla="val 99945"/>
              <a:gd name="adj2" fmla="val 104267"/>
              <a:gd name="adj3" fmla="val -28425"/>
              <a:gd name="adj4" fmla="val 129923"/>
              <a:gd name="adj5" fmla="val -490630"/>
              <a:gd name="adj6" fmla="val 128958"/>
              <a:gd name="adj7" fmla="val -489819"/>
              <a:gd name="adj8" fmla="val 54616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自定义，可执行文件名</a:t>
            </a:r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80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代码解释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814668" y="1138599"/>
            <a:ext cx="1068193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第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1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行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注释，和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Java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一样，均采用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C++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风格。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//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表示单行注释，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/**/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表示块注释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第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2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行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包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名约定为小写字母，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go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以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package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为处理单元，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Java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以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Class File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为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处理单元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包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名为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main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，会编译为可执行文件，否则不会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第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4-8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行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导入其他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package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，注意括号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()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和引号“”的使用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第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10-16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行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定义了一个函数，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main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函数是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go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程序入口，和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Java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一样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即</a:t>
            </a:r>
            <a:r>
              <a:rPr lang="en-US" altLang="zh-CN" dirty="0" err="1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main.main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()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是可执行文件的执行入口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函数体用花括号包围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第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11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行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“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:=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”快速变量声明，不必声明变量类型，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Go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会从初始值中判断变量类型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第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12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行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if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条件语句，条件不带括号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执行语句用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花括号包围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最后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表面上用换行和缩进组织代码，但实际上以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”;”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区别语句，只不过是由编译器自动加上</a:t>
            </a:r>
          </a:p>
        </p:txBody>
      </p:sp>
    </p:spTree>
    <p:extLst>
      <p:ext uri="{BB962C8B-B14F-4D97-AF65-F5344CB8AC3E}">
        <p14:creationId xmlns:p14="http://schemas.microsoft.com/office/powerpoint/2010/main" val="166616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</a:t>
            </a:r>
            <a:r>
              <a:rPr lang="zh-CN" altLang="en-US" dirty="0" smtClean="0"/>
              <a:t>执行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712" y="977995"/>
            <a:ext cx="8611790" cy="143412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712" y="2564516"/>
            <a:ext cx="8611790" cy="40941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7424" y="982900"/>
            <a:ext cx="2376264" cy="1429216"/>
          </a:xfrm>
          <a:prstGeom prst="rect">
            <a:avLst/>
          </a:prstGeom>
          <a:solidFill>
            <a:srgbClr val="17375E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go build</a:t>
            </a:r>
            <a:endParaRPr lang="zh-CN" altLang="en-US" sz="2000" dirty="0" smtClean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3735" y="2564516"/>
            <a:ext cx="2376264" cy="4094124"/>
          </a:xfrm>
          <a:prstGeom prst="rect">
            <a:avLst/>
          </a:prstGeom>
          <a:solidFill>
            <a:srgbClr val="17375E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go install</a:t>
            </a:r>
            <a:endParaRPr lang="zh-CN" altLang="en-US" sz="2000" dirty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29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big digits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67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标题一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46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794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00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481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PrimetonBlue">
      <a:dk1>
        <a:srgbClr val="011892"/>
      </a:dk1>
      <a:lt1>
        <a:srgbClr val="FE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>
              <a:lumMod val="75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0" dirty="0" smtClean="0">
            <a:solidFill>
              <a:schemeClr val="tx1">
                <a:lumMod val="75000"/>
              </a:schemeClr>
            </a:solidFill>
            <a:latin typeface="Microsoft YaHei" charset="0"/>
            <a:ea typeface="Microsoft YaHei" charset="0"/>
            <a:cs typeface="Microsoft YaHei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25400">
          <a:solidFill>
            <a:schemeClr val="tx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tx2">
                <a:lumMod val="75000"/>
              </a:schemeClr>
            </a:solidFill>
            <a:latin typeface="Microsoft YaHei" charset="0"/>
            <a:ea typeface="Microsoft YaHei" charset="0"/>
            <a:cs typeface="Microsoft YaHei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21837</TotalTime>
  <Words>921</Words>
  <Application>Microsoft Office PowerPoint</Application>
  <PresentationFormat>宽屏</PresentationFormat>
  <Paragraphs>197</Paragraphs>
  <Slides>27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Helvetica Neue</vt:lpstr>
      <vt:lpstr>Kaiti SC Regular</vt:lpstr>
      <vt:lpstr>YaHei Consolas Hybrid</vt:lpstr>
      <vt:lpstr>华文细黑</vt:lpstr>
      <vt:lpstr>宋体</vt:lpstr>
      <vt:lpstr>微软雅黑</vt:lpstr>
      <vt:lpstr>微软雅黑</vt:lpstr>
      <vt:lpstr>Arial</vt:lpstr>
      <vt:lpstr>Calibri</vt:lpstr>
      <vt:lpstr>Symbol</vt:lpstr>
      <vt:lpstr>Wingdings</vt:lpstr>
      <vt:lpstr>Office 主题</vt:lpstr>
      <vt:lpstr>Java程序员学习Go</vt:lpstr>
      <vt:lpstr>PowerPoint 演示文稿</vt:lpstr>
      <vt:lpstr>PowerPoint 演示文稿</vt:lpstr>
      <vt:lpstr>PowerPoint 演示文稿</vt:lpstr>
      <vt:lpstr>GoLang的发展时间线</vt:lpstr>
      <vt:lpstr>标题一</vt:lpstr>
      <vt:lpstr>标题一</vt:lpstr>
      <vt:lpstr>Go1.4到1.5，GC Pause从300ms降到40ms左右</vt:lpstr>
      <vt:lpstr>Go1.5到1.6，GC Pause从40ms降到2ms左右</vt:lpstr>
      <vt:lpstr>Go的三大作者</vt:lpstr>
      <vt:lpstr>其他关键人物</vt:lpstr>
      <vt:lpstr>为什么要设计Go</vt:lpstr>
      <vt:lpstr>Go的主要特色</vt:lpstr>
      <vt:lpstr>Go的缺点</vt:lpstr>
      <vt:lpstr>Go的主要用武之地</vt:lpstr>
      <vt:lpstr>选Go的八个理由</vt:lpstr>
      <vt:lpstr>PowerPoint 演示文稿</vt:lpstr>
      <vt:lpstr>Go语言学习参考</vt:lpstr>
      <vt:lpstr>安装Go</vt:lpstr>
      <vt:lpstr>Hello World！</vt:lpstr>
      <vt:lpstr>代码解释</vt:lpstr>
      <vt:lpstr>编译执行</vt:lpstr>
      <vt:lpstr>big digits</vt:lpstr>
      <vt:lpstr>标题一</vt:lpstr>
      <vt:lpstr>总结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</dc:title>
  <dc:subject/>
  <dc:creator>jiaoly</dc:creator>
  <cp:keywords/>
  <dc:description/>
  <cp:lastModifiedBy>ZHUJIANG</cp:lastModifiedBy>
  <cp:revision>2212</cp:revision>
  <dcterms:created xsi:type="dcterms:W3CDTF">2014-11-20T02:29:45Z</dcterms:created>
  <dcterms:modified xsi:type="dcterms:W3CDTF">2016-06-12T09:58:45Z</dcterms:modified>
  <cp:category/>
</cp:coreProperties>
</file>