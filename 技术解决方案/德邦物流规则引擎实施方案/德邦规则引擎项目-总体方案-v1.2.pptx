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sldIdLst>
    <p:sldId id="699" r:id="rId2"/>
    <p:sldId id="807" r:id="rId3"/>
    <p:sldId id="808" r:id="rId4"/>
    <p:sldId id="829" r:id="rId5"/>
    <p:sldId id="812" r:id="rId6"/>
    <p:sldId id="830" r:id="rId7"/>
    <p:sldId id="811" r:id="rId8"/>
    <p:sldId id="831" r:id="rId9"/>
    <p:sldId id="813" r:id="rId10"/>
    <p:sldId id="815" r:id="rId11"/>
    <p:sldId id="816" r:id="rId12"/>
    <p:sldId id="817" r:id="rId13"/>
    <p:sldId id="825" r:id="rId14"/>
    <p:sldId id="819" r:id="rId15"/>
    <p:sldId id="820" r:id="rId16"/>
    <p:sldId id="821" r:id="rId17"/>
    <p:sldId id="827" r:id="rId18"/>
    <p:sldId id="822" r:id="rId19"/>
    <p:sldId id="828" r:id="rId20"/>
    <p:sldId id="832" r:id="rId21"/>
    <p:sldId id="865" r:id="rId22"/>
    <p:sldId id="850" r:id="rId23"/>
    <p:sldId id="833" r:id="rId24"/>
    <p:sldId id="852" r:id="rId25"/>
    <p:sldId id="834" r:id="rId26"/>
    <p:sldId id="835" r:id="rId27"/>
    <p:sldId id="860" r:id="rId28"/>
    <p:sldId id="862" r:id="rId29"/>
    <p:sldId id="861" r:id="rId30"/>
    <p:sldId id="853" r:id="rId31"/>
    <p:sldId id="837" r:id="rId32"/>
    <p:sldId id="836" r:id="rId33"/>
    <p:sldId id="838" r:id="rId34"/>
    <p:sldId id="809" r:id="rId35"/>
    <p:sldId id="857" r:id="rId36"/>
    <p:sldId id="858" r:id="rId37"/>
    <p:sldId id="839" r:id="rId38"/>
    <p:sldId id="854" r:id="rId39"/>
    <p:sldId id="824" r:id="rId40"/>
    <p:sldId id="855" r:id="rId41"/>
    <p:sldId id="856" r:id="rId42"/>
    <p:sldId id="866" r:id="rId43"/>
    <p:sldId id="869" r:id="rId44"/>
    <p:sldId id="868" r:id="rId45"/>
    <p:sldId id="867" r:id="rId46"/>
    <p:sldId id="826" r:id="rId47"/>
    <p:sldId id="841" r:id="rId48"/>
    <p:sldId id="848" r:id="rId49"/>
    <p:sldId id="842" r:id="rId50"/>
    <p:sldId id="849" r:id="rId51"/>
    <p:sldId id="843" r:id="rId52"/>
    <p:sldId id="330" r:id="rId53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15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31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46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61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5772" algn="l" defTabSz="91431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2926" algn="l" defTabSz="91431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080" algn="l" defTabSz="91431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235" algn="l" defTabSz="91431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3C64"/>
    <a:srgbClr val="FAA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72" autoAdjust="0"/>
    <p:restoredTop sz="85015" autoAdjust="0"/>
  </p:normalViewPr>
  <p:slideViewPr>
    <p:cSldViewPr>
      <p:cViewPr varScale="1">
        <p:scale>
          <a:sx n="95" d="100"/>
          <a:sy n="95" d="100"/>
        </p:scale>
        <p:origin x="-918" y="-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202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3768527-F552-4124-8087-8ED53A1C4CF8}" type="datetimeFigureOut">
              <a:rPr lang="zh-CN" altLang="en-US"/>
              <a:pPr>
                <a:defRPr/>
              </a:pPr>
              <a:t>2015/4/29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FFDCB7F-09F4-4B62-B0F3-6B245D1D42F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6655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6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1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72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5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28484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28484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28484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28484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28484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>
              <a:ea typeface="ＭＳ Ｐゴシック" pitchFamily="34" charset="-128"/>
            </a:endParaRPr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E88127C-2B81-43BF-9E0B-EE090D688812}" type="slidenum">
              <a:rPr lang="en-US" altLang="zh-CN" smtClean="0">
                <a:ea typeface="ＭＳ Ｐゴシック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52</a:t>
            </a:fld>
            <a:endParaRPr lang="en-US" altLang="zh-CN"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131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89731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16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373C64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zh-CN" altLang="zh-CN">
              <a:solidFill>
                <a:srgbClr val="FFFFFF"/>
              </a:solidFill>
              <a:latin typeface="Calibri" pitchFamily="34" charset="0"/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333" y="357711"/>
            <a:ext cx="7867651" cy="417909"/>
          </a:xfrm>
        </p:spPr>
        <p:txBody>
          <a:bodyPr lIns="0" tIns="0" rIns="0" bIns="0"/>
          <a:lstStyle>
            <a:lvl1pPr>
              <a:defRPr sz="2700">
                <a:solidFill>
                  <a:srgbClr val="FAAF19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62733" y="1190626"/>
            <a:ext cx="7869027" cy="3394472"/>
          </a:xfrm>
        </p:spPr>
        <p:txBody>
          <a:bodyPr lIns="0" tIns="0" rIns="0" bIns="0"/>
          <a:lstStyle>
            <a:lvl1pPr>
              <a:defRPr sz="2000">
                <a:solidFill>
                  <a:srgbClr val="FAAF19"/>
                </a:solidFill>
              </a:defRPr>
            </a:lvl1pPr>
            <a:lvl2pPr marL="0">
              <a:defRPr>
                <a:solidFill>
                  <a:srgbClr val="FFFFFF"/>
                </a:solidFill>
              </a:defRPr>
            </a:lvl2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571013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63333" y="357711"/>
            <a:ext cx="7867651" cy="417909"/>
          </a:xfrm>
        </p:spPr>
        <p:txBody>
          <a:bodyPr lIns="0" tIns="0" rIns="0" bIns="0"/>
          <a:lstStyle>
            <a:lvl1pPr>
              <a:defRPr sz="2700">
                <a:solidFill>
                  <a:srgbClr val="373C64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460377" y="1223967"/>
            <a:ext cx="4046539" cy="1360715"/>
          </a:xfrm>
        </p:spPr>
        <p:txBody>
          <a:bodyPr lIns="0" tIns="0" rIns="0" bIns="0"/>
          <a:lstStyle>
            <a:lvl1pPr marL="1191" indent="-1191">
              <a:lnSpc>
                <a:spcPts val="1800"/>
              </a:lnSpc>
              <a:spcBef>
                <a:spcPts val="0"/>
              </a:spcBef>
              <a:defRPr sz="2000">
                <a:solidFill>
                  <a:srgbClr val="373C64"/>
                </a:solidFill>
              </a:defRPr>
            </a:lvl1pPr>
            <a:lvl2pPr marL="1191" indent="-1191">
              <a:lnSpc>
                <a:spcPts val="1800"/>
              </a:lnSpc>
              <a:spcBef>
                <a:spcPts val="0"/>
              </a:spcBef>
              <a:defRPr sz="1400">
                <a:solidFill>
                  <a:srgbClr val="373C64"/>
                </a:solidFill>
              </a:defRPr>
            </a:lvl2pPr>
            <a:lvl3pPr>
              <a:lnSpc>
                <a:spcPts val="3240"/>
              </a:lnSpc>
              <a:spcBef>
                <a:spcPts val="0"/>
              </a:spcBef>
              <a:defRPr sz="2700">
                <a:solidFill>
                  <a:srgbClr val="FAAF19"/>
                </a:solidFill>
              </a:defRPr>
            </a:lvl3pPr>
            <a:lvl4pPr>
              <a:lnSpc>
                <a:spcPts val="3240"/>
              </a:lnSpc>
              <a:spcBef>
                <a:spcPts val="0"/>
              </a:spcBef>
              <a:defRPr sz="2700">
                <a:solidFill>
                  <a:srgbClr val="FAAF19"/>
                </a:solidFill>
              </a:defRPr>
            </a:lvl4pPr>
            <a:lvl5pPr>
              <a:lnSpc>
                <a:spcPts val="3240"/>
              </a:lnSpc>
              <a:spcBef>
                <a:spcPts val="0"/>
              </a:spcBef>
              <a:defRPr sz="2700">
                <a:solidFill>
                  <a:srgbClr val="FAAF19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5225163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42-2557308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05" r="13443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4" descr="Cover.psd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61"/>
          <a:stretch>
            <a:fillRect/>
          </a:stretch>
        </p:blipFill>
        <p:spPr bwMode="auto">
          <a:xfrm>
            <a:off x="0" y="3048000"/>
            <a:ext cx="914400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696" y="585111"/>
            <a:ext cx="7869027" cy="495301"/>
          </a:xfrm>
        </p:spPr>
        <p:txBody>
          <a:bodyPr lIns="0" tIns="0" rIns="0" bIns="0"/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96027" y="876312"/>
            <a:ext cx="7867651" cy="1360715"/>
          </a:xfrm>
        </p:spPr>
        <p:txBody>
          <a:bodyPr lIns="0" tIns="0" rIns="0" bIns="0"/>
          <a:lstStyle>
            <a:lvl1pPr>
              <a:lnSpc>
                <a:spcPts val="3240"/>
              </a:lnSpc>
              <a:spcBef>
                <a:spcPts val="0"/>
              </a:spcBef>
              <a:defRPr sz="2700">
                <a:solidFill>
                  <a:srgbClr val="FAAF19"/>
                </a:solidFill>
              </a:defRPr>
            </a:lvl1pPr>
            <a:lvl2pPr>
              <a:lnSpc>
                <a:spcPts val="3240"/>
              </a:lnSpc>
              <a:spcBef>
                <a:spcPts val="0"/>
              </a:spcBef>
              <a:defRPr sz="2700">
                <a:solidFill>
                  <a:srgbClr val="FAAF19"/>
                </a:solidFill>
              </a:defRPr>
            </a:lvl2pPr>
            <a:lvl3pPr>
              <a:lnSpc>
                <a:spcPts val="3240"/>
              </a:lnSpc>
              <a:spcBef>
                <a:spcPts val="0"/>
              </a:spcBef>
              <a:defRPr sz="2700">
                <a:solidFill>
                  <a:srgbClr val="FAAF19"/>
                </a:solidFill>
              </a:defRPr>
            </a:lvl3pPr>
            <a:lvl4pPr>
              <a:lnSpc>
                <a:spcPts val="3240"/>
              </a:lnSpc>
              <a:spcBef>
                <a:spcPts val="0"/>
              </a:spcBef>
              <a:defRPr sz="2700">
                <a:solidFill>
                  <a:srgbClr val="FAAF19"/>
                </a:solidFill>
              </a:defRPr>
            </a:lvl4pPr>
            <a:lvl5pPr>
              <a:lnSpc>
                <a:spcPts val="3240"/>
              </a:lnSpc>
              <a:spcBef>
                <a:spcPts val="0"/>
              </a:spcBef>
              <a:defRPr sz="2700">
                <a:solidFill>
                  <a:srgbClr val="FAAF19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2092373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Bar_logo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00600"/>
            <a:ext cx="9144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81037" y="36514"/>
            <a:ext cx="7867651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1037" y="889012"/>
            <a:ext cx="7867651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7944" y="482538"/>
            <a:ext cx="8639175" cy="0"/>
          </a:xfrm>
          <a:prstGeom prst="line">
            <a:avLst/>
          </a:prstGeom>
          <a:ln w="19050">
            <a:solidFill>
              <a:srgbClr val="FAAF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496899" y="519522"/>
            <a:ext cx="8639175" cy="0"/>
          </a:xfrm>
          <a:prstGeom prst="line">
            <a:avLst/>
          </a:prstGeom>
          <a:ln w="19050">
            <a:solidFill>
              <a:srgbClr val="373C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" y="4861932"/>
            <a:ext cx="7836363" cy="194099"/>
          </a:xfrm>
          <a:prstGeom prst="rect">
            <a:avLst/>
          </a:prstGeom>
        </p:spPr>
        <p:txBody>
          <a:bodyPr lIns="91432" tIns="45716" rIns="91432" bIns="45716"/>
          <a:lstStyle/>
          <a:p>
            <a:pPr algn="l">
              <a:defRPr/>
            </a:pPr>
            <a:r>
              <a:rPr lang="en-US" altLang="zh-CN" sz="800" dirty="0" smtClean="0">
                <a:solidFill>
                  <a:srgbClr val="FAAF19"/>
                </a:solidFill>
                <a:latin typeface="Arial" charset="0"/>
                <a:cs typeface="Arial" charset="0"/>
              </a:rPr>
              <a:t>       </a:t>
            </a:r>
            <a:fld id="{6D29CDE0-3547-4E70-B588-E31056B0B784}" type="slidenum">
              <a:rPr lang="en-US" altLang="zh-CN" sz="800" smtClean="0">
                <a:solidFill>
                  <a:srgbClr val="FAAF19"/>
                </a:solidFill>
                <a:latin typeface="Arial" charset="0"/>
                <a:cs typeface="Arial" charset="0"/>
              </a:rPr>
              <a:pPr algn="l">
                <a:defRPr/>
              </a:pPr>
              <a:t>‹#›</a:t>
            </a:fld>
            <a:r>
              <a:rPr lang="en-US" altLang="zh-CN" sz="800" dirty="0" smtClean="0">
                <a:solidFill>
                  <a:srgbClr val="FAAF19"/>
                </a:solidFill>
                <a:latin typeface="Arial" charset="0"/>
                <a:cs typeface="Arial" charset="0"/>
              </a:rPr>
              <a:t>  </a:t>
            </a:r>
            <a:r>
              <a:rPr lang="zh-CN" altLang="en-US" sz="800" baseline="0" dirty="0" smtClean="0">
                <a:solidFill>
                  <a:srgbClr val="FAAF19"/>
                </a:solidFill>
                <a:latin typeface="Arial" charset="0"/>
                <a:cs typeface="Arial" charset="0"/>
              </a:rPr>
              <a:t>  </a:t>
            </a:r>
            <a:r>
              <a:rPr lang="en-US" altLang="zh-CN" sz="800" baseline="0" dirty="0" smtClean="0">
                <a:solidFill>
                  <a:srgbClr val="FAAF19"/>
                </a:solidFill>
                <a:latin typeface="Arial" charset="0"/>
                <a:cs typeface="Arial" charset="0"/>
              </a:rPr>
              <a:t>/</a:t>
            </a:r>
            <a:r>
              <a:rPr lang="zh-CN" altLang="en-US" sz="800" dirty="0" smtClean="0">
                <a:solidFill>
                  <a:srgbClr val="FAAF19"/>
                </a:solidFill>
                <a:latin typeface="Arial" charset="0"/>
                <a:cs typeface="Arial" charset="0"/>
              </a:rPr>
              <a:t>   </a:t>
            </a:r>
            <a:r>
              <a:rPr lang="en-US" altLang="zh-CN" sz="800" dirty="0" smtClean="0">
                <a:solidFill>
                  <a:srgbClr val="FAAF19"/>
                </a:solidFill>
                <a:latin typeface="Arial" charset="0"/>
                <a:cs typeface="Arial" charset="0"/>
              </a:rPr>
              <a:t>21</a:t>
            </a:r>
            <a:r>
              <a:rPr lang="en-US" altLang="zh-CN" sz="800" baseline="0" dirty="0" smtClean="0">
                <a:solidFill>
                  <a:srgbClr val="FAAF19"/>
                </a:solidFill>
                <a:latin typeface="Arial" charset="0"/>
                <a:cs typeface="Arial" charset="0"/>
              </a:rPr>
              <a:t>                                                 </a:t>
            </a:r>
            <a:r>
              <a:rPr lang="zh-CN" altLang="en-US" sz="800" baseline="0" dirty="0" smtClean="0">
                <a:solidFill>
                  <a:srgbClr val="FAAF19"/>
                </a:solidFill>
                <a:latin typeface="Arial" charset="0"/>
                <a:cs typeface="Arial" charset="0"/>
              </a:rPr>
              <a:t>流程指引     过程监控       推动改进      生产高质软件</a:t>
            </a:r>
            <a:endParaRPr lang="en-US" altLang="zh-CN" sz="800" dirty="0">
              <a:solidFill>
                <a:srgbClr val="FAAF19"/>
              </a:solidFill>
              <a:latin typeface="Arial" charset="0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2" r:id="rId2"/>
    <p:sldLayoutId id="2147483871" r:id="rId3"/>
    <p:sldLayoutId id="2147483877" r:id="rId4"/>
  </p:sldLayoutIdLst>
  <p:timing>
    <p:tnLst>
      <p:par>
        <p:cTn id="1" dur="indefinite" restart="never" nodeType="tmRoot"/>
      </p:par>
    </p:tnLst>
  </p:timing>
  <p:txStyles>
    <p:titleStyle>
      <a:lvl1pPr algn="l" defTabSz="342848" rtl="0" eaLnBrk="0" fontAlgn="base" hangingPunct="0">
        <a:lnSpc>
          <a:spcPts val="2325"/>
        </a:lnSpc>
        <a:spcBef>
          <a:spcPct val="0"/>
        </a:spcBef>
        <a:spcAft>
          <a:spcPct val="0"/>
        </a:spcAft>
        <a:defRPr sz="2000" b="1" kern="1200">
          <a:solidFill>
            <a:srgbClr val="000000"/>
          </a:solidFill>
          <a:latin typeface="Arial"/>
          <a:ea typeface="ＭＳ Ｐゴシック" pitchFamily="34" charset="-128"/>
          <a:cs typeface="Arial"/>
        </a:defRPr>
      </a:lvl1pPr>
      <a:lvl2pPr algn="l" defTabSz="342848" rtl="0" eaLnBrk="0" fontAlgn="base" hangingPunct="0">
        <a:lnSpc>
          <a:spcPts val="2325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Arial" pitchFamily="-106" charset="0"/>
          <a:ea typeface="ＭＳ Ｐゴシック" pitchFamily="34" charset="-128"/>
          <a:cs typeface="Arial" pitchFamily="34" charset="0"/>
        </a:defRPr>
      </a:lvl2pPr>
      <a:lvl3pPr algn="l" defTabSz="342848" rtl="0" eaLnBrk="0" fontAlgn="base" hangingPunct="0">
        <a:lnSpc>
          <a:spcPts val="2325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Arial" pitchFamily="-106" charset="0"/>
          <a:ea typeface="ＭＳ Ｐゴシック" pitchFamily="34" charset="-128"/>
          <a:cs typeface="Arial" pitchFamily="34" charset="0"/>
        </a:defRPr>
      </a:lvl3pPr>
      <a:lvl4pPr algn="l" defTabSz="342848" rtl="0" eaLnBrk="0" fontAlgn="base" hangingPunct="0">
        <a:lnSpc>
          <a:spcPts val="2325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Arial" pitchFamily="-106" charset="0"/>
          <a:ea typeface="ＭＳ Ｐゴシック" pitchFamily="34" charset="-128"/>
          <a:cs typeface="Arial" pitchFamily="34" charset="0"/>
        </a:defRPr>
      </a:lvl4pPr>
      <a:lvl5pPr algn="l" defTabSz="342848" rtl="0" eaLnBrk="0" fontAlgn="base" hangingPunct="0">
        <a:lnSpc>
          <a:spcPts val="2325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Arial" pitchFamily="-106" charset="0"/>
          <a:ea typeface="ＭＳ Ｐゴシック" pitchFamily="34" charset="-128"/>
          <a:cs typeface="Arial" pitchFamily="34" charset="0"/>
        </a:defRPr>
      </a:lvl5pPr>
      <a:lvl6pPr marL="342848" algn="l" defTabSz="342848" rtl="0" eaLnBrk="1" fontAlgn="base" hangingPunct="1">
        <a:lnSpc>
          <a:spcPts val="2325"/>
        </a:lnSpc>
        <a:spcBef>
          <a:spcPct val="0"/>
        </a:spcBef>
        <a:spcAft>
          <a:spcPct val="0"/>
        </a:spcAft>
        <a:defRPr sz="2000">
          <a:solidFill>
            <a:srgbClr val="000000"/>
          </a:solidFill>
          <a:latin typeface="Arial" pitchFamily="-106" charset="0"/>
          <a:ea typeface="ＭＳ Ｐゴシック" pitchFamily="-106" charset="-128"/>
        </a:defRPr>
      </a:lvl6pPr>
      <a:lvl7pPr marL="685698" algn="l" defTabSz="342848" rtl="0" eaLnBrk="1" fontAlgn="base" hangingPunct="1">
        <a:lnSpc>
          <a:spcPts val="2325"/>
        </a:lnSpc>
        <a:spcBef>
          <a:spcPct val="0"/>
        </a:spcBef>
        <a:spcAft>
          <a:spcPct val="0"/>
        </a:spcAft>
        <a:defRPr sz="2000">
          <a:solidFill>
            <a:srgbClr val="000000"/>
          </a:solidFill>
          <a:latin typeface="Arial" pitchFamily="-106" charset="0"/>
          <a:ea typeface="ＭＳ Ｐゴシック" pitchFamily="-106" charset="-128"/>
        </a:defRPr>
      </a:lvl7pPr>
      <a:lvl8pPr marL="1028547" algn="l" defTabSz="342848" rtl="0" eaLnBrk="1" fontAlgn="base" hangingPunct="1">
        <a:lnSpc>
          <a:spcPts val="2325"/>
        </a:lnSpc>
        <a:spcBef>
          <a:spcPct val="0"/>
        </a:spcBef>
        <a:spcAft>
          <a:spcPct val="0"/>
        </a:spcAft>
        <a:defRPr sz="2000">
          <a:solidFill>
            <a:srgbClr val="000000"/>
          </a:solidFill>
          <a:latin typeface="Arial" pitchFamily="-106" charset="0"/>
          <a:ea typeface="ＭＳ Ｐゴシック" pitchFamily="-106" charset="-128"/>
        </a:defRPr>
      </a:lvl8pPr>
      <a:lvl9pPr marL="1371396" algn="l" defTabSz="342848" rtl="0" eaLnBrk="1" fontAlgn="base" hangingPunct="1">
        <a:lnSpc>
          <a:spcPts val="2325"/>
        </a:lnSpc>
        <a:spcBef>
          <a:spcPct val="0"/>
        </a:spcBef>
        <a:spcAft>
          <a:spcPct val="0"/>
        </a:spcAft>
        <a:defRPr sz="2000">
          <a:solidFill>
            <a:srgbClr val="000000"/>
          </a:solidFill>
          <a:latin typeface="Arial" pitchFamily="-106" charset="0"/>
          <a:ea typeface="ＭＳ Ｐゴシック" pitchFamily="-106" charset="-128"/>
        </a:defRPr>
      </a:lvl9pPr>
    </p:titleStyle>
    <p:bodyStyle>
      <a:lvl1pPr marL="342848" indent="-342848" algn="l" defTabSz="342848" rtl="0" eaLnBrk="0" fontAlgn="base" hangingPunct="0">
        <a:lnSpc>
          <a:spcPts val="2063"/>
        </a:lnSpc>
        <a:spcBef>
          <a:spcPct val="0"/>
        </a:spcBef>
        <a:spcAft>
          <a:spcPct val="0"/>
        </a:spcAft>
        <a:buFont typeface="Arial" pitchFamily="34" charset="0"/>
        <a:buChar char="•"/>
        <a:defRPr sz="1800" kern="1200">
          <a:solidFill>
            <a:srgbClr val="000000"/>
          </a:solidFill>
          <a:latin typeface="Arial"/>
          <a:ea typeface="ＭＳ Ｐゴシック" pitchFamily="34" charset="-128"/>
          <a:cs typeface="Arial"/>
        </a:defRPr>
      </a:lvl1pPr>
      <a:lvl2pPr marL="171426" indent="171426" algn="l" defTabSz="342848" rtl="0" eaLnBrk="0" fontAlgn="base" hangingPunct="0">
        <a:lnSpc>
          <a:spcPts val="2063"/>
        </a:lnSpc>
        <a:spcBef>
          <a:spcPct val="0"/>
        </a:spcBef>
        <a:spcAft>
          <a:spcPct val="0"/>
        </a:spcAft>
        <a:buFont typeface="Arial" pitchFamily="34" charset="0"/>
        <a:buChar char="–"/>
        <a:defRPr sz="1500" kern="1200">
          <a:solidFill>
            <a:srgbClr val="000000"/>
          </a:solidFill>
          <a:latin typeface="Arial"/>
          <a:ea typeface="ＭＳ Ｐゴシック" pitchFamily="34" charset="-128"/>
          <a:cs typeface="Arial"/>
        </a:defRPr>
      </a:lvl2pPr>
      <a:lvl3pPr marL="308327" indent="377375" algn="l" defTabSz="342848" rtl="0" eaLnBrk="0" fontAlgn="base" hangingPunct="0">
        <a:lnSpc>
          <a:spcPts val="2063"/>
        </a:lnSpc>
        <a:spcBef>
          <a:spcPct val="0"/>
        </a:spcBef>
        <a:spcAft>
          <a:spcPct val="0"/>
        </a:spcAft>
        <a:buFont typeface="Arial" pitchFamily="34" charset="0"/>
        <a:buChar char="•"/>
        <a:defRPr sz="1800" kern="1200">
          <a:solidFill>
            <a:srgbClr val="000000"/>
          </a:solidFill>
          <a:latin typeface="Arial"/>
          <a:ea typeface="ＭＳ Ｐゴシック" pitchFamily="34" charset="-128"/>
          <a:cs typeface="Arial"/>
        </a:defRPr>
      </a:lvl3pPr>
      <a:lvl4pPr marL="616654" indent="411896" algn="l" defTabSz="342848" rtl="0" eaLnBrk="0" fontAlgn="base" hangingPunct="0">
        <a:lnSpc>
          <a:spcPts val="2063"/>
        </a:lnSpc>
        <a:spcBef>
          <a:spcPct val="0"/>
        </a:spcBef>
        <a:spcAft>
          <a:spcPct val="0"/>
        </a:spcAft>
        <a:buFont typeface="Arial" pitchFamily="34" charset="0"/>
        <a:buChar char="–"/>
        <a:defRPr sz="1200" kern="1200">
          <a:solidFill>
            <a:srgbClr val="000000"/>
          </a:solidFill>
          <a:latin typeface="Arial"/>
          <a:ea typeface="ＭＳ Ｐゴシック" pitchFamily="34" charset="-128"/>
          <a:cs typeface="Arial"/>
        </a:defRPr>
      </a:lvl4pPr>
      <a:lvl5pPr marL="857123" indent="514277" algn="l" defTabSz="342848" rtl="0" eaLnBrk="0" fontAlgn="base" hangingPunct="0">
        <a:lnSpc>
          <a:spcPts val="1688"/>
        </a:lnSpc>
        <a:spcBef>
          <a:spcPct val="0"/>
        </a:spcBef>
        <a:spcAft>
          <a:spcPct val="0"/>
        </a:spcAft>
        <a:buFont typeface="Arial" pitchFamily="34" charset="0"/>
        <a:buChar char="»"/>
        <a:defRPr sz="1100" kern="1200">
          <a:solidFill>
            <a:srgbClr val="000000"/>
          </a:solidFill>
          <a:latin typeface="Arial"/>
          <a:ea typeface="ＭＳ Ｐゴシック" pitchFamily="34" charset="-128"/>
          <a:cs typeface="Arial"/>
        </a:defRPr>
      </a:lvl5pPr>
      <a:lvl6pPr marL="1885668" indent="-171426" algn="l" defTabSz="342848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517" indent="-171426" algn="l" defTabSz="342848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366" indent="-171426" algn="l" defTabSz="342848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217" indent="-171426" algn="l" defTabSz="342848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4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48" algn="l" defTabSz="34284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698" algn="l" defTabSz="34284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547" algn="l" defTabSz="34284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96" algn="l" defTabSz="34284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247" algn="l" defTabSz="34284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093" algn="l" defTabSz="34284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940" algn="l" defTabSz="34284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788" algn="l" defTabSz="34284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00760" y="438150"/>
            <a:ext cx="7867651" cy="2412206"/>
          </a:xfrm>
        </p:spPr>
        <p:txBody>
          <a:bodyPr/>
          <a:lstStyle/>
          <a:p>
            <a:pPr>
              <a:lnSpc>
                <a:spcPts val="3244"/>
              </a:lnSpc>
              <a:spcAft>
                <a:spcPts val="2700"/>
              </a:spcAft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Arial" pitchFamily="34" charset="0"/>
              </a:rPr>
              <a:t>德 邦 物 流</a:t>
            </a:r>
            <a:r>
              <a:rPr lang="en-US" altLang="zh-CN" dirty="0" smtClean="0">
                <a:solidFill>
                  <a:srgbClr val="DDD9C3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/>
            </a:r>
            <a:br>
              <a:rPr lang="en-US" altLang="zh-CN" dirty="0" smtClean="0">
                <a:solidFill>
                  <a:srgbClr val="DDD9C3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</a:br>
            <a:r>
              <a:rPr lang="en-US" altLang="zh-CN" dirty="0" smtClean="0">
                <a:solidFill>
                  <a:srgbClr val="DDD9C3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/>
            </a:r>
            <a:br>
              <a:rPr lang="en-US" altLang="zh-CN" dirty="0" smtClean="0">
                <a:solidFill>
                  <a:srgbClr val="DDD9C3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</a:br>
            <a:r>
              <a:rPr lang="zh-CN" altLang="en-US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规则引擎项目总体设计</a:t>
            </a:r>
            <a:r>
              <a:rPr lang="en-US" altLang="zh-CN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/>
            </a:r>
            <a:br>
              <a:rPr lang="en-US" altLang="zh-CN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</a:br>
            <a:r>
              <a:rPr lang="en-US" altLang="zh-CN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/>
            </a:r>
            <a:br>
              <a:rPr lang="en-US" altLang="zh-CN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</a:br>
            <a:r>
              <a:rPr lang="en-US" altLang="zh-CN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/>
            </a:r>
            <a:br>
              <a:rPr lang="en-US" altLang="zh-CN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</a:br>
            <a:r>
              <a:rPr lang="zh-CN" altLang="en-US" sz="1600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普元信息技术股份有限公司</a:t>
            </a:r>
            <a:endParaRPr lang="zh-CN" altLang="en-US" sz="1800" dirty="0">
              <a:solidFill>
                <a:srgbClr val="FFC000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4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2" y="67588"/>
            <a:ext cx="184714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6" rIns="91432" bIns="45716" anchor="ctr">
            <a:spAutoFit/>
          </a:bodyPr>
          <a:lstStyle/>
          <a:p>
            <a:endParaRPr lang="zh-CN" altLang="en-US" sz="1600">
              <a:latin typeface="Calibri" pitchFamily="34" charset="0"/>
            </a:endParaRPr>
          </a:p>
        </p:txBody>
      </p:sp>
      <p:sp>
        <p:nvSpPr>
          <p:cNvPr id="8" name="TextBox 30"/>
          <p:cNvSpPr txBox="1">
            <a:spLocks noChangeArrowheads="1"/>
          </p:cNvSpPr>
          <p:nvPr/>
        </p:nvSpPr>
        <p:spPr bwMode="auto">
          <a:xfrm>
            <a:off x="555631" y="15471"/>
            <a:ext cx="8215313" cy="553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目录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9"/>
          <p:cNvGrpSpPr>
            <a:grpSpLocks/>
          </p:cNvGrpSpPr>
          <p:nvPr/>
        </p:nvGrpSpPr>
        <p:grpSpPr bwMode="auto">
          <a:xfrm rot="10800000">
            <a:off x="369889" y="218646"/>
            <a:ext cx="273051" cy="98822"/>
            <a:chOff x="8299450" y="542925"/>
            <a:chExt cx="415925" cy="214313"/>
          </a:xfrm>
        </p:grpSpPr>
        <p:sp>
          <p:nvSpPr>
            <p:cNvPr id="10" name="燕尾形 9"/>
            <p:cNvSpPr>
              <a:spLocks noChangeArrowheads="1"/>
            </p:cNvSpPr>
            <p:nvPr/>
          </p:nvSpPr>
          <p:spPr bwMode="auto">
            <a:xfrm flipH="1">
              <a:off x="8415522" y="542925"/>
              <a:ext cx="215218" cy="214313"/>
            </a:xfrm>
            <a:prstGeom prst="chevron">
              <a:avLst>
                <a:gd name="adj" fmla="val 50000"/>
              </a:avLst>
            </a:prstGeom>
            <a:solidFill>
              <a:schemeClr val="accent4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燕尾形 10"/>
            <p:cNvSpPr/>
            <p:nvPr/>
          </p:nvSpPr>
          <p:spPr bwMode="auto">
            <a:xfrm flipH="1">
              <a:off x="8621067" y="542925"/>
              <a:ext cx="215216" cy="214313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0" name="圆角矩形 3"/>
          <p:cNvSpPr/>
          <p:nvPr/>
        </p:nvSpPr>
        <p:spPr>
          <a:xfrm>
            <a:off x="4560507" y="2025310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三</a:t>
            </a:r>
            <a:r>
              <a:rPr lang="zh-CN" altLang="en-US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、概念架构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4211960" y="987574"/>
            <a:ext cx="0" cy="25202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3479506" y="2463570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479506" y="3075554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5" name="圆角矩形 3"/>
          <p:cNvSpPr/>
          <p:nvPr/>
        </p:nvSpPr>
        <p:spPr>
          <a:xfrm>
            <a:off x="4560507" y="2688194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四、总体架构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43"/>
          <p:cNvSpPr txBox="1"/>
          <p:nvPr/>
        </p:nvSpPr>
        <p:spPr bwMode="auto">
          <a:xfrm>
            <a:off x="203516" y="1933680"/>
            <a:ext cx="121058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目录</a:t>
            </a:r>
          </a:p>
        </p:txBody>
      </p:sp>
      <p:sp>
        <p:nvSpPr>
          <p:cNvPr id="29" name="矩形 28"/>
          <p:cNvSpPr/>
          <p:nvPr/>
        </p:nvSpPr>
        <p:spPr bwMode="auto">
          <a:xfrm>
            <a:off x="971865" y="2562184"/>
            <a:ext cx="288000" cy="38500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0" name="TextBox 45"/>
          <p:cNvSpPr txBox="1"/>
          <p:nvPr/>
        </p:nvSpPr>
        <p:spPr bwMode="auto">
          <a:xfrm>
            <a:off x="874499" y="2455027"/>
            <a:ext cx="14911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ontents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 bwMode="auto">
          <a:xfrm>
            <a:off x="1738099" y="2454641"/>
            <a:ext cx="13440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圆角矩形 3"/>
          <p:cNvSpPr/>
          <p:nvPr/>
        </p:nvSpPr>
        <p:spPr>
          <a:xfrm>
            <a:off x="4560507" y="699542"/>
            <a:ext cx="4187957" cy="504000"/>
          </a:xfrm>
          <a:prstGeom prst="rect">
            <a:avLst/>
          </a:prstGeom>
          <a:solidFill>
            <a:srgbClr val="373C64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一、系统上下文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479506" y="1239602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7" name="圆角矩形 3"/>
          <p:cNvSpPr/>
          <p:nvPr/>
        </p:nvSpPr>
        <p:spPr>
          <a:xfrm>
            <a:off x="4560507" y="1362426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二、实施范围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479506" y="1851586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4" name="圆角矩形 3"/>
          <p:cNvSpPr/>
          <p:nvPr/>
        </p:nvSpPr>
        <p:spPr>
          <a:xfrm>
            <a:off x="4572000" y="3319294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五、规则设计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559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规则引擎平台</a:t>
            </a:r>
            <a:r>
              <a:rPr lang="zh-CN" altLang="en-US" sz="2000" dirty="0" smtClean="0"/>
              <a:t>上下文</a:t>
            </a:r>
            <a:endParaRPr lang="zh-CN" sz="2000" dirty="0" smtClean="0"/>
          </a:p>
        </p:txBody>
      </p:sp>
      <p:sp>
        <p:nvSpPr>
          <p:cNvPr id="2" name="矩形 1"/>
          <p:cNvSpPr/>
          <p:nvPr/>
        </p:nvSpPr>
        <p:spPr>
          <a:xfrm>
            <a:off x="3347864" y="3003798"/>
            <a:ext cx="5544616" cy="936104"/>
          </a:xfrm>
          <a:prstGeom prst="rect">
            <a:avLst/>
          </a:prstGeom>
          <a:solidFill>
            <a:srgbClr val="373C6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lvl="1" algn="ctr">
              <a:spcAft>
                <a:spcPts val="1200"/>
              </a:spcAft>
            </a:pPr>
            <a:r>
              <a:rPr lang="zh-CN" altLang="en-US" sz="2400" b="1" spc="100" baseline="-2500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规则引擎平台</a:t>
            </a:r>
            <a:endParaRPr lang="zh-CN" altLang="zh-CN" sz="2400" b="1" spc="100" baseline="-25000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30858" y="1491630"/>
            <a:ext cx="937286" cy="504056"/>
          </a:xfrm>
          <a:prstGeom prst="rect">
            <a:avLst/>
          </a:prstGeom>
          <a:solidFill>
            <a:srgbClr val="373C6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 algn="ctr">
              <a:spcAft>
                <a:spcPts val="1200"/>
              </a:spcAft>
            </a:pPr>
            <a:r>
              <a:rPr lang="en-US" altLang="zh-CN" sz="2400" b="1" spc="100" baseline="-2500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  <a:endParaRPr lang="zh-CN" altLang="zh-CN" sz="2400" b="1" spc="100" baseline="-25000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99010" y="1491630"/>
            <a:ext cx="937286" cy="504056"/>
          </a:xfrm>
          <a:prstGeom prst="rect">
            <a:avLst/>
          </a:prstGeom>
          <a:solidFill>
            <a:srgbClr val="A6A6A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 algn="ctr">
              <a:spcAft>
                <a:spcPts val="1200"/>
              </a:spcAft>
            </a:pPr>
            <a:r>
              <a:rPr lang="zh-CN" altLang="en-US" sz="2400" b="1" spc="100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工作流</a:t>
            </a:r>
            <a:endParaRPr lang="zh-CN" altLang="zh-CN" sz="2400" b="1" spc="100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16486" y="1491630"/>
            <a:ext cx="939490" cy="504056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 algn="ctr">
              <a:spcAft>
                <a:spcPts val="1200"/>
              </a:spcAft>
            </a:pPr>
            <a:r>
              <a:rPr lang="en-US" altLang="zh-CN" sz="2400" b="1" spc="100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CRM</a:t>
            </a:r>
            <a:endParaRPr lang="zh-CN" altLang="zh-CN" sz="2400" b="1" spc="100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89442" y="388546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539552" y="699542"/>
            <a:ext cx="2235474" cy="4032000"/>
          </a:xfrm>
          <a:prstGeom prst="rect">
            <a:avLst/>
          </a:prstGeom>
          <a:solidFill>
            <a:srgbClr val="373C6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lvl="1" indent="-4572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2000" b="1" baseline="-25000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规则引擎作为规则计算服务提供者为</a:t>
            </a:r>
            <a:r>
              <a:rPr lang="en-US" altLang="zh-CN" sz="2000" b="1" baseline="-25000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  <a:r>
              <a:rPr lang="zh-CN" altLang="en-US" sz="2000" b="1" baseline="-2500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提供规则计算服务</a:t>
            </a:r>
            <a:r>
              <a:rPr lang="zh-CN" altLang="en-US" sz="2000" b="1" baseline="-25000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baseline="-25000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lvl="1" indent="-457200">
              <a:spcAft>
                <a:spcPts val="1200"/>
              </a:spcAft>
              <a:buFont typeface="+mj-ea"/>
              <a:buAutoNum type="circleNumDbPlain"/>
            </a:pPr>
            <a:r>
              <a:rPr lang="en-US" altLang="zh-CN" sz="2000" b="1" baseline="-25000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CRM</a:t>
            </a:r>
            <a:r>
              <a:rPr lang="zh-CN" altLang="en-US" sz="2000" b="1" baseline="-25000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通过访问</a:t>
            </a:r>
            <a:r>
              <a:rPr lang="en-US" altLang="zh-CN" sz="2000" b="1" baseline="-25000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  <a:r>
              <a:rPr lang="zh-CN" altLang="en-US" sz="2000" b="1" baseline="-25000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获取合同定价服务</a:t>
            </a:r>
            <a:endParaRPr lang="en-US" altLang="zh-CN" sz="2000" b="1" baseline="-25000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lvl="1" indent="-4572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2000" b="1" baseline="-25000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规则引擎作为中间件为其他系统提供规则计算服务</a:t>
            </a:r>
            <a:r>
              <a:rPr lang="zh-CN" altLang="en-US" sz="2000" b="1" baseline="-2500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baseline="-25000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r>
              <a:rPr lang="zh-CN" altLang="en-US" sz="2000" b="1" baseline="-2500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例如</a:t>
            </a:r>
            <a:r>
              <a:rPr lang="zh-CN" altLang="en-US" sz="2000" b="1" baseline="-25000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：为工作流</a:t>
            </a:r>
            <a:r>
              <a:rPr lang="zh-CN" altLang="en-US" sz="2000" b="1" baseline="-2500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提供        分支规则计算</a:t>
            </a:r>
            <a:endParaRPr lang="en-US" altLang="zh-CN" sz="2000" b="1" baseline="-25000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lvl="1" indent="-4572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2000" b="1" baseline="-25000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规则引擎需调用外部系统获取基础数据。</a:t>
            </a:r>
            <a:r>
              <a:rPr lang="zh-CN" altLang="en-US" sz="2000" b="1" baseline="-2500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例如：调</a:t>
            </a:r>
            <a:r>
              <a:rPr lang="zh-CN" altLang="en-US" sz="2000" b="1" baseline="-25000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2000" b="1" baseline="-25000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CRM</a:t>
            </a:r>
            <a:r>
              <a:rPr lang="zh-CN" altLang="en-US" sz="2000" b="1" baseline="-25000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获取产品数据。</a:t>
            </a:r>
            <a:endParaRPr lang="zh-CN" altLang="zh-CN" sz="2000" b="1" baseline="-25000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8" name="直线连接符 37"/>
          <p:cNvCxnSpPr/>
          <p:nvPr/>
        </p:nvCxnSpPr>
        <p:spPr>
          <a:xfrm>
            <a:off x="5650507" y="2158656"/>
            <a:ext cx="1613" cy="72008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直线连接符 46"/>
          <p:cNvCxnSpPr/>
          <p:nvPr/>
        </p:nvCxnSpPr>
        <p:spPr>
          <a:xfrm>
            <a:off x="6948264" y="2139702"/>
            <a:ext cx="1613" cy="72008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直线连接符 47"/>
          <p:cNvCxnSpPr/>
          <p:nvPr/>
        </p:nvCxnSpPr>
        <p:spPr>
          <a:xfrm flipV="1">
            <a:off x="3848533" y="2158656"/>
            <a:ext cx="0" cy="720080"/>
          </a:xfrm>
          <a:prstGeom prst="line">
            <a:avLst/>
          </a:prstGeom>
          <a:ln w="57150" cmpd="sng">
            <a:solidFill>
              <a:srgbClr val="FAAF19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直线连接符 50"/>
          <p:cNvCxnSpPr/>
          <p:nvPr/>
        </p:nvCxnSpPr>
        <p:spPr>
          <a:xfrm flipV="1">
            <a:off x="5290467" y="2158656"/>
            <a:ext cx="0" cy="720080"/>
          </a:xfrm>
          <a:prstGeom prst="line">
            <a:avLst/>
          </a:prstGeom>
          <a:ln w="57150" cmpd="sng">
            <a:solidFill>
              <a:srgbClr val="FAAF19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直线连接符 52"/>
          <p:cNvCxnSpPr/>
          <p:nvPr/>
        </p:nvCxnSpPr>
        <p:spPr>
          <a:xfrm flipV="1">
            <a:off x="6588224" y="2139702"/>
            <a:ext cx="0" cy="720080"/>
          </a:xfrm>
          <a:prstGeom prst="line">
            <a:avLst/>
          </a:prstGeom>
          <a:ln w="57150" cmpd="sng">
            <a:solidFill>
              <a:srgbClr val="FAAF19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667162" y="1491630"/>
            <a:ext cx="937286" cy="504056"/>
          </a:xfrm>
          <a:prstGeom prst="rect">
            <a:avLst/>
          </a:prstGeom>
          <a:solidFill>
            <a:srgbClr val="A6A6A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 algn="ctr">
              <a:spcAft>
                <a:spcPts val="1200"/>
              </a:spcAft>
            </a:pPr>
            <a:r>
              <a:rPr lang="en-US" altLang="zh-CN" sz="2400" b="1" spc="100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XXX</a:t>
            </a:r>
            <a:endParaRPr lang="zh-CN" altLang="zh-CN" sz="2400" b="1" spc="100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6" name="直线连接符 15"/>
          <p:cNvCxnSpPr/>
          <p:nvPr/>
        </p:nvCxnSpPr>
        <p:spPr>
          <a:xfrm>
            <a:off x="8316416" y="2139702"/>
            <a:ext cx="1613" cy="72008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线连接符 17"/>
          <p:cNvCxnSpPr/>
          <p:nvPr/>
        </p:nvCxnSpPr>
        <p:spPr>
          <a:xfrm flipV="1">
            <a:off x="7956376" y="2139702"/>
            <a:ext cx="0" cy="720080"/>
          </a:xfrm>
          <a:prstGeom prst="line">
            <a:avLst/>
          </a:prstGeom>
          <a:ln w="57150" cmpd="sng">
            <a:solidFill>
              <a:srgbClr val="FAAF19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线连接符 18"/>
          <p:cNvCxnSpPr/>
          <p:nvPr/>
        </p:nvCxnSpPr>
        <p:spPr>
          <a:xfrm>
            <a:off x="4499992" y="1707654"/>
            <a:ext cx="288032" cy="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86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2" y="67588"/>
            <a:ext cx="184714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6" rIns="91432" bIns="45716" anchor="ctr">
            <a:spAutoFit/>
          </a:bodyPr>
          <a:lstStyle/>
          <a:p>
            <a:endParaRPr lang="zh-CN" altLang="en-US" sz="1600">
              <a:latin typeface="Calibri" pitchFamily="34" charset="0"/>
            </a:endParaRPr>
          </a:p>
        </p:txBody>
      </p:sp>
      <p:sp>
        <p:nvSpPr>
          <p:cNvPr id="8" name="TextBox 30"/>
          <p:cNvSpPr txBox="1">
            <a:spLocks noChangeArrowheads="1"/>
          </p:cNvSpPr>
          <p:nvPr/>
        </p:nvSpPr>
        <p:spPr bwMode="auto">
          <a:xfrm>
            <a:off x="555631" y="15471"/>
            <a:ext cx="8215313" cy="553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目录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9"/>
          <p:cNvGrpSpPr>
            <a:grpSpLocks/>
          </p:cNvGrpSpPr>
          <p:nvPr/>
        </p:nvGrpSpPr>
        <p:grpSpPr bwMode="auto">
          <a:xfrm rot="10800000">
            <a:off x="369889" y="218646"/>
            <a:ext cx="273051" cy="98822"/>
            <a:chOff x="8299450" y="542925"/>
            <a:chExt cx="415925" cy="214313"/>
          </a:xfrm>
        </p:grpSpPr>
        <p:sp>
          <p:nvSpPr>
            <p:cNvPr id="10" name="燕尾形 9"/>
            <p:cNvSpPr>
              <a:spLocks noChangeArrowheads="1"/>
            </p:cNvSpPr>
            <p:nvPr/>
          </p:nvSpPr>
          <p:spPr bwMode="auto">
            <a:xfrm flipH="1">
              <a:off x="8415522" y="542925"/>
              <a:ext cx="215218" cy="214313"/>
            </a:xfrm>
            <a:prstGeom prst="chevron">
              <a:avLst>
                <a:gd name="adj" fmla="val 50000"/>
              </a:avLst>
            </a:prstGeom>
            <a:solidFill>
              <a:schemeClr val="accent4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燕尾形 10"/>
            <p:cNvSpPr/>
            <p:nvPr/>
          </p:nvSpPr>
          <p:spPr bwMode="auto">
            <a:xfrm flipH="1">
              <a:off x="8621067" y="542925"/>
              <a:ext cx="215216" cy="214313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4211960" y="987574"/>
            <a:ext cx="0" cy="25202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3479506" y="2463570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479506" y="3075554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8" name="TextBox 43"/>
          <p:cNvSpPr txBox="1"/>
          <p:nvPr/>
        </p:nvSpPr>
        <p:spPr bwMode="auto">
          <a:xfrm>
            <a:off x="203516" y="1933680"/>
            <a:ext cx="121058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目录</a:t>
            </a:r>
          </a:p>
        </p:txBody>
      </p:sp>
      <p:sp>
        <p:nvSpPr>
          <p:cNvPr id="29" name="矩形 28"/>
          <p:cNvSpPr/>
          <p:nvPr/>
        </p:nvSpPr>
        <p:spPr bwMode="auto">
          <a:xfrm>
            <a:off x="971865" y="2562184"/>
            <a:ext cx="288000" cy="38500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0" name="TextBox 45"/>
          <p:cNvSpPr txBox="1"/>
          <p:nvPr/>
        </p:nvSpPr>
        <p:spPr bwMode="auto">
          <a:xfrm>
            <a:off x="874499" y="2455027"/>
            <a:ext cx="14911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ontents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 bwMode="auto">
          <a:xfrm>
            <a:off x="1738099" y="2454641"/>
            <a:ext cx="13440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479506" y="1239602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479506" y="1851586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3" name="圆角矩形 3"/>
          <p:cNvSpPr/>
          <p:nvPr/>
        </p:nvSpPr>
        <p:spPr>
          <a:xfrm>
            <a:off x="4560507" y="2025310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三</a:t>
            </a:r>
            <a:r>
              <a:rPr lang="zh-CN" altLang="en-US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、概念架构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圆角矩形 3"/>
          <p:cNvSpPr/>
          <p:nvPr/>
        </p:nvSpPr>
        <p:spPr>
          <a:xfrm>
            <a:off x="4560507" y="2688194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四、总体架构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圆角矩形 3"/>
          <p:cNvSpPr/>
          <p:nvPr/>
        </p:nvSpPr>
        <p:spPr>
          <a:xfrm>
            <a:off x="4560507" y="699542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一、系统上下文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圆角矩形 3"/>
          <p:cNvSpPr/>
          <p:nvPr/>
        </p:nvSpPr>
        <p:spPr>
          <a:xfrm>
            <a:off x="4560507" y="1362426"/>
            <a:ext cx="4187957" cy="504000"/>
          </a:xfrm>
          <a:prstGeom prst="rect">
            <a:avLst/>
          </a:prstGeom>
          <a:solidFill>
            <a:srgbClr val="373C64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二、实施范围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圆角矩形 3"/>
          <p:cNvSpPr/>
          <p:nvPr/>
        </p:nvSpPr>
        <p:spPr>
          <a:xfrm>
            <a:off x="4572000" y="3319294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五、规则设计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619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实施范围</a:t>
            </a:r>
            <a:endParaRPr lang="zh-CN" sz="2000" dirty="0" smtClean="0"/>
          </a:p>
        </p:txBody>
      </p:sp>
      <p:sp>
        <p:nvSpPr>
          <p:cNvPr id="3" name="矩形 2"/>
          <p:cNvSpPr/>
          <p:nvPr/>
        </p:nvSpPr>
        <p:spPr>
          <a:xfrm>
            <a:off x="332935" y="2617572"/>
            <a:ext cx="5867999" cy="1682370"/>
          </a:xfrm>
          <a:prstGeom prst="rect">
            <a:avLst/>
          </a:prstGeom>
          <a:solidFill>
            <a:srgbClr val="FFFFFF"/>
          </a:solidFill>
          <a:ln w="28575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 algn="ctr">
              <a:spcAft>
                <a:spcPts val="1200"/>
              </a:spcAft>
            </a:pPr>
            <a:r>
              <a:rPr lang="zh-CN" altLang="en-US" sz="2400" b="1" spc="100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规则引擎平台</a:t>
            </a:r>
            <a:endParaRPr lang="zh-CN" altLang="zh-CN" sz="2400" b="1" spc="100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3528" y="915566"/>
            <a:ext cx="5860869" cy="1584176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lvl="1" algn="ctr">
              <a:spcAft>
                <a:spcPts val="1200"/>
              </a:spcAft>
            </a:pPr>
            <a:r>
              <a:rPr lang="zh-CN" altLang="en-US" sz="2000" b="1" spc="100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业务规则库</a:t>
            </a:r>
            <a:endParaRPr lang="zh-CN" altLang="zh-CN" sz="2000" b="1" spc="100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55804" y="1059582"/>
            <a:ext cx="5055357" cy="1368152"/>
          </a:xfrm>
          <a:prstGeom prst="rect">
            <a:avLst/>
          </a:prstGeom>
          <a:solidFill>
            <a:srgbClr val="FAAF1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 algn="ctr">
              <a:spcAft>
                <a:spcPts val="1200"/>
              </a:spcAft>
            </a:pPr>
            <a:r>
              <a:rPr lang="en-US" altLang="zh-CN" b="1" spc="100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  <a:r>
              <a:rPr lang="zh-CN" altLang="en-US" b="1" spc="100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模块</a:t>
            </a:r>
            <a:endParaRPr lang="zh-CN" altLang="zh-CN" b="1" spc="100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23084" y="1396883"/>
            <a:ext cx="3969225" cy="8868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lvl="1" algn="ctr">
              <a:spcAft>
                <a:spcPts val="1200"/>
              </a:spcAft>
            </a:pPr>
            <a:r>
              <a:rPr lang="zh-CN" altLang="en-US" b="1" spc="100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折扣</a:t>
            </a:r>
            <a:endParaRPr lang="zh-CN" altLang="zh-CN" b="1" spc="100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43874" y="1550102"/>
            <a:ext cx="1675998" cy="589599"/>
          </a:xfrm>
          <a:prstGeom prst="rect">
            <a:avLst/>
          </a:prstGeom>
          <a:solidFill>
            <a:srgbClr val="373C6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lvl="1" algn="ctr">
              <a:spcAft>
                <a:spcPts val="1200"/>
              </a:spcAft>
            </a:pPr>
            <a:r>
              <a:rPr lang="zh-CN" altLang="en-US" b="1" spc="100" baseline="-2500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运费折扣规则</a:t>
            </a:r>
            <a:endParaRPr lang="zh-CN" altLang="zh-CN" b="1" spc="100" baseline="-25000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18455" y="1550102"/>
            <a:ext cx="1601617" cy="589599"/>
          </a:xfrm>
          <a:prstGeom prst="rect">
            <a:avLst/>
          </a:prstGeom>
          <a:solidFill>
            <a:srgbClr val="373C6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lvl="1" algn="ctr">
              <a:spcAft>
                <a:spcPts val="1200"/>
              </a:spcAft>
            </a:pPr>
            <a:r>
              <a:rPr lang="zh-CN" altLang="en-US" b="1" spc="100" baseline="-2500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增值服务折扣规则</a:t>
            </a:r>
            <a:endParaRPr lang="zh-CN" altLang="zh-CN" b="1" spc="100" baseline="-25000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541211" y="915566"/>
            <a:ext cx="2235474" cy="338437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>
              <a:spcAft>
                <a:spcPts val="1200"/>
              </a:spcAft>
            </a:pPr>
            <a:r>
              <a:rPr lang="zh-CN" altLang="en-US" sz="20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功能范围：</a:t>
            </a:r>
            <a:endParaRPr lang="en-US" altLang="zh-CN" sz="20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lvl="1" indent="-4572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建设德邦规则引擎平台（中间件），为德邦的</a:t>
            </a:r>
            <a:r>
              <a:rPr lang="en-US" altLang="zh-CN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系统提供规则计算服务</a:t>
            </a:r>
            <a:endParaRPr lang="en-US" altLang="zh-CN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lvl="1" indent="-4572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基于规则引擎平台实现</a:t>
            </a:r>
            <a:r>
              <a:rPr lang="en-US" altLang="zh-CN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  <a:r>
              <a:rPr lang="zh-CN" altLang="en-US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中以下两个模块的规则编辑和计算 ：</a:t>
            </a:r>
            <a:endParaRPr lang="en-US" altLang="zh-CN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Wingdings" charset="2"/>
              <a:buChar char="n"/>
            </a:pPr>
            <a:r>
              <a:rPr lang="zh-CN" altLang="en-US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运费折扣</a:t>
            </a:r>
            <a:endParaRPr lang="en-US" altLang="zh-CN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Wingdings" charset="2"/>
              <a:buChar char="n"/>
            </a:pPr>
            <a:r>
              <a:rPr lang="zh-CN" altLang="en-US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增值服务折扣</a:t>
            </a:r>
            <a:endParaRPr lang="en-US" altLang="zh-CN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71600" y="3147814"/>
            <a:ext cx="1584176" cy="864096"/>
          </a:xfrm>
          <a:prstGeom prst="rect">
            <a:avLst/>
          </a:prstGeom>
          <a:solidFill>
            <a:srgbClr val="373C6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lvl="1" algn="ctr">
              <a:spcAft>
                <a:spcPts val="1200"/>
              </a:spcAft>
            </a:pPr>
            <a:r>
              <a:rPr lang="zh-CN" altLang="en-US" sz="2400" b="1" spc="100" baseline="-2500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规则运行平台</a:t>
            </a:r>
            <a:endParaRPr lang="en-US" altLang="zh-CN" sz="2400" b="1" spc="100" baseline="-25000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31840" y="3147814"/>
            <a:ext cx="2836533" cy="864096"/>
          </a:xfrm>
          <a:prstGeom prst="rect">
            <a:avLst/>
          </a:prstGeom>
          <a:solidFill>
            <a:srgbClr val="373C6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lvl="1" algn="ctr">
              <a:spcAft>
                <a:spcPts val="1200"/>
              </a:spcAft>
            </a:pPr>
            <a:r>
              <a:rPr lang="zh-CN" altLang="en-US" sz="2400" b="1" spc="100" baseline="-2500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规则开发管理平台</a:t>
            </a:r>
            <a:endParaRPr lang="en-US" altLang="zh-CN" sz="2400" b="1" spc="100" baseline="-25000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1069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2" y="67588"/>
            <a:ext cx="184714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6" rIns="91432" bIns="45716" anchor="ctr">
            <a:spAutoFit/>
          </a:bodyPr>
          <a:lstStyle/>
          <a:p>
            <a:endParaRPr lang="zh-CN" altLang="en-US" sz="1600">
              <a:latin typeface="Calibri" pitchFamily="34" charset="0"/>
            </a:endParaRPr>
          </a:p>
        </p:txBody>
      </p:sp>
      <p:sp>
        <p:nvSpPr>
          <p:cNvPr id="8" name="TextBox 30"/>
          <p:cNvSpPr txBox="1">
            <a:spLocks noChangeArrowheads="1"/>
          </p:cNvSpPr>
          <p:nvPr/>
        </p:nvSpPr>
        <p:spPr bwMode="auto">
          <a:xfrm>
            <a:off x="555631" y="15471"/>
            <a:ext cx="8215313" cy="553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目录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9"/>
          <p:cNvGrpSpPr>
            <a:grpSpLocks/>
          </p:cNvGrpSpPr>
          <p:nvPr/>
        </p:nvGrpSpPr>
        <p:grpSpPr bwMode="auto">
          <a:xfrm rot="10800000">
            <a:off x="369889" y="218646"/>
            <a:ext cx="273051" cy="98822"/>
            <a:chOff x="8299450" y="542925"/>
            <a:chExt cx="415925" cy="214313"/>
          </a:xfrm>
        </p:grpSpPr>
        <p:sp>
          <p:nvSpPr>
            <p:cNvPr id="10" name="燕尾形 9"/>
            <p:cNvSpPr>
              <a:spLocks noChangeArrowheads="1"/>
            </p:cNvSpPr>
            <p:nvPr/>
          </p:nvSpPr>
          <p:spPr bwMode="auto">
            <a:xfrm flipH="1">
              <a:off x="8415522" y="542925"/>
              <a:ext cx="215218" cy="214313"/>
            </a:xfrm>
            <a:prstGeom prst="chevron">
              <a:avLst>
                <a:gd name="adj" fmla="val 50000"/>
              </a:avLst>
            </a:prstGeom>
            <a:solidFill>
              <a:schemeClr val="accent4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燕尾形 10"/>
            <p:cNvSpPr/>
            <p:nvPr/>
          </p:nvSpPr>
          <p:spPr bwMode="auto">
            <a:xfrm flipH="1">
              <a:off x="8621067" y="542925"/>
              <a:ext cx="215216" cy="214313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4211960" y="987574"/>
            <a:ext cx="0" cy="25202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3479506" y="2463570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479506" y="3075554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8" name="TextBox 43"/>
          <p:cNvSpPr txBox="1"/>
          <p:nvPr/>
        </p:nvSpPr>
        <p:spPr bwMode="auto">
          <a:xfrm>
            <a:off x="203516" y="1933680"/>
            <a:ext cx="121058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目录</a:t>
            </a:r>
          </a:p>
        </p:txBody>
      </p:sp>
      <p:sp>
        <p:nvSpPr>
          <p:cNvPr id="29" name="矩形 28"/>
          <p:cNvSpPr/>
          <p:nvPr/>
        </p:nvSpPr>
        <p:spPr bwMode="auto">
          <a:xfrm>
            <a:off x="971865" y="2562184"/>
            <a:ext cx="288000" cy="38500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0" name="TextBox 45"/>
          <p:cNvSpPr txBox="1"/>
          <p:nvPr/>
        </p:nvSpPr>
        <p:spPr bwMode="auto">
          <a:xfrm>
            <a:off x="874499" y="2455027"/>
            <a:ext cx="14911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ontents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 bwMode="auto">
          <a:xfrm>
            <a:off x="1738099" y="2454641"/>
            <a:ext cx="13440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479506" y="1239602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479506" y="1851586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6" name="圆角矩形 3"/>
          <p:cNvSpPr/>
          <p:nvPr/>
        </p:nvSpPr>
        <p:spPr>
          <a:xfrm>
            <a:off x="4560507" y="2025310"/>
            <a:ext cx="4187957" cy="504000"/>
          </a:xfrm>
          <a:prstGeom prst="rect">
            <a:avLst/>
          </a:prstGeom>
          <a:solidFill>
            <a:srgbClr val="373C64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三、概念架构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圆角矩形 3"/>
          <p:cNvSpPr/>
          <p:nvPr/>
        </p:nvSpPr>
        <p:spPr>
          <a:xfrm>
            <a:off x="4560507" y="2688194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四、总体架构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圆角矩形 3"/>
          <p:cNvSpPr/>
          <p:nvPr/>
        </p:nvSpPr>
        <p:spPr>
          <a:xfrm>
            <a:off x="4560507" y="699542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一、系统上下文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圆角矩形 3"/>
          <p:cNvSpPr/>
          <p:nvPr/>
        </p:nvSpPr>
        <p:spPr>
          <a:xfrm>
            <a:off x="4560507" y="1362426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二、实施范围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圆角矩形 3"/>
          <p:cNvSpPr/>
          <p:nvPr/>
        </p:nvSpPr>
        <p:spPr>
          <a:xfrm>
            <a:off x="4572000" y="3319294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五、规则设计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228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7" y="76200"/>
            <a:ext cx="3538241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概念架构</a:t>
            </a:r>
            <a:endParaRPr lang="zh-CN" sz="2000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2339752" y="960942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dirty="0" smtClean="0">
                <a:solidFill>
                  <a:srgbClr val="373C64"/>
                </a:solidFill>
              </a:rPr>
              <a:t>业务人员</a:t>
            </a:r>
            <a:endParaRPr kumimoji="1" lang="zh-CN" altLang="en-US" sz="1100" dirty="0">
              <a:solidFill>
                <a:srgbClr val="373C64"/>
              </a:solidFill>
            </a:endParaRPr>
          </a:p>
        </p:txBody>
      </p:sp>
      <p:pic>
        <p:nvPicPr>
          <p:cNvPr id="4" name="图片 3" descr="bu00474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528894"/>
            <a:ext cx="803173" cy="37805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3579862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dirty="0" smtClean="0">
                <a:solidFill>
                  <a:srgbClr val="373C64"/>
                </a:solidFill>
              </a:rPr>
              <a:t>规则配置员</a:t>
            </a:r>
            <a:endParaRPr kumimoji="1" lang="zh-CN" altLang="en-US" sz="1100" dirty="0">
              <a:solidFill>
                <a:srgbClr val="373C64"/>
              </a:solidFill>
            </a:endParaRPr>
          </a:p>
        </p:txBody>
      </p:sp>
      <p:pic>
        <p:nvPicPr>
          <p:cNvPr id="6" name="图片 5" descr="LS019486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5" y="4011910"/>
            <a:ext cx="522211" cy="3600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-17698" y="4326364"/>
            <a:ext cx="12053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dirty="0" smtClean="0">
                <a:solidFill>
                  <a:srgbClr val="373C64"/>
                </a:solidFill>
              </a:rPr>
              <a:t>规则</a:t>
            </a:r>
            <a:r>
              <a:rPr kumimoji="1" lang="en-US" altLang="zh-CN" sz="1100" dirty="0" smtClean="0">
                <a:solidFill>
                  <a:srgbClr val="373C64"/>
                </a:solidFill>
              </a:rPr>
              <a:t>/</a:t>
            </a:r>
            <a:r>
              <a:rPr kumimoji="1" lang="zh-CN" altLang="en-US" sz="1100" dirty="0" smtClean="0">
                <a:solidFill>
                  <a:srgbClr val="373C64"/>
                </a:solidFill>
              </a:rPr>
              <a:t>系统管理员</a:t>
            </a:r>
            <a:endParaRPr kumimoji="1" lang="zh-CN" altLang="en-US" sz="1100" dirty="0">
              <a:solidFill>
                <a:srgbClr val="373C64"/>
              </a:solidFill>
            </a:endParaRPr>
          </a:p>
        </p:txBody>
      </p:sp>
      <p:pic>
        <p:nvPicPr>
          <p:cNvPr id="8" name="图片 7" descr="skd188803sdc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528894"/>
            <a:ext cx="609892" cy="50405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932040" y="941988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dirty="0" smtClean="0">
                <a:solidFill>
                  <a:srgbClr val="373C64"/>
                </a:solidFill>
              </a:rPr>
              <a:t>其他</a:t>
            </a:r>
            <a:r>
              <a:rPr kumimoji="1" lang="en-US" altLang="zh-CN" sz="1100" dirty="0" smtClean="0">
                <a:solidFill>
                  <a:srgbClr val="373C64"/>
                </a:solidFill>
              </a:rPr>
              <a:t>IT</a:t>
            </a:r>
            <a:r>
              <a:rPr kumimoji="1" lang="zh-CN" altLang="en-US" sz="1100" dirty="0" smtClean="0">
                <a:solidFill>
                  <a:srgbClr val="373C64"/>
                </a:solidFill>
              </a:rPr>
              <a:t>系统</a:t>
            </a:r>
            <a:endParaRPr kumimoji="1" lang="zh-CN" altLang="en-US" sz="1100" dirty="0">
              <a:solidFill>
                <a:srgbClr val="373C64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67744" y="1498160"/>
            <a:ext cx="1008112" cy="3144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6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</a:p>
        </p:txBody>
      </p:sp>
      <p:pic>
        <p:nvPicPr>
          <p:cNvPr id="10" name="图片 9" descr="AA002733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291830"/>
            <a:ext cx="576064" cy="36004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565938" y="3391246"/>
            <a:ext cx="917830" cy="1224136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6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</a:t>
            </a:r>
            <a:endParaRPr kumimoji="1" lang="en-US" altLang="zh-CN" sz="16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6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配置</a:t>
            </a:r>
            <a:endParaRPr kumimoji="1" lang="en-US" altLang="zh-CN" sz="16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en-US" altLang="en-US" sz="16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管理</a:t>
            </a:r>
            <a:endParaRPr kumimoji="1" lang="en-US" altLang="zh-CN" sz="16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6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平台</a:t>
            </a:r>
            <a:endParaRPr kumimoji="1" lang="en-US" altLang="zh-CN" sz="16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31640" y="2787774"/>
            <a:ext cx="5256584" cy="333618"/>
          </a:xfrm>
          <a:prstGeom prst="rect">
            <a:avLst/>
          </a:prstGeom>
          <a:solidFill>
            <a:srgbClr val="D9D9D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6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负载均衡</a:t>
            </a:r>
            <a:endParaRPr kumimoji="1" lang="en-US" altLang="zh-CN" sz="16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2" name="直线连接符 21"/>
          <p:cNvCxnSpPr/>
          <p:nvPr/>
        </p:nvCxnSpPr>
        <p:spPr>
          <a:xfrm>
            <a:off x="2699792" y="1149396"/>
            <a:ext cx="0" cy="333618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 rot="16200000">
            <a:off x="1115616" y="3413053"/>
            <a:ext cx="0" cy="333618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线连接符 28"/>
          <p:cNvCxnSpPr/>
          <p:nvPr/>
        </p:nvCxnSpPr>
        <p:spPr>
          <a:xfrm rot="16200000">
            <a:off x="1092823" y="4061125"/>
            <a:ext cx="0" cy="333618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直线连接符 29"/>
          <p:cNvCxnSpPr/>
          <p:nvPr/>
        </p:nvCxnSpPr>
        <p:spPr>
          <a:xfrm>
            <a:off x="5292080" y="1149396"/>
            <a:ext cx="0" cy="1008112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线连接符 31"/>
          <p:cNvCxnSpPr/>
          <p:nvPr/>
        </p:nvCxnSpPr>
        <p:spPr>
          <a:xfrm>
            <a:off x="2699792" y="1859999"/>
            <a:ext cx="0" cy="288032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860032" y="3507854"/>
            <a:ext cx="1152128" cy="1152128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6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6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600" b="1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运行平台</a:t>
            </a:r>
            <a:endParaRPr kumimoji="1" lang="en-US" altLang="zh-CN" sz="16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059832" y="3507854"/>
            <a:ext cx="1296144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6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缓存服务器</a:t>
            </a:r>
            <a:endParaRPr kumimoji="1" lang="en-US" altLang="zh-CN" sz="16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6" name="直线连接符 65"/>
          <p:cNvCxnSpPr/>
          <p:nvPr/>
        </p:nvCxnSpPr>
        <p:spPr>
          <a:xfrm flipH="1">
            <a:off x="4355976" y="4443958"/>
            <a:ext cx="288032" cy="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3059832" y="4227934"/>
            <a:ext cx="1296144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6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数据库</a:t>
            </a:r>
            <a:endParaRPr kumimoji="1" lang="en-US" altLang="zh-CN" sz="16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6732240" y="771550"/>
            <a:ext cx="2235474" cy="39604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lvl="1" indent="-342900">
              <a:spcAft>
                <a:spcPts val="1200"/>
              </a:spcAft>
              <a:buFont typeface="+mj-ea"/>
              <a:buAutoNum type="circleNumDbPlain"/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lvl="1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规则引擎平台分为四类用户</a:t>
            </a:r>
            <a:r>
              <a:rPr lang="zh-CN" altLang="en-US" sz="16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lvl="1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业务人员、规则配置人员、规则管理员、</a:t>
            </a:r>
            <a:r>
              <a:rPr lang="en-US" altLang="zh-CN" sz="16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sz="16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系统。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lvl="1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业务人员通过</a:t>
            </a:r>
            <a:r>
              <a:rPr lang="en-US" altLang="zh-CN" sz="16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  <a:r>
              <a:rPr lang="zh-CN" altLang="en-US" sz="16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查</a:t>
            </a: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询开单价格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lvl="1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规则配置员通过规则开发平台配置业务规则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lvl="1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规则管理员通过规则配置管理平台</a:t>
            </a:r>
            <a:r>
              <a:rPr lang="zh-CN" altLang="en-US" sz="16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管理所有的业务规则，并监控规则引擎运行</a:t>
            </a: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平台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lvl="1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规则引擎提供一组统一服务接口供周边系统调用。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lvl="1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规则引擎通过缓存服务器提供高性能、高可靠的计算服务。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331640" y="3219822"/>
            <a:ext cx="5256584" cy="1512168"/>
          </a:xfrm>
          <a:prstGeom prst="rect">
            <a:avLst/>
          </a:prstGeom>
          <a:noFill/>
          <a:ln w="19050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t" anchorCtr="0"/>
          <a:lstStyle/>
          <a:p>
            <a:pPr algn="ctr"/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规则引擎运行平台</a:t>
            </a:r>
            <a:endParaRPr kumimoji="1" lang="en-US" altLang="zh-CN" sz="14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4" name="直线连接符 93"/>
          <p:cNvCxnSpPr/>
          <p:nvPr/>
        </p:nvCxnSpPr>
        <p:spPr>
          <a:xfrm>
            <a:off x="5436096" y="3219822"/>
            <a:ext cx="0" cy="288032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1331640" y="2185078"/>
            <a:ext cx="5256584" cy="3336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6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ESB</a:t>
            </a:r>
          </a:p>
        </p:txBody>
      </p:sp>
      <p:cxnSp>
        <p:nvCxnSpPr>
          <p:cNvPr id="41" name="直线连接符 40"/>
          <p:cNvCxnSpPr/>
          <p:nvPr/>
        </p:nvCxnSpPr>
        <p:spPr>
          <a:xfrm>
            <a:off x="3923928" y="2571750"/>
            <a:ext cx="0" cy="216024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直线连接符 37"/>
          <p:cNvCxnSpPr/>
          <p:nvPr/>
        </p:nvCxnSpPr>
        <p:spPr>
          <a:xfrm rot="16200000" flipH="1">
            <a:off x="2754614" y="3579862"/>
            <a:ext cx="0" cy="288032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直线连接符 38"/>
          <p:cNvCxnSpPr/>
          <p:nvPr/>
        </p:nvCxnSpPr>
        <p:spPr>
          <a:xfrm rot="16200000" flipH="1">
            <a:off x="2771800" y="4299942"/>
            <a:ext cx="0" cy="288032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线连接符 33"/>
          <p:cNvCxnSpPr/>
          <p:nvPr/>
        </p:nvCxnSpPr>
        <p:spPr>
          <a:xfrm flipH="1">
            <a:off x="4355976" y="3651870"/>
            <a:ext cx="288032" cy="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10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2" y="67588"/>
            <a:ext cx="184714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6" rIns="91432" bIns="45716" anchor="ctr">
            <a:spAutoFit/>
          </a:bodyPr>
          <a:lstStyle/>
          <a:p>
            <a:endParaRPr lang="zh-CN" altLang="en-US" sz="1600">
              <a:latin typeface="Calibri" pitchFamily="34" charset="0"/>
            </a:endParaRPr>
          </a:p>
        </p:txBody>
      </p:sp>
      <p:sp>
        <p:nvSpPr>
          <p:cNvPr id="8" name="TextBox 30"/>
          <p:cNvSpPr txBox="1">
            <a:spLocks noChangeArrowheads="1"/>
          </p:cNvSpPr>
          <p:nvPr/>
        </p:nvSpPr>
        <p:spPr bwMode="auto">
          <a:xfrm>
            <a:off x="555631" y="15471"/>
            <a:ext cx="8215313" cy="553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目录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9"/>
          <p:cNvGrpSpPr>
            <a:grpSpLocks/>
          </p:cNvGrpSpPr>
          <p:nvPr/>
        </p:nvGrpSpPr>
        <p:grpSpPr bwMode="auto">
          <a:xfrm rot="10800000">
            <a:off x="369889" y="218646"/>
            <a:ext cx="273051" cy="98822"/>
            <a:chOff x="8299450" y="542925"/>
            <a:chExt cx="415925" cy="214313"/>
          </a:xfrm>
        </p:grpSpPr>
        <p:sp>
          <p:nvSpPr>
            <p:cNvPr id="10" name="燕尾形 9"/>
            <p:cNvSpPr>
              <a:spLocks noChangeArrowheads="1"/>
            </p:cNvSpPr>
            <p:nvPr/>
          </p:nvSpPr>
          <p:spPr bwMode="auto">
            <a:xfrm flipH="1">
              <a:off x="8415522" y="542925"/>
              <a:ext cx="215218" cy="214313"/>
            </a:xfrm>
            <a:prstGeom prst="chevron">
              <a:avLst>
                <a:gd name="adj" fmla="val 50000"/>
              </a:avLst>
            </a:prstGeom>
            <a:solidFill>
              <a:schemeClr val="accent4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燕尾形 10"/>
            <p:cNvSpPr/>
            <p:nvPr/>
          </p:nvSpPr>
          <p:spPr bwMode="auto">
            <a:xfrm flipH="1">
              <a:off x="8621067" y="542925"/>
              <a:ext cx="215216" cy="214313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4211960" y="987574"/>
            <a:ext cx="0" cy="25202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3479506" y="2463570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479506" y="3075554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8" name="TextBox 43"/>
          <p:cNvSpPr txBox="1"/>
          <p:nvPr/>
        </p:nvSpPr>
        <p:spPr bwMode="auto">
          <a:xfrm>
            <a:off x="203516" y="1933680"/>
            <a:ext cx="121058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目录</a:t>
            </a:r>
          </a:p>
        </p:txBody>
      </p:sp>
      <p:sp>
        <p:nvSpPr>
          <p:cNvPr id="29" name="矩形 28"/>
          <p:cNvSpPr/>
          <p:nvPr/>
        </p:nvSpPr>
        <p:spPr bwMode="auto">
          <a:xfrm>
            <a:off x="971865" y="2562184"/>
            <a:ext cx="288000" cy="38500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0" name="TextBox 45"/>
          <p:cNvSpPr txBox="1"/>
          <p:nvPr/>
        </p:nvSpPr>
        <p:spPr bwMode="auto">
          <a:xfrm>
            <a:off x="874499" y="2455027"/>
            <a:ext cx="14911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ontents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 bwMode="auto">
          <a:xfrm>
            <a:off x="1738099" y="2454641"/>
            <a:ext cx="13440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479506" y="1239602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479506" y="1851586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6" name="圆角矩形 3"/>
          <p:cNvSpPr/>
          <p:nvPr/>
        </p:nvSpPr>
        <p:spPr>
          <a:xfrm>
            <a:off x="4560507" y="2025310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三</a:t>
            </a:r>
            <a:r>
              <a:rPr lang="zh-CN" altLang="en-US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、概念架构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圆角矩形 3"/>
          <p:cNvSpPr/>
          <p:nvPr/>
        </p:nvSpPr>
        <p:spPr>
          <a:xfrm>
            <a:off x="4560507" y="2688194"/>
            <a:ext cx="4187957" cy="504000"/>
          </a:xfrm>
          <a:prstGeom prst="rect">
            <a:avLst/>
          </a:prstGeom>
          <a:solidFill>
            <a:srgbClr val="373C64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四、总体架构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圆角矩形 3"/>
          <p:cNvSpPr/>
          <p:nvPr/>
        </p:nvSpPr>
        <p:spPr>
          <a:xfrm>
            <a:off x="4560507" y="699542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一、系统上下文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圆角矩形 3"/>
          <p:cNvSpPr/>
          <p:nvPr/>
        </p:nvSpPr>
        <p:spPr>
          <a:xfrm>
            <a:off x="4560507" y="1362426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二、实施范围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圆角矩形 3"/>
          <p:cNvSpPr/>
          <p:nvPr/>
        </p:nvSpPr>
        <p:spPr>
          <a:xfrm>
            <a:off x="4572000" y="3319294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五、规则设计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1093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endParaRPr lang="zh-CN" sz="2800" dirty="0" smtClean="0"/>
          </a:p>
        </p:txBody>
      </p: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2840686" y="2073313"/>
            <a:ext cx="186727" cy="136817"/>
            <a:chOff x="0" y="0"/>
            <a:chExt cx="314991" cy="377988"/>
          </a:xfrm>
        </p:grpSpPr>
        <p:sp>
          <p:nvSpPr>
            <p:cNvPr id="6" name="直接连接符 38"/>
            <p:cNvSpPr>
              <a:spLocks noChangeShapeType="1"/>
            </p:cNvSpPr>
            <p:nvPr/>
          </p:nvSpPr>
          <p:spPr bwMode="auto">
            <a:xfrm flipV="1">
              <a:off x="0" y="340306"/>
              <a:ext cx="314991" cy="9867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直接连接符 42"/>
            <p:cNvSpPr>
              <a:spLocks noChangeShapeType="1"/>
            </p:cNvSpPr>
            <p:nvPr/>
          </p:nvSpPr>
          <p:spPr bwMode="auto">
            <a:xfrm rot="5400000" flipV="1">
              <a:off x="130573" y="162598"/>
              <a:ext cx="315780" cy="198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直接连接符 46"/>
            <p:cNvSpPr>
              <a:spLocks noChangeShapeType="1"/>
            </p:cNvSpPr>
            <p:nvPr/>
          </p:nvSpPr>
          <p:spPr bwMode="auto">
            <a:xfrm rot="2700000" flipV="1">
              <a:off x="-53051" y="185704"/>
              <a:ext cx="377988" cy="6579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" name="矩形 23"/>
          <p:cNvSpPr>
            <a:spLocks noChangeArrowheads="1"/>
          </p:cNvSpPr>
          <p:nvPr/>
        </p:nvSpPr>
        <p:spPr bwMode="auto">
          <a:xfrm>
            <a:off x="3196103" y="1866087"/>
            <a:ext cx="1987965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逻辑架构</a:t>
            </a:r>
            <a:endParaRPr lang="en-US" dirty="0"/>
          </a:p>
        </p:txBody>
      </p:sp>
      <p:grpSp>
        <p:nvGrpSpPr>
          <p:cNvPr id="10" name="Group 21"/>
          <p:cNvGrpSpPr>
            <a:grpSpLocks/>
          </p:cNvGrpSpPr>
          <p:nvPr/>
        </p:nvGrpSpPr>
        <p:grpSpPr bwMode="auto">
          <a:xfrm>
            <a:off x="2840686" y="2544444"/>
            <a:ext cx="186727" cy="136817"/>
            <a:chOff x="0" y="-1499"/>
            <a:chExt cx="314991" cy="377988"/>
          </a:xfrm>
        </p:grpSpPr>
        <p:sp>
          <p:nvSpPr>
            <p:cNvPr id="11" name="直接连接符 32"/>
            <p:cNvSpPr>
              <a:spLocks noChangeShapeType="1"/>
            </p:cNvSpPr>
            <p:nvPr/>
          </p:nvSpPr>
          <p:spPr bwMode="auto">
            <a:xfrm flipV="1">
              <a:off x="0" y="338807"/>
              <a:ext cx="314991" cy="9867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直接连接符 33"/>
            <p:cNvSpPr>
              <a:spLocks noChangeShapeType="1"/>
            </p:cNvSpPr>
            <p:nvPr/>
          </p:nvSpPr>
          <p:spPr bwMode="auto">
            <a:xfrm rot="5400000" flipV="1">
              <a:off x="130575" y="161100"/>
              <a:ext cx="315780" cy="19894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直接连接符 34"/>
            <p:cNvSpPr>
              <a:spLocks noChangeShapeType="1"/>
            </p:cNvSpPr>
            <p:nvPr/>
          </p:nvSpPr>
          <p:spPr bwMode="auto">
            <a:xfrm rot="2700000" flipV="1">
              <a:off x="-53051" y="184205"/>
              <a:ext cx="377988" cy="6579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矩形 25"/>
          <p:cNvSpPr>
            <a:spLocks noChangeArrowheads="1"/>
          </p:cNvSpPr>
          <p:nvPr/>
        </p:nvSpPr>
        <p:spPr bwMode="auto">
          <a:xfrm>
            <a:off x="3194482" y="2342035"/>
            <a:ext cx="1987966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物理架构</a:t>
            </a:r>
            <a:endParaRPr lang="en-US" dirty="0"/>
          </a:p>
        </p:txBody>
      </p:sp>
      <p:sp>
        <p:nvSpPr>
          <p:cNvPr id="15" name="直接连接符 28"/>
          <p:cNvSpPr>
            <a:spLocks noChangeShapeType="1"/>
          </p:cNvSpPr>
          <p:nvPr/>
        </p:nvSpPr>
        <p:spPr bwMode="auto">
          <a:xfrm rot="5400000">
            <a:off x="612542" y="2930809"/>
            <a:ext cx="2016225" cy="1966"/>
          </a:xfrm>
          <a:prstGeom prst="line">
            <a:avLst/>
          </a:prstGeom>
          <a:noFill/>
          <a:ln w="50800" cmpd="thickThin">
            <a:solidFill>
              <a:srgbClr val="3F315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组合 2"/>
          <p:cNvGrpSpPr/>
          <p:nvPr/>
        </p:nvGrpSpPr>
        <p:grpSpPr>
          <a:xfrm>
            <a:off x="2840686" y="3015575"/>
            <a:ext cx="186727" cy="168053"/>
            <a:chOff x="3535234" y="3437684"/>
            <a:chExt cx="186727" cy="168053"/>
          </a:xfrm>
        </p:grpSpPr>
        <p:sp>
          <p:nvSpPr>
            <p:cNvPr id="18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19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20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  <p:sp>
        <p:nvSpPr>
          <p:cNvPr id="21" name="矩形 25"/>
          <p:cNvSpPr>
            <a:spLocks noChangeArrowheads="1"/>
          </p:cNvSpPr>
          <p:nvPr/>
        </p:nvSpPr>
        <p:spPr bwMode="auto">
          <a:xfrm>
            <a:off x="3204950" y="2832385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运行架构</a:t>
            </a:r>
            <a:endParaRPr lang="en-US" dirty="0"/>
          </a:p>
        </p:txBody>
      </p:sp>
      <p:sp>
        <p:nvSpPr>
          <p:cNvPr id="22" name="圆角矩形 21"/>
          <p:cNvSpPr/>
          <p:nvPr/>
        </p:nvSpPr>
        <p:spPr>
          <a:xfrm>
            <a:off x="2267745" y="1923678"/>
            <a:ext cx="3600400" cy="412404"/>
          </a:xfrm>
          <a:prstGeom prst="roundRect">
            <a:avLst/>
          </a:prstGeom>
          <a:noFill/>
          <a:ln w="38100" cmpd="sng"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3"/>
          <p:cNvSpPr/>
          <p:nvPr/>
        </p:nvSpPr>
        <p:spPr>
          <a:xfrm>
            <a:off x="1619672" y="699542"/>
            <a:ext cx="4187957" cy="642943"/>
          </a:xfrm>
          <a:prstGeom prst="rect">
            <a:avLst/>
          </a:prstGeom>
          <a:solidFill>
            <a:srgbClr val="373C64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总体架构</a:t>
            </a:r>
            <a:endParaRPr lang="en-US" altLang="zh-CN" b="1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8" name="组合 2"/>
          <p:cNvGrpSpPr/>
          <p:nvPr/>
        </p:nvGrpSpPr>
        <p:grpSpPr>
          <a:xfrm>
            <a:off x="2843808" y="3455162"/>
            <a:ext cx="186727" cy="168053"/>
            <a:chOff x="3535234" y="3437684"/>
            <a:chExt cx="186727" cy="168053"/>
          </a:xfrm>
        </p:grpSpPr>
        <p:sp>
          <p:nvSpPr>
            <p:cNvPr id="29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0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1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  <p:sp>
        <p:nvSpPr>
          <p:cNvPr id="32" name="矩形 25"/>
          <p:cNvSpPr>
            <a:spLocks noChangeArrowheads="1"/>
          </p:cNvSpPr>
          <p:nvPr/>
        </p:nvSpPr>
        <p:spPr bwMode="auto">
          <a:xfrm>
            <a:off x="3203848" y="3311146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zh-CN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开发架构</a:t>
            </a:r>
            <a:endParaRPr lang="en-US" dirty="0"/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3203848" y="3795886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zh-CN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部署流程</a:t>
            </a:r>
            <a:endParaRPr lang="en-US" dirty="0"/>
          </a:p>
        </p:txBody>
      </p:sp>
      <p:grpSp>
        <p:nvGrpSpPr>
          <p:cNvPr id="33" name="组合 2"/>
          <p:cNvGrpSpPr/>
          <p:nvPr/>
        </p:nvGrpSpPr>
        <p:grpSpPr>
          <a:xfrm>
            <a:off x="2843808" y="3987873"/>
            <a:ext cx="186727" cy="168053"/>
            <a:chOff x="3535234" y="3437684"/>
            <a:chExt cx="186727" cy="168053"/>
          </a:xfrm>
        </p:grpSpPr>
        <p:sp>
          <p:nvSpPr>
            <p:cNvPr id="34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5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6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8012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95536" y="63780"/>
            <a:ext cx="374441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逻辑架构</a:t>
            </a:r>
            <a:r>
              <a:rPr lang="zh-CN" altLang="zh-CN" sz="2000" dirty="0" smtClean="0"/>
              <a:t>—</a:t>
            </a:r>
            <a:r>
              <a:rPr lang="zh-CN" altLang="zh-CN" sz="2000" dirty="0"/>
              <a:t>—</a:t>
            </a:r>
            <a:r>
              <a:rPr lang="zh-CN" altLang="en-US" sz="2000" dirty="0" smtClean="0"/>
              <a:t>功能视图</a:t>
            </a:r>
            <a:endParaRPr lang="zh-CN" altLang="zh-CN" sz="2000" dirty="0"/>
          </a:p>
          <a:p>
            <a:pPr eaLnBrk="1" hangingPunct="1"/>
            <a:endParaRPr lang="zh-CN" sz="2000" dirty="0" smtClean="0"/>
          </a:p>
        </p:txBody>
      </p:sp>
      <p:sp>
        <p:nvSpPr>
          <p:cNvPr id="3" name="矩形 2"/>
          <p:cNvSpPr/>
          <p:nvPr/>
        </p:nvSpPr>
        <p:spPr>
          <a:xfrm>
            <a:off x="539552" y="915566"/>
            <a:ext cx="5688632" cy="3227509"/>
          </a:xfrm>
          <a:prstGeom prst="rect">
            <a:avLst/>
          </a:prstGeom>
          <a:noFill/>
          <a:ln w="19050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规则引擎平台</a:t>
            </a:r>
            <a:endParaRPr kumimoji="1" lang="en-US" altLang="zh-CN" sz="14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0966" y="1356953"/>
            <a:ext cx="5463202" cy="583259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18377" y="1356750"/>
            <a:ext cx="1593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 smtClean="0">
                <a:solidFill>
                  <a:srgbClr val="FAAF19"/>
                </a:solidFill>
              </a:rPr>
              <a:t>业务规则服务接口层</a:t>
            </a:r>
            <a:endParaRPr kumimoji="1" lang="zh-CN" altLang="en-US" sz="1200" b="1" dirty="0">
              <a:solidFill>
                <a:srgbClr val="FAAF19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11560" y="1995686"/>
            <a:ext cx="1728192" cy="2088232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规则运行平台（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Server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411760" y="1995686"/>
            <a:ext cx="3672408" cy="2088232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规则配置管理平台（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Governor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1475656" y="3363838"/>
            <a:ext cx="74486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数据服务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83568" y="3363838"/>
            <a:ext cx="74486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日志服务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683568" y="3730539"/>
            <a:ext cx="1584176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缓存服务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4355976" y="3739946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日志服务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4352728" y="2365675"/>
            <a:ext cx="1656175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规则管理接口服务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4362135" y="3379946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用户管理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5192035" y="3379946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授权管理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4362135" y="3038720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菜单管理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5192035" y="3038720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数据同步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3419872" y="3364958"/>
            <a:ext cx="79207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规则部署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4352728" y="2697494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角色管理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5198010" y="2706901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功能管理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588224" y="915566"/>
            <a:ext cx="2235474" cy="273630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lvl="1" indent="-457200">
              <a:spcAft>
                <a:spcPts val="1200"/>
              </a:spcAft>
              <a:buAutoNum type="arabicPeriod"/>
            </a:pPr>
            <a:endParaRPr lang="en-US" altLang="zh-CN" sz="2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spcAft>
                <a:spcPts val="1200"/>
              </a:spcAft>
            </a:pPr>
            <a:r>
              <a:rPr lang="zh-CN" altLang="en-US" sz="20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规则引擎平台组成部分：</a:t>
            </a:r>
            <a:endParaRPr lang="en-US" altLang="zh-CN" sz="20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lvl="1" indent="-4572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20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业务规则服务接口层</a:t>
            </a: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lvl="1" indent="-4572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20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业务规则库</a:t>
            </a:r>
            <a:endParaRPr lang="en-US" altLang="zh-CN" sz="20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lvl="1" indent="-4572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20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规则运行</a:t>
            </a:r>
            <a:r>
              <a:rPr lang="zh-CN" altLang="en-US" sz="20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平台（</a:t>
            </a:r>
            <a:r>
              <a:rPr lang="en-US" altLang="zh-CN" sz="20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Server</a:t>
            </a:r>
            <a:r>
              <a:rPr lang="zh-CN" altLang="en-US" sz="20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0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lvl="1" indent="-4572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20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规则配置管理平台</a:t>
            </a:r>
            <a:r>
              <a:rPr lang="zh-CN" altLang="zh-CN" sz="20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baseline="-25000" dirty="0" err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Governor</a:t>
            </a:r>
            <a:r>
              <a:rPr lang="zh-CN" altLang="en-US" sz="20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spcAft>
                <a:spcPts val="1200"/>
              </a:spcAft>
            </a:pPr>
            <a:endParaRPr lang="en-US" altLang="zh-CN" sz="20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683568" y="2337486"/>
            <a:ext cx="1584176" cy="288000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规则计算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6588224" y="3902010"/>
            <a:ext cx="144000" cy="144000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732240" y="3830002"/>
            <a:ext cx="18722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b="1" dirty="0" smtClean="0"/>
              <a:t>本次实施范围内</a:t>
            </a:r>
            <a:endParaRPr kumimoji="1" lang="zh-CN" altLang="en-US" sz="1050" b="1" dirty="0"/>
          </a:p>
        </p:txBody>
      </p:sp>
      <p:sp>
        <p:nvSpPr>
          <p:cNvPr id="60" name="圆角矩形 59"/>
          <p:cNvSpPr/>
          <p:nvPr/>
        </p:nvSpPr>
        <p:spPr>
          <a:xfrm>
            <a:off x="2555776" y="3705606"/>
            <a:ext cx="1656183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规则基础数据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2555776" y="2701630"/>
            <a:ext cx="792088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规则编辑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2555776" y="3364958"/>
            <a:ext cx="79207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规则编译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3419872" y="2711037"/>
            <a:ext cx="792088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规则校验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3419872" y="3057534"/>
            <a:ext cx="79208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模板下载</a:t>
            </a:r>
            <a:endParaRPr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2555775" y="3033152"/>
            <a:ext cx="792088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规则复制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2555776" y="2375082"/>
            <a:ext cx="1656184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</a:t>
            </a:r>
            <a:r>
              <a:rPr lang="zh-CN" altLang="en-US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版本库</a:t>
            </a:r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管理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5200684" y="3739946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资源加载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1835696" y="1635646"/>
            <a:ext cx="1224136" cy="288000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en-US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规则计算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83568" y="2697494"/>
            <a:ext cx="1584176" cy="288000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83569" y="3022070"/>
            <a:ext cx="1584175" cy="288000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</a:t>
            </a:r>
            <a:r>
              <a:rPr lang="en-US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部署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3635896" y="1635646"/>
            <a:ext cx="1296144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规则部署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807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逻辑架构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规则运行平台（</a:t>
            </a:r>
            <a:r>
              <a:rPr lang="en-US" altLang="zh-CN" sz="2000" dirty="0" smtClean="0"/>
              <a:t>Server</a:t>
            </a:r>
            <a:r>
              <a:rPr lang="zh-CN" altLang="en-US" sz="2000" dirty="0" smtClean="0"/>
              <a:t>）模块视图</a:t>
            </a:r>
            <a:endParaRPr lang="zh-CN" altLang="zh-CN" sz="2000" dirty="0"/>
          </a:p>
        </p:txBody>
      </p:sp>
      <p:sp>
        <p:nvSpPr>
          <p:cNvPr id="6" name="矩形 5"/>
          <p:cNvSpPr/>
          <p:nvPr/>
        </p:nvSpPr>
        <p:spPr>
          <a:xfrm>
            <a:off x="755576" y="1281166"/>
            <a:ext cx="5400600" cy="648072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接口服务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547664" y="1563638"/>
            <a:ext cx="1296144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规则计算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5576" y="1995686"/>
            <a:ext cx="3168352" cy="108012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规则管理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971600" y="2283718"/>
            <a:ext cx="108012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规则模型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971600" y="2643758"/>
            <a:ext cx="108012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规则版本库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995936" y="1995686"/>
            <a:ext cx="2160240" cy="108012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355976" y="2283718"/>
            <a:ext cx="1368152" cy="64807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Drools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55576" y="3147813"/>
            <a:ext cx="5400600" cy="72008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基础服务模块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74803" y="3435845"/>
            <a:ext cx="74486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热部署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2051720" y="3435846"/>
            <a:ext cx="74486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数据服务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3203848" y="3435846"/>
            <a:ext cx="74486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日志服务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5339299" y="3435845"/>
            <a:ext cx="74486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缓存服务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446399" y="3435845"/>
            <a:ext cx="74486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资源加载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657006" y="1410551"/>
            <a:ext cx="2235474" cy="2592288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规则运行平台有四大模块</a:t>
            </a:r>
            <a:endParaRPr kumimoji="1" lang="en-US" altLang="zh-CN" sz="1050" dirty="0"/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接口服务模块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接口管理模块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规则引擎模块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基础服务模块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11560" y="843558"/>
            <a:ext cx="5669818" cy="3168352"/>
          </a:xfrm>
          <a:prstGeom prst="rect">
            <a:avLst/>
          </a:prstGeom>
          <a:noFill/>
          <a:ln w="19050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规则引擎运行平台（</a:t>
            </a:r>
            <a:r>
              <a:rPr kumimoji="1" lang="en-US" altLang="zh-CN" sz="1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Server</a:t>
            </a:r>
            <a:r>
              <a:rPr kumimoji="1" lang="zh-CN" altLang="en-US" sz="1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4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3923928" y="1563638"/>
            <a:ext cx="1296144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规则部署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2195736" y="2283718"/>
            <a:ext cx="108012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规则缓存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195736" y="2643758"/>
            <a:ext cx="108012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规则部署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376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逻辑架构</a:t>
            </a:r>
            <a:r>
              <a:rPr lang="en-US" altLang="zh-CN" sz="2000" dirty="0" smtClean="0"/>
              <a:t>—</a:t>
            </a:r>
            <a:r>
              <a:rPr lang="en-US" altLang="zh-CN" sz="2000" dirty="0"/>
              <a:t>—</a:t>
            </a:r>
            <a:r>
              <a:rPr lang="zh-CN" altLang="en-US" sz="2000" dirty="0"/>
              <a:t>规则运</a:t>
            </a:r>
            <a:r>
              <a:rPr lang="zh-CN" altLang="en-US" sz="2000" dirty="0" smtClean="0"/>
              <a:t>行平台（</a:t>
            </a:r>
            <a:r>
              <a:rPr lang="en-US" altLang="zh-CN" sz="2000" dirty="0" smtClean="0"/>
              <a:t>Server</a:t>
            </a:r>
            <a:r>
              <a:rPr lang="zh-CN" altLang="en-US" sz="2000" dirty="0" smtClean="0"/>
              <a:t>）模块协作视图</a:t>
            </a:r>
            <a:endParaRPr lang="zh-CN" altLang="zh-CN" sz="2000" dirty="0"/>
          </a:p>
        </p:txBody>
      </p:sp>
      <p:pic>
        <p:nvPicPr>
          <p:cNvPr id="3" name="图片 2" descr="skd188803sdc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203598"/>
            <a:ext cx="522764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051720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接口服务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07904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基础服务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64088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64288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规则管理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" name="直线连接符 8"/>
          <p:cNvCxnSpPr>
            <a:stCxn id="5" idx="2"/>
          </p:cNvCxnSpPr>
          <p:nvPr/>
        </p:nvCxnSpPr>
        <p:spPr>
          <a:xfrm flipH="1">
            <a:off x="2483768" y="987575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 flipH="1">
            <a:off x="4139952" y="987574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/>
          <p:cNvCxnSpPr/>
          <p:nvPr/>
        </p:nvCxnSpPr>
        <p:spPr>
          <a:xfrm flipH="1">
            <a:off x="5796136" y="987574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/>
          <p:cNvCxnSpPr/>
          <p:nvPr/>
        </p:nvCxnSpPr>
        <p:spPr>
          <a:xfrm flipH="1">
            <a:off x="7596336" y="987574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411760" y="1059582"/>
            <a:ext cx="216024" cy="3456384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0" name="直线连接符 19"/>
          <p:cNvCxnSpPr>
            <a:stCxn id="3" idx="3"/>
          </p:cNvCxnSpPr>
          <p:nvPr/>
        </p:nvCxnSpPr>
        <p:spPr>
          <a:xfrm>
            <a:off x="1350348" y="1419622"/>
            <a:ext cx="1061412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187624" y="987574"/>
            <a:ext cx="15121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应用启动监听器</a:t>
            </a:r>
            <a:endParaRPr kumimoji="1" lang="en-US" altLang="en-US" sz="1050" dirty="0" smtClean="0"/>
          </a:p>
        </p:txBody>
      </p:sp>
      <p:sp>
        <p:nvSpPr>
          <p:cNvPr id="26" name="矩形 25"/>
          <p:cNvSpPr/>
          <p:nvPr/>
        </p:nvSpPr>
        <p:spPr>
          <a:xfrm>
            <a:off x="4067944" y="2139702"/>
            <a:ext cx="216024" cy="576064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627784" y="1275606"/>
            <a:ext cx="14401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调用系统初始化接口</a:t>
            </a:r>
            <a:endParaRPr kumimoji="1" lang="zh-CN" altLang="en-US" sz="1050" dirty="0"/>
          </a:p>
        </p:txBody>
      </p:sp>
      <p:cxnSp>
        <p:nvCxnSpPr>
          <p:cNvPr id="52" name="直线连接符 51"/>
          <p:cNvCxnSpPr/>
          <p:nvPr/>
        </p:nvCxnSpPr>
        <p:spPr>
          <a:xfrm>
            <a:off x="2627784" y="1923678"/>
            <a:ext cx="4896544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4355976" y="1635646"/>
            <a:ext cx="20162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获取规则对象</a:t>
            </a:r>
            <a:endParaRPr kumimoji="1" lang="zh-CN" altLang="en-US" sz="1050" dirty="0"/>
          </a:p>
        </p:txBody>
      </p:sp>
      <p:sp>
        <p:nvSpPr>
          <p:cNvPr id="56" name="矩形 55"/>
          <p:cNvSpPr/>
          <p:nvPr/>
        </p:nvSpPr>
        <p:spPr>
          <a:xfrm>
            <a:off x="7524328" y="1707654"/>
            <a:ext cx="216024" cy="2736304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2" name="直线连接符 61"/>
          <p:cNvCxnSpPr/>
          <p:nvPr/>
        </p:nvCxnSpPr>
        <p:spPr>
          <a:xfrm flipH="1">
            <a:off x="2627784" y="4299942"/>
            <a:ext cx="4824536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4355976" y="4011910"/>
            <a:ext cx="12961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系统初始化完毕</a:t>
            </a:r>
            <a:endParaRPr kumimoji="1" lang="zh-CN" altLang="en-US" sz="1050" dirty="0"/>
          </a:p>
        </p:txBody>
      </p:sp>
      <p:sp>
        <p:nvSpPr>
          <p:cNvPr id="68" name="矩形 67"/>
          <p:cNvSpPr/>
          <p:nvPr/>
        </p:nvSpPr>
        <p:spPr>
          <a:xfrm>
            <a:off x="251520" y="771550"/>
            <a:ext cx="432048" cy="3456384"/>
          </a:xfrm>
          <a:prstGeom prst="rect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ctr" anchorCtr="0"/>
          <a:lstStyle/>
          <a:p>
            <a:pPr algn="ctr"/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规则运行平台</a:t>
            </a:r>
            <a:r>
              <a:rPr kumimoji="1" lang="en-US" altLang="zh-CN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kumimoji="1" lang="en-US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系统初始化</a:t>
            </a:r>
            <a:endParaRPr kumimoji="1" lang="en-US" altLang="zh-CN" sz="14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5" name="直线连接符 74"/>
          <p:cNvCxnSpPr/>
          <p:nvPr/>
        </p:nvCxnSpPr>
        <p:spPr>
          <a:xfrm>
            <a:off x="2627784" y="1563639"/>
            <a:ext cx="36004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线连接符 79"/>
          <p:cNvCxnSpPr/>
          <p:nvPr/>
        </p:nvCxnSpPr>
        <p:spPr>
          <a:xfrm flipV="1">
            <a:off x="2987824" y="1563639"/>
            <a:ext cx="0" cy="216023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/>
          <p:cNvCxnSpPr/>
          <p:nvPr/>
        </p:nvCxnSpPr>
        <p:spPr>
          <a:xfrm flipH="1">
            <a:off x="2627784" y="1779662"/>
            <a:ext cx="36004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线连接符 85"/>
          <p:cNvCxnSpPr/>
          <p:nvPr/>
        </p:nvCxnSpPr>
        <p:spPr>
          <a:xfrm flipH="1">
            <a:off x="4355976" y="2355726"/>
            <a:ext cx="3096344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6012160" y="2067694"/>
            <a:ext cx="13681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加载规则资源文件</a:t>
            </a:r>
            <a:endParaRPr kumimoji="1" lang="zh-CN" altLang="en-US" sz="1050" dirty="0"/>
          </a:p>
        </p:txBody>
      </p:sp>
      <p:sp>
        <p:nvSpPr>
          <p:cNvPr id="91" name="矩形 90"/>
          <p:cNvSpPr/>
          <p:nvPr/>
        </p:nvSpPr>
        <p:spPr>
          <a:xfrm>
            <a:off x="5724128" y="2643758"/>
            <a:ext cx="216024" cy="576064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2" name="直线连接符 91"/>
          <p:cNvCxnSpPr/>
          <p:nvPr/>
        </p:nvCxnSpPr>
        <p:spPr>
          <a:xfrm flipH="1">
            <a:off x="5940152" y="2859782"/>
            <a:ext cx="1584176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文本框 93"/>
          <p:cNvSpPr txBox="1"/>
          <p:nvPr/>
        </p:nvSpPr>
        <p:spPr>
          <a:xfrm>
            <a:off x="5796136" y="2499742"/>
            <a:ext cx="22322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编译资源文件并获取规则对象</a:t>
            </a:r>
            <a:endParaRPr kumimoji="1" lang="zh-CN" altLang="en-US" sz="1050" dirty="0"/>
          </a:p>
        </p:txBody>
      </p:sp>
      <p:sp>
        <p:nvSpPr>
          <p:cNvPr id="96" name="矩形 95"/>
          <p:cNvSpPr/>
          <p:nvPr/>
        </p:nvSpPr>
        <p:spPr>
          <a:xfrm>
            <a:off x="4067944" y="3363838"/>
            <a:ext cx="216024" cy="576064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7" name="直线连接符 96"/>
          <p:cNvCxnSpPr/>
          <p:nvPr/>
        </p:nvCxnSpPr>
        <p:spPr>
          <a:xfrm flipH="1">
            <a:off x="4355976" y="3579862"/>
            <a:ext cx="3168352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>
          <a:xfrm>
            <a:off x="5796136" y="3291830"/>
            <a:ext cx="20162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将规则对象缓存到缓存服务器</a:t>
            </a:r>
            <a:endParaRPr kumimoji="1" lang="zh-CN" altLang="en-US" sz="1050" dirty="0"/>
          </a:p>
        </p:txBody>
      </p:sp>
      <p:sp>
        <p:nvSpPr>
          <p:cNvPr id="2" name="文本框 1"/>
          <p:cNvSpPr txBox="1"/>
          <p:nvPr/>
        </p:nvSpPr>
        <p:spPr>
          <a:xfrm>
            <a:off x="611560" y="1635646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规则引擎应用</a:t>
            </a:r>
          </a:p>
        </p:txBody>
      </p:sp>
    </p:spTree>
    <p:extLst>
      <p:ext uri="{BB962C8B-B14F-4D97-AF65-F5344CB8AC3E}">
        <p14:creationId xmlns:p14="http://schemas.microsoft.com/office/powerpoint/2010/main" val="75098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逻辑架构</a:t>
            </a:r>
            <a:r>
              <a:rPr lang="en-US" altLang="zh-CN" sz="2000" dirty="0" smtClean="0"/>
              <a:t>—</a:t>
            </a:r>
            <a:r>
              <a:rPr lang="en-US" altLang="zh-CN" sz="2000" dirty="0"/>
              <a:t>—</a:t>
            </a:r>
            <a:r>
              <a:rPr lang="zh-CN" altLang="en-US" sz="2000" dirty="0"/>
              <a:t>规则运</a:t>
            </a:r>
            <a:r>
              <a:rPr lang="zh-CN" altLang="en-US" sz="2000" dirty="0" smtClean="0"/>
              <a:t>行平台（</a:t>
            </a:r>
            <a:r>
              <a:rPr lang="en-US" altLang="zh-CN" sz="2000" dirty="0" smtClean="0"/>
              <a:t>Server</a:t>
            </a:r>
            <a:r>
              <a:rPr lang="zh-CN" altLang="en-US" sz="2000" dirty="0" smtClean="0"/>
              <a:t>）模块协作视图</a:t>
            </a:r>
            <a:endParaRPr lang="zh-CN" altLang="zh-CN" sz="2000" dirty="0"/>
          </a:p>
        </p:txBody>
      </p:sp>
      <p:pic>
        <p:nvPicPr>
          <p:cNvPr id="3" name="图片 2" descr="skd188803sdc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203598"/>
            <a:ext cx="522764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051720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接口服务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07904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基础服务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64088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64288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规则管理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" name="直线连接符 8"/>
          <p:cNvCxnSpPr>
            <a:stCxn id="5" idx="2"/>
          </p:cNvCxnSpPr>
          <p:nvPr/>
        </p:nvCxnSpPr>
        <p:spPr>
          <a:xfrm flipH="1">
            <a:off x="2483768" y="987575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 flipH="1">
            <a:off x="4139952" y="987574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/>
          <p:cNvCxnSpPr/>
          <p:nvPr/>
        </p:nvCxnSpPr>
        <p:spPr>
          <a:xfrm flipH="1">
            <a:off x="5796136" y="987574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/>
          <p:cNvCxnSpPr/>
          <p:nvPr/>
        </p:nvCxnSpPr>
        <p:spPr>
          <a:xfrm flipH="1">
            <a:off x="7596336" y="987574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411760" y="1059582"/>
            <a:ext cx="216024" cy="3456384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0" name="直线连接符 19"/>
          <p:cNvCxnSpPr>
            <a:stCxn id="3" idx="3"/>
          </p:cNvCxnSpPr>
          <p:nvPr/>
        </p:nvCxnSpPr>
        <p:spPr>
          <a:xfrm>
            <a:off x="1350348" y="1419622"/>
            <a:ext cx="1061412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331640" y="1059582"/>
            <a:ext cx="115212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1050" dirty="0" smtClean="0"/>
              <a:t>调用规则引擎</a:t>
            </a:r>
          </a:p>
          <a:p>
            <a:r>
              <a:rPr kumimoji="1" lang="zh-CN" altLang="en-US" sz="1050" dirty="0" smtClean="0"/>
              <a:t>规则计算</a:t>
            </a:r>
            <a:r>
              <a:rPr kumimoji="1" lang="en-US" altLang="en-US" sz="1050" dirty="0" smtClean="0"/>
              <a:t>接口</a:t>
            </a:r>
            <a:endParaRPr kumimoji="1" lang="zh-CN" altLang="en-US" sz="1050" dirty="0"/>
          </a:p>
        </p:txBody>
      </p:sp>
      <p:cxnSp>
        <p:nvCxnSpPr>
          <p:cNvPr id="24" name="直线连接符 23"/>
          <p:cNvCxnSpPr/>
          <p:nvPr/>
        </p:nvCxnSpPr>
        <p:spPr>
          <a:xfrm>
            <a:off x="2627784" y="1563638"/>
            <a:ext cx="144016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4067944" y="1347614"/>
            <a:ext cx="216024" cy="3024336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843808" y="1275606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规则计算</a:t>
            </a:r>
            <a:endParaRPr kumimoji="1" lang="zh-CN" altLang="en-US" sz="1050" dirty="0"/>
          </a:p>
        </p:txBody>
      </p:sp>
      <p:sp>
        <p:nvSpPr>
          <p:cNvPr id="28" name="矩形 27"/>
          <p:cNvSpPr/>
          <p:nvPr/>
        </p:nvSpPr>
        <p:spPr>
          <a:xfrm>
            <a:off x="5724128" y="2499742"/>
            <a:ext cx="216024" cy="720080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9" name="直线连接符 28"/>
          <p:cNvCxnSpPr/>
          <p:nvPr/>
        </p:nvCxnSpPr>
        <p:spPr>
          <a:xfrm>
            <a:off x="4283968" y="2643758"/>
            <a:ext cx="144016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4427984" y="2283718"/>
            <a:ext cx="115212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调用规则引擎计算接口</a:t>
            </a:r>
            <a:endParaRPr kumimoji="1" lang="zh-CN" altLang="en-US" sz="1050" dirty="0"/>
          </a:p>
        </p:txBody>
      </p:sp>
      <p:cxnSp>
        <p:nvCxnSpPr>
          <p:cNvPr id="52" name="直线连接符 51"/>
          <p:cNvCxnSpPr>
            <a:endCxn id="56" idx="1"/>
          </p:cNvCxnSpPr>
          <p:nvPr/>
        </p:nvCxnSpPr>
        <p:spPr>
          <a:xfrm>
            <a:off x="4355976" y="1851670"/>
            <a:ext cx="3168352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4644008" y="1491630"/>
            <a:ext cx="20162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获取匹配的规则资源对象</a:t>
            </a:r>
            <a:endParaRPr kumimoji="1" lang="zh-CN" altLang="en-US" sz="1050" dirty="0"/>
          </a:p>
        </p:txBody>
      </p:sp>
      <p:sp>
        <p:nvSpPr>
          <p:cNvPr id="56" name="矩形 55"/>
          <p:cNvSpPr/>
          <p:nvPr/>
        </p:nvSpPr>
        <p:spPr>
          <a:xfrm>
            <a:off x="7524328" y="1419622"/>
            <a:ext cx="216024" cy="864096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8" name="直线连接符 57"/>
          <p:cNvCxnSpPr/>
          <p:nvPr/>
        </p:nvCxnSpPr>
        <p:spPr>
          <a:xfrm flipH="1">
            <a:off x="4283968" y="3075806"/>
            <a:ext cx="144016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4427984" y="2787774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返回计算结果</a:t>
            </a:r>
            <a:endParaRPr kumimoji="1" lang="zh-CN" altLang="en-US" sz="1050" dirty="0"/>
          </a:p>
        </p:txBody>
      </p:sp>
      <p:cxnSp>
        <p:nvCxnSpPr>
          <p:cNvPr id="62" name="直线连接符 61"/>
          <p:cNvCxnSpPr/>
          <p:nvPr/>
        </p:nvCxnSpPr>
        <p:spPr>
          <a:xfrm flipH="1">
            <a:off x="2627784" y="3435846"/>
            <a:ext cx="144016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2699792" y="3075806"/>
            <a:ext cx="12961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返回计算结果</a:t>
            </a:r>
            <a:endParaRPr kumimoji="1" lang="zh-CN" altLang="en-US" sz="1050" dirty="0"/>
          </a:p>
        </p:txBody>
      </p:sp>
      <p:sp>
        <p:nvSpPr>
          <p:cNvPr id="68" name="矩形 67"/>
          <p:cNvSpPr/>
          <p:nvPr/>
        </p:nvSpPr>
        <p:spPr>
          <a:xfrm>
            <a:off x="251520" y="771550"/>
            <a:ext cx="432048" cy="3456384"/>
          </a:xfrm>
          <a:prstGeom prst="rect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ctr" anchorCtr="0"/>
          <a:lstStyle/>
          <a:p>
            <a:pPr algn="ctr"/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规则运行平台</a:t>
            </a:r>
            <a:r>
              <a:rPr kumimoji="1" lang="en-US" altLang="zh-CN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规则计算</a:t>
            </a:r>
            <a:endParaRPr kumimoji="1" lang="en-US" altLang="zh-CN" sz="14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568" y="1635646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/>
              <a:t>FOSS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361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逻辑架构</a:t>
            </a:r>
            <a:r>
              <a:rPr lang="en-US" altLang="zh-CN" sz="2000" dirty="0" smtClean="0"/>
              <a:t>—</a:t>
            </a:r>
            <a:r>
              <a:rPr lang="en-US" altLang="zh-CN" sz="2000" dirty="0"/>
              <a:t>—</a:t>
            </a:r>
            <a:r>
              <a:rPr lang="zh-CN" altLang="en-US" sz="2000" dirty="0"/>
              <a:t>规则运</a:t>
            </a:r>
            <a:r>
              <a:rPr lang="zh-CN" altLang="en-US" sz="2000" dirty="0" smtClean="0"/>
              <a:t>行平台（</a:t>
            </a:r>
            <a:r>
              <a:rPr lang="en-US" altLang="zh-CN" sz="2000" dirty="0" smtClean="0"/>
              <a:t>Server</a:t>
            </a:r>
            <a:r>
              <a:rPr lang="zh-CN" altLang="en-US" sz="2000" dirty="0" smtClean="0"/>
              <a:t>）模块协作视图</a:t>
            </a:r>
            <a:endParaRPr lang="zh-CN" altLang="zh-CN" sz="2000" dirty="0"/>
          </a:p>
        </p:txBody>
      </p:sp>
      <p:sp>
        <p:nvSpPr>
          <p:cNvPr id="5" name="矩形 4"/>
          <p:cNvSpPr/>
          <p:nvPr/>
        </p:nvSpPr>
        <p:spPr>
          <a:xfrm>
            <a:off x="2051720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接口服务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07904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基础服务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64088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64288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规则管理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" name="直线连接符 8"/>
          <p:cNvCxnSpPr>
            <a:stCxn id="5" idx="2"/>
          </p:cNvCxnSpPr>
          <p:nvPr/>
        </p:nvCxnSpPr>
        <p:spPr>
          <a:xfrm flipH="1">
            <a:off x="2483768" y="987575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 flipH="1">
            <a:off x="4139952" y="987574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/>
          <p:cNvCxnSpPr/>
          <p:nvPr/>
        </p:nvCxnSpPr>
        <p:spPr>
          <a:xfrm flipH="1">
            <a:off x="5796136" y="987574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/>
          <p:cNvCxnSpPr/>
          <p:nvPr/>
        </p:nvCxnSpPr>
        <p:spPr>
          <a:xfrm flipH="1">
            <a:off x="7596336" y="987574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411760" y="1059582"/>
            <a:ext cx="216024" cy="3456384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0" name="直线连接符 19"/>
          <p:cNvCxnSpPr/>
          <p:nvPr/>
        </p:nvCxnSpPr>
        <p:spPr>
          <a:xfrm>
            <a:off x="1350348" y="1419622"/>
            <a:ext cx="1061412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331640" y="1059582"/>
            <a:ext cx="115212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1050" dirty="0" smtClean="0"/>
              <a:t>调用规则引擎</a:t>
            </a:r>
          </a:p>
          <a:p>
            <a:r>
              <a:rPr kumimoji="1" lang="zh-CN" altLang="en-US" sz="1050" dirty="0" smtClean="0"/>
              <a:t>规则部署接口</a:t>
            </a:r>
            <a:endParaRPr kumimoji="1" lang="zh-CN" altLang="en-US" sz="1050" dirty="0"/>
          </a:p>
        </p:txBody>
      </p:sp>
      <p:cxnSp>
        <p:nvCxnSpPr>
          <p:cNvPr id="24" name="直线连接符 23"/>
          <p:cNvCxnSpPr/>
          <p:nvPr/>
        </p:nvCxnSpPr>
        <p:spPr>
          <a:xfrm>
            <a:off x="2627784" y="1563638"/>
            <a:ext cx="144016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4067944" y="1347614"/>
            <a:ext cx="216024" cy="2448272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843808" y="1275606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规则部署</a:t>
            </a:r>
            <a:endParaRPr kumimoji="1" lang="zh-CN" altLang="en-US" sz="1050" dirty="0"/>
          </a:p>
        </p:txBody>
      </p:sp>
      <p:sp>
        <p:nvSpPr>
          <p:cNvPr id="56" name="矩形 55"/>
          <p:cNvSpPr/>
          <p:nvPr/>
        </p:nvSpPr>
        <p:spPr>
          <a:xfrm>
            <a:off x="7524328" y="1635646"/>
            <a:ext cx="216024" cy="576064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2" name="直线连接符 61"/>
          <p:cNvCxnSpPr/>
          <p:nvPr/>
        </p:nvCxnSpPr>
        <p:spPr>
          <a:xfrm flipH="1">
            <a:off x="2627784" y="3507854"/>
            <a:ext cx="144016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2771800" y="3253938"/>
            <a:ext cx="12961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返回部署结果</a:t>
            </a:r>
            <a:endParaRPr kumimoji="1" lang="zh-CN" altLang="en-US" sz="1050" dirty="0"/>
          </a:p>
        </p:txBody>
      </p:sp>
      <p:sp>
        <p:nvSpPr>
          <p:cNvPr id="68" name="矩形 67"/>
          <p:cNvSpPr/>
          <p:nvPr/>
        </p:nvSpPr>
        <p:spPr>
          <a:xfrm>
            <a:off x="251520" y="771550"/>
            <a:ext cx="432048" cy="3456384"/>
          </a:xfrm>
          <a:prstGeom prst="rect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ctr" anchorCtr="0"/>
          <a:lstStyle/>
          <a:p>
            <a:pPr algn="ctr"/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规则运行平台</a:t>
            </a:r>
            <a:r>
              <a:rPr kumimoji="1" lang="en-US" altLang="zh-CN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规则部署</a:t>
            </a:r>
            <a:endParaRPr kumimoji="1" lang="en-US" altLang="zh-CN" sz="14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724128" y="2211710"/>
            <a:ext cx="216024" cy="504056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2" name="直线连接符 31"/>
          <p:cNvCxnSpPr/>
          <p:nvPr/>
        </p:nvCxnSpPr>
        <p:spPr>
          <a:xfrm>
            <a:off x="4283968" y="1923678"/>
            <a:ext cx="3168352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4644008" y="1563638"/>
            <a:ext cx="12961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匹配已有规则</a:t>
            </a:r>
            <a:endParaRPr kumimoji="1" lang="zh-CN" altLang="en-US" sz="1050" dirty="0"/>
          </a:p>
        </p:txBody>
      </p:sp>
      <p:cxnSp>
        <p:nvCxnSpPr>
          <p:cNvPr id="34" name="直线连接符 33"/>
          <p:cNvCxnSpPr/>
          <p:nvPr/>
        </p:nvCxnSpPr>
        <p:spPr>
          <a:xfrm>
            <a:off x="4283968" y="2499742"/>
            <a:ext cx="144016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4427984" y="2211710"/>
            <a:ext cx="12961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新规则编译</a:t>
            </a:r>
            <a:endParaRPr kumimoji="1" lang="zh-CN" altLang="en-US" sz="1050" dirty="0"/>
          </a:p>
        </p:txBody>
      </p:sp>
      <p:sp>
        <p:nvSpPr>
          <p:cNvPr id="36" name="矩形 35"/>
          <p:cNvSpPr/>
          <p:nvPr/>
        </p:nvSpPr>
        <p:spPr>
          <a:xfrm>
            <a:off x="7524328" y="2859782"/>
            <a:ext cx="216024" cy="576064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线连接符 36"/>
          <p:cNvCxnSpPr/>
          <p:nvPr/>
        </p:nvCxnSpPr>
        <p:spPr>
          <a:xfrm>
            <a:off x="4283968" y="3147814"/>
            <a:ext cx="3168352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499992" y="2859782"/>
            <a:ext cx="16561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/>
              <a:t>构建资源模型对象并保存</a:t>
            </a:r>
          </a:p>
          <a:p>
            <a:endParaRPr kumimoji="1" lang="zh-CN" altLang="en-US" sz="1050" dirty="0"/>
          </a:p>
        </p:txBody>
      </p:sp>
      <p:pic>
        <p:nvPicPr>
          <p:cNvPr id="30" name="图片 29" descr="LS019486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203598"/>
            <a:ext cx="522211" cy="3600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3568" y="1563638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 smtClean="0"/>
              <a:t>规则管理员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7720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5095804" y="1066780"/>
            <a:ext cx="1395563" cy="1382604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版本监控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927988" y="1059582"/>
            <a:ext cx="2054035" cy="1382604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模版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管理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3881002" y="2499744"/>
            <a:ext cx="2707222" cy="1152127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基础功能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79512" y="3723879"/>
            <a:ext cx="6408712" cy="576063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基础框架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7138641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逻辑架构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规则配置管理平台（</a:t>
            </a:r>
            <a:r>
              <a:rPr lang="en-US" altLang="zh-CN" sz="2000" dirty="0" smtClean="0"/>
              <a:t>Governor</a:t>
            </a:r>
            <a:r>
              <a:rPr lang="zh-CN" altLang="en-US" sz="2000" dirty="0" smtClean="0"/>
              <a:t>）模块视图</a:t>
            </a:r>
            <a:endParaRPr lang="zh-CN" altLang="zh-CN" sz="2000" dirty="0"/>
          </a:p>
        </p:txBody>
      </p:sp>
      <p:sp>
        <p:nvSpPr>
          <p:cNvPr id="8" name="矩形 7"/>
          <p:cNvSpPr/>
          <p:nvPr/>
        </p:nvSpPr>
        <p:spPr>
          <a:xfrm>
            <a:off x="179511" y="1059582"/>
            <a:ext cx="2664297" cy="1382604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规则配置与管理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36484" y="1735212"/>
            <a:ext cx="792000" cy="261588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规则删除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9512" y="2499742"/>
            <a:ext cx="3600400" cy="1152129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业务基础数据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251520" y="2787776"/>
            <a:ext cx="74486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产品数据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251520" y="3147816"/>
            <a:ext cx="74486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网点城市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043608" y="3147816"/>
            <a:ext cx="74486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渠道数据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043608" y="2787776"/>
            <a:ext cx="74486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行业数据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1835696" y="3147816"/>
            <a:ext cx="1008112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增值服务类型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1835696" y="2787776"/>
            <a:ext cx="936104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区域数据 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308304" y="627534"/>
            <a:ext cx="1728191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规则配置管理平台有六大模块</a:t>
            </a:r>
            <a:endParaRPr kumimoji="1" lang="en-US" altLang="zh-CN" sz="1050" dirty="0"/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接口服务模块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规则管理模块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规则版本管理模块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业务基础数据模块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基础功能模块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基础框架模块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8690" y="627534"/>
            <a:ext cx="7147606" cy="4104456"/>
          </a:xfrm>
          <a:prstGeom prst="rect">
            <a:avLst/>
          </a:prstGeom>
          <a:noFill/>
          <a:ln w="19050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规则引擎配置管理平台（</a:t>
            </a:r>
            <a:r>
              <a:rPr kumimoji="1" lang="en-US" altLang="zh-CN" sz="1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Governor</a:t>
            </a:r>
            <a:r>
              <a:rPr kumimoji="1" lang="zh-CN" altLang="en-US" sz="1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4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267744" y="3939903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日志服务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4817106" y="3147815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用户管理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4817194" y="2787775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角色配置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1259632" y="3939903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数据同步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025115" y="1708184"/>
            <a:ext cx="792079" cy="289105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模版删除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3953010" y="3137039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用户部门查询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3953010" y="2787775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组织架构管理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236484" y="2075551"/>
            <a:ext cx="79207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</a:t>
            </a:r>
            <a:r>
              <a:rPr lang="zh-CN" altLang="en-US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复制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1102399" y="1347283"/>
            <a:ext cx="792088" cy="28803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规则新增</a:t>
            </a:r>
            <a:endParaRPr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304028" y="1347323"/>
            <a:ext cx="74486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规则查询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4025106" y="1277429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模版新增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251520" y="3939903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资源加载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3275944" y="3939903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数据服务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4211960" y="3939903"/>
            <a:ext cx="864096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定时服务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1120238" y="2075551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规则提交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1979712" y="1347323"/>
            <a:ext cx="792088" cy="28803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规则编辑</a:t>
            </a:r>
            <a:endParaRPr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5268001" y="1415550"/>
            <a:ext cx="1035524" cy="266480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规则部署历史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5292080" y="3939903"/>
            <a:ext cx="864096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缓存服务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2984556" y="1688683"/>
            <a:ext cx="792079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模版编辑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2981008" y="2075551"/>
            <a:ext cx="792079" cy="288033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设为默认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2843808" y="2787775"/>
            <a:ext cx="864096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增值区域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2915816" y="3147815"/>
            <a:ext cx="792088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其他数据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271397" y="1866006"/>
            <a:ext cx="1035524" cy="28803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规则加载状态</a:t>
            </a:r>
            <a:endParaRPr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1115748" y="1742264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规则导入导出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1979712" y="2094527"/>
            <a:ext cx="792000" cy="263124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规则提交并发布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2987912" y="1271554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模</a:t>
            </a:r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版配置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4025194" y="2100214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修改生效时间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1979712" y="1721990"/>
            <a:ext cx="792088" cy="28803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规则升级</a:t>
            </a:r>
            <a:endParaRPr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5699367" y="2787815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权限功能管理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5670767" y="3137039"/>
            <a:ext cx="792000" cy="2879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权限互斥设置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642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逻辑架构</a:t>
            </a:r>
            <a:r>
              <a:rPr lang="en-US" altLang="zh-CN" sz="2000" dirty="0" smtClean="0"/>
              <a:t>—</a:t>
            </a:r>
            <a:r>
              <a:rPr lang="en-US" altLang="zh-CN" sz="2000" dirty="0"/>
              <a:t>—</a:t>
            </a:r>
            <a:r>
              <a:rPr lang="zh-CN" altLang="en-US" sz="2000" dirty="0" smtClean="0"/>
              <a:t>规则配置管理平台（</a:t>
            </a:r>
            <a:r>
              <a:rPr lang="en-US" altLang="zh-CN" sz="2000" dirty="0" smtClean="0"/>
              <a:t>Governor</a:t>
            </a:r>
            <a:r>
              <a:rPr lang="zh-CN" altLang="en-US" sz="2000" dirty="0" smtClean="0"/>
              <a:t>）模块协作视图</a:t>
            </a:r>
            <a:endParaRPr lang="zh-CN" altLang="zh-CN" sz="2000" dirty="0"/>
          </a:p>
        </p:txBody>
      </p:sp>
      <p:sp>
        <p:nvSpPr>
          <p:cNvPr id="5" name="矩形 4"/>
          <p:cNvSpPr/>
          <p:nvPr/>
        </p:nvSpPr>
        <p:spPr>
          <a:xfrm>
            <a:off x="2267744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交互界面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79912" y="617838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基础功能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292080" y="617838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基础数据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4248" y="617838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基础框架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" name="直线连接符 8"/>
          <p:cNvCxnSpPr>
            <a:stCxn id="5" idx="2"/>
          </p:cNvCxnSpPr>
          <p:nvPr/>
        </p:nvCxnSpPr>
        <p:spPr>
          <a:xfrm flipH="1">
            <a:off x="2699792" y="987575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 flipH="1">
            <a:off x="4211960" y="987574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/>
          <p:cNvCxnSpPr/>
          <p:nvPr/>
        </p:nvCxnSpPr>
        <p:spPr>
          <a:xfrm flipH="1">
            <a:off x="5724128" y="987574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/>
          <p:cNvCxnSpPr/>
          <p:nvPr/>
        </p:nvCxnSpPr>
        <p:spPr>
          <a:xfrm flipH="1">
            <a:off x="7236296" y="987574"/>
            <a:ext cx="36004" cy="3672407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627784" y="1059582"/>
            <a:ext cx="216024" cy="1656184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0" name="直线连接符 19"/>
          <p:cNvCxnSpPr/>
          <p:nvPr/>
        </p:nvCxnSpPr>
        <p:spPr>
          <a:xfrm>
            <a:off x="1494364" y="1347614"/>
            <a:ext cx="989404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>
            <a:off x="2843808" y="1419622"/>
            <a:ext cx="1224136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51520" y="771550"/>
            <a:ext cx="432048" cy="3456384"/>
          </a:xfrm>
          <a:prstGeom prst="rect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ctr" anchorCtr="0"/>
          <a:lstStyle/>
          <a:p>
            <a:pPr algn="ctr"/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规则运行平台</a:t>
            </a:r>
            <a:r>
              <a:rPr kumimoji="1" lang="en-US" altLang="zh-CN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系统初始化</a:t>
            </a:r>
            <a:endParaRPr kumimoji="1" lang="en-US" altLang="zh-CN" sz="14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" name="图片 29" descr="LS019486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131590"/>
            <a:ext cx="522211" cy="36004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827584" y="1491630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1050" dirty="0" smtClean="0"/>
              <a:t>系统</a:t>
            </a:r>
            <a:r>
              <a:rPr kumimoji="1" lang="zh-CN" altLang="en-US" sz="1050" dirty="0" smtClean="0"/>
              <a:t>管理员</a:t>
            </a:r>
            <a:endParaRPr kumimoji="1" lang="zh-CN" altLang="en-US" sz="1050" dirty="0"/>
          </a:p>
        </p:txBody>
      </p:sp>
      <p:sp>
        <p:nvSpPr>
          <p:cNvPr id="40" name="文本框 39"/>
          <p:cNvSpPr txBox="1"/>
          <p:nvPr/>
        </p:nvSpPr>
        <p:spPr>
          <a:xfrm>
            <a:off x="1619672" y="1093698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权限设置</a:t>
            </a:r>
            <a:endParaRPr kumimoji="1" lang="zh-CN" altLang="en-US" sz="1050" dirty="0"/>
          </a:p>
        </p:txBody>
      </p:sp>
      <p:sp>
        <p:nvSpPr>
          <p:cNvPr id="41" name="矩形 40"/>
          <p:cNvSpPr/>
          <p:nvPr/>
        </p:nvSpPr>
        <p:spPr>
          <a:xfrm>
            <a:off x="4139952" y="1275606"/>
            <a:ext cx="216024" cy="360040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987824" y="1131590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设置用户</a:t>
            </a:r>
            <a:endParaRPr kumimoji="1" lang="en-US" altLang="zh-CN" sz="1050" dirty="0" smtClean="0"/>
          </a:p>
        </p:txBody>
      </p:sp>
      <p:cxnSp>
        <p:nvCxnSpPr>
          <p:cNvPr id="43" name="直线连接符 42"/>
          <p:cNvCxnSpPr/>
          <p:nvPr/>
        </p:nvCxnSpPr>
        <p:spPr>
          <a:xfrm>
            <a:off x="2843808" y="1851670"/>
            <a:ext cx="1224136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4139952" y="1707654"/>
            <a:ext cx="216024" cy="360040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987824" y="1563638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设置角色</a:t>
            </a:r>
            <a:endParaRPr kumimoji="1" lang="en-US" altLang="zh-CN" sz="1050" dirty="0" smtClean="0"/>
          </a:p>
        </p:txBody>
      </p:sp>
      <p:sp>
        <p:nvSpPr>
          <p:cNvPr id="46" name="矩形 45"/>
          <p:cNvSpPr/>
          <p:nvPr/>
        </p:nvSpPr>
        <p:spPr>
          <a:xfrm>
            <a:off x="7164288" y="1275606"/>
            <a:ext cx="216024" cy="360040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0" name="直线连接符 49"/>
          <p:cNvCxnSpPr/>
          <p:nvPr/>
        </p:nvCxnSpPr>
        <p:spPr>
          <a:xfrm>
            <a:off x="2843808" y="2355726"/>
            <a:ext cx="1224136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4139952" y="2211710"/>
            <a:ext cx="216024" cy="360040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987824" y="2067694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设置权限</a:t>
            </a:r>
            <a:endParaRPr kumimoji="1" lang="en-US" altLang="zh-CN" sz="1050" dirty="0" smtClean="0"/>
          </a:p>
        </p:txBody>
      </p:sp>
      <p:cxnSp>
        <p:nvCxnSpPr>
          <p:cNvPr id="53" name="直线连接符 52"/>
          <p:cNvCxnSpPr/>
          <p:nvPr/>
        </p:nvCxnSpPr>
        <p:spPr>
          <a:xfrm>
            <a:off x="4355976" y="1491630"/>
            <a:ext cx="2736304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4572000" y="1203598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用户数据同步</a:t>
            </a:r>
            <a:endParaRPr kumimoji="1" lang="en-US" altLang="zh-CN" sz="1050" dirty="0" smtClean="0"/>
          </a:p>
        </p:txBody>
      </p:sp>
      <p:pic>
        <p:nvPicPr>
          <p:cNvPr id="55" name="图片 54" descr="LS019486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893898"/>
            <a:ext cx="522211" cy="360040"/>
          </a:xfrm>
          <a:prstGeom prst="rect">
            <a:avLst/>
          </a:prstGeom>
        </p:spPr>
      </p:pic>
      <p:sp>
        <p:nvSpPr>
          <p:cNvPr id="57" name="文本框 56"/>
          <p:cNvSpPr txBox="1"/>
          <p:nvPr/>
        </p:nvSpPr>
        <p:spPr>
          <a:xfrm>
            <a:off x="827584" y="3253938"/>
            <a:ext cx="9361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规则管理员</a:t>
            </a:r>
            <a:endParaRPr kumimoji="1" lang="zh-CN" altLang="en-US" sz="1050" dirty="0"/>
          </a:p>
        </p:txBody>
      </p:sp>
      <p:sp>
        <p:nvSpPr>
          <p:cNvPr id="58" name="矩形 57"/>
          <p:cNvSpPr/>
          <p:nvPr/>
        </p:nvSpPr>
        <p:spPr>
          <a:xfrm>
            <a:off x="2627784" y="2859782"/>
            <a:ext cx="216024" cy="1656184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652120" y="3147814"/>
            <a:ext cx="216024" cy="360040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0" name="直线连接符 59"/>
          <p:cNvCxnSpPr/>
          <p:nvPr/>
        </p:nvCxnSpPr>
        <p:spPr>
          <a:xfrm>
            <a:off x="2843808" y="3291830"/>
            <a:ext cx="2736304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1547664" y="2965906"/>
            <a:ext cx="12961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基础数据维护</a:t>
            </a:r>
            <a:endParaRPr kumimoji="1" lang="en-US" altLang="zh-CN" sz="1050" dirty="0" smtClean="0"/>
          </a:p>
        </p:txBody>
      </p:sp>
      <p:cxnSp>
        <p:nvCxnSpPr>
          <p:cNvPr id="64" name="直线连接符 63"/>
          <p:cNvCxnSpPr/>
          <p:nvPr/>
        </p:nvCxnSpPr>
        <p:spPr>
          <a:xfrm>
            <a:off x="1475656" y="3219822"/>
            <a:ext cx="1008112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2987824" y="3003798"/>
            <a:ext cx="23762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行业</a:t>
            </a:r>
            <a:r>
              <a:rPr kumimoji="1" lang="en-US" altLang="zh-CN" sz="1050" dirty="0" smtClean="0"/>
              <a:t>/</a:t>
            </a:r>
            <a:r>
              <a:rPr kumimoji="1" lang="zh-CN" altLang="en-US" sz="1050" dirty="0" smtClean="0"/>
              <a:t>产品</a:t>
            </a:r>
            <a:r>
              <a:rPr kumimoji="1" lang="en-US" altLang="zh-CN" sz="1050" dirty="0" smtClean="0"/>
              <a:t>/</a:t>
            </a:r>
            <a:r>
              <a:rPr kumimoji="1" lang="zh-CN" altLang="en-US" sz="1050" dirty="0" smtClean="0"/>
              <a:t>网点</a:t>
            </a:r>
            <a:r>
              <a:rPr kumimoji="1" lang="en-US" altLang="zh-CN" sz="1050" dirty="0" smtClean="0"/>
              <a:t>/</a:t>
            </a:r>
            <a:r>
              <a:rPr kumimoji="1" lang="zh-CN" altLang="en-US" sz="1050" dirty="0" smtClean="0"/>
              <a:t>规则维度取值范围</a:t>
            </a:r>
            <a:endParaRPr kumimoji="1" lang="en-US" altLang="zh-CN" sz="1050" dirty="0" smtClean="0"/>
          </a:p>
        </p:txBody>
      </p:sp>
      <p:sp>
        <p:nvSpPr>
          <p:cNvPr id="66" name="矩形 65"/>
          <p:cNvSpPr/>
          <p:nvPr/>
        </p:nvSpPr>
        <p:spPr>
          <a:xfrm>
            <a:off x="7164288" y="3219822"/>
            <a:ext cx="216024" cy="360040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7" name="直线连接符 66"/>
          <p:cNvCxnSpPr/>
          <p:nvPr/>
        </p:nvCxnSpPr>
        <p:spPr>
          <a:xfrm>
            <a:off x="5868144" y="3363838"/>
            <a:ext cx="1224136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5868144" y="3075806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业务数据同步</a:t>
            </a:r>
            <a:endParaRPr kumimoji="1" lang="en-US" altLang="zh-CN" sz="1050" dirty="0" smtClean="0"/>
          </a:p>
        </p:txBody>
      </p:sp>
    </p:spTree>
    <p:extLst>
      <p:ext uri="{BB962C8B-B14F-4D97-AF65-F5344CB8AC3E}">
        <p14:creationId xmlns:p14="http://schemas.microsoft.com/office/powerpoint/2010/main" val="376925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逻辑架构</a:t>
            </a:r>
            <a:r>
              <a:rPr lang="en-US" altLang="zh-CN" sz="2000" dirty="0" smtClean="0"/>
              <a:t>—</a:t>
            </a:r>
            <a:r>
              <a:rPr lang="en-US" altLang="zh-CN" sz="2000" dirty="0"/>
              <a:t>—</a:t>
            </a:r>
            <a:r>
              <a:rPr lang="zh-CN" altLang="en-US" sz="2000" dirty="0" smtClean="0"/>
              <a:t>规则配置管理平台（</a:t>
            </a:r>
            <a:r>
              <a:rPr lang="en-US" altLang="zh-CN" sz="2000" dirty="0" smtClean="0"/>
              <a:t>Governor</a:t>
            </a:r>
            <a:r>
              <a:rPr lang="zh-CN" altLang="en-US" sz="2000" dirty="0" smtClean="0"/>
              <a:t>）模块协作视图</a:t>
            </a:r>
            <a:endParaRPr lang="zh-CN" altLang="zh-CN" sz="2000" dirty="0"/>
          </a:p>
        </p:txBody>
      </p:sp>
      <p:sp>
        <p:nvSpPr>
          <p:cNvPr id="68" name="矩形 67"/>
          <p:cNvSpPr/>
          <p:nvPr/>
        </p:nvSpPr>
        <p:spPr>
          <a:xfrm>
            <a:off x="251520" y="771550"/>
            <a:ext cx="432048" cy="3456384"/>
          </a:xfrm>
          <a:prstGeom prst="rect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ctr" anchorCtr="0"/>
          <a:lstStyle/>
          <a:p>
            <a:pPr algn="ctr"/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规则运行平台</a:t>
            </a:r>
            <a:r>
              <a:rPr kumimoji="1" lang="en-US" altLang="zh-CN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kumimoji="1" lang="en-US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规则编辑</a:t>
            </a:r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并提交</a:t>
            </a:r>
            <a:endParaRPr kumimoji="1" lang="en-US" altLang="zh-CN" sz="14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2267744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交互界面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779912" y="617838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规则管理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292080" y="617838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基础数据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660232" y="617839"/>
            <a:ext cx="1080120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规则版本管理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2" name="直线连接符 81"/>
          <p:cNvCxnSpPr>
            <a:stCxn id="78" idx="2"/>
          </p:cNvCxnSpPr>
          <p:nvPr/>
        </p:nvCxnSpPr>
        <p:spPr>
          <a:xfrm flipH="1">
            <a:off x="2699792" y="987575"/>
            <a:ext cx="36004" cy="3816423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/>
          <p:cNvCxnSpPr/>
          <p:nvPr/>
        </p:nvCxnSpPr>
        <p:spPr>
          <a:xfrm flipH="1">
            <a:off x="4211960" y="987574"/>
            <a:ext cx="36004" cy="3816424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/>
          <p:cNvCxnSpPr/>
          <p:nvPr/>
        </p:nvCxnSpPr>
        <p:spPr>
          <a:xfrm flipH="1">
            <a:off x="5724128" y="987574"/>
            <a:ext cx="36004" cy="3816424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/>
          <p:cNvCxnSpPr/>
          <p:nvPr/>
        </p:nvCxnSpPr>
        <p:spPr>
          <a:xfrm flipH="1">
            <a:off x="7092280" y="987575"/>
            <a:ext cx="36004" cy="3888431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2627784" y="1059582"/>
            <a:ext cx="216024" cy="2232248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7" name="直线连接符 86"/>
          <p:cNvCxnSpPr/>
          <p:nvPr/>
        </p:nvCxnSpPr>
        <p:spPr>
          <a:xfrm>
            <a:off x="1494364" y="1347614"/>
            <a:ext cx="989404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/>
        </p:nvSpPr>
        <p:spPr>
          <a:xfrm>
            <a:off x="1619672" y="1093698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新增规则</a:t>
            </a:r>
            <a:endParaRPr kumimoji="1" lang="zh-CN" altLang="en-US" sz="1050" dirty="0"/>
          </a:p>
        </p:txBody>
      </p:sp>
      <p:sp>
        <p:nvSpPr>
          <p:cNvPr id="114" name="文本框 113"/>
          <p:cNvSpPr txBox="1"/>
          <p:nvPr/>
        </p:nvSpPr>
        <p:spPr>
          <a:xfrm>
            <a:off x="755576" y="1446044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dirty="0" smtClean="0">
                <a:solidFill>
                  <a:srgbClr val="373C64"/>
                </a:solidFill>
              </a:rPr>
              <a:t>规则配置员</a:t>
            </a:r>
            <a:endParaRPr kumimoji="1" lang="zh-CN" altLang="en-US" sz="1100" dirty="0">
              <a:solidFill>
                <a:srgbClr val="373C64"/>
              </a:solidFill>
            </a:endParaRPr>
          </a:p>
        </p:txBody>
      </p:sp>
      <p:pic>
        <p:nvPicPr>
          <p:cNvPr id="115" name="图片 114" descr="AA002733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059582"/>
            <a:ext cx="576064" cy="360040"/>
          </a:xfrm>
          <a:prstGeom prst="rect">
            <a:avLst/>
          </a:prstGeom>
        </p:spPr>
      </p:pic>
      <p:sp>
        <p:nvSpPr>
          <p:cNvPr id="116" name="矩形 115"/>
          <p:cNvSpPr/>
          <p:nvPr/>
        </p:nvSpPr>
        <p:spPr>
          <a:xfrm>
            <a:off x="4139952" y="1203598"/>
            <a:ext cx="216024" cy="360040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7" name="直线连接符 116"/>
          <p:cNvCxnSpPr/>
          <p:nvPr/>
        </p:nvCxnSpPr>
        <p:spPr>
          <a:xfrm>
            <a:off x="2915816" y="1419622"/>
            <a:ext cx="1152128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文本框 118"/>
          <p:cNvSpPr txBox="1"/>
          <p:nvPr/>
        </p:nvSpPr>
        <p:spPr>
          <a:xfrm>
            <a:off x="3059832" y="1131590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新增域</a:t>
            </a:r>
            <a:r>
              <a:rPr kumimoji="1" lang="en-US" altLang="zh-CN" sz="1050" dirty="0" smtClean="0"/>
              <a:t>/</a:t>
            </a:r>
            <a:r>
              <a:rPr kumimoji="1" lang="zh-CN" altLang="en-US" sz="1050" dirty="0" smtClean="0"/>
              <a:t>系统</a:t>
            </a:r>
            <a:endParaRPr kumimoji="1" lang="zh-CN" altLang="en-US" sz="1050" dirty="0"/>
          </a:p>
        </p:txBody>
      </p:sp>
      <p:sp>
        <p:nvSpPr>
          <p:cNvPr id="120" name="矩形 119"/>
          <p:cNvSpPr/>
          <p:nvPr/>
        </p:nvSpPr>
        <p:spPr>
          <a:xfrm>
            <a:off x="4139952" y="1635646"/>
            <a:ext cx="216024" cy="288032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1" name="直线连接符 120"/>
          <p:cNvCxnSpPr/>
          <p:nvPr/>
        </p:nvCxnSpPr>
        <p:spPr>
          <a:xfrm>
            <a:off x="2915816" y="1812886"/>
            <a:ext cx="1152128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文本框 121"/>
          <p:cNvSpPr txBox="1"/>
          <p:nvPr/>
        </p:nvSpPr>
        <p:spPr>
          <a:xfrm>
            <a:off x="3131840" y="1563638"/>
            <a:ext cx="792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新增规则</a:t>
            </a:r>
            <a:endParaRPr kumimoji="1" lang="zh-CN" altLang="en-US" sz="1050" dirty="0"/>
          </a:p>
        </p:txBody>
      </p:sp>
      <p:cxnSp>
        <p:nvCxnSpPr>
          <p:cNvPr id="123" name="直线连接符 122"/>
          <p:cNvCxnSpPr/>
          <p:nvPr/>
        </p:nvCxnSpPr>
        <p:spPr>
          <a:xfrm>
            <a:off x="4427984" y="1779662"/>
            <a:ext cx="1152128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矩形 123"/>
          <p:cNvSpPr/>
          <p:nvPr/>
        </p:nvSpPr>
        <p:spPr>
          <a:xfrm>
            <a:off x="5652120" y="1563638"/>
            <a:ext cx="216024" cy="648072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4355976" y="1491630"/>
            <a:ext cx="12961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获取业务基础数据</a:t>
            </a:r>
            <a:endParaRPr kumimoji="1" lang="zh-CN" altLang="en-US" sz="1050" dirty="0"/>
          </a:p>
        </p:txBody>
      </p:sp>
      <p:cxnSp>
        <p:nvCxnSpPr>
          <p:cNvPr id="126" name="直线连接符 125"/>
          <p:cNvCxnSpPr/>
          <p:nvPr/>
        </p:nvCxnSpPr>
        <p:spPr>
          <a:xfrm>
            <a:off x="2915816" y="2139702"/>
            <a:ext cx="1152128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矩形 126"/>
          <p:cNvSpPr/>
          <p:nvPr/>
        </p:nvSpPr>
        <p:spPr>
          <a:xfrm>
            <a:off x="4139952" y="1995686"/>
            <a:ext cx="216024" cy="288032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3131840" y="1923678"/>
            <a:ext cx="792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规则设置</a:t>
            </a:r>
            <a:endParaRPr kumimoji="1" lang="zh-CN" altLang="en-US" sz="1050" dirty="0"/>
          </a:p>
        </p:txBody>
      </p:sp>
      <p:cxnSp>
        <p:nvCxnSpPr>
          <p:cNvPr id="129" name="直线连接符 128"/>
          <p:cNvCxnSpPr/>
          <p:nvPr/>
        </p:nvCxnSpPr>
        <p:spPr>
          <a:xfrm>
            <a:off x="2915816" y="2897674"/>
            <a:ext cx="4104456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矩形 129"/>
          <p:cNvSpPr/>
          <p:nvPr/>
        </p:nvSpPr>
        <p:spPr>
          <a:xfrm>
            <a:off x="7020272" y="2499742"/>
            <a:ext cx="216024" cy="864096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4283968" y="2643758"/>
            <a:ext cx="1800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规则提交（指定版本号）</a:t>
            </a:r>
            <a:endParaRPr kumimoji="1" lang="zh-CN" altLang="en-US" sz="1050" dirty="0"/>
          </a:p>
        </p:txBody>
      </p:sp>
      <p:cxnSp>
        <p:nvCxnSpPr>
          <p:cNvPr id="132" name="直线连接符 131"/>
          <p:cNvCxnSpPr/>
          <p:nvPr/>
        </p:nvCxnSpPr>
        <p:spPr>
          <a:xfrm>
            <a:off x="2915816" y="2571750"/>
            <a:ext cx="1152128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矩形 132"/>
          <p:cNvSpPr/>
          <p:nvPr/>
        </p:nvSpPr>
        <p:spPr>
          <a:xfrm>
            <a:off x="4139952" y="2427734"/>
            <a:ext cx="216024" cy="288032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2987824" y="2355726"/>
            <a:ext cx="108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规则校验</a:t>
            </a:r>
            <a:r>
              <a:rPr kumimoji="1" lang="en-US" altLang="zh-CN" sz="1050" dirty="0" smtClean="0"/>
              <a:t>/</a:t>
            </a:r>
            <a:r>
              <a:rPr kumimoji="1" lang="zh-CN" altLang="en-US" sz="1050" dirty="0" smtClean="0"/>
              <a:t>仿真</a:t>
            </a:r>
            <a:endParaRPr kumimoji="1" lang="zh-CN" altLang="en-US" sz="1050" dirty="0"/>
          </a:p>
        </p:txBody>
      </p:sp>
      <p:cxnSp>
        <p:nvCxnSpPr>
          <p:cNvPr id="62" name="直线连接符 61"/>
          <p:cNvCxnSpPr/>
          <p:nvPr/>
        </p:nvCxnSpPr>
        <p:spPr>
          <a:xfrm>
            <a:off x="7236296" y="2571751"/>
            <a:ext cx="36004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/>
          <p:cNvCxnSpPr/>
          <p:nvPr/>
        </p:nvCxnSpPr>
        <p:spPr>
          <a:xfrm flipV="1">
            <a:off x="7596336" y="2571751"/>
            <a:ext cx="0" cy="216023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/>
          <p:cNvCxnSpPr/>
          <p:nvPr/>
        </p:nvCxnSpPr>
        <p:spPr>
          <a:xfrm flipH="1">
            <a:off x="7236296" y="2787774"/>
            <a:ext cx="36004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7668344" y="2571750"/>
            <a:ext cx="792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规则校验</a:t>
            </a:r>
            <a:endParaRPr kumimoji="1" lang="zh-CN" altLang="en-US" sz="1050" dirty="0"/>
          </a:p>
        </p:txBody>
      </p:sp>
      <p:cxnSp>
        <p:nvCxnSpPr>
          <p:cNvPr id="66" name="直线连接符 65"/>
          <p:cNvCxnSpPr/>
          <p:nvPr/>
        </p:nvCxnSpPr>
        <p:spPr>
          <a:xfrm>
            <a:off x="7236296" y="3003799"/>
            <a:ext cx="36004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/>
          <p:cNvCxnSpPr/>
          <p:nvPr/>
        </p:nvCxnSpPr>
        <p:spPr>
          <a:xfrm flipV="1">
            <a:off x="7596336" y="3003799"/>
            <a:ext cx="0" cy="216023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线连接符 68"/>
          <p:cNvCxnSpPr/>
          <p:nvPr/>
        </p:nvCxnSpPr>
        <p:spPr>
          <a:xfrm flipH="1">
            <a:off x="7236296" y="3219822"/>
            <a:ext cx="36004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7668344" y="3003798"/>
            <a:ext cx="792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规则提交</a:t>
            </a:r>
            <a:endParaRPr kumimoji="1" lang="zh-CN" altLang="en-US" sz="1050" dirty="0"/>
          </a:p>
        </p:txBody>
      </p:sp>
      <p:cxnSp>
        <p:nvCxnSpPr>
          <p:cNvPr id="71" name="直线连接符 70"/>
          <p:cNvCxnSpPr/>
          <p:nvPr/>
        </p:nvCxnSpPr>
        <p:spPr>
          <a:xfrm>
            <a:off x="1494364" y="3651870"/>
            <a:ext cx="989404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图片 71" descr="AA002733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363838"/>
            <a:ext cx="576064" cy="360040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1403648" y="3363838"/>
            <a:ext cx="15121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导入规则（</a:t>
            </a:r>
            <a:r>
              <a:rPr kumimoji="1" lang="en-US" altLang="zh-CN" sz="1050" dirty="0" smtClean="0"/>
              <a:t>Excel</a:t>
            </a:r>
            <a:r>
              <a:rPr kumimoji="1" lang="zh-CN" altLang="en-US" sz="1050" dirty="0" smtClean="0"/>
              <a:t>）</a:t>
            </a:r>
            <a:endParaRPr kumimoji="1" lang="zh-CN" altLang="en-US" sz="1050" dirty="0"/>
          </a:p>
        </p:txBody>
      </p:sp>
      <p:sp>
        <p:nvSpPr>
          <p:cNvPr id="74" name="文本框 73"/>
          <p:cNvSpPr txBox="1"/>
          <p:nvPr/>
        </p:nvSpPr>
        <p:spPr>
          <a:xfrm>
            <a:off x="827584" y="3795886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dirty="0" smtClean="0">
                <a:solidFill>
                  <a:srgbClr val="373C64"/>
                </a:solidFill>
              </a:rPr>
              <a:t>规则配置员</a:t>
            </a:r>
            <a:endParaRPr kumimoji="1" lang="zh-CN" altLang="en-US" sz="1100" dirty="0">
              <a:solidFill>
                <a:srgbClr val="373C64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627784" y="3435846"/>
            <a:ext cx="216024" cy="1296144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4139952" y="3435846"/>
            <a:ext cx="216024" cy="360040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7" name="直线连接符 76"/>
          <p:cNvCxnSpPr/>
          <p:nvPr/>
        </p:nvCxnSpPr>
        <p:spPr>
          <a:xfrm>
            <a:off x="2915816" y="3579862"/>
            <a:ext cx="1152128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2987824" y="3291830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规则解析</a:t>
            </a:r>
            <a:endParaRPr kumimoji="1" lang="zh-CN" altLang="en-US" sz="1050" dirty="0"/>
          </a:p>
        </p:txBody>
      </p:sp>
      <p:cxnSp>
        <p:nvCxnSpPr>
          <p:cNvPr id="89" name="直线连接符 88"/>
          <p:cNvCxnSpPr/>
          <p:nvPr/>
        </p:nvCxnSpPr>
        <p:spPr>
          <a:xfrm>
            <a:off x="2921478" y="4409842"/>
            <a:ext cx="4104456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7025934" y="3867894"/>
            <a:ext cx="216024" cy="864096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4289630" y="4155926"/>
            <a:ext cx="1800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规则提交（指定版本号）</a:t>
            </a:r>
            <a:endParaRPr kumimoji="1" lang="zh-CN" altLang="en-US" sz="1050" dirty="0"/>
          </a:p>
        </p:txBody>
      </p:sp>
      <p:cxnSp>
        <p:nvCxnSpPr>
          <p:cNvPr id="94" name="直线连接符 93"/>
          <p:cNvCxnSpPr/>
          <p:nvPr/>
        </p:nvCxnSpPr>
        <p:spPr>
          <a:xfrm>
            <a:off x="7241958" y="3939903"/>
            <a:ext cx="36004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/>
          <p:cNvCxnSpPr/>
          <p:nvPr/>
        </p:nvCxnSpPr>
        <p:spPr>
          <a:xfrm flipV="1">
            <a:off x="7601998" y="3939903"/>
            <a:ext cx="0" cy="216023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95"/>
          <p:cNvCxnSpPr/>
          <p:nvPr/>
        </p:nvCxnSpPr>
        <p:spPr>
          <a:xfrm flipH="1">
            <a:off x="7241958" y="4155926"/>
            <a:ext cx="36004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文本框 96"/>
          <p:cNvSpPr txBox="1"/>
          <p:nvPr/>
        </p:nvSpPr>
        <p:spPr>
          <a:xfrm>
            <a:off x="7674006" y="3939902"/>
            <a:ext cx="792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规则校验</a:t>
            </a:r>
            <a:endParaRPr kumimoji="1" lang="zh-CN" altLang="en-US" sz="1050" dirty="0"/>
          </a:p>
        </p:txBody>
      </p:sp>
      <p:cxnSp>
        <p:nvCxnSpPr>
          <p:cNvPr id="98" name="直线连接符 97"/>
          <p:cNvCxnSpPr/>
          <p:nvPr/>
        </p:nvCxnSpPr>
        <p:spPr>
          <a:xfrm>
            <a:off x="7241958" y="4371951"/>
            <a:ext cx="36004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/>
          <p:cNvCxnSpPr/>
          <p:nvPr/>
        </p:nvCxnSpPr>
        <p:spPr>
          <a:xfrm flipV="1">
            <a:off x="7601998" y="4371951"/>
            <a:ext cx="0" cy="216023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线连接符 99"/>
          <p:cNvCxnSpPr/>
          <p:nvPr/>
        </p:nvCxnSpPr>
        <p:spPr>
          <a:xfrm flipH="1">
            <a:off x="7241958" y="4587974"/>
            <a:ext cx="36004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7674006" y="4371950"/>
            <a:ext cx="792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规则提交</a:t>
            </a:r>
            <a:endParaRPr kumimoji="1" lang="zh-CN" altLang="en-US" sz="1050" dirty="0"/>
          </a:p>
        </p:txBody>
      </p:sp>
      <p:sp>
        <p:nvSpPr>
          <p:cNvPr id="102" name="矩形 101"/>
          <p:cNvSpPr/>
          <p:nvPr/>
        </p:nvSpPr>
        <p:spPr>
          <a:xfrm>
            <a:off x="4139952" y="3867894"/>
            <a:ext cx="216024" cy="360040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6" name="直线连接符 105"/>
          <p:cNvCxnSpPr/>
          <p:nvPr/>
        </p:nvCxnSpPr>
        <p:spPr>
          <a:xfrm>
            <a:off x="2915816" y="4011910"/>
            <a:ext cx="1152128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文本框 106"/>
          <p:cNvSpPr txBox="1"/>
          <p:nvPr/>
        </p:nvSpPr>
        <p:spPr>
          <a:xfrm>
            <a:off x="2987824" y="3723878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规则查看</a:t>
            </a:r>
            <a:endParaRPr kumimoji="1" lang="zh-CN" altLang="en-US" sz="1050" dirty="0"/>
          </a:p>
        </p:txBody>
      </p:sp>
      <p:cxnSp>
        <p:nvCxnSpPr>
          <p:cNvPr id="110" name="直线连接符 109"/>
          <p:cNvCxnSpPr/>
          <p:nvPr/>
        </p:nvCxnSpPr>
        <p:spPr>
          <a:xfrm flipH="1">
            <a:off x="2915816" y="4659982"/>
            <a:ext cx="4104456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文本框 110"/>
          <p:cNvSpPr txBox="1"/>
          <p:nvPr/>
        </p:nvSpPr>
        <p:spPr>
          <a:xfrm>
            <a:off x="4283968" y="4443958"/>
            <a:ext cx="1800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规则提交结果返回</a:t>
            </a:r>
            <a:endParaRPr kumimoji="1" lang="zh-CN" altLang="en-US" sz="1050" dirty="0"/>
          </a:p>
        </p:txBody>
      </p:sp>
      <p:cxnSp>
        <p:nvCxnSpPr>
          <p:cNvPr id="112" name="直线连接符 111"/>
          <p:cNvCxnSpPr/>
          <p:nvPr/>
        </p:nvCxnSpPr>
        <p:spPr>
          <a:xfrm flipH="1">
            <a:off x="2915816" y="3147814"/>
            <a:ext cx="4104456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文本框 112"/>
          <p:cNvSpPr txBox="1"/>
          <p:nvPr/>
        </p:nvSpPr>
        <p:spPr>
          <a:xfrm>
            <a:off x="4283968" y="2931790"/>
            <a:ext cx="1800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规则提交结果返回</a:t>
            </a:r>
            <a:endParaRPr kumimoji="1"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53941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逻辑架构</a:t>
            </a:r>
            <a:r>
              <a:rPr lang="en-US" altLang="zh-CN" sz="2000" dirty="0" smtClean="0"/>
              <a:t>—</a:t>
            </a:r>
            <a:r>
              <a:rPr lang="en-US" altLang="zh-CN" sz="2000" dirty="0"/>
              <a:t>—</a:t>
            </a:r>
            <a:r>
              <a:rPr lang="zh-CN" altLang="en-US" sz="2000" dirty="0" smtClean="0"/>
              <a:t>规则配置管理平台（</a:t>
            </a:r>
            <a:r>
              <a:rPr lang="en-US" altLang="zh-CN" sz="2000" dirty="0" smtClean="0"/>
              <a:t>Governor</a:t>
            </a:r>
            <a:r>
              <a:rPr lang="zh-CN" altLang="en-US" sz="2000" dirty="0" smtClean="0"/>
              <a:t>）模块协作视图</a:t>
            </a:r>
            <a:endParaRPr lang="zh-CN" altLang="zh-CN" sz="2000" dirty="0"/>
          </a:p>
        </p:txBody>
      </p:sp>
      <p:sp>
        <p:nvSpPr>
          <p:cNvPr id="68" name="矩形 67"/>
          <p:cNvSpPr/>
          <p:nvPr/>
        </p:nvSpPr>
        <p:spPr>
          <a:xfrm>
            <a:off x="251520" y="771550"/>
            <a:ext cx="432048" cy="3456384"/>
          </a:xfrm>
          <a:prstGeom prst="rect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ctr" anchorCtr="0"/>
          <a:lstStyle/>
          <a:p>
            <a:pPr algn="ctr"/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规则运行平台</a:t>
            </a:r>
            <a:r>
              <a:rPr kumimoji="1" lang="en-US" altLang="zh-CN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kumimoji="1" lang="en-US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</a:t>
            </a:r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部署</a:t>
            </a:r>
            <a:endParaRPr kumimoji="1" lang="en-US" altLang="zh-CN" sz="14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2267744" y="627534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交互界面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779912" y="617838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规则管理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292080" y="617838"/>
            <a:ext cx="936104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基础数据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660232" y="617839"/>
            <a:ext cx="1080120" cy="360041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规则版本管理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2" name="直线连接符 81"/>
          <p:cNvCxnSpPr>
            <a:stCxn id="78" idx="2"/>
          </p:cNvCxnSpPr>
          <p:nvPr/>
        </p:nvCxnSpPr>
        <p:spPr>
          <a:xfrm flipH="1">
            <a:off x="2699792" y="987575"/>
            <a:ext cx="36004" cy="3816423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/>
          <p:cNvCxnSpPr/>
          <p:nvPr/>
        </p:nvCxnSpPr>
        <p:spPr>
          <a:xfrm flipH="1">
            <a:off x="4211960" y="987574"/>
            <a:ext cx="36004" cy="3816424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/>
          <p:cNvCxnSpPr/>
          <p:nvPr/>
        </p:nvCxnSpPr>
        <p:spPr>
          <a:xfrm flipH="1">
            <a:off x="5724128" y="987574"/>
            <a:ext cx="36004" cy="3816424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/>
          <p:cNvCxnSpPr/>
          <p:nvPr/>
        </p:nvCxnSpPr>
        <p:spPr>
          <a:xfrm flipH="1">
            <a:off x="7092280" y="987575"/>
            <a:ext cx="36004" cy="3888431"/>
          </a:xfrm>
          <a:prstGeom prst="line">
            <a:avLst/>
          </a:prstGeom>
          <a:ln>
            <a:solidFill>
              <a:srgbClr val="373C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" name="图片 102" descr="LS019486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419622"/>
            <a:ext cx="522211" cy="360040"/>
          </a:xfrm>
          <a:prstGeom prst="rect">
            <a:avLst/>
          </a:prstGeom>
        </p:spPr>
      </p:pic>
      <p:sp>
        <p:nvSpPr>
          <p:cNvPr id="104" name="文本框 103"/>
          <p:cNvSpPr txBox="1"/>
          <p:nvPr/>
        </p:nvSpPr>
        <p:spPr>
          <a:xfrm>
            <a:off x="827584" y="1779662"/>
            <a:ext cx="9361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规则管理员</a:t>
            </a:r>
            <a:endParaRPr kumimoji="1" lang="zh-CN" altLang="en-US" sz="1050" dirty="0"/>
          </a:p>
        </p:txBody>
      </p:sp>
      <p:sp>
        <p:nvSpPr>
          <p:cNvPr id="105" name="矩形 104"/>
          <p:cNvSpPr/>
          <p:nvPr/>
        </p:nvSpPr>
        <p:spPr>
          <a:xfrm>
            <a:off x="2627784" y="1275606"/>
            <a:ext cx="216024" cy="2880320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1547664" y="1453738"/>
            <a:ext cx="11521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规则部署</a:t>
            </a:r>
            <a:endParaRPr kumimoji="1" lang="en-US" altLang="zh-CN" sz="1050" dirty="0" smtClean="0"/>
          </a:p>
        </p:txBody>
      </p:sp>
      <p:cxnSp>
        <p:nvCxnSpPr>
          <p:cNvPr id="109" name="直线连接符 108"/>
          <p:cNvCxnSpPr/>
          <p:nvPr/>
        </p:nvCxnSpPr>
        <p:spPr>
          <a:xfrm>
            <a:off x="1475656" y="1745546"/>
            <a:ext cx="1008112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直线连接符 134"/>
          <p:cNvCxnSpPr/>
          <p:nvPr/>
        </p:nvCxnSpPr>
        <p:spPr>
          <a:xfrm>
            <a:off x="2915816" y="1419622"/>
            <a:ext cx="4104456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7020272" y="1275606"/>
            <a:ext cx="216024" cy="2520280"/>
          </a:xfrm>
          <a:prstGeom prst="rect">
            <a:avLst/>
          </a:prstGeom>
          <a:solidFill>
            <a:schemeClr val="bg1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4283968" y="1131590"/>
            <a:ext cx="792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规则部署</a:t>
            </a:r>
            <a:endParaRPr kumimoji="1" lang="zh-CN" altLang="en-US" sz="1050" dirty="0"/>
          </a:p>
        </p:txBody>
      </p:sp>
      <p:sp>
        <p:nvSpPr>
          <p:cNvPr id="45" name="文本框 44"/>
          <p:cNvSpPr txBox="1"/>
          <p:nvPr/>
        </p:nvSpPr>
        <p:spPr>
          <a:xfrm>
            <a:off x="4355976" y="2211710"/>
            <a:ext cx="122413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部署结果返回</a:t>
            </a:r>
            <a:endParaRPr kumimoji="1" lang="zh-CN" altLang="en-US" sz="1050" dirty="0"/>
          </a:p>
        </p:txBody>
      </p:sp>
      <p:cxnSp>
        <p:nvCxnSpPr>
          <p:cNvPr id="49" name="直线连接符 48"/>
          <p:cNvCxnSpPr/>
          <p:nvPr/>
        </p:nvCxnSpPr>
        <p:spPr>
          <a:xfrm>
            <a:off x="7236296" y="2156255"/>
            <a:ext cx="36004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/>
          <p:cNvCxnSpPr/>
          <p:nvPr/>
        </p:nvCxnSpPr>
        <p:spPr>
          <a:xfrm flipV="1">
            <a:off x="7596336" y="2156255"/>
            <a:ext cx="0" cy="216023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/>
          <p:cNvCxnSpPr/>
          <p:nvPr/>
        </p:nvCxnSpPr>
        <p:spPr>
          <a:xfrm flipH="1">
            <a:off x="7236296" y="2372278"/>
            <a:ext cx="36004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7668344" y="2156254"/>
            <a:ext cx="792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规则编译</a:t>
            </a:r>
            <a:endParaRPr kumimoji="1" lang="zh-CN" altLang="en-US" sz="1050" dirty="0"/>
          </a:p>
        </p:txBody>
      </p:sp>
      <p:cxnSp>
        <p:nvCxnSpPr>
          <p:cNvPr id="53" name="直线连接符 52"/>
          <p:cNvCxnSpPr/>
          <p:nvPr/>
        </p:nvCxnSpPr>
        <p:spPr>
          <a:xfrm>
            <a:off x="7236296" y="2516295"/>
            <a:ext cx="36004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/>
          <p:cNvCxnSpPr/>
          <p:nvPr/>
        </p:nvCxnSpPr>
        <p:spPr>
          <a:xfrm flipV="1">
            <a:off x="7596336" y="2516295"/>
            <a:ext cx="0" cy="216023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/>
          <p:cNvCxnSpPr/>
          <p:nvPr/>
        </p:nvCxnSpPr>
        <p:spPr>
          <a:xfrm flipH="1">
            <a:off x="7236296" y="2732318"/>
            <a:ext cx="36004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7668344" y="2516294"/>
            <a:ext cx="108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缓存规则对象</a:t>
            </a:r>
            <a:endParaRPr kumimoji="1" lang="zh-CN" altLang="en-US" sz="1050" dirty="0"/>
          </a:p>
        </p:txBody>
      </p:sp>
      <p:cxnSp>
        <p:nvCxnSpPr>
          <p:cNvPr id="57" name="直线连接符 56"/>
          <p:cNvCxnSpPr/>
          <p:nvPr/>
        </p:nvCxnSpPr>
        <p:spPr>
          <a:xfrm>
            <a:off x="7236296" y="2876334"/>
            <a:ext cx="36004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线连接符 57"/>
          <p:cNvCxnSpPr/>
          <p:nvPr/>
        </p:nvCxnSpPr>
        <p:spPr>
          <a:xfrm flipV="1">
            <a:off x="7596336" y="2876334"/>
            <a:ext cx="0" cy="216023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线连接符 58"/>
          <p:cNvCxnSpPr/>
          <p:nvPr/>
        </p:nvCxnSpPr>
        <p:spPr>
          <a:xfrm flipH="1">
            <a:off x="7236296" y="3092357"/>
            <a:ext cx="36004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7668344" y="2804324"/>
            <a:ext cx="13681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调用规则引擎运行平台接口部署规则</a:t>
            </a:r>
            <a:endParaRPr kumimoji="1" lang="zh-CN" altLang="en-US" sz="1050" dirty="0"/>
          </a:p>
        </p:txBody>
      </p:sp>
      <p:cxnSp>
        <p:nvCxnSpPr>
          <p:cNvPr id="61" name="直线连接符 60"/>
          <p:cNvCxnSpPr/>
          <p:nvPr/>
        </p:nvCxnSpPr>
        <p:spPr>
          <a:xfrm flipH="1">
            <a:off x="2915816" y="3507854"/>
            <a:ext cx="4104456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/>
          <p:cNvCxnSpPr/>
          <p:nvPr/>
        </p:nvCxnSpPr>
        <p:spPr>
          <a:xfrm>
            <a:off x="7265159" y="1491631"/>
            <a:ext cx="36004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/>
          <p:cNvCxnSpPr/>
          <p:nvPr/>
        </p:nvCxnSpPr>
        <p:spPr>
          <a:xfrm flipV="1">
            <a:off x="7625199" y="1491631"/>
            <a:ext cx="0" cy="216023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/>
          <p:cNvCxnSpPr/>
          <p:nvPr/>
        </p:nvCxnSpPr>
        <p:spPr>
          <a:xfrm flipH="1">
            <a:off x="7265159" y="1707654"/>
            <a:ext cx="360040" cy="0"/>
          </a:xfrm>
          <a:prstGeom prst="line">
            <a:avLst/>
          </a:prstGeom>
          <a:ln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7625199" y="1347614"/>
            <a:ext cx="79208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 smtClean="0"/>
              <a:t>设置老版本的截止日期</a:t>
            </a:r>
            <a:endParaRPr kumimoji="1"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02244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endParaRPr lang="zh-CN" sz="2800" dirty="0" smtClean="0"/>
          </a:p>
        </p:txBody>
      </p: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2840686" y="2073313"/>
            <a:ext cx="186727" cy="136817"/>
            <a:chOff x="0" y="0"/>
            <a:chExt cx="314991" cy="377988"/>
          </a:xfrm>
        </p:grpSpPr>
        <p:sp>
          <p:nvSpPr>
            <p:cNvPr id="6" name="直接连接符 38"/>
            <p:cNvSpPr>
              <a:spLocks noChangeShapeType="1"/>
            </p:cNvSpPr>
            <p:nvPr/>
          </p:nvSpPr>
          <p:spPr bwMode="auto">
            <a:xfrm flipV="1">
              <a:off x="0" y="340306"/>
              <a:ext cx="314991" cy="9867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直接连接符 42"/>
            <p:cNvSpPr>
              <a:spLocks noChangeShapeType="1"/>
            </p:cNvSpPr>
            <p:nvPr/>
          </p:nvSpPr>
          <p:spPr bwMode="auto">
            <a:xfrm rot="5400000" flipV="1">
              <a:off x="130573" y="162598"/>
              <a:ext cx="315780" cy="198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直接连接符 46"/>
            <p:cNvSpPr>
              <a:spLocks noChangeShapeType="1"/>
            </p:cNvSpPr>
            <p:nvPr/>
          </p:nvSpPr>
          <p:spPr bwMode="auto">
            <a:xfrm rot="2700000" flipV="1">
              <a:off x="-53051" y="185704"/>
              <a:ext cx="377988" cy="6579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" name="矩形 23"/>
          <p:cNvSpPr>
            <a:spLocks noChangeArrowheads="1"/>
          </p:cNvSpPr>
          <p:nvPr/>
        </p:nvSpPr>
        <p:spPr bwMode="auto">
          <a:xfrm>
            <a:off x="3196103" y="1866087"/>
            <a:ext cx="1987965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逻辑架构</a:t>
            </a:r>
            <a:endParaRPr lang="en-US" dirty="0"/>
          </a:p>
        </p:txBody>
      </p:sp>
      <p:grpSp>
        <p:nvGrpSpPr>
          <p:cNvPr id="10" name="Group 21"/>
          <p:cNvGrpSpPr>
            <a:grpSpLocks/>
          </p:cNvGrpSpPr>
          <p:nvPr/>
        </p:nvGrpSpPr>
        <p:grpSpPr bwMode="auto">
          <a:xfrm>
            <a:off x="2840686" y="2544444"/>
            <a:ext cx="186727" cy="136817"/>
            <a:chOff x="0" y="-1499"/>
            <a:chExt cx="314991" cy="377988"/>
          </a:xfrm>
        </p:grpSpPr>
        <p:sp>
          <p:nvSpPr>
            <p:cNvPr id="11" name="直接连接符 32"/>
            <p:cNvSpPr>
              <a:spLocks noChangeShapeType="1"/>
            </p:cNvSpPr>
            <p:nvPr/>
          </p:nvSpPr>
          <p:spPr bwMode="auto">
            <a:xfrm flipV="1">
              <a:off x="0" y="338807"/>
              <a:ext cx="314991" cy="9867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直接连接符 33"/>
            <p:cNvSpPr>
              <a:spLocks noChangeShapeType="1"/>
            </p:cNvSpPr>
            <p:nvPr/>
          </p:nvSpPr>
          <p:spPr bwMode="auto">
            <a:xfrm rot="5400000" flipV="1">
              <a:off x="130575" y="161100"/>
              <a:ext cx="315780" cy="19894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直接连接符 34"/>
            <p:cNvSpPr>
              <a:spLocks noChangeShapeType="1"/>
            </p:cNvSpPr>
            <p:nvPr/>
          </p:nvSpPr>
          <p:spPr bwMode="auto">
            <a:xfrm rot="2700000" flipV="1">
              <a:off x="-53051" y="184205"/>
              <a:ext cx="377988" cy="6579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矩形 25"/>
          <p:cNvSpPr>
            <a:spLocks noChangeArrowheads="1"/>
          </p:cNvSpPr>
          <p:nvPr/>
        </p:nvSpPr>
        <p:spPr bwMode="auto">
          <a:xfrm>
            <a:off x="3194482" y="2342035"/>
            <a:ext cx="1987966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物理架构</a:t>
            </a:r>
            <a:endParaRPr lang="en-US" dirty="0"/>
          </a:p>
        </p:txBody>
      </p:sp>
      <p:sp>
        <p:nvSpPr>
          <p:cNvPr id="15" name="直接连接符 28"/>
          <p:cNvSpPr>
            <a:spLocks noChangeShapeType="1"/>
          </p:cNvSpPr>
          <p:nvPr/>
        </p:nvSpPr>
        <p:spPr bwMode="auto">
          <a:xfrm rot="5400000">
            <a:off x="612542" y="2930809"/>
            <a:ext cx="2016225" cy="1966"/>
          </a:xfrm>
          <a:prstGeom prst="line">
            <a:avLst/>
          </a:prstGeom>
          <a:noFill/>
          <a:ln w="50800" cmpd="thickThin">
            <a:solidFill>
              <a:srgbClr val="3F315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组合 2"/>
          <p:cNvGrpSpPr/>
          <p:nvPr/>
        </p:nvGrpSpPr>
        <p:grpSpPr>
          <a:xfrm>
            <a:off x="2840686" y="3015575"/>
            <a:ext cx="186727" cy="168053"/>
            <a:chOff x="3535234" y="3437684"/>
            <a:chExt cx="186727" cy="168053"/>
          </a:xfrm>
        </p:grpSpPr>
        <p:sp>
          <p:nvSpPr>
            <p:cNvPr id="18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19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20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  <p:sp>
        <p:nvSpPr>
          <p:cNvPr id="21" name="矩形 25"/>
          <p:cNvSpPr>
            <a:spLocks noChangeArrowheads="1"/>
          </p:cNvSpPr>
          <p:nvPr/>
        </p:nvSpPr>
        <p:spPr bwMode="auto">
          <a:xfrm>
            <a:off x="3204950" y="2832385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运行架构</a:t>
            </a:r>
            <a:endParaRPr lang="en-US" dirty="0"/>
          </a:p>
        </p:txBody>
      </p:sp>
      <p:sp>
        <p:nvSpPr>
          <p:cNvPr id="22" name="圆角矩形 21"/>
          <p:cNvSpPr/>
          <p:nvPr/>
        </p:nvSpPr>
        <p:spPr>
          <a:xfrm>
            <a:off x="2267745" y="2447378"/>
            <a:ext cx="3600400" cy="412404"/>
          </a:xfrm>
          <a:prstGeom prst="roundRect">
            <a:avLst/>
          </a:prstGeom>
          <a:noFill/>
          <a:ln w="38100" cmpd="sng"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3"/>
          <p:cNvSpPr/>
          <p:nvPr/>
        </p:nvSpPr>
        <p:spPr>
          <a:xfrm>
            <a:off x="1619672" y="699542"/>
            <a:ext cx="4187957" cy="642943"/>
          </a:xfrm>
          <a:prstGeom prst="rect">
            <a:avLst/>
          </a:prstGeom>
          <a:solidFill>
            <a:srgbClr val="373C64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总体架构</a:t>
            </a:r>
            <a:endParaRPr lang="en-US" altLang="zh-CN" b="1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8" name="组合 2"/>
          <p:cNvGrpSpPr/>
          <p:nvPr/>
        </p:nvGrpSpPr>
        <p:grpSpPr>
          <a:xfrm>
            <a:off x="2843808" y="3455162"/>
            <a:ext cx="186727" cy="168053"/>
            <a:chOff x="3535234" y="3437684"/>
            <a:chExt cx="186727" cy="168053"/>
          </a:xfrm>
        </p:grpSpPr>
        <p:sp>
          <p:nvSpPr>
            <p:cNvPr id="29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0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1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  <p:sp>
        <p:nvSpPr>
          <p:cNvPr id="32" name="矩形 25"/>
          <p:cNvSpPr>
            <a:spLocks noChangeArrowheads="1"/>
          </p:cNvSpPr>
          <p:nvPr/>
        </p:nvSpPr>
        <p:spPr bwMode="auto">
          <a:xfrm>
            <a:off x="3203848" y="3311146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zh-CN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开发架构</a:t>
            </a:r>
            <a:endParaRPr lang="en-US" dirty="0"/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3203848" y="3795886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zh-CN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部署流程</a:t>
            </a:r>
            <a:endParaRPr lang="en-US" dirty="0"/>
          </a:p>
        </p:txBody>
      </p:sp>
      <p:grpSp>
        <p:nvGrpSpPr>
          <p:cNvPr id="38" name="组合 2"/>
          <p:cNvGrpSpPr/>
          <p:nvPr/>
        </p:nvGrpSpPr>
        <p:grpSpPr>
          <a:xfrm>
            <a:off x="2843808" y="3987873"/>
            <a:ext cx="186727" cy="168053"/>
            <a:chOff x="3535234" y="3437684"/>
            <a:chExt cx="186727" cy="168053"/>
          </a:xfrm>
        </p:grpSpPr>
        <p:sp>
          <p:nvSpPr>
            <p:cNvPr id="39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40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41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42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95536" y="3416892"/>
            <a:ext cx="3305522" cy="1296144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数据库服务器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135839" y="3661347"/>
            <a:ext cx="1440160" cy="972108"/>
          </a:xfrm>
          <a:prstGeom prst="rect">
            <a:avLst/>
          </a:prstGeom>
          <a:solidFill>
            <a:srgbClr val="FFFFFF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–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（物理）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46101" y="3668920"/>
            <a:ext cx="1517729" cy="972108"/>
          </a:xfrm>
          <a:prstGeom prst="rect">
            <a:avLst/>
          </a:prstGeom>
          <a:solidFill>
            <a:srgbClr val="FFFFFF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–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（物理）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9633" y="1563638"/>
            <a:ext cx="6036685" cy="1800200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应用服务器层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241942" y="1779662"/>
            <a:ext cx="1766104" cy="1466830"/>
          </a:xfrm>
          <a:prstGeom prst="rect">
            <a:avLst/>
          </a:prstGeom>
          <a:solidFill>
            <a:srgbClr val="FFFFFF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VM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51662" y="1779662"/>
            <a:ext cx="1656184" cy="1466830"/>
          </a:xfrm>
          <a:prstGeom prst="rect">
            <a:avLst/>
          </a:prstGeom>
          <a:solidFill>
            <a:schemeClr val="bg1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VM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152062" y="1779662"/>
            <a:ext cx="2232248" cy="1466830"/>
          </a:xfrm>
          <a:prstGeom prst="rect">
            <a:avLst/>
          </a:prstGeom>
          <a:solidFill>
            <a:srgbClr val="FFFFFF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-3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VM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物理</a:t>
            </a:r>
            <a:r>
              <a:rPr lang="zh-CN" altLang="en-US" sz="2000" dirty="0" smtClean="0"/>
              <a:t>架构</a:t>
            </a:r>
            <a:r>
              <a:rPr lang="en-US" altLang="zh-CN" sz="2000" dirty="0"/>
              <a:t>—</a:t>
            </a:r>
            <a:r>
              <a:rPr lang="en-US" altLang="zh-CN" sz="2000" dirty="0" smtClean="0"/>
              <a:t>—</a:t>
            </a:r>
            <a:r>
              <a:rPr lang="zh-CN" altLang="en-US" sz="2000" dirty="0" smtClean="0"/>
              <a:t>逻辑视图（独立式）</a:t>
            </a:r>
            <a:endParaRPr lang="zh-CN" sz="2000" dirty="0" smtClean="0"/>
          </a:p>
        </p:txBody>
      </p:sp>
      <p:sp>
        <p:nvSpPr>
          <p:cNvPr id="7" name="矩形 6"/>
          <p:cNvSpPr/>
          <p:nvPr/>
        </p:nvSpPr>
        <p:spPr>
          <a:xfrm>
            <a:off x="419633" y="712827"/>
            <a:ext cx="6036686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浏览器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kumimoji="1" lang="en-US" altLang="en-US" sz="1050" b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业务系统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0031" y="972428"/>
            <a:ext cx="6027974" cy="253932"/>
          </a:xfrm>
          <a:prstGeom prst="rect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ESB</a:t>
            </a:r>
          </a:p>
        </p:txBody>
      </p:sp>
      <p:sp>
        <p:nvSpPr>
          <p:cNvPr id="10" name="矩形 9"/>
          <p:cNvSpPr/>
          <p:nvPr/>
        </p:nvSpPr>
        <p:spPr>
          <a:xfrm>
            <a:off x="420031" y="1271798"/>
            <a:ext cx="6027974" cy="253932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负载均衡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3671" y="2067694"/>
            <a:ext cx="3240360" cy="1133459"/>
          </a:xfrm>
          <a:prstGeom prst="rect">
            <a:avLst/>
          </a:prstGeom>
          <a:noFill/>
          <a:ln w="38100" cmpd="sng">
            <a:solidFill>
              <a:srgbClr val="373C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JBOSS</a:t>
            </a:r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集群</a:t>
            </a:r>
            <a:endParaRPr kumimoji="1" lang="en-US" altLang="zh-CN" sz="14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6078" y="2067694"/>
            <a:ext cx="1872209" cy="1066785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JBOSS</a:t>
            </a:r>
          </a:p>
        </p:txBody>
      </p:sp>
      <p:sp>
        <p:nvSpPr>
          <p:cNvPr id="16" name="矩形 15"/>
          <p:cNvSpPr/>
          <p:nvPr/>
        </p:nvSpPr>
        <p:spPr>
          <a:xfrm>
            <a:off x="4546199" y="2643759"/>
            <a:ext cx="1406064" cy="400044"/>
          </a:xfrm>
          <a:prstGeom prst="rect">
            <a:avLst/>
          </a:prstGeom>
          <a:solidFill>
            <a:srgbClr val="373C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en-US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配置管理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平台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67686" y="2355726"/>
            <a:ext cx="1296144" cy="741178"/>
          </a:xfrm>
          <a:prstGeom prst="rect">
            <a:avLst/>
          </a:prstGeom>
          <a:solidFill>
            <a:srgbClr val="FAAF19"/>
          </a:solidFill>
          <a:ln w="19050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JBOSS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20" name="矩形 19"/>
          <p:cNvSpPr/>
          <p:nvPr/>
        </p:nvSpPr>
        <p:spPr>
          <a:xfrm>
            <a:off x="2423870" y="2355726"/>
            <a:ext cx="1296144" cy="741178"/>
          </a:xfrm>
          <a:prstGeom prst="rect">
            <a:avLst/>
          </a:prstGeom>
          <a:solidFill>
            <a:srgbClr val="FAAF19"/>
          </a:solidFill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JBOSS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85616" y="3939902"/>
            <a:ext cx="2746366" cy="648072"/>
          </a:xfrm>
          <a:prstGeom prst="rect">
            <a:avLst/>
          </a:prstGeom>
          <a:noFill/>
          <a:ln w="28575" cmpd="sng">
            <a:solidFill>
              <a:srgbClr val="373C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Oracle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11g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RAC</a:t>
            </a:r>
          </a:p>
        </p:txBody>
      </p:sp>
      <p:sp>
        <p:nvSpPr>
          <p:cNvPr id="22" name="矩形 21"/>
          <p:cNvSpPr/>
          <p:nvPr/>
        </p:nvSpPr>
        <p:spPr>
          <a:xfrm>
            <a:off x="763449" y="4191930"/>
            <a:ext cx="1156365" cy="324036"/>
          </a:xfrm>
          <a:prstGeom prst="rect">
            <a:avLst/>
          </a:prstGeom>
          <a:solidFill>
            <a:srgbClr val="373C64"/>
          </a:solidFill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Oracle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11g</a:t>
            </a:r>
          </a:p>
        </p:txBody>
      </p:sp>
      <p:sp>
        <p:nvSpPr>
          <p:cNvPr id="23" name="矩形 22"/>
          <p:cNvSpPr/>
          <p:nvPr/>
        </p:nvSpPr>
        <p:spPr>
          <a:xfrm>
            <a:off x="2203609" y="4191930"/>
            <a:ext cx="1156365" cy="324036"/>
          </a:xfrm>
          <a:prstGeom prst="rect">
            <a:avLst/>
          </a:prstGeom>
          <a:solidFill>
            <a:srgbClr val="373C64"/>
          </a:solidFill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Oracle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11g</a:t>
            </a:r>
          </a:p>
        </p:txBody>
      </p:sp>
      <p:sp>
        <p:nvSpPr>
          <p:cNvPr id="14" name="矩形 13"/>
          <p:cNvSpPr/>
          <p:nvPr/>
        </p:nvSpPr>
        <p:spPr>
          <a:xfrm>
            <a:off x="911702" y="2643758"/>
            <a:ext cx="972108" cy="400044"/>
          </a:xfrm>
          <a:prstGeom prst="rect">
            <a:avLst/>
          </a:prstGeom>
          <a:solidFill>
            <a:srgbClr val="373C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运行平台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-1</a:t>
            </a:r>
          </a:p>
        </p:txBody>
      </p:sp>
      <p:sp>
        <p:nvSpPr>
          <p:cNvPr id="18" name="矩形 17"/>
          <p:cNvSpPr/>
          <p:nvPr/>
        </p:nvSpPr>
        <p:spPr>
          <a:xfrm>
            <a:off x="2603890" y="2643758"/>
            <a:ext cx="972108" cy="400044"/>
          </a:xfrm>
          <a:prstGeom prst="rect">
            <a:avLst/>
          </a:prstGeom>
          <a:solidFill>
            <a:srgbClr val="373C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运行平台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657006" y="627534"/>
            <a:ext cx="223547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规则引擎物理架构：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规则引擎的接口通过</a:t>
            </a: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ESB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暴露给其他</a:t>
            </a: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IT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系统。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通过负载均衡提供规则引擎的可靠性。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规则引擎架设在</a:t>
            </a:r>
            <a:r>
              <a:rPr kumimoji="1" lang="en-US" altLang="zh-CN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ESB</a:t>
            </a:r>
            <a:r>
              <a:rPr kumimoji="1" lang="zh-CN" altLang="en-US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与负载均衡之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后。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规则引擎运行平台需设置为集群，并部署在</a:t>
            </a: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VM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上，方便以后水平扩容。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规则引擎平台使用</a:t>
            </a: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Oracle11g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RAC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提高数据的安全性和数据库服务器的高可靠性和高性能。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规则引擎使用</a:t>
            </a:r>
            <a:r>
              <a:rPr kumimoji="1" lang="en-US" altLang="zh-CN" sz="1400" b="1" baseline="-25000" dirty="0" err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redis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作为缓存服务器，用来缓存规则对象，提高规则计算速度。缓存服务器采用集群</a:t>
            </a:r>
            <a:r>
              <a:rPr kumimoji="1" lang="zh-CN" altLang="en-US" sz="14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方式部署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endParaRPr kumimoji="1" lang="en-US" altLang="zh-CN" sz="1050" dirty="0"/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720014" y="3425955"/>
            <a:ext cx="2736304" cy="1287081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缓存服务器集群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858469" y="3662959"/>
            <a:ext cx="1229697" cy="961019"/>
          </a:xfrm>
          <a:prstGeom prst="rect">
            <a:avLst/>
          </a:prstGeom>
          <a:solidFill>
            <a:srgbClr val="FFFFFF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–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VM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154613" y="3662959"/>
            <a:ext cx="1157689" cy="961019"/>
          </a:xfrm>
          <a:prstGeom prst="rect">
            <a:avLst/>
          </a:prstGeom>
          <a:solidFill>
            <a:srgbClr val="FFFFFF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–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VM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965552" y="4062218"/>
            <a:ext cx="1011819" cy="228218"/>
          </a:xfrm>
          <a:prstGeom prst="rect">
            <a:avLst/>
          </a:prstGeom>
          <a:solidFill>
            <a:srgbClr val="373C64"/>
          </a:solidFill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REDIS-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主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889548" y="3870638"/>
            <a:ext cx="2369715" cy="717336"/>
          </a:xfrm>
          <a:prstGeom prst="rect">
            <a:avLst/>
          </a:prstGeom>
          <a:noFill/>
          <a:ln w="28575" cmpd="sng">
            <a:solidFill>
              <a:srgbClr val="373C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REDIS</a:t>
            </a:r>
            <a:r>
              <a:rPr kumimoji="1" lang="zh-CN" altLang="en-US" sz="1050" b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多组分片</a:t>
            </a:r>
            <a:r>
              <a:rPr kumimoji="1" lang="zh-CN" altLang="zh-CN" sz="1050" b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主备模式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964415" y="4323723"/>
            <a:ext cx="1011819" cy="228218"/>
          </a:xfrm>
          <a:prstGeom prst="rect">
            <a:avLst/>
          </a:prstGeom>
          <a:solidFill>
            <a:srgbClr val="373C64"/>
          </a:solidFill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REDIS-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备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175437" y="4060623"/>
            <a:ext cx="1011819" cy="228218"/>
          </a:xfrm>
          <a:prstGeom prst="rect">
            <a:avLst/>
          </a:prstGeom>
          <a:solidFill>
            <a:srgbClr val="373C64"/>
          </a:solidFill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REDIS-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主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174300" y="4322128"/>
            <a:ext cx="1011819" cy="228218"/>
          </a:xfrm>
          <a:prstGeom prst="rect">
            <a:avLst/>
          </a:prstGeom>
          <a:solidFill>
            <a:srgbClr val="373C64"/>
          </a:solidFill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REDIS-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备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940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/>
              <a:t>物理</a:t>
            </a:r>
            <a:r>
              <a:rPr lang="zh-CN" altLang="en-US" sz="2000" dirty="0"/>
              <a:t>架构</a:t>
            </a:r>
            <a:r>
              <a:rPr lang="en-US" altLang="zh-CN" sz="2000" dirty="0"/>
              <a:t>—</a:t>
            </a:r>
            <a:r>
              <a:rPr lang="en-US" altLang="zh-CN" sz="2000" dirty="0" smtClean="0"/>
              <a:t>—</a:t>
            </a:r>
            <a:r>
              <a:rPr lang="en-US" altLang="en-US" sz="2000" dirty="0" smtClean="0"/>
              <a:t>物理视图</a:t>
            </a:r>
            <a:r>
              <a:rPr lang="zh-CN" altLang="en-US" sz="2000" dirty="0" smtClean="0"/>
              <a:t>（独立式）</a:t>
            </a:r>
            <a:endParaRPr lang="zh-CN" altLang="zh-CN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555526"/>
            <a:ext cx="7056784" cy="424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93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19633" y="1563638"/>
            <a:ext cx="6036685" cy="1800200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应用服务器层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241942" y="1779662"/>
            <a:ext cx="1766104" cy="1466830"/>
          </a:xfrm>
          <a:prstGeom prst="rect">
            <a:avLst/>
          </a:prstGeom>
          <a:solidFill>
            <a:srgbClr val="FFFFFF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VM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51662" y="1779662"/>
            <a:ext cx="1656184" cy="1466830"/>
          </a:xfrm>
          <a:prstGeom prst="rect">
            <a:avLst/>
          </a:prstGeom>
          <a:solidFill>
            <a:schemeClr val="bg1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VM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152062" y="1779662"/>
            <a:ext cx="2232248" cy="1466830"/>
          </a:xfrm>
          <a:prstGeom prst="rect">
            <a:avLst/>
          </a:prstGeom>
          <a:solidFill>
            <a:srgbClr val="FFFFFF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-3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VM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物理</a:t>
            </a:r>
            <a:r>
              <a:rPr lang="zh-CN" altLang="en-US" sz="2000" dirty="0" smtClean="0"/>
              <a:t>架构</a:t>
            </a:r>
            <a:r>
              <a:rPr lang="en-US" altLang="zh-CN" sz="2000" dirty="0"/>
              <a:t>—</a:t>
            </a:r>
            <a:r>
              <a:rPr lang="en-US" altLang="zh-CN" sz="2000" dirty="0" smtClean="0"/>
              <a:t>—</a:t>
            </a:r>
            <a:r>
              <a:rPr lang="zh-CN" altLang="en-US" sz="2000" dirty="0" smtClean="0"/>
              <a:t>逻辑视图（嵌入式）</a:t>
            </a:r>
            <a:endParaRPr lang="zh-CN" sz="2000" dirty="0" smtClean="0"/>
          </a:p>
        </p:txBody>
      </p:sp>
      <p:sp>
        <p:nvSpPr>
          <p:cNvPr id="7" name="矩形 6"/>
          <p:cNvSpPr/>
          <p:nvPr/>
        </p:nvSpPr>
        <p:spPr>
          <a:xfrm>
            <a:off x="419633" y="712827"/>
            <a:ext cx="6036686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浏览器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kumimoji="1" lang="en-US" altLang="en-US" sz="1050" b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业务系统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0031" y="972428"/>
            <a:ext cx="6027974" cy="253932"/>
          </a:xfrm>
          <a:prstGeom prst="rect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ESB</a:t>
            </a:r>
          </a:p>
        </p:txBody>
      </p:sp>
      <p:sp>
        <p:nvSpPr>
          <p:cNvPr id="10" name="矩形 9"/>
          <p:cNvSpPr/>
          <p:nvPr/>
        </p:nvSpPr>
        <p:spPr>
          <a:xfrm>
            <a:off x="420031" y="1271798"/>
            <a:ext cx="6027974" cy="253932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负载均衡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3671" y="2067694"/>
            <a:ext cx="3240360" cy="1133459"/>
          </a:xfrm>
          <a:prstGeom prst="rect">
            <a:avLst/>
          </a:prstGeom>
          <a:noFill/>
          <a:ln w="38100" cmpd="sng">
            <a:solidFill>
              <a:srgbClr val="373C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JBOSS</a:t>
            </a:r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集群</a:t>
            </a:r>
            <a:endParaRPr kumimoji="1" lang="en-US" altLang="zh-CN" sz="14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6078" y="2067694"/>
            <a:ext cx="1872209" cy="1066785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JBOSS</a:t>
            </a:r>
          </a:p>
        </p:txBody>
      </p:sp>
      <p:sp>
        <p:nvSpPr>
          <p:cNvPr id="16" name="矩形 15"/>
          <p:cNvSpPr/>
          <p:nvPr/>
        </p:nvSpPr>
        <p:spPr>
          <a:xfrm>
            <a:off x="4546199" y="2643759"/>
            <a:ext cx="1406064" cy="400044"/>
          </a:xfrm>
          <a:prstGeom prst="rect">
            <a:avLst/>
          </a:prstGeom>
          <a:solidFill>
            <a:srgbClr val="373C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en-US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配置管理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平台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67686" y="2355726"/>
            <a:ext cx="1296144" cy="741178"/>
          </a:xfrm>
          <a:prstGeom prst="rect">
            <a:avLst/>
          </a:prstGeom>
          <a:solidFill>
            <a:srgbClr val="FAAF19"/>
          </a:solidFill>
          <a:ln w="19050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FOSS-1</a:t>
            </a:r>
          </a:p>
        </p:txBody>
      </p:sp>
      <p:sp>
        <p:nvSpPr>
          <p:cNvPr id="20" name="矩形 19"/>
          <p:cNvSpPr/>
          <p:nvPr/>
        </p:nvSpPr>
        <p:spPr>
          <a:xfrm>
            <a:off x="2423870" y="2355726"/>
            <a:ext cx="1296144" cy="741178"/>
          </a:xfrm>
          <a:prstGeom prst="rect">
            <a:avLst/>
          </a:prstGeom>
          <a:solidFill>
            <a:srgbClr val="FAAF19"/>
          </a:solidFill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OSS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11702" y="2643758"/>
            <a:ext cx="972108" cy="400044"/>
          </a:xfrm>
          <a:prstGeom prst="rect">
            <a:avLst/>
          </a:prstGeom>
          <a:solidFill>
            <a:srgbClr val="373C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运行平台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-1</a:t>
            </a:r>
          </a:p>
        </p:txBody>
      </p:sp>
      <p:sp>
        <p:nvSpPr>
          <p:cNvPr id="18" name="矩形 17"/>
          <p:cNvSpPr/>
          <p:nvPr/>
        </p:nvSpPr>
        <p:spPr>
          <a:xfrm>
            <a:off x="2603890" y="2643758"/>
            <a:ext cx="972108" cy="400044"/>
          </a:xfrm>
          <a:prstGeom prst="rect">
            <a:avLst/>
          </a:prstGeom>
          <a:solidFill>
            <a:srgbClr val="373C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运行平台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zh-CN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657006" y="627534"/>
            <a:ext cx="223547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规则引擎嵌入部署：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AutoNum type="arabicPeriod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规则引擎服务器将会以</a:t>
            </a: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jar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包得形式发布。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AutoNum type="arabicPeriod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jar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将会部署到</a:t>
            </a: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或者其他系统中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endParaRPr kumimoji="1" lang="en-US" altLang="zh-CN" sz="1050" dirty="0"/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95536" y="3416892"/>
            <a:ext cx="3305522" cy="1296144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数据库服务器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135839" y="3661347"/>
            <a:ext cx="1440160" cy="972108"/>
          </a:xfrm>
          <a:prstGeom prst="rect">
            <a:avLst/>
          </a:prstGeom>
          <a:solidFill>
            <a:srgbClr val="FFFFFF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–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（物理）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46101" y="3668920"/>
            <a:ext cx="1517729" cy="972108"/>
          </a:xfrm>
          <a:prstGeom prst="rect">
            <a:avLst/>
          </a:prstGeom>
          <a:solidFill>
            <a:srgbClr val="FFFFFF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–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（物理）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5616" y="3939902"/>
            <a:ext cx="2746366" cy="648072"/>
          </a:xfrm>
          <a:prstGeom prst="rect">
            <a:avLst/>
          </a:prstGeom>
          <a:noFill/>
          <a:ln w="28575" cmpd="sng">
            <a:solidFill>
              <a:srgbClr val="373C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Oracle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11g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RAC</a:t>
            </a:r>
          </a:p>
        </p:txBody>
      </p:sp>
      <p:sp>
        <p:nvSpPr>
          <p:cNvPr id="33" name="矩形 32"/>
          <p:cNvSpPr/>
          <p:nvPr/>
        </p:nvSpPr>
        <p:spPr>
          <a:xfrm>
            <a:off x="763449" y="4191930"/>
            <a:ext cx="1156365" cy="324036"/>
          </a:xfrm>
          <a:prstGeom prst="rect">
            <a:avLst/>
          </a:prstGeom>
          <a:solidFill>
            <a:srgbClr val="373C64"/>
          </a:solidFill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Oracle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11g</a:t>
            </a:r>
          </a:p>
        </p:txBody>
      </p:sp>
      <p:sp>
        <p:nvSpPr>
          <p:cNvPr id="34" name="矩形 33"/>
          <p:cNvSpPr/>
          <p:nvPr/>
        </p:nvSpPr>
        <p:spPr>
          <a:xfrm>
            <a:off x="2203609" y="4191930"/>
            <a:ext cx="1156365" cy="324036"/>
          </a:xfrm>
          <a:prstGeom prst="rect">
            <a:avLst/>
          </a:prstGeom>
          <a:solidFill>
            <a:srgbClr val="373C64"/>
          </a:solidFill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Oracle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11g</a:t>
            </a:r>
          </a:p>
        </p:txBody>
      </p:sp>
      <p:sp>
        <p:nvSpPr>
          <p:cNvPr id="36" name="矩形 35"/>
          <p:cNvSpPr/>
          <p:nvPr/>
        </p:nvSpPr>
        <p:spPr>
          <a:xfrm>
            <a:off x="3720014" y="3425955"/>
            <a:ext cx="2736304" cy="1287081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缓存服务器集群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858469" y="3662959"/>
            <a:ext cx="1229697" cy="961019"/>
          </a:xfrm>
          <a:prstGeom prst="rect">
            <a:avLst/>
          </a:prstGeom>
          <a:solidFill>
            <a:srgbClr val="FFFFFF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–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VM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154613" y="3662959"/>
            <a:ext cx="1157689" cy="961019"/>
          </a:xfrm>
          <a:prstGeom prst="rect">
            <a:avLst/>
          </a:prstGeom>
          <a:solidFill>
            <a:srgbClr val="FFFFFF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–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zh-CN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VM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965552" y="4062218"/>
            <a:ext cx="1011819" cy="228218"/>
          </a:xfrm>
          <a:prstGeom prst="rect">
            <a:avLst/>
          </a:prstGeom>
          <a:solidFill>
            <a:srgbClr val="373C64"/>
          </a:solidFill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REDIS-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主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889548" y="3870638"/>
            <a:ext cx="2369715" cy="717336"/>
          </a:xfrm>
          <a:prstGeom prst="rect">
            <a:avLst/>
          </a:prstGeom>
          <a:noFill/>
          <a:ln w="28575" cmpd="sng">
            <a:solidFill>
              <a:srgbClr val="373C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REDIS</a:t>
            </a:r>
            <a:r>
              <a:rPr kumimoji="1" lang="zh-CN" altLang="en-US" sz="1050" b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多组分片</a:t>
            </a:r>
            <a:r>
              <a:rPr kumimoji="1" lang="zh-CN" altLang="zh-CN" sz="1050" b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1050" b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1" lang="zh-CN" altLang="en-US" sz="1050" b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组内主备模式</a:t>
            </a:r>
            <a:r>
              <a:rPr kumimoji="1" lang="en-US" altLang="zh-CN" sz="1050" b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964415" y="4323723"/>
            <a:ext cx="1011819" cy="228218"/>
          </a:xfrm>
          <a:prstGeom prst="rect">
            <a:avLst/>
          </a:prstGeom>
          <a:solidFill>
            <a:srgbClr val="373C64"/>
          </a:solidFill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REDIS-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备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175437" y="4060623"/>
            <a:ext cx="1011819" cy="228218"/>
          </a:xfrm>
          <a:prstGeom prst="rect">
            <a:avLst/>
          </a:prstGeom>
          <a:solidFill>
            <a:srgbClr val="373C64"/>
          </a:solidFill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REDIS-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主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174300" y="4322128"/>
            <a:ext cx="1011819" cy="228218"/>
          </a:xfrm>
          <a:prstGeom prst="rect">
            <a:avLst/>
          </a:prstGeom>
          <a:solidFill>
            <a:srgbClr val="373C64"/>
          </a:solidFill>
          <a:ln w="19050" cmpd="sng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REDIS-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备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617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物理</a:t>
            </a:r>
            <a:r>
              <a:rPr lang="zh-CN" altLang="en-US" sz="2000" dirty="0" smtClean="0"/>
              <a:t>架构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物理视图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嵌入式</a:t>
            </a:r>
            <a:r>
              <a:rPr lang="en-US" altLang="zh-CN" sz="2000" dirty="0" smtClean="0"/>
              <a:t>)</a:t>
            </a:r>
            <a:endParaRPr lang="zh-CN" sz="20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555527"/>
            <a:ext cx="6912768" cy="416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2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/>
              <a:t>物理</a:t>
            </a:r>
            <a:r>
              <a:rPr lang="zh-CN" altLang="en-US" sz="2000" dirty="0"/>
              <a:t>架构</a:t>
            </a:r>
            <a:r>
              <a:rPr lang="en-US" altLang="zh-CN" sz="2000" dirty="0"/>
              <a:t>—</a:t>
            </a:r>
            <a:r>
              <a:rPr lang="en-US" altLang="zh-CN" sz="2000" dirty="0" smtClean="0"/>
              <a:t>—</a:t>
            </a:r>
            <a:r>
              <a:rPr lang="zh-CN" altLang="en-US" sz="2000" dirty="0" smtClean="0"/>
              <a:t>资源配置</a:t>
            </a:r>
            <a:endParaRPr lang="zh-CN" altLang="zh-CN" sz="2000" dirty="0"/>
          </a:p>
          <a:p>
            <a:pPr eaLnBrk="1" hangingPunct="1"/>
            <a:endParaRPr lang="zh-CN" sz="2000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467544" y="3219822"/>
            <a:ext cx="7920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 smtClean="0"/>
              <a:t>1.</a:t>
            </a:r>
            <a:r>
              <a:rPr kumimoji="1" lang="zh-CN" altLang="en-US" sz="1200" dirty="0" smtClean="0"/>
              <a:t> 缓存服务器内存</a:t>
            </a:r>
            <a:endParaRPr kumimoji="1" lang="en-US" altLang="zh-CN" sz="1200" dirty="0" smtClean="0"/>
          </a:p>
          <a:p>
            <a:r>
              <a:rPr kumimoji="1" lang="en-US" altLang="zh-CN" sz="1200" dirty="0" smtClean="0"/>
              <a:t>	390</a:t>
            </a:r>
            <a:r>
              <a:rPr kumimoji="1" lang="zh-CN" altLang="en-US" sz="1200" dirty="0" smtClean="0"/>
              <a:t>*</a:t>
            </a:r>
            <a:r>
              <a:rPr kumimoji="1" lang="en-US" altLang="zh-CN" sz="1200" dirty="0" smtClean="0"/>
              <a:t>390</a:t>
            </a:r>
            <a:r>
              <a:rPr kumimoji="1" lang="zh-CN" altLang="en-US" sz="1200" dirty="0" smtClean="0"/>
              <a:t>*</a:t>
            </a:r>
            <a:r>
              <a:rPr kumimoji="1" lang="en-US" altLang="zh-CN" sz="1200" dirty="0" smtClean="0"/>
              <a:t>10</a:t>
            </a:r>
            <a:r>
              <a:rPr kumimoji="1" lang="zh-CN" altLang="en-US" sz="1200" dirty="0" smtClean="0"/>
              <a:t>*</a:t>
            </a:r>
            <a:r>
              <a:rPr kumimoji="1" lang="en-US" altLang="zh-CN" sz="1200" dirty="0" smtClean="0"/>
              <a:t>4</a:t>
            </a:r>
            <a:r>
              <a:rPr kumimoji="1" lang="zh-CN" altLang="en-US" sz="1200" dirty="0" smtClean="0"/>
              <a:t>*</a:t>
            </a:r>
            <a:r>
              <a:rPr kumimoji="1" lang="en-US" altLang="zh-CN" sz="1200" dirty="0" smtClean="0"/>
              <a:t>2</a:t>
            </a:r>
            <a:r>
              <a:rPr kumimoji="1" lang="zh-CN" altLang="en-US" sz="1200" dirty="0" smtClean="0"/>
              <a:t>*</a:t>
            </a:r>
            <a:r>
              <a:rPr kumimoji="1" lang="zh-CN" altLang="zh-CN" sz="1200" dirty="0" smtClean="0"/>
              <a:t>3</a:t>
            </a:r>
            <a:r>
              <a:rPr kumimoji="1" lang="zh-CN" altLang="en-US" sz="1200" dirty="0" smtClean="0"/>
              <a:t>*</a:t>
            </a:r>
            <a:r>
              <a:rPr kumimoji="1" lang="en-US" altLang="zh-CN" sz="1200" dirty="0" smtClean="0"/>
              <a:t>0.5/1024/1024=17GB</a:t>
            </a:r>
          </a:p>
          <a:p>
            <a:r>
              <a:rPr kumimoji="1" lang="en-US" altLang="zh-CN" sz="1200" dirty="0"/>
              <a:t>	</a:t>
            </a:r>
            <a:r>
              <a:rPr kumimoji="1" lang="zh-CN" altLang="en-US" sz="1200" dirty="0" smtClean="0"/>
              <a:t>出发地*到达地*渠道*体积重量维度*产品（快慢车）*版本数量*单条规则大小</a:t>
            </a:r>
            <a:r>
              <a:rPr kumimoji="1" lang="en-US" altLang="zh-CN" sz="1200" dirty="0" smtClean="0"/>
              <a:t>/KB</a:t>
            </a:r>
            <a:r>
              <a:rPr kumimoji="1" lang="zh-CN" altLang="en-US" sz="1200" dirty="0" smtClean="0"/>
              <a:t>/</a:t>
            </a:r>
            <a:r>
              <a:rPr kumimoji="1" lang="en-US" altLang="zh-CN" sz="1200" dirty="0" smtClean="0"/>
              <a:t>MB</a:t>
            </a:r>
          </a:p>
          <a:p>
            <a:r>
              <a:rPr kumimoji="1" lang="en-US" altLang="zh-CN" sz="1200" dirty="0" smtClean="0"/>
              <a:t>2.</a:t>
            </a:r>
            <a:r>
              <a:rPr kumimoji="1" lang="zh-CN" altLang="en-US" sz="1200" dirty="0" smtClean="0"/>
              <a:t> 数据库容量和磁盘容量</a:t>
            </a:r>
            <a:r>
              <a:rPr kumimoji="1" lang="en-US" altLang="zh-CN" sz="1200" dirty="0" smtClean="0"/>
              <a:t>(3</a:t>
            </a:r>
            <a:r>
              <a:rPr kumimoji="1" lang="zh-CN" altLang="en-US" sz="1200" dirty="0" smtClean="0"/>
              <a:t>年历史数据</a:t>
            </a:r>
            <a:r>
              <a:rPr kumimoji="1" lang="en-US" altLang="zh-CN" sz="1200" dirty="0" smtClean="0"/>
              <a:t>)</a:t>
            </a:r>
          </a:p>
          <a:p>
            <a:r>
              <a:rPr kumimoji="1" lang="en-US" altLang="zh-CN" sz="1200" dirty="0"/>
              <a:t>	390</a:t>
            </a:r>
            <a:r>
              <a:rPr kumimoji="1" lang="zh-CN" altLang="en-US" sz="1200" dirty="0"/>
              <a:t>*</a:t>
            </a:r>
            <a:r>
              <a:rPr kumimoji="1" lang="en-US" altLang="zh-CN" sz="1200" dirty="0"/>
              <a:t>390</a:t>
            </a:r>
            <a:r>
              <a:rPr kumimoji="1" lang="zh-CN" altLang="en-US" sz="1200" dirty="0"/>
              <a:t>*</a:t>
            </a:r>
            <a:r>
              <a:rPr kumimoji="1" lang="en-US" altLang="zh-CN" sz="1200" dirty="0" smtClean="0"/>
              <a:t>10</a:t>
            </a:r>
            <a:r>
              <a:rPr kumimoji="1" lang="zh-CN" altLang="en-US" sz="1200" dirty="0" smtClean="0"/>
              <a:t>*</a:t>
            </a:r>
            <a:r>
              <a:rPr kumimoji="1" lang="zh-CN" altLang="zh-CN" sz="1200" dirty="0" smtClean="0"/>
              <a:t>3</a:t>
            </a:r>
            <a:r>
              <a:rPr kumimoji="1" lang="zh-CN" altLang="en-US" sz="1200" dirty="0" smtClean="0"/>
              <a:t>*</a:t>
            </a:r>
            <a:r>
              <a:rPr kumimoji="1" lang="en-US" altLang="zh-CN" sz="1200" dirty="0" smtClean="0"/>
              <a:t>2</a:t>
            </a:r>
            <a:r>
              <a:rPr kumimoji="1" lang="zh-CN" altLang="en-US" sz="1200" dirty="0" smtClean="0"/>
              <a:t>*</a:t>
            </a:r>
            <a:r>
              <a:rPr kumimoji="1" lang="en-US" altLang="zh-CN" sz="1200" dirty="0" smtClean="0"/>
              <a:t>1.5</a:t>
            </a:r>
            <a:r>
              <a:rPr kumimoji="1" lang="zh-CN" altLang="en-US" sz="1200" dirty="0" smtClean="0"/>
              <a:t>*</a:t>
            </a:r>
            <a:r>
              <a:rPr kumimoji="1" lang="en-US" altLang="zh-CN" sz="1200" dirty="0" smtClean="0"/>
              <a:t>1.5</a:t>
            </a:r>
            <a:r>
              <a:rPr kumimoji="1" lang="zh-CN" altLang="en-US" sz="1200" dirty="0" smtClean="0"/>
              <a:t>*</a:t>
            </a:r>
            <a:r>
              <a:rPr kumimoji="1" lang="zh-CN" altLang="zh-CN" sz="1200" dirty="0" smtClean="0"/>
              <a:t>1</a:t>
            </a:r>
            <a:r>
              <a:rPr kumimoji="1" lang="en-US" altLang="zh-CN" sz="1200" dirty="0" smtClean="0"/>
              <a:t>0K/1024/1024/1024=</a:t>
            </a:r>
            <a:r>
              <a:rPr kumimoji="1" lang="zh-CN" altLang="zh-CN" sz="1200" dirty="0" smtClean="0"/>
              <a:t>5</a:t>
            </a:r>
            <a:r>
              <a:rPr kumimoji="1" lang="en-US" altLang="zh-CN" sz="1200" dirty="0" smtClean="0"/>
              <a:t>87GB</a:t>
            </a:r>
          </a:p>
          <a:p>
            <a:r>
              <a:rPr kumimoji="1" lang="en-US" altLang="zh-CN" sz="1200" dirty="0"/>
              <a:t>	</a:t>
            </a:r>
            <a:r>
              <a:rPr kumimoji="1" lang="zh-CN" altLang="en-US" sz="1200" dirty="0" smtClean="0"/>
              <a:t>出发地*到达地*渠道*版本*产品*两年增长（含废弃规则）*单个文件大小</a:t>
            </a:r>
            <a:r>
              <a:rPr kumimoji="1" lang="en-US" altLang="zh-CN" sz="1200" dirty="0" smtClean="0"/>
              <a:t>/KB/MB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478371"/>
              </p:ext>
            </p:extLst>
          </p:nvPr>
        </p:nvGraphicFramePr>
        <p:xfrm>
          <a:off x="539552" y="690134"/>
          <a:ext cx="7867647" cy="2515253"/>
        </p:xfrm>
        <a:graphic>
          <a:graphicData uri="http://schemas.openxmlformats.org/drawingml/2006/table">
            <a:tbl>
              <a:tblPr/>
              <a:tblGrid>
                <a:gridCol w="1377745"/>
                <a:gridCol w="785556"/>
                <a:gridCol w="785556"/>
                <a:gridCol w="785556"/>
                <a:gridCol w="785556"/>
                <a:gridCol w="1136035"/>
                <a:gridCol w="1136035"/>
                <a:gridCol w="1075608"/>
              </a:tblGrid>
              <a:tr h="186116">
                <a:tc gridSpan="8"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正式环境</a:t>
                      </a:r>
                    </a:p>
                  </a:txBody>
                  <a:tcPr marL="12085" marR="12085" marT="1208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F1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81282">
                <a:tc rowSpan="3"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服务器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配置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操作系统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软件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备注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812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just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CPU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内存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本地磁盘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磁盘阵列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812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(Raid1)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77966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应用服务器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</a:t>
                      </a: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(</a:t>
                      </a:r>
                      <a:r>
                        <a:rPr lang="en-US" altLang="zh-CN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vm</a:t>
                      </a: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)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8Cores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16G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300G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 fontAlgn="ctr"/>
                      <a:r>
                        <a:rPr lang="zh-CN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</a:t>
                      </a: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T</a:t>
                      </a:r>
                      <a:r>
                        <a:rPr lang="zh-CN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（</a:t>
                      </a: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NAS</a:t>
                      </a:r>
                      <a:r>
                        <a:rPr lang="zh-CN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）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just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linux 64bit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just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JBOSS Application Server 6.1.0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需同时与数据库存储等比例扩展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966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应用服务器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2(vm)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8Cores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16G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300G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77966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应用服务器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3(vm)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8Cores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16G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500G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/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34284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/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966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缓存服务器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1(vm)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8Cores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16G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200G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/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just" fontAlgn="ctr"/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redis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/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28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缓存服务器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2(vm)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8Cores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16G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200G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/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8128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数据库服务器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8Cores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16G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200G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 fontAlgn="ctr"/>
                      <a:r>
                        <a:rPr lang="zh-CN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</a:t>
                      </a: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T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Oracle11.2.0.3 RAC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需同时与应用服务器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1&amp;2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存储等比例扩展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28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数据库服务器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2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8Cores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16G</a:t>
                      </a: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200G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12085" marR="12085" marT="120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4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endParaRPr lang="zh-CN" sz="2800" dirty="0" smtClean="0"/>
          </a:p>
        </p:txBody>
      </p: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2840686" y="2073313"/>
            <a:ext cx="186727" cy="136817"/>
            <a:chOff x="0" y="0"/>
            <a:chExt cx="314991" cy="377988"/>
          </a:xfrm>
        </p:grpSpPr>
        <p:sp>
          <p:nvSpPr>
            <p:cNvPr id="6" name="直接连接符 38"/>
            <p:cNvSpPr>
              <a:spLocks noChangeShapeType="1"/>
            </p:cNvSpPr>
            <p:nvPr/>
          </p:nvSpPr>
          <p:spPr bwMode="auto">
            <a:xfrm flipV="1">
              <a:off x="0" y="340306"/>
              <a:ext cx="314991" cy="9867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直接连接符 42"/>
            <p:cNvSpPr>
              <a:spLocks noChangeShapeType="1"/>
            </p:cNvSpPr>
            <p:nvPr/>
          </p:nvSpPr>
          <p:spPr bwMode="auto">
            <a:xfrm rot="5400000" flipV="1">
              <a:off x="130573" y="162598"/>
              <a:ext cx="315780" cy="198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直接连接符 46"/>
            <p:cNvSpPr>
              <a:spLocks noChangeShapeType="1"/>
            </p:cNvSpPr>
            <p:nvPr/>
          </p:nvSpPr>
          <p:spPr bwMode="auto">
            <a:xfrm rot="2700000" flipV="1">
              <a:off x="-53051" y="185704"/>
              <a:ext cx="377988" cy="6579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" name="矩形 23"/>
          <p:cNvSpPr>
            <a:spLocks noChangeArrowheads="1"/>
          </p:cNvSpPr>
          <p:nvPr/>
        </p:nvSpPr>
        <p:spPr bwMode="auto">
          <a:xfrm>
            <a:off x="3196103" y="1866087"/>
            <a:ext cx="1987965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逻辑架构</a:t>
            </a:r>
            <a:endParaRPr lang="en-US" dirty="0"/>
          </a:p>
        </p:txBody>
      </p:sp>
      <p:grpSp>
        <p:nvGrpSpPr>
          <p:cNvPr id="10" name="Group 21"/>
          <p:cNvGrpSpPr>
            <a:grpSpLocks/>
          </p:cNvGrpSpPr>
          <p:nvPr/>
        </p:nvGrpSpPr>
        <p:grpSpPr bwMode="auto">
          <a:xfrm>
            <a:off x="2840686" y="2544444"/>
            <a:ext cx="186727" cy="136817"/>
            <a:chOff x="0" y="-1499"/>
            <a:chExt cx="314991" cy="377988"/>
          </a:xfrm>
        </p:grpSpPr>
        <p:sp>
          <p:nvSpPr>
            <p:cNvPr id="11" name="直接连接符 32"/>
            <p:cNvSpPr>
              <a:spLocks noChangeShapeType="1"/>
            </p:cNvSpPr>
            <p:nvPr/>
          </p:nvSpPr>
          <p:spPr bwMode="auto">
            <a:xfrm flipV="1">
              <a:off x="0" y="338807"/>
              <a:ext cx="314991" cy="9867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直接连接符 33"/>
            <p:cNvSpPr>
              <a:spLocks noChangeShapeType="1"/>
            </p:cNvSpPr>
            <p:nvPr/>
          </p:nvSpPr>
          <p:spPr bwMode="auto">
            <a:xfrm rot="5400000" flipV="1">
              <a:off x="130575" y="161100"/>
              <a:ext cx="315780" cy="19894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直接连接符 34"/>
            <p:cNvSpPr>
              <a:spLocks noChangeShapeType="1"/>
            </p:cNvSpPr>
            <p:nvPr/>
          </p:nvSpPr>
          <p:spPr bwMode="auto">
            <a:xfrm rot="2700000" flipV="1">
              <a:off x="-53051" y="184205"/>
              <a:ext cx="377988" cy="6579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矩形 25"/>
          <p:cNvSpPr>
            <a:spLocks noChangeArrowheads="1"/>
          </p:cNvSpPr>
          <p:nvPr/>
        </p:nvSpPr>
        <p:spPr bwMode="auto">
          <a:xfrm>
            <a:off x="3194482" y="2342035"/>
            <a:ext cx="1987966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物理架构</a:t>
            </a:r>
            <a:endParaRPr lang="en-US" dirty="0"/>
          </a:p>
        </p:txBody>
      </p:sp>
      <p:sp>
        <p:nvSpPr>
          <p:cNvPr id="15" name="直接连接符 28"/>
          <p:cNvSpPr>
            <a:spLocks noChangeShapeType="1"/>
          </p:cNvSpPr>
          <p:nvPr/>
        </p:nvSpPr>
        <p:spPr bwMode="auto">
          <a:xfrm rot="5400000">
            <a:off x="612542" y="2930809"/>
            <a:ext cx="2016225" cy="1966"/>
          </a:xfrm>
          <a:prstGeom prst="line">
            <a:avLst/>
          </a:prstGeom>
          <a:noFill/>
          <a:ln w="50800" cmpd="thickThin">
            <a:solidFill>
              <a:srgbClr val="3F315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组合 2"/>
          <p:cNvGrpSpPr/>
          <p:nvPr/>
        </p:nvGrpSpPr>
        <p:grpSpPr>
          <a:xfrm>
            <a:off x="2840686" y="3015575"/>
            <a:ext cx="186727" cy="168053"/>
            <a:chOff x="3535234" y="3437684"/>
            <a:chExt cx="186727" cy="168053"/>
          </a:xfrm>
        </p:grpSpPr>
        <p:sp>
          <p:nvSpPr>
            <p:cNvPr id="18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19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20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  <p:sp>
        <p:nvSpPr>
          <p:cNvPr id="21" name="矩形 25"/>
          <p:cNvSpPr>
            <a:spLocks noChangeArrowheads="1"/>
          </p:cNvSpPr>
          <p:nvPr/>
        </p:nvSpPr>
        <p:spPr bwMode="auto">
          <a:xfrm>
            <a:off x="3204950" y="2832385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运行架构</a:t>
            </a:r>
            <a:endParaRPr lang="en-US" dirty="0"/>
          </a:p>
        </p:txBody>
      </p:sp>
      <p:sp>
        <p:nvSpPr>
          <p:cNvPr id="22" name="圆角矩形 21"/>
          <p:cNvSpPr/>
          <p:nvPr/>
        </p:nvSpPr>
        <p:spPr>
          <a:xfrm>
            <a:off x="2267745" y="2931790"/>
            <a:ext cx="3600400" cy="412404"/>
          </a:xfrm>
          <a:prstGeom prst="roundRect">
            <a:avLst/>
          </a:prstGeom>
          <a:noFill/>
          <a:ln w="38100" cmpd="sng"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3"/>
          <p:cNvSpPr/>
          <p:nvPr/>
        </p:nvSpPr>
        <p:spPr>
          <a:xfrm>
            <a:off x="1619672" y="699542"/>
            <a:ext cx="4187957" cy="642943"/>
          </a:xfrm>
          <a:prstGeom prst="rect">
            <a:avLst/>
          </a:prstGeom>
          <a:solidFill>
            <a:srgbClr val="373C64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总体架构</a:t>
            </a:r>
            <a:endParaRPr lang="en-US" altLang="zh-CN" b="1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8" name="组合 2"/>
          <p:cNvGrpSpPr/>
          <p:nvPr/>
        </p:nvGrpSpPr>
        <p:grpSpPr>
          <a:xfrm>
            <a:off x="2843808" y="3455162"/>
            <a:ext cx="186727" cy="168053"/>
            <a:chOff x="3535234" y="3437684"/>
            <a:chExt cx="186727" cy="168053"/>
          </a:xfrm>
        </p:grpSpPr>
        <p:sp>
          <p:nvSpPr>
            <p:cNvPr id="29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0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1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  <p:sp>
        <p:nvSpPr>
          <p:cNvPr id="32" name="矩形 25"/>
          <p:cNvSpPr>
            <a:spLocks noChangeArrowheads="1"/>
          </p:cNvSpPr>
          <p:nvPr/>
        </p:nvSpPr>
        <p:spPr bwMode="auto">
          <a:xfrm>
            <a:off x="3203848" y="3311146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zh-CN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开发架构</a:t>
            </a:r>
            <a:endParaRPr lang="en-US" dirty="0"/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3203848" y="3795886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zh-CN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部署流程</a:t>
            </a:r>
            <a:endParaRPr lang="en-US" dirty="0"/>
          </a:p>
        </p:txBody>
      </p:sp>
      <p:grpSp>
        <p:nvGrpSpPr>
          <p:cNvPr id="33" name="组合 2"/>
          <p:cNvGrpSpPr/>
          <p:nvPr/>
        </p:nvGrpSpPr>
        <p:grpSpPr>
          <a:xfrm>
            <a:off x="2843808" y="3987873"/>
            <a:ext cx="186727" cy="168053"/>
            <a:chOff x="3535234" y="3437684"/>
            <a:chExt cx="186727" cy="168053"/>
          </a:xfrm>
        </p:grpSpPr>
        <p:sp>
          <p:nvSpPr>
            <p:cNvPr id="34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5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6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5989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运行</a:t>
            </a:r>
            <a:r>
              <a:rPr lang="zh-CN" altLang="en-US" sz="2000" dirty="0" smtClean="0"/>
              <a:t>架构</a:t>
            </a:r>
            <a:r>
              <a:rPr lang="en-US" altLang="zh-CN" sz="2000" dirty="0"/>
              <a:t>—</a:t>
            </a:r>
            <a:r>
              <a:rPr lang="en-US" altLang="zh-CN" sz="2000" dirty="0" smtClean="0"/>
              <a:t>—</a:t>
            </a:r>
            <a:r>
              <a:rPr lang="zh-CN" altLang="en-US" sz="2000" dirty="0" smtClean="0"/>
              <a:t>进程视图</a:t>
            </a:r>
            <a:endParaRPr lang="zh-CN" sz="2000" dirty="0" smtClean="0"/>
          </a:p>
        </p:txBody>
      </p:sp>
      <p:sp>
        <p:nvSpPr>
          <p:cNvPr id="28" name="矩形 27"/>
          <p:cNvSpPr/>
          <p:nvPr/>
        </p:nvSpPr>
        <p:spPr>
          <a:xfrm>
            <a:off x="899592" y="2139702"/>
            <a:ext cx="1368000" cy="1368152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4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规则运行平台（</a:t>
            </a:r>
            <a:r>
              <a:rPr kumimoji="1" lang="en-US" altLang="zh-CN" sz="14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Server</a:t>
            </a:r>
            <a:r>
              <a:rPr kumimoji="1" lang="zh-CN" altLang="en-US" sz="14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4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4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endParaRPr kumimoji="1" lang="en-US" altLang="zh-CN" sz="14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24336" y="3651870"/>
            <a:ext cx="4251720" cy="576064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400" b="1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Oracle</a:t>
            </a:r>
          </a:p>
        </p:txBody>
      </p:sp>
      <p:sp>
        <p:nvSpPr>
          <p:cNvPr id="33" name="矩形 32"/>
          <p:cNvSpPr/>
          <p:nvPr/>
        </p:nvSpPr>
        <p:spPr>
          <a:xfrm>
            <a:off x="3635896" y="2139702"/>
            <a:ext cx="1368152" cy="1368152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4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 规则</a:t>
            </a:r>
            <a:r>
              <a:rPr kumimoji="1" lang="en-US" altLang="en-US" sz="14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配置</a:t>
            </a:r>
          </a:p>
          <a:p>
            <a:pPr algn="ctr"/>
            <a:r>
              <a:rPr kumimoji="1" lang="en-US" altLang="en-US" sz="14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管理</a:t>
            </a:r>
            <a:r>
              <a:rPr kumimoji="1" lang="zh-CN" altLang="en-US" sz="14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平台（</a:t>
            </a:r>
            <a:r>
              <a:rPr kumimoji="1" lang="en-US" altLang="zh-CN" sz="14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Governor</a:t>
            </a:r>
            <a:r>
              <a:rPr kumimoji="1" lang="zh-CN" altLang="en-US" sz="14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4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4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endParaRPr kumimoji="1" lang="en-US" altLang="zh-CN" sz="14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325475" y="2139702"/>
            <a:ext cx="1264736" cy="1368152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4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缓存服务器</a:t>
            </a:r>
            <a:endParaRPr kumimoji="1" lang="en-US" altLang="zh-CN" sz="14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4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endParaRPr kumimoji="1" lang="en-US" altLang="zh-CN" sz="14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27584" y="1419622"/>
            <a:ext cx="4248472" cy="4320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40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负载均衡</a:t>
            </a:r>
            <a:endParaRPr kumimoji="1" lang="en-US" altLang="zh-CN" sz="140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27584" y="915566"/>
            <a:ext cx="4248472" cy="4320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ESB</a:t>
            </a:r>
          </a:p>
        </p:txBody>
      </p:sp>
      <p:sp>
        <p:nvSpPr>
          <p:cNvPr id="48" name="矩形 47"/>
          <p:cNvSpPr/>
          <p:nvPr/>
        </p:nvSpPr>
        <p:spPr>
          <a:xfrm>
            <a:off x="6516216" y="627534"/>
            <a:ext cx="237626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进程视图：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ESB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进程：负责集中注册和管控规则引擎对外提供的</a:t>
            </a: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API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负责均衡：负责监控后台多个规则引擎服务，并对</a:t>
            </a: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ESB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转发过来的请求进行优化转发。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规则运行平台：规则的运行引擎，负责规则的计算。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缓存服务器：负责存储运行期间所有的规则库对象。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规则管控平台：负责开发和部署管控所有的规则。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Oracle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：存储所有规则相关的数据信息。</a:t>
            </a:r>
            <a:endParaRPr kumimoji="1" lang="en-US" altLang="zh-CN" sz="1050" dirty="0"/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27584" y="1895456"/>
            <a:ext cx="4248472" cy="1684405"/>
          </a:xfrm>
          <a:prstGeom prst="rect">
            <a:avLst/>
          </a:prstGeom>
          <a:noFill/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zh-CN" altLang="en-US" sz="11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10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147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运行</a:t>
            </a:r>
            <a:r>
              <a:rPr lang="zh-CN" altLang="en-US" sz="2000" dirty="0" smtClean="0"/>
              <a:t>架构</a:t>
            </a:r>
            <a:r>
              <a:rPr lang="en-US" altLang="zh-CN" sz="2000" dirty="0"/>
              <a:t>—</a:t>
            </a:r>
            <a:r>
              <a:rPr lang="en-US" altLang="zh-CN" sz="2000" dirty="0" smtClean="0"/>
              <a:t>—</a:t>
            </a:r>
            <a:r>
              <a:rPr lang="zh-CN" altLang="en-US" sz="2000" dirty="0" smtClean="0"/>
              <a:t>规则开发运行视图</a:t>
            </a:r>
            <a:endParaRPr lang="zh-CN" sz="2000" dirty="0" smtClean="0"/>
          </a:p>
        </p:txBody>
      </p:sp>
      <p:sp>
        <p:nvSpPr>
          <p:cNvPr id="28" name="矩形 27"/>
          <p:cNvSpPr/>
          <p:nvPr/>
        </p:nvSpPr>
        <p:spPr>
          <a:xfrm>
            <a:off x="899592" y="2571750"/>
            <a:ext cx="864096" cy="1152128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规则运行平台（</a:t>
            </a:r>
            <a:r>
              <a:rPr kumimoji="1" lang="en-US" altLang="zh-CN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Server</a:t>
            </a:r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1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endParaRPr kumimoji="1" lang="en-US" altLang="zh-CN" sz="11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24336" y="4227934"/>
            <a:ext cx="4251720" cy="432048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400" b="1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Oracle</a:t>
            </a:r>
          </a:p>
        </p:txBody>
      </p:sp>
      <p:sp>
        <p:nvSpPr>
          <p:cNvPr id="33" name="矩形 32"/>
          <p:cNvSpPr/>
          <p:nvPr/>
        </p:nvSpPr>
        <p:spPr>
          <a:xfrm>
            <a:off x="4139952" y="2571750"/>
            <a:ext cx="864000" cy="1152128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 规则配置管理平台（</a:t>
            </a:r>
            <a:r>
              <a:rPr kumimoji="1" lang="en-US" altLang="zh-CN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Governor</a:t>
            </a:r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1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endParaRPr kumimoji="1" lang="en-US" altLang="zh-CN" sz="11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555776" y="2571750"/>
            <a:ext cx="864000" cy="1152128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100" b="1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缓存服务器</a:t>
            </a:r>
            <a:endParaRPr kumimoji="1" lang="en-US" altLang="zh-CN" sz="1100" b="1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100" b="1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endParaRPr kumimoji="1" lang="en-US" altLang="zh-CN" sz="1100" b="1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516216" y="627534"/>
            <a:ext cx="237626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进程视图：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规则配置员登录规则管控平台，进行新规则的开发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规则配置员根据调整需求文档配置新的规则。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新规则开发完毕后，规则数据将会被保存数据库中。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规则配置员将新开发的规则导出成</a:t>
            </a: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excel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，准备后续测试和部署。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27584" y="2139702"/>
            <a:ext cx="4248472" cy="1800199"/>
          </a:xfrm>
          <a:prstGeom prst="rect">
            <a:avLst/>
          </a:prstGeom>
          <a:noFill/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zh-CN" altLang="en-US" sz="11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10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7584" y="1563638"/>
            <a:ext cx="4248472" cy="2880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浏览器</a:t>
            </a:r>
            <a:endParaRPr kumimoji="1" lang="en-US" altLang="zh-CN" sz="14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83768" y="1013996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dirty="0" smtClean="0">
                <a:solidFill>
                  <a:srgbClr val="373C64"/>
                </a:solidFill>
              </a:rPr>
              <a:t>规则配置员</a:t>
            </a:r>
            <a:endParaRPr kumimoji="1" lang="zh-CN" altLang="en-US" sz="1100" dirty="0">
              <a:solidFill>
                <a:srgbClr val="373C64"/>
              </a:solidFill>
            </a:endParaRPr>
          </a:p>
        </p:txBody>
      </p:sp>
      <p:pic>
        <p:nvPicPr>
          <p:cNvPr id="14" name="图片 13" descr="AA002733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627534"/>
            <a:ext cx="576064" cy="360040"/>
          </a:xfrm>
          <a:prstGeom prst="rect">
            <a:avLst/>
          </a:prstGeom>
        </p:spPr>
      </p:pic>
      <p:cxnSp>
        <p:nvCxnSpPr>
          <p:cNvPr id="15" name="直线连接符 14"/>
          <p:cNvCxnSpPr/>
          <p:nvPr/>
        </p:nvCxnSpPr>
        <p:spPr>
          <a:xfrm>
            <a:off x="2987824" y="1203598"/>
            <a:ext cx="0" cy="36004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/>
          <p:cNvCxnSpPr/>
          <p:nvPr/>
        </p:nvCxnSpPr>
        <p:spPr>
          <a:xfrm>
            <a:off x="2987824" y="1851670"/>
            <a:ext cx="1440160" cy="648072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/>
          <p:cNvCxnSpPr>
            <a:endCxn id="30" idx="0"/>
          </p:cNvCxnSpPr>
          <p:nvPr/>
        </p:nvCxnSpPr>
        <p:spPr>
          <a:xfrm flipH="1">
            <a:off x="2950196" y="3723878"/>
            <a:ext cx="1549796" cy="504056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/>
          <p:cNvCxnSpPr/>
          <p:nvPr/>
        </p:nvCxnSpPr>
        <p:spPr>
          <a:xfrm>
            <a:off x="5004048" y="3075806"/>
            <a:ext cx="504056" cy="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折角形 23"/>
          <p:cNvSpPr/>
          <p:nvPr/>
        </p:nvSpPr>
        <p:spPr>
          <a:xfrm>
            <a:off x="5580112" y="2787774"/>
            <a:ext cx="822960" cy="822960"/>
          </a:xfrm>
          <a:prstGeom prst="foldedCorner">
            <a:avLst/>
          </a:prstGeom>
          <a:noFill/>
          <a:ln w="28575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52120" y="3003798"/>
            <a:ext cx="749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Excel</a:t>
            </a:r>
            <a:endParaRPr kumimoji="1" lang="zh-CN" altLang="en-US" dirty="0"/>
          </a:p>
        </p:txBody>
      </p:sp>
      <p:sp>
        <p:nvSpPr>
          <p:cNvPr id="29" name="椭圆 28"/>
          <p:cNvSpPr/>
          <p:nvPr/>
        </p:nvSpPr>
        <p:spPr>
          <a:xfrm>
            <a:off x="3284456" y="1213005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31" name="文本框 30"/>
          <p:cNvSpPr txBox="1"/>
          <p:nvPr/>
        </p:nvSpPr>
        <p:spPr>
          <a:xfrm>
            <a:off x="3275856" y="1203598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b="1" dirty="0" smtClean="0"/>
              <a:t>1</a:t>
            </a:r>
            <a:endParaRPr kumimoji="1" lang="zh-CN" altLang="en-US" sz="1050" b="1" dirty="0"/>
          </a:p>
        </p:txBody>
      </p:sp>
      <p:sp>
        <p:nvSpPr>
          <p:cNvPr id="32" name="椭圆 31"/>
          <p:cNvSpPr/>
          <p:nvPr/>
        </p:nvSpPr>
        <p:spPr>
          <a:xfrm>
            <a:off x="3613717" y="1895193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34" name="文本框 33"/>
          <p:cNvSpPr txBox="1"/>
          <p:nvPr/>
        </p:nvSpPr>
        <p:spPr>
          <a:xfrm>
            <a:off x="3605117" y="1885786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050" b="1" dirty="0"/>
              <a:t>2</a:t>
            </a:r>
            <a:endParaRPr kumimoji="1" lang="zh-CN" altLang="en-US" sz="1050" b="1" dirty="0"/>
          </a:p>
        </p:txBody>
      </p:sp>
      <p:sp>
        <p:nvSpPr>
          <p:cNvPr id="35" name="椭圆 34"/>
          <p:cNvSpPr/>
          <p:nvPr/>
        </p:nvSpPr>
        <p:spPr>
          <a:xfrm>
            <a:off x="3613717" y="3623385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36" name="文本框 35"/>
          <p:cNvSpPr txBox="1"/>
          <p:nvPr/>
        </p:nvSpPr>
        <p:spPr>
          <a:xfrm>
            <a:off x="3605117" y="3613978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050" b="1" dirty="0"/>
              <a:t>3</a:t>
            </a:r>
            <a:endParaRPr kumimoji="1" lang="zh-CN" altLang="en-US" sz="1050" b="1" dirty="0"/>
          </a:p>
        </p:txBody>
      </p:sp>
      <p:sp>
        <p:nvSpPr>
          <p:cNvPr id="37" name="椭圆 36"/>
          <p:cNvSpPr/>
          <p:nvPr/>
        </p:nvSpPr>
        <p:spPr>
          <a:xfrm>
            <a:off x="5197893" y="2687281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41" name="文本框 40"/>
          <p:cNvSpPr txBox="1"/>
          <p:nvPr/>
        </p:nvSpPr>
        <p:spPr>
          <a:xfrm>
            <a:off x="5189293" y="2677874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050" b="1" dirty="0"/>
              <a:t>4</a:t>
            </a:r>
            <a:endParaRPr kumimoji="1" lang="zh-CN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92976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运行</a:t>
            </a:r>
            <a:r>
              <a:rPr lang="zh-CN" altLang="en-US" sz="2000" dirty="0" smtClean="0"/>
              <a:t>架构</a:t>
            </a:r>
            <a:r>
              <a:rPr lang="en-US" altLang="zh-CN" sz="2000" dirty="0"/>
              <a:t>—</a:t>
            </a:r>
            <a:r>
              <a:rPr lang="en-US" altLang="zh-CN" sz="2000" dirty="0" smtClean="0"/>
              <a:t>—</a:t>
            </a:r>
            <a:r>
              <a:rPr lang="zh-CN" altLang="en-US" sz="2000" dirty="0" smtClean="0"/>
              <a:t>规则部署运行视图</a:t>
            </a:r>
            <a:endParaRPr lang="zh-CN" sz="2000" dirty="0" smtClean="0"/>
          </a:p>
        </p:txBody>
      </p:sp>
      <p:sp>
        <p:nvSpPr>
          <p:cNvPr id="28" name="矩形 27"/>
          <p:cNvSpPr/>
          <p:nvPr/>
        </p:nvSpPr>
        <p:spPr>
          <a:xfrm>
            <a:off x="899592" y="2571750"/>
            <a:ext cx="864096" cy="1152128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规则运行平台（</a:t>
            </a:r>
            <a:r>
              <a:rPr kumimoji="1" lang="en-US" altLang="zh-CN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Server</a:t>
            </a:r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1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endParaRPr kumimoji="1" lang="en-US" altLang="zh-CN" sz="11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24336" y="4227934"/>
            <a:ext cx="4251720" cy="360040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400" b="1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Oracle</a:t>
            </a:r>
          </a:p>
        </p:txBody>
      </p:sp>
      <p:sp>
        <p:nvSpPr>
          <p:cNvPr id="33" name="矩形 32"/>
          <p:cNvSpPr/>
          <p:nvPr/>
        </p:nvSpPr>
        <p:spPr>
          <a:xfrm>
            <a:off x="4139952" y="2571750"/>
            <a:ext cx="864000" cy="1152128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 规则配置管理平台（</a:t>
            </a:r>
            <a:r>
              <a:rPr kumimoji="1" lang="en-US" altLang="zh-CN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Governor</a:t>
            </a:r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1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endParaRPr kumimoji="1" lang="en-US" altLang="zh-CN" sz="11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555776" y="2571750"/>
            <a:ext cx="864000" cy="1152128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100" b="1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缓存服务器</a:t>
            </a:r>
            <a:endParaRPr kumimoji="1" lang="en-US" altLang="zh-CN" sz="1100" b="1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100" b="1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endParaRPr kumimoji="1" lang="en-US" altLang="zh-CN" sz="1100" b="1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516216" y="627534"/>
            <a:ext cx="237626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进程视图：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规则管理员通过浏览器登陆规则管控平台；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规则管理员进入规则导入页面，准备导入规则</a:t>
            </a: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excel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文件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规则管理员导入</a:t>
            </a: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excel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中得规则，并做规则校验；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规则被导入后，将会保存到数据库中；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规则管理员选定本次部署的规则，通过部署功能将功能部署到规则引擎服务（</a:t>
            </a:r>
            <a:r>
              <a:rPr kumimoji="1"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server</a:t>
            </a: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）的缓冲中，完成规则部署；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规则管控平台经本次部署信息记录到数据中。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27584" y="2139702"/>
            <a:ext cx="4248472" cy="1800199"/>
          </a:xfrm>
          <a:prstGeom prst="rect">
            <a:avLst/>
          </a:prstGeom>
          <a:noFill/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zh-CN" altLang="en-US" sz="11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10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7584" y="1563638"/>
            <a:ext cx="4248472" cy="2880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浏览器</a:t>
            </a:r>
            <a:endParaRPr kumimoji="1" lang="en-US" altLang="zh-CN" sz="14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83768" y="1013996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dirty="0" smtClean="0">
                <a:solidFill>
                  <a:srgbClr val="373C64"/>
                </a:solidFill>
              </a:rPr>
              <a:t>规则管理员</a:t>
            </a:r>
            <a:endParaRPr kumimoji="1" lang="zh-CN" altLang="en-US" sz="1100" dirty="0">
              <a:solidFill>
                <a:srgbClr val="373C64"/>
              </a:solidFill>
            </a:endParaRPr>
          </a:p>
        </p:txBody>
      </p:sp>
      <p:pic>
        <p:nvPicPr>
          <p:cNvPr id="14" name="图片 13" descr="AA002733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627534"/>
            <a:ext cx="576064" cy="360040"/>
          </a:xfrm>
          <a:prstGeom prst="rect">
            <a:avLst/>
          </a:prstGeom>
        </p:spPr>
      </p:pic>
      <p:cxnSp>
        <p:nvCxnSpPr>
          <p:cNvPr id="15" name="直线连接符 14"/>
          <p:cNvCxnSpPr/>
          <p:nvPr/>
        </p:nvCxnSpPr>
        <p:spPr>
          <a:xfrm>
            <a:off x="2987824" y="1203598"/>
            <a:ext cx="0" cy="36004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/>
          <p:cNvCxnSpPr/>
          <p:nvPr/>
        </p:nvCxnSpPr>
        <p:spPr>
          <a:xfrm>
            <a:off x="2987824" y="1851670"/>
            <a:ext cx="1440160" cy="648072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/>
          <p:cNvCxnSpPr>
            <a:endCxn id="30" idx="0"/>
          </p:cNvCxnSpPr>
          <p:nvPr/>
        </p:nvCxnSpPr>
        <p:spPr>
          <a:xfrm flipH="1">
            <a:off x="2950196" y="3723878"/>
            <a:ext cx="1549796" cy="504056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/>
          <p:cNvCxnSpPr/>
          <p:nvPr/>
        </p:nvCxnSpPr>
        <p:spPr>
          <a:xfrm flipH="1">
            <a:off x="5004048" y="3075806"/>
            <a:ext cx="504056" cy="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折角形 23"/>
          <p:cNvSpPr/>
          <p:nvPr/>
        </p:nvSpPr>
        <p:spPr>
          <a:xfrm>
            <a:off x="5580112" y="2787774"/>
            <a:ext cx="822960" cy="822960"/>
          </a:xfrm>
          <a:prstGeom prst="foldedCorner">
            <a:avLst/>
          </a:prstGeom>
          <a:noFill/>
          <a:ln w="28575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52120" y="3003798"/>
            <a:ext cx="749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Excel</a:t>
            </a:r>
            <a:endParaRPr kumimoji="1" lang="zh-CN" altLang="en-US" dirty="0"/>
          </a:p>
        </p:txBody>
      </p:sp>
      <p:sp>
        <p:nvSpPr>
          <p:cNvPr id="29" name="椭圆 28"/>
          <p:cNvSpPr/>
          <p:nvPr/>
        </p:nvSpPr>
        <p:spPr>
          <a:xfrm>
            <a:off x="3284456" y="1213005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31" name="文本框 30"/>
          <p:cNvSpPr txBox="1"/>
          <p:nvPr/>
        </p:nvSpPr>
        <p:spPr>
          <a:xfrm>
            <a:off x="3275856" y="1203598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b="1" dirty="0" smtClean="0"/>
              <a:t>1</a:t>
            </a:r>
            <a:endParaRPr kumimoji="1" lang="zh-CN" altLang="en-US" sz="1050" b="1" dirty="0"/>
          </a:p>
        </p:txBody>
      </p:sp>
      <p:sp>
        <p:nvSpPr>
          <p:cNvPr id="32" name="椭圆 31"/>
          <p:cNvSpPr/>
          <p:nvPr/>
        </p:nvSpPr>
        <p:spPr>
          <a:xfrm>
            <a:off x="3613717" y="1895193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34" name="文本框 33"/>
          <p:cNvSpPr txBox="1"/>
          <p:nvPr/>
        </p:nvSpPr>
        <p:spPr>
          <a:xfrm>
            <a:off x="3605117" y="1885786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050" b="1" dirty="0"/>
              <a:t>2</a:t>
            </a:r>
            <a:endParaRPr kumimoji="1" lang="zh-CN" altLang="en-US" sz="1050" b="1" dirty="0"/>
          </a:p>
        </p:txBody>
      </p:sp>
      <p:sp>
        <p:nvSpPr>
          <p:cNvPr id="35" name="椭圆 34"/>
          <p:cNvSpPr/>
          <p:nvPr/>
        </p:nvSpPr>
        <p:spPr>
          <a:xfrm>
            <a:off x="3613717" y="3623385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36" name="文本框 35"/>
          <p:cNvSpPr txBox="1"/>
          <p:nvPr/>
        </p:nvSpPr>
        <p:spPr>
          <a:xfrm>
            <a:off x="3605117" y="3613978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050" b="1" dirty="0" smtClean="0"/>
              <a:t>4</a:t>
            </a:r>
            <a:endParaRPr kumimoji="1" lang="zh-CN" altLang="en-US" sz="1050" b="1" dirty="0"/>
          </a:p>
        </p:txBody>
      </p:sp>
      <p:sp>
        <p:nvSpPr>
          <p:cNvPr id="37" name="椭圆 36"/>
          <p:cNvSpPr/>
          <p:nvPr/>
        </p:nvSpPr>
        <p:spPr>
          <a:xfrm>
            <a:off x="5197893" y="2687281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41" name="文本框 40"/>
          <p:cNvSpPr txBox="1"/>
          <p:nvPr/>
        </p:nvSpPr>
        <p:spPr>
          <a:xfrm>
            <a:off x="5189293" y="2677874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050" b="1" dirty="0" smtClean="0"/>
              <a:t>3</a:t>
            </a:r>
            <a:endParaRPr kumimoji="1" lang="zh-CN" altLang="en-US" sz="1050" b="1" dirty="0"/>
          </a:p>
        </p:txBody>
      </p:sp>
      <p:cxnSp>
        <p:nvCxnSpPr>
          <p:cNvPr id="26" name="直线连接符 25"/>
          <p:cNvCxnSpPr/>
          <p:nvPr/>
        </p:nvCxnSpPr>
        <p:spPr>
          <a:xfrm flipH="1">
            <a:off x="3491880" y="3147814"/>
            <a:ext cx="504056" cy="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3644496" y="2839681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39" name="文本框 38"/>
          <p:cNvSpPr txBox="1"/>
          <p:nvPr/>
        </p:nvSpPr>
        <p:spPr>
          <a:xfrm>
            <a:off x="3635896" y="2830274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050" b="1" dirty="0"/>
              <a:t>5</a:t>
            </a:r>
            <a:endParaRPr kumimoji="1" lang="zh-CN" altLang="en-US" sz="1050" b="1" dirty="0"/>
          </a:p>
        </p:txBody>
      </p:sp>
      <p:sp>
        <p:nvSpPr>
          <p:cNvPr id="42" name="椭圆 41"/>
          <p:cNvSpPr/>
          <p:nvPr/>
        </p:nvSpPr>
        <p:spPr>
          <a:xfrm>
            <a:off x="4004536" y="3949309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43" name="文本框 42"/>
          <p:cNvSpPr txBox="1"/>
          <p:nvPr/>
        </p:nvSpPr>
        <p:spPr>
          <a:xfrm>
            <a:off x="3995936" y="3939902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050" b="1" dirty="0" smtClean="0"/>
              <a:t>6</a:t>
            </a:r>
            <a:endParaRPr kumimoji="1" lang="zh-CN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384410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运行</a:t>
            </a:r>
            <a:r>
              <a:rPr lang="zh-CN" altLang="en-US" sz="2000" dirty="0" smtClean="0"/>
              <a:t>架构</a:t>
            </a:r>
            <a:r>
              <a:rPr lang="en-US" altLang="zh-CN" sz="2000" dirty="0"/>
              <a:t>—</a:t>
            </a:r>
            <a:r>
              <a:rPr lang="en-US" altLang="zh-CN" sz="2000" dirty="0" smtClean="0"/>
              <a:t>—</a:t>
            </a:r>
            <a:r>
              <a:rPr lang="zh-CN" altLang="en-US" sz="2000" dirty="0" smtClean="0"/>
              <a:t>规则开发运行视图</a:t>
            </a:r>
            <a:endParaRPr lang="zh-CN" sz="2000" dirty="0" smtClean="0"/>
          </a:p>
        </p:txBody>
      </p:sp>
      <p:sp>
        <p:nvSpPr>
          <p:cNvPr id="28" name="矩形 27"/>
          <p:cNvSpPr/>
          <p:nvPr/>
        </p:nvSpPr>
        <p:spPr>
          <a:xfrm>
            <a:off x="899592" y="2571750"/>
            <a:ext cx="864096" cy="1152128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规则运行平台（</a:t>
            </a:r>
            <a:r>
              <a:rPr kumimoji="1" lang="en-US" altLang="zh-CN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Server</a:t>
            </a:r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1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endParaRPr kumimoji="1" lang="en-US" altLang="zh-CN" sz="11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24336" y="4227934"/>
            <a:ext cx="4251720" cy="360040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400" b="1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Oracle</a:t>
            </a:r>
          </a:p>
        </p:txBody>
      </p:sp>
      <p:sp>
        <p:nvSpPr>
          <p:cNvPr id="33" name="矩形 32"/>
          <p:cNvSpPr/>
          <p:nvPr/>
        </p:nvSpPr>
        <p:spPr>
          <a:xfrm>
            <a:off x="4139952" y="2571750"/>
            <a:ext cx="864000" cy="1152128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 规则配置管理（</a:t>
            </a:r>
            <a:r>
              <a:rPr kumimoji="1" lang="en-US" altLang="zh-CN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Governor</a:t>
            </a:r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kumimoji="1" lang="en-US" altLang="zh-CN" sz="11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1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endParaRPr kumimoji="1" lang="en-US" altLang="zh-CN" sz="110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555776" y="2571750"/>
            <a:ext cx="864000" cy="1152128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100" b="1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缓存服务器</a:t>
            </a:r>
            <a:endParaRPr kumimoji="1" lang="en-US" altLang="zh-CN" sz="1100" b="1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en-US" sz="1100" b="1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endParaRPr kumimoji="1" lang="en-US" altLang="zh-CN" sz="1100" b="1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27584" y="1563638"/>
            <a:ext cx="4248472" cy="2160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40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负载均衡</a:t>
            </a:r>
            <a:endParaRPr kumimoji="1" lang="en-US" altLang="zh-CN" sz="140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27584" y="1059582"/>
            <a:ext cx="4248472" cy="2160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AAF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4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ESB</a:t>
            </a:r>
          </a:p>
        </p:txBody>
      </p:sp>
      <p:sp>
        <p:nvSpPr>
          <p:cNvPr id="48" name="矩形 47"/>
          <p:cNvSpPr/>
          <p:nvPr/>
        </p:nvSpPr>
        <p:spPr>
          <a:xfrm>
            <a:off x="6516216" y="627534"/>
            <a:ext cx="237626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进程视图：</a:t>
            </a:r>
            <a:endParaRPr kumimoji="1"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lang="en-US" altLang="zh-CN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系统调用</a:t>
            </a:r>
            <a:r>
              <a:rPr lang="en-US" altLang="zh-CN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ESB</a:t>
            </a: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上注册的规则计算接口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lang="en-US" altLang="zh-CN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ESB</a:t>
            </a: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规则计算接口的调用转发到负载均衡上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负载均衡通过负载策略将调用请求转发到规则引擎运行平台（</a:t>
            </a:r>
            <a:r>
              <a:rPr lang="en-US" altLang="zh-CN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Server</a:t>
            </a: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规则引擎平台通过查询数据库找到本次规则计算调用的规则库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规则引擎平台通过缓存服务器获取本次规则库对象，根据规则库中的规则进行计算，并返回规则计算结果。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27584" y="2139702"/>
            <a:ext cx="4248472" cy="1800199"/>
          </a:xfrm>
          <a:prstGeom prst="rect">
            <a:avLst/>
          </a:prstGeom>
          <a:noFill/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zh-CN" altLang="en-US" sz="11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</a:t>
            </a:r>
            <a:endParaRPr kumimoji="1" lang="en-US" altLang="zh-CN" sz="110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2987824" y="699542"/>
            <a:ext cx="0" cy="36004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>
            <a:off x="2987824" y="1275606"/>
            <a:ext cx="0" cy="36004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/>
          <p:cNvCxnSpPr/>
          <p:nvPr/>
        </p:nvCxnSpPr>
        <p:spPr>
          <a:xfrm flipH="1">
            <a:off x="1475656" y="1779662"/>
            <a:ext cx="1512168" cy="72008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/>
          <p:cNvCxnSpPr/>
          <p:nvPr/>
        </p:nvCxnSpPr>
        <p:spPr>
          <a:xfrm>
            <a:off x="1331640" y="3723878"/>
            <a:ext cx="1440160" cy="432048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/>
          <p:cNvCxnSpPr/>
          <p:nvPr/>
        </p:nvCxnSpPr>
        <p:spPr>
          <a:xfrm>
            <a:off x="1835696" y="3147814"/>
            <a:ext cx="648072" cy="0"/>
          </a:xfrm>
          <a:prstGeom prst="line">
            <a:avLst/>
          </a:prstGeom>
          <a:ln w="57150" cmpd="sng">
            <a:solidFill>
              <a:srgbClr val="373C64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3140440" y="708949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23" name="文本框 22"/>
          <p:cNvSpPr txBox="1"/>
          <p:nvPr/>
        </p:nvSpPr>
        <p:spPr>
          <a:xfrm>
            <a:off x="3131840" y="699542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b="1" dirty="0" smtClean="0"/>
              <a:t>1</a:t>
            </a:r>
            <a:endParaRPr kumimoji="1" lang="zh-CN" altLang="en-US" sz="1050" b="1" dirty="0"/>
          </a:p>
        </p:txBody>
      </p:sp>
      <p:sp>
        <p:nvSpPr>
          <p:cNvPr id="24" name="椭圆 23"/>
          <p:cNvSpPr/>
          <p:nvPr/>
        </p:nvSpPr>
        <p:spPr>
          <a:xfrm>
            <a:off x="3140440" y="1285013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25" name="文本框 24"/>
          <p:cNvSpPr txBox="1"/>
          <p:nvPr/>
        </p:nvSpPr>
        <p:spPr>
          <a:xfrm>
            <a:off x="3131840" y="1275606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b="1" dirty="0" smtClean="0"/>
              <a:t>2</a:t>
            </a:r>
            <a:endParaRPr kumimoji="1" lang="zh-CN" altLang="en-US" sz="1050" b="1" dirty="0"/>
          </a:p>
        </p:txBody>
      </p:sp>
      <p:sp>
        <p:nvSpPr>
          <p:cNvPr id="26" name="椭圆 25"/>
          <p:cNvSpPr/>
          <p:nvPr/>
        </p:nvSpPr>
        <p:spPr>
          <a:xfrm>
            <a:off x="2132328" y="1861077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27" name="文本框 26"/>
          <p:cNvSpPr txBox="1"/>
          <p:nvPr/>
        </p:nvSpPr>
        <p:spPr>
          <a:xfrm>
            <a:off x="2123728" y="1851670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b="1" dirty="0" smtClean="0"/>
              <a:t>3</a:t>
            </a:r>
            <a:endParaRPr kumimoji="1" lang="zh-CN" altLang="en-US" sz="1050" b="1" dirty="0"/>
          </a:p>
        </p:txBody>
      </p:sp>
      <p:sp>
        <p:nvSpPr>
          <p:cNvPr id="29" name="椭圆 28"/>
          <p:cNvSpPr/>
          <p:nvPr/>
        </p:nvSpPr>
        <p:spPr>
          <a:xfrm>
            <a:off x="1772288" y="3949309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31" name="文本框 30"/>
          <p:cNvSpPr txBox="1"/>
          <p:nvPr/>
        </p:nvSpPr>
        <p:spPr>
          <a:xfrm>
            <a:off x="1763688" y="3939902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050" b="1" dirty="0"/>
              <a:t>4</a:t>
            </a:r>
            <a:endParaRPr kumimoji="1" lang="zh-CN" altLang="en-US" sz="1050" b="1" dirty="0"/>
          </a:p>
        </p:txBody>
      </p:sp>
      <p:sp>
        <p:nvSpPr>
          <p:cNvPr id="32" name="椭圆 31"/>
          <p:cNvSpPr/>
          <p:nvPr/>
        </p:nvSpPr>
        <p:spPr>
          <a:xfrm>
            <a:off x="1988312" y="2797181"/>
            <a:ext cx="238203" cy="216024"/>
          </a:xfrm>
          <a:prstGeom prst="ellipse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50" b="1"/>
          </a:p>
        </p:txBody>
      </p:sp>
      <p:sp>
        <p:nvSpPr>
          <p:cNvPr id="34" name="文本框 33"/>
          <p:cNvSpPr txBox="1"/>
          <p:nvPr/>
        </p:nvSpPr>
        <p:spPr>
          <a:xfrm>
            <a:off x="1979712" y="2787774"/>
            <a:ext cx="1997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b="1" dirty="0" smtClean="0"/>
              <a:t>5</a:t>
            </a:r>
            <a:endParaRPr kumimoji="1" lang="zh-CN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63142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3923928" y="3579862"/>
            <a:ext cx="2232248" cy="864096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en-US" altLang="zh-CN" sz="10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Redis-N</a:t>
            </a:r>
          </a:p>
        </p:txBody>
      </p:sp>
      <p:sp>
        <p:nvSpPr>
          <p:cNvPr id="23" name="矩形 22"/>
          <p:cNvSpPr/>
          <p:nvPr/>
        </p:nvSpPr>
        <p:spPr>
          <a:xfrm>
            <a:off x="3923928" y="2355726"/>
            <a:ext cx="2232248" cy="1152128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en-US" altLang="zh-CN" sz="10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Redis-2</a:t>
            </a:r>
          </a:p>
        </p:txBody>
      </p:sp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运行</a:t>
            </a:r>
            <a:r>
              <a:rPr lang="zh-CN" altLang="en-US" sz="2000" dirty="0" smtClean="0"/>
              <a:t>架构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规则缓存管理</a:t>
            </a:r>
            <a:endParaRPr lang="zh-CN" sz="2000" dirty="0" smtClean="0"/>
          </a:p>
        </p:txBody>
      </p:sp>
      <p:sp>
        <p:nvSpPr>
          <p:cNvPr id="28" name="矩形 27"/>
          <p:cNvSpPr/>
          <p:nvPr/>
        </p:nvSpPr>
        <p:spPr>
          <a:xfrm>
            <a:off x="3923928" y="1059582"/>
            <a:ext cx="2232248" cy="1224136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Redis-1</a:t>
            </a:r>
          </a:p>
        </p:txBody>
      </p:sp>
      <p:sp>
        <p:nvSpPr>
          <p:cNvPr id="30" name="矩形 29"/>
          <p:cNvSpPr/>
          <p:nvPr/>
        </p:nvSpPr>
        <p:spPr>
          <a:xfrm rot="10800000" flipV="1">
            <a:off x="4067945" y="1419624"/>
            <a:ext cx="1944216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FOSS-</a:t>
            </a:r>
            <a:r>
              <a:rPr kumimoji="1" lang="zh-CN" altLang="en-US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运费折扣规则库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-V1.0</a:t>
            </a:r>
          </a:p>
        </p:txBody>
      </p:sp>
      <p:sp>
        <p:nvSpPr>
          <p:cNvPr id="33" name="矩形 32"/>
          <p:cNvSpPr/>
          <p:nvPr/>
        </p:nvSpPr>
        <p:spPr>
          <a:xfrm rot="10800000" flipV="1">
            <a:off x="4067945" y="1851671"/>
            <a:ext cx="1944216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FOSS-</a:t>
            </a:r>
            <a:r>
              <a:rPr kumimoji="1" lang="zh-CN" altLang="en-US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增值折扣规则库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-V1.0</a:t>
            </a:r>
          </a:p>
        </p:txBody>
      </p:sp>
      <p:sp>
        <p:nvSpPr>
          <p:cNvPr id="38" name="矩形 37"/>
          <p:cNvSpPr/>
          <p:nvPr/>
        </p:nvSpPr>
        <p:spPr>
          <a:xfrm rot="10800000" flipV="1">
            <a:off x="4067945" y="2643760"/>
            <a:ext cx="1944216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FOSS-</a:t>
            </a:r>
            <a:r>
              <a:rPr kumimoji="1" lang="zh-CN" altLang="en-US" sz="100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运费折扣规则库</a:t>
            </a:r>
            <a:r>
              <a:rPr kumimoji="1" lang="en-US" altLang="zh-CN" sz="100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V2.0</a:t>
            </a:r>
            <a:endParaRPr kumimoji="1" lang="en-US" altLang="zh-CN" sz="100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 rot="10800000" flipV="1">
            <a:off x="4067945" y="3075808"/>
            <a:ext cx="1944216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FOSS-</a:t>
            </a:r>
            <a:r>
              <a:rPr kumimoji="1" lang="zh-CN" altLang="en-US" sz="100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增值折扣规则库</a:t>
            </a:r>
            <a:r>
              <a:rPr kumimoji="1" lang="en-US" altLang="zh-CN" sz="100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V2.0</a:t>
            </a:r>
            <a:endParaRPr kumimoji="1" lang="en-US" altLang="zh-CN" sz="100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 rot="10800000" flipV="1">
            <a:off x="4067945" y="3939902"/>
            <a:ext cx="1944216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XXX</a:t>
            </a:r>
            <a:r>
              <a:rPr kumimoji="1" lang="zh-CN" altLang="en-US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域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-XXX</a:t>
            </a:r>
            <a:r>
              <a:rPr kumimoji="1" lang="zh-CN" altLang="en-US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规则库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en-US" altLang="zh-CN" sz="1000" b="1" dirty="0" err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Vn</a:t>
            </a:r>
            <a:endParaRPr kumimoji="1" lang="en-US" altLang="zh-CN" sz="10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259632" y="1059582"/>
            <a:ext cx="1872208" cy="3312368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规则库注册表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 rot="10800000" flipV="1">
            <a:off x="1547664" y="1419623"/>
            <a:ext cx="1382553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FOSS-</a:t>
            </a:r>
            <a:r>
              <a:rPr kumimoji="1" lang="zh-CN" altLang="en-US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运费折扣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-V1.0</a:t>
            </a:r>
          </a:p>
        </p:txBody>
      </p:sp>
      <p:sp>
        <p:nvSpPr>
          <p:cNvPr id="51" name="矩形 50"/>
          <p:cNvSpPr/>
          <p:nvPr/>
        </p:nvSpPr>
        <p:spPr>
          <a:xfrm rot="10800000" flipV="1">
            <a:off x="1547664" y="1851671"/>
            <a:ext cx="1382553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FOSS-</a:t>
            </a:r>
            <a:r>
              <a:rPr kumimoji="1" lang="zh-CN" altLang="en-US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运费折扣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-V2.0</a:t>
            </a:r>
          </a:p>
        </p:txBody>
      </p:sp>
      <p:sp>
        <p:nvSpPr>
          <p:cNvPr id="52" name="矩形 51"/>
          <p:cNvSpPr/>
          <p:nvPr/>
        </p:nvSpPr>
        <p:spPr>
          <a:xfrm rot="10800000" flipV="1">
            <a:off x="1547664" y="2643758"/>
            <a:ext cx="1382553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FOSS-</a:t>
            </a:r>
            <a:r>
              <a:rPr kumimoji="1" lang="zh-CN" altLang="en-US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增值折扣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-V1.0</a:t>
            </a:r>
          </a:p>
        </p:txBody>
      </p:sp>
      <p:sp>
        <p:nvSpPr>
          <p:cNvPr id="53" name="矩形 52"/>
          <p:cNvSpPr/>
          <p:nvPr/>
        </p:nvSpPr>
        <p:spPr>
          <a:xfrm rot="10800000" flipV="1">
            <a:off x="1547664" y="3075807"/>
            <a:ext cx="1382553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FOSS-</a:t>
            </a:r>
            <a:r>
              <a:rPr kumimoji="1" lang="zh-CN" altLang="en-US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增值折扣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-V2.0</a:t>
            </a:r>
          </a:p>
        </p:txBody>
      </p:sp>
      <p:sp>
        <p:nvSpPr>
          <p:cNvPr id="54" name="矩形 53"/>
          <p:cNvSpPr/>
          <p:nvPr/>
        </p:nvSpPr>
        <p:spPr>
          <a:xfrm rot="10800000" flipV="1">
            <a:off x="1547664" y="3939901"/>
            <a:ext cx="1382553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XXX-XX</a:t>
            </a:r>
            <a:r>
              <a:rPr kumimoji="1" lang="zh-CN" altLang="en-US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en-US" altLang="zh-CN" sz="1000" b="1" dirty="0" err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Vn</a:t>
            </a:r>
            <a:endParaRPr kumimoji="1" lang="en-US" altLang="zh-CN" sz="10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5" name="直线连接符 54"/>
          <p:cNvCxnSpPr/>
          <p:nvPr/>
        </p:nvCxnSpPr>
        <p:spPr>
          <a:xfrm flipV="1">
            <a:off x="3059832" y="1563638"/>
            <a:ext cx="1008112" cy="1"/>
          </a:xfrm>
          <a:prstGeom prst="line">
            <a:avLst/>
          </a:prstGeom>
          <a:ln w="57150" cmpd="sng">
            <a:solidFill>
              <a:srgbClr val="FAAF19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直线连接符 55"/>
          <p:cNvCxnSpPr/>
          <p:nvPr/>
        </p:nvCxnSpPr>
        <p:spPr>
          <a:xfrm>
            <a:off x="3059832" y="1995687"/>
            <a:ext cx="1008112" cy="720079"/>
          </a:xfrm>
          <a:prstGeom prst="line">
            <a:avLst/>
          </a:prstGeom>
          <a:ln w="57150" cmpd="sng">
            <a:solidFill>
              <a:srgbClr val="FAAF19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直线连接符 56"/>
          <p:cNvCxnSpPr/>
          <p:nvPr/>
        </p:nvCxnSpPr>
        <p:spPr>
          <a:xfrm flipV="1">
            <a:off x="3059832" y="2067694"/>
            <a:ext cx="1008112" cy="720082"/>
          </a:xfrm>
          <a:prstGeom prst="line">
            <a:avLst/>
          </a:prstGeom>
          <a:ln w="57150" cmpd="sng">
            <a:solidFill>
              <a:srgbClr val="FAAF19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直线连接符 57"/>
          <p:cNvCxnSpPr/>
          <p:nvPr/>
        </p:nvCxnSpPr>
        <p:spPr>
          <a:xfrm flipV="1">
            <a:off x="3059832" y="3219822"/>
            <a:ext cx="1008112" cy="2"/>
          </a:xfrm>
          <a:prstGeom prst="line">
            <a:avLst/>
          </a:prstGeom>
          <a:ln w="57150" cmpd="sng">
            <a:solidFill>
              <a:srgbClr val="FAAF19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直线连接符 58"/>
          <p:cNvCxnSpPr/>
          <p:nvPr/>
        </p:nvCxnSpPr>
        <p:spPr>
          <a:xfrm>
            <a:off x="3059832" y="4083918"/>
            <a:ext cx="1008112" cy="0"/>
          </a:xfrm>
          <a:prstGeom prst="line">
            <a:avLst/>
          </a:prstGeom>
          <a:ln w="57150" cmpd="sng">
            <a:solidFill>
              <a:srgbClr val="FAAF19"/>
            </a:solidFill>
            <a:tailEnd type="triangle" w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1187624" y="699542"/>
            <a:ext cx="2232248" cy="3888432"/>
          </a:xfrm>
          <a:prstGeom prst="rect">
            <a:avLst/>
          </a:prstGeom>
          <a:noFill/>
          <a:ln w="19050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规则引擎平台</a:t>
            </a:r>
            <a:r>
              <a:rPr kumimoji="1" lang="en-US" altLang="zh-CN" sz="1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(Server)</a:t>
            </a:r>
          </a:p>
        </p:txBody>
      </p:sp>
      <p:sp>
        <p:nvSpPr>
          <p:cNvPr id="62" name="右箭头 61"/>
          <p:cNvSpPr/>
          <p:nvPr/>
        </p:nvSpPr>
        <p:spPr>
          <a:xfrm>
            <a:off x="35496" y="1707654"/>
            <a:ext cx="1038984" cy="1152128"/>
          </a:xfrm>
          <a:prstGeom prst="rightArrow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zh-CN" altLang="en-US" sz="1400" dirty="0" smtClean="0">
                <a:solidFill>
                  <a:srgbClr val="373C64"/>
                </a:solidFill>
              </a:rPr>
              <a:t>规则</a:t>
            </a:r>
            <a:endParaRPr lang="en-US" altLang="zh-CN" sz="1400" dirty="0" smtClean="0">
              <a:solidFill>
                <a:srgbClr val="373C64"/>
              </a:solidFill>
            </a:endParaRPr>
          </a:p>
          <a:p>
            <a:r>
              <a:rPr lang="zh-CN" altLang="en-US" sz="1400" dirty="0" smtClean="0">
                <a:solidFill>
                  <a:srgbClr val="373C64"/>
                </a:solidFill>
              </a:rPr>
              <a:t>计算</a:t>
            </a:r>
            <a:endParaRPr lang="zh-CN" altLang="en-US" sz="1400" dirty="0">
              <a:solidFill>
                <a:srgbClr val="373C64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707904" y="771406"/>
            <a:ext cx="2592288" cy="3816567"/>
          </a:xfrm>
          <a:prstGeom prst="rect">
            <a:avLst/>
          </a:prstGeom>
          <a:noFill/>
          <a:ln w="19050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4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缓存</a:t>
            </a:r>
            <a:r>
              <a:rPr kumimoji="1" lang="en-US" altLang="zh-CN" sz="14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1" lang="zh-CN" altLang="en-US" sz="14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</a:t>
            </a:r>
            <a:r>
              <a:rPr kumimoji="1" lang="en-US" altLang="zh-CN" sz="14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kumimoji="1" lang="en-US" altLang="zh-CN" sz="14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588224" y="3579862"/>
            <a:ext cx="2232248" cy="864096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en-US" altLang="zh-CN" sz="10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Redis-N</a:t>
            </a:r>
          </a:p>
        </p:txBody>
      </p:sp>
      <p:sp>
        <p:nvSpPr>
          <p:cNvPr id="63" name="矩形 62"/>
          <p:cNvSpPr/>
          <p:nvPr/>
        </p:nvSpPr>
        <p:spPr>
          <a:xfrm>
            <a:off x="6588224" y="2355726"/>
            <a:ext cx="2232248" cy="1152128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en-US" altLang="zh-CN" sz="100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Redis-2</a:t>
            </a:r>
          </a:p>
        </p:txBody>
      </p:sp>
      <p:sp>
        <p:nvSpPr>
          <p:cNvPr id="64" name="矩形 63"/>
          <p:cNvSpPr/>
          <p:nvPr/>
        </p:nvSpPr>
        <p:spPr>
          <a:xfrm>
            <a:off x="6588224" y="1059582"/>
            <a:ext cx="2232248" cy="1224136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Redis</a:t>
            </a:r>
            <a:r>
              <a:rPr kumimoji="1" lang="en-US" altLang="zh-CN" sz="1050" b="1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-1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 rot="10800000" flipV="1">
            <a:off x="6732241" y="1419624"/>
            <a:ext cx="1944216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FOSS-</a:t>
            </a:r>
            <a:r>
              <a:rPr kumimoji="1" lang="zh-CN" altLang="en-US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运费折扣规则库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-V1.0</a:t>
            </a:r>
          </a:p>
        </p:txBody>
      </p:sp>
      <p:sp>
        <p:nvSpPr>
          <p:cNvPr id="66" name="矩形 65"/>
          <p:cNvSpPr/>
          <p:nvPr/>
        </p:nvSpPr>
        <p:spPr>
          <a:xfrm rot="10800000" flipV="1">
            <a:off x="6732241" y="1851671"/>
            <a:ext cx="1944216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FOSS-</a:t>
            </a:r>
            <a:r>
              <a:rPr kumimoji="1" lang="zh-CN" altLang="en-US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增值折扣规则库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-V1.0</a:t>
            </a:r>
          </a:p>
        </p:txBody>
      </p:sp>
      <p:sp>
        <p:nvSpPr>
          <p:cNvPr id="67" name="矩形 66"/>
          <p:cNvSpPr/>
          <p:nvPr/>
        </p:nvSpPr>
        <p:spPr>
          <a:xfrm rot="10800000" flipV="1">
            <a:off x="6732241" y="2643760"/>
            <a:ext cx="1944216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FOSS-</a:t>
            </a:r>
            <a:r>
              <a:rPr kumimoji="1" lang="zh-CN" altLang="en-US" sz="100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运费折扣规则库</a:t>
            </a:r>
            <a:r>
              <a:rPr kumimoji="1" lang="en-US" altLang="zh-CN" sz="100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V2.0</a:t>
            </a:r>
            <a:endParaRPr kumimoji="1" lang="en-US" altLang="zh-CN" sz="100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 rot="10800000" flipV="1">
            <a:off x="6732241" y="3075808"/>
            <a:ext cx="1944216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FOSS-</a:t>
            </a:r>
            <a:r>
              <a:rPr kumimoji="1" lang="zh-CN" altLang="en-US" sz="100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增值折扣规则库</a:t>
            </a:r>
            <a:r>
              <a:rPr kumimoji="1" lang="en-US" altLang="zh-CN" sz="100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V2.0</a:t>
            </a:r>
            <a:endParaRPr kumimoji="1" lang="en-US" altLang="zh-CN" sz="100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矩形 68"/>
          <p:cNvSpPr/>
          <p:nvPr/>
        </p:nvSpPr>
        <p:spPr>
          <a:xfrm rot="10800000" flipV="1">
            <a:off x="6732241" y="3939902"/>
            <a:ext cx="1944216" cy="288032"/>
          </a:xfrm>
          <a:prstGeom prst="rect">
            <a:avLst/>
          </a:prstGeom>
          <a:solidFill>
            <a:srgbClr val="FAAF19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XXX</a:t>
            </a:r>
            <a:r>
              <a:rPr kumimoji="1" lang="zh-CN" altLang="en-US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域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-XXX</a:t>
            </a:r>
            <a:r>
              <a:rPr kumimoji="1" lang="zh-CN" altLang="en-US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规则库</a:t>
            </a:r>
            <a:r>
              <a:rPr kumimoji="1" lang="en-US" altLang="zh-CN" sz="10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kumimoji="1" lang="en-US" altLang="zh-CN" sz="1000" b="1" dirty="0" err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Vn</a:t>
            </a:r>
            <a:endParaRPr kumimoji="1" lang="en-US" altLang="zh-CN" sz="100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372200" y="771406"/>
            <a:ext cx="2592288" cy="3816567"/>
          </a:xfrm>
          <a:prstGeom prst="rect">
            <a:avLst/>
          </a:prstGeom>
          <a:noFill/>
          <a:ln w="19050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4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缓存</a:t>
            </a:r>
            <a:r>
              <a:rPr kumimoji="1" lang="en-US" altLang="zh-CN" sz="14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1" lang="zh-CN" altLang="en-US" sz="14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备</a:t>
            </a:r>
            <a:r>
              <a:rPr kumimoji="1" lang="en-US" altLang="zh-CN" sz="14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kumimoji="1" lang="en-US" altLang="zh-CN" sz="14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563888" y="843558"/>
            <a:ext cx="5472608" cy="1440160"/>
          </a:xfrm>
          <a:prstGeom prst="rect">
            <a:avLst/>
          </a:prstGeom>
          <a:noFill/>
          <a:ln w="57150" cmpd="sng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zh-CN" altLang="en-US" sz="20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组</a:t>
            </a:r>
            <a:r>
              <a:rPr kumimoji="1" lang="en-US" altLang="zh-CN" sz="20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kumimoji="1" lang="en-US" altLang="zh-CN" sz="20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3563888" y="2355726"/>
            <a:ext cx="5472608" cy="1152128"/>
          </a:xfrm>
          <a:prstGeom prst="rect">
            <a:avLst/>
          </a:prstGeom>
          <a:noFill/>
          <a:ln w="57150" cmpd="sng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zh-CN" altLang="en-US" sz="20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组</a:t>
            </a:r>
            <a:r>
              <a:rPr kumimoji="1" lang="en-US" altLang="zh-CN" sz="20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kumimoji="1" lang="en-US" altLang="zh-CN" sz="20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563888" y="3651870"/>
            <a:ext cx="5472608" cy="864096"/>
          </a:xfrm>
          <a:prstGeom prst="rect">
            <a:avLst/>
          </a:prstGeom>
          <a:noFill/>
          <a:ln w="57150" cmpd="sng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zh-CN" altLang="en-US" sz="20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组</a:t>
            </a:r>
            <a:r>
              <a:rPr kumimoji="1" lang="zh-CN" altLang="zh-CN" sz="2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kumimoji="1" lang="en-US" altLang="zh-CN" sz="20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862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  <p:bldP spid="7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endParaRPr lang="zh-CN" sz="2800" dirty="0" smtClean="0"/>
          </a:p>
        </p:txBody>
      </p: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2840686" y="2073313"/>
            <a:ext cx="186727" cy="136817"/>
            <a:chOff x="0" y="0"/>
            <a:chExt cx="314991" cy="377988"/>
          </a:xfrm>
        </p:grpSpPr>
        <p:sp>
          <p:nvSpPr>
            <p:cNvPr id="6" name="直接连接符 38"/>
            <p:cNvSpPr>
              <a:spLocks noChangeShapeType="1"/>
            </p:cNvSpPr>
            <p:nvPr/>
          </p:nvSpPr>
          <p:spPr bwMode="auto">
            <a:xfrm flipV="1">
              <a:off x="0" y="340306"/>
              <a:ext cx="314991" cy="9867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直接连接符 42"/>
            <p:cNvSpPr>
              <a:spLocks noChangeShapeType="1"/>
            </p:cNvSpPr>
            <p:nvPr/>
          </p:nvSpPr>
          <p:spPr bwMode="auto">
            <a:xfrm rot="5400000" flipV="1">
              <a:off x="130573" y="162598"/>
              <a:ext cx="315780" cy="198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直接连接符 46"/>
            <p:cNvSpPr>
              <a:spLocks noChangeShapeType="1"/>
            </p:cNvSpPr>
            <p:nvPr/>
          </p:nvSpPr>
          <p:spPr bwMode="auto">
            <a:xfrm rot="2700000" flipV="1">
              <a:off x="-53051" y="185704"/>
              <a:ext cx="377988" cy="6579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" name="矩形 23"/>
          <p:cNvSpPr>
            <a:spLocks noChangeArrowheads="1"/>
          </p:cNvSpPr>
          <p:nvPr/>
        </p:nvSpPr>
        <p:spPr bwMode="auto">
          <a:xfrm>
            <a:off x="3196103" y="1866087"/>
            <a:ext cx="1987965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逻辑架构</a:t>
            </a:r>
            <a:endParaRPr lang="en-US" dirty="0"/>
          </a:p>
        </p:txBody>
      </p:sp>
      <p:grpSp>
        <p:nvGrpSpPr>
          <p:cNvPr id="10" name="Group 21"/>
          <p:cNvGrpSpPr>
            <a:grpSpLocks/>
          </p:cNvGrpSpPr>
          <p:nvPr/>
        </p:nvGrpSpPr>
        <p:grpSpPr bwMode="auto">
          <a:xfrm>
            <a:off x="2840686" y="2544444"/>
            <a:ext cx="186727" cy="136817"/>
            <a:chOff x="0" y="-1499"/>
            <a:chExt cx="314991" cy="377988"/>
          </a:xfrm>
        </p:grpSpPr>
        <p:sp>
          <p:nvSpPr>
            <p:cNvPr id="11" name="直接连接符 32"/>
            <p:cNvSpPr>
              <a:spLocks noChangeShapeType="1"/>
            </p:cNvSpPr>
            <p:nvPr/>
          </p:nvSpPr>
          <p:spPr bwMode="auto">
            <a:xfrm flipV="1">
              <a:off x="0" y="338807"/>
              <a:ext cx="314991" cy="9867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直接连接符 33"/>
            <p:cNvSpPr>
              <a:spLocks noChangeShapeType="1"/>
            </p:cNvSpPr>
            <p:nvPr/>
          </p:nvSpPr>
          <p:spPr bwMode="auto">
            <a:xfrm rot="5400000" flipV="1">
              <a:off x="130575" y="161100"/>
              <a:ext cx="315780" cy="19894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直接连接符 34"/>
            <p:cNvSpPr>
              <a:spLocks noChangeShapeType="1"/>
            </p:cNvSpPr>
            <p:nvPr/>
          </p:nvSpPr>
          <p:spPr bwMode="auto">
            <a:xfrm rot="2700000" flipV="1">
              <a:off x="-53051" y="184205"/>
              <a:ext cx="377988" cy="6579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矩形 25"/>
          <p:cNvSpPr>
            <a:spLocks noChangeArrowheads="1"/>
          </p:cNvSpPr>
          <p:nvPr/>
        </p:nvSpPr>
        <p:spPr bwMode="auto">
          <a:xfrm>
            <a:off x="3194482" y="2342035"/>
            <a:ext cx="1987966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物理架构</a:t>
            </a:r>
            <a:endParaRPr lang="en-US" dirty="0"/>
          </a:p>
        </p:txBody>
      </p:sp>
      <p:sp>
        <p:nvSpPr>
          <p:cNvPr id="15" name="直接连接符 28"/>
          <p:cNvSpPr>
            <a:spLocks noChangeShapeType="1"/>
          </p:cNvSpPr>
          <p:nvPr/>
        </p:nvSpPr>
        <p:spPr bwMode="auto">
          <a:xfrm rot="5400000">
            <a:off x="612542" y="2930809"/>
            <a:ext cx="2016225" cy="1966"/>
          </a:xfrm>
          <a:prstGeom prst="line">
            <a:avLst/>
          </a:prstGeom>
          <a:noFill/>
          <a:ln w="50800" cmpd="thickThin">
            <a:solidFill>
              <a:srgbClr val="3F315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组合 2"/>
          <p:cNvGrpSpPr/>
          <p:nvPr/>
        </p:nvGrpSpPr>
        <p:grpSpPr>
          <a:xfrm>
            <a:off x="2840686" y="3015575"/>
            <a:ext cx="186727" cy="168053"/>
            <a:chOff x="3535234" y="3437684"/>
            <a:chExt cx="186727" cy="168053"/>
          </a:xfrm>
        </p:grpSpPr>
        <p:sp>
          <p:nvSpPr>
            <p:cNvPr id="18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19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20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  <p:sp>
        <p:nvSpPr>
          <p:cNvPr id="21" name="矩形 25"/>
          <p:cNvSpPr>
            <a:spLocks noChangeArrowheads="1"/>
          </p:cNvSpPr>
          <p:nvPr/>
        </p:nvSpPr>
        <p:spPr bwMode="auto">
          <a:xfrm>
            <a:off x="3204950" y="2832385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运行架构</a:t>
            </a:r>
            <a:endParaRPr lang="en-US" dirty="0"/>
          </a:p>
        </p:txBody>
      </p:sp>
      <p:sp>
        <p:nvSpPr>
          <p:cNvPr id="22" name="圆角矩形 21"/>
          <p:cNvSpPr/>
          <p:nvPr/>
        </p:nvSpPr>
        <p:spPr>
          <a:xfrm>
            <a:off x="2267745" y="3403482"/>
            <a:ext cx="3600400" cy="412404"/>
          </a:xfrm>
          <a:prstGeom prst="roundRect">
            <a:avLst/>
          </a:prstGeom>
          <a:noFill/>
          <a:ln w="38100" cmpd="sng"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3"/>
          <p:cNvSpPr/>
          <p:nvPr/>
        </p:nvSpPr>
        <p:spPr>
          <a:xfrm>
            <a:off x="1619672" y="699542"/>
            <a:ext cx="4187957" cy="642943"/>
          </a:xfrm>
          <a:prstGeom prst="rect">
            <a:avLst/>
          </a:prstGeom>
          <a:solidFill>
            <a:srgbClr val="373C64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总体架构</a:t>
            </a:r>
            <a:endParaRPr lang="en-US" altLang="zh-CN" b="1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8" name="组合 2"/>
          <p:cNvGrpSpPr/>
          <p:nvPr/>
        </p:nvGrpSpPr>
        <p:grpSpPr>
          <a:xfrm>
            <a:off x="2843808" y="3455162"/>
            <a:ext cx="186727" cy="168053"/>
            <a:chOff x="3535234" y="3437684"/>
            <a:chExt cx="186727" cy="168053"/>
          </a:xfrm>
        </p:grpSpPr>
        <p:sp>
          <p:nvSpPr>
            <p:cNvPr id="29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0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1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  <p:sp>
        <p:nvSpPr>
          <p:cNvPr id="32" name="矩形 25"/>
          <p:cNvSpPr>
            <a:spLocks noChangeArrowheads="1"/>
          </p:cNvSpPr>
          <p:nvPr/>
        </p:nvSpPr>
        <p:spPr bwMode="auto">
          <a:xfrm>
            <a:off x="3203848" y="3311146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zh-CN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开发架构</a:t>
            </a:r>
            <a:endParaRPr lang="en-US" dirty="0"/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3203848" y="3795886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zh-CN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部署流程</a:t>
            </a:r>
            <a:endParaRPr lang="en-US" dirty="0"/>
          </a:p>
        </p:txBody>
      </p:sp>
      <p:grpSp>
        <p:nvGrpSpPr>
          <p:cNvPr id="33" name="组合 2"/>
          <p:cNvGrpSpPr/>
          <p:nvPr/>
        </p:nvGrpSpPr>
        <p:grpSpPr>
          <a:xfrm>
            <a:off x="2843808" y="3987873"/>
            <a:ext cx="186727" cy="168053"/>
            <a:chOff x="3535234" y="3437684"/>
            <a:chExt cx="186727" cy="168053"/>
          </a:xfrm>
        </p:grpSpPr>
        <p:sp>
          <p:nvSpPr>
            <p:cNvPr id="34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5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6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530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开发架构</a:t>
            </a:r>
            <a:r>
              <a:rPr lang="zh-CN" altLang="zh-CN" sz="2000" dirty="0" smtClean="0"/>
              <a:t>——</a:t>
            </a:r>
            <a:r>
              <a:rPr lang="zh-CN" altLang="en-US" sz="2000" dirty="0" smtClean="0"/>
              <a:t>技术视图</a:t>
            </a:r>
            <a:endParaRPr lang="zh-CN" altLang="zh-CN" sz="2000" dirty="0"/>
          </a:p>
          <a:p>
            <a:pPr eaLnBrk="1" hangingPunct="1"/>
            <a:endParaRPr lang="zh-CN" sz="2800" dirty="0" smtClean="0"/>
          </a:p>
        </p:txBody>
      </p:sp>
      <p:sp>
        <p:nvSpPr>
          <p:cNvPr id="24" name="矩形 23"/>
          <p:cNvSpPr/>
          <p:nvPr/>
        </p:nvSpPr>
        <p:spPr>
          <a:xfrm>
            <a:off x="2765348" y="915566"/>
            <a:ext cx="3672408" cy="3240360"/>
          </a:xfrm>
          <a:prstGeom prst="rect">
            <a:avLst/>
          </a:prstGeom>
          <a:noFill/>
          <a:ln w="19050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规则引擎平台</a:t>
            </a:r>
            <a:endParaRPr kumimoji="1" lang="en-US" altLang="zh-CN" sz="14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837356" y="1275606"/>
            <a:ext cx="1728192" cy="1966473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规则运行平台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2915816" y="2139702"/>
            <a:ext cx="1584176" cy="3145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Drools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2915816" y="2499742"/>
            <a:ext cx="720080" cy="3145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RMI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2837356" y="3736728"/>
            <a:ext cx="3528392" cy="36842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JVM</a:t>
            </a:r>
          </a:p>
        </p:txBody>
      </p:sp>
      <p:sp>
        <p:nvSpPr>
          <p:cNvPr id="72" name="矩形 71"/>
          <p:cNvSpPr/>
          <p:nvPr/>
        </p:nvSpPr>
        <p:spPr>
          <a:xfrm>
            <a:off x="2837356" y="3304680"/>
            <a:ext cx="3528392" cy="36842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6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应用服务器</a:t>
            </a:r>
            <a:r>
              <a:rPr kumimoji="1" lang="zh-CN" altLang="zh-CN" sz="16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1" lang="en-US" altLang="zh-CN" sz="160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JBoss)</a:t>
            </a:r>
          </a:p>
        </p:txBody>
      </p:sp>
      <p:sp>
        <p:nvSpPr>
          <p:cNvPr id="73" name="圆角矩形 72"/>
          <p:cNvSpPr/>
          <p:nvPr/>
        </p:nvSpPr>
        <p:spPr>
          <a:xfrm>
            <a:off x="2909364" y="2855439"/>
            <a:ext cx="1584176" cy="3145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DPAP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3707904" y="2499742"/>
            <a:ext cx="792088" cy="314592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en-US" altLang="zh-CN" sz="1050" b="1" dirty="0" err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redis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4637556" y="1275606"/>
            <a:ext cx="1728000" cy="1966473"/>
          </a:xfrm>
          <a:prstGeom prst="rect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规则配置管理平台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4709564" y="2834849"/>
            <a:ext cx="1584176" cy="324000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en-US" altLang="zh-CN" sz="1050" b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DPAP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4709564" y="1786158"/>
            <a:ext cx="1584176" cy="314636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en-US" altLang="zh-CN" sz="1050" b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extjs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4709564" y="2475106"/>
            <a:ext cx="1584176" cy="314636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en-US" altLang="zh-CN" sz="1050" b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common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4709564" y="2130632"/>
            <a:ext cx="1584176" cy="314636"/>
          </a:xfrm>
          <a:prstGeom prst="roundRect">
            <a:avLst/>
          </a:prstGeom>
          <a:solidFill>
            <a:srgbClr val="FAAF19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Drools</a:t>
            </a:r>
            <a:endParaRPr lang="en-US" altLang="zh-CN" sz="1050" b="1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6657006" y="915566"/>
            <a:ext cx="2235474" cy="324036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规则配置管理平台</a:t>
            </a:r>
            <a:endParaRPr kumimoji="1" lang="en-US" altLang="zh-CN" sz="1050" dirty="0"/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dpap</a:t>
            </a:r>
            <a:r>
              <a:rPr lang="zh-CN" altLang="en-US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作为开发管控平台的核心框架。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采用</a:t>
            </a:r>
            <a:r>
              <a:rPr lang="en-US" altLang="zh-CN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common</a:t>
            </a:r>
            <a:r>
              <a:rPr lang="zh-CN" altLang="en-US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作为开发平台授权</a:t>
            </a: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部分的基础框架。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内置</a:t>
            </a:r>
            <a:r>
              <a:rPr lang="en-US" altLang="zh-CN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Drools</a:t>
            </a: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自带的能力作为规则编译工具。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extjs</a:t>
            </a:r>
            <a:r>
              <a:rPr lang="zh-CN" altLang="en-US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作为开发管</a:t>
            </a: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控平台的前端框架，保证开发速度和浏览器兼容性。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389084" y="915566"/>
            <a:ext cx="2235474" cy="3312368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规则运行平台</a:t>
            </a:r>
            <a:endParaRPr kumimoji="1" lang="en-US" altLang="zh-CN" sz="1050" dirty="0"/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6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drools</a:t>
            </a:r>
            <a:r>
              <a:rPr lang="zh-CN" altLang="en-US" sz="16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作为德邦规则引擎的核心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DPAP</a:t>
            </a: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作为基础框架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RMI</a:t>
            </a: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服务作为规则管理接</a:t>
            </a:r>
            <a:r>
              <a:rPr lang="zh-CN" altLang="en-US" sz="16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口的实现架构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采用</a:t>
            </a:r>
            <a:r>
              <a:rPr lang="en-US" altLang="zh-CN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REDIS</a:t>
            </a:r>
            <a:r>
              <a:rPr lang="zh-CN" altLang="en-US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作为规则引擎平台的系统缓存</a:t>
            </a:r>
            <a:endParaRPr lang="en-US" altLang="zh-CN" sz="1600" b="1" baseline="-2500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采用</a:t>
            </a:r>
            <a:r>
              <a:rPr lang="en-US" altLang="zh-CN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ehcache</a:t>
            </a:r>
            <a:r>
              <a:rPr lang="zh-CN" altLang="en-US" sz="1600" b="1" baseline="-2500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作为二级缓存</a:t>
            </a:r>
            <a:endParaRPr lang="en-US" altLang="zh-CN" sz="16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409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开发架构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规则引擎运行平台</a:t>
            </a:r>
            <a:endParaRPr lang="zh-CN" sz="2000" dirty="0" smtClean="0"/>
          </a:p>
        </p:txBody>
      </p:sp>
      <p:sp>
        <p:nvSpPr>
          <p:cNvPr id="4" name="矩形 3"/>
          <p:cNvSpPr/>
          <p:nvPr/>
        </p:nvSpPr>
        <p:spPr>
          <a:xfrm>
            <a:off x="5292080" y="699542"/>
            <a:ext cx="3528392" cy="3960440"/>
          </a:xfrm>
          <a:prstGeom prst="rect">
            <a:avLst/>
          </a:prstGeom>
          <a:noFill/>
          <a:ln w="19050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4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08104" y="915566"/>
            <a:ext cx="3168352" cy="3108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zh-CN" sz="1400" dirty="0" smtClean="0"/>
              <a:t>com.primeton.brp4deppon</a:t>
            </a:r>
            <a:r>
              <a:rPr kumimoji="1" lang="zh-CN" altLang="en-US" sz="1400" dirty="0" smtClean="0"/>
              <a:t>是规则引擎运行平台的项目名（</a:t>
            </a:r>
            <a:r>
              <a:rPr kumimoji="1" lang="en-US" altLang="zh-CN" sz="1400" dirty="0" smtClean="0"/>
              <a:t>web Project）</a:t>
            </a:r>
          </a:p>
          <a:p>
            <a:pPr marL="342900" indent="-342900">
              <a:buAutoNum type="arabicPeriod"/>
            </a:pPr>
            <a:r>
              <a:rPr kumimoji="1" lang="en-US" altLang="en-US" sz="1400" dirty="0"/>
              <a:t>*</a:t>
            </a:r>
            <a:r>
              <a:rPr kumimoji="1" lang="en-US" altLang="zh-CN" sz="1400" dirty="0" smtClean="0"/>
              <a:t>.cache</a:t>
            </a:r>
            <a:r>
              <a:rPr kumimoji="1" lang="zh-CN" altLang="en-US" sz="1400" dirty="0" smtClean="0"/>
              <a:t> 包是存放缓存相关类</a:t>
            </a:r>
            <a:endParaRPr kumimoji="1" lang="en-US" altLang="zh-CN" sz="1400" dirty="0" smtClean="0"/>
          </a:p>
          <a:p>
            <a:pPr marL="342900" indent="-342900">
              <a:buAutoNum type="arabicPeriod"/>
            </a:pPr>
            <a:r>
              <a:rPr kumimoji="1" lang="en-US" altLang="zh-CN" sz="1400" dirty="0" smtClean="0"/>
              <a:t>*.core </a:t>
            </a:r>
            <a:r>
              <a:rPr kumimoji="1" lang="zh-CN" altLang="en-US" sz="1400" dirty="0" smtClean="0"/>
              <a:t>包是规则引擎平台的核心类</a:t>
            </a:r>
            <a:endParaRPr kumimoji="1" lang="en-US" altLang="zh-CN" sz="1400" dirty="0" smtClean="0"/>
          </a:p>
          <a:p>
            <a:pPr marL="342900" indent="-342900">
              <a:buAutoNum type="arabicPeriod"/>
            </a:pPr>
            <a:r>
              <a:rPr kumimoji="1" lang="en-US" altLang="zh-CN" sz="1400" dirty="0"/>
              <a:t>*</a:t>
            </a:r>
            <a:r>
              <a:rPr kumimoji="1" lang="en-US" altLang="zh-CN" sz="1400" dirty="0" smtClean="0"/>
              <a:t>.entity</a:t>
            </a:r>
            <a:r>
              <a:rPr kumimoji="1" lang="zh-CN" altLang="en-US" sz="1400" dirty="0" smtClean="0"/>
              <a:t>包是存放数据数据实体类</a:t>
            </a:r>
            <a:endParaRPr kumimoji="1" lang="en-US" altLang="zh-CN" sz="1400" dirty="0" smtClean="0"/>
          </a:p>
          <a:p>
            <a:pPr marL="342900" indent="-342900">
              <a:buAutoNum type="arabicPeriod"/>
            </a:pPr>
            <a:r>
              <a:rPr kumimoji="1" lang="en-US" altLang="zh-CN" sz="1400" dirty="0"/>
              <a:t>*</a:t>
            </a:r>
            <a:r>
              <a:rPr kumimoji="1" lang="en-US" altLang="zh-CN" sz="1400" dirty="0" smtClean="0"/>
              <a:t>.manager</a:t>
            </a:r>
            <a:r>
              <a:rPr kumimoji="1" lang="zh-CN" altLang="en-US" sz="1400" dirty="0" smtClean="0"/>
              <a:t>包存放规则引擎的管理类</a:t>
            </a:r>
            <a:endParaRPr kumimoji="1" lang="en-US" altLang="zh-CN" sz="1400" dirty="0" smtClean="0"/>
          </a:p>
          <a:p>
            <a:pPr marL="342900" indent="-342900">
              <a:buAutoNum type="arabicPeriod"/>
            </a:pPr>
            <a:r>
              <a:rPr kumimoji="1" lang="en-US" altLang="zh-CN" sz="1400" dirty="0" smtClean="0"/>
              <a:t>*.service</a:t>
            </a:r>
            <a:r>
              <a:rPr kumimoji="1" lang="zh-CN" altLang="en-US" sz="1400" dirty="0" smtClean="0"/>
              <a:t>包存放规则引擎平台的借口层。</a:t>
            </a:r>
            <a:endParaRPr kumimoji="1" lang="en-US" altLang="zh-CN" sz="1400" dirty="0" smtClean="0"/>
          </a:p>
          <a:p>
            <a:pPr marL="342900" indent="-342900">
              <a:buAutoNum type="arabicPeriod"/>
            </a:pPr>
            <a:r>
              <a:rPr kumimoji="1" lang="en-US" altLang="zh-CN" sz="1400" dirty="0"/>
              <a:t>*</a:t>
            </a:r>
            <a:r>
              <a:rPr kumimoji="1" lang="en-US" altLang="zh-CN" sz="1400" dirty="0" smtClean="0"/>
              <a:t>.</a:t>
            </a:r>
            <a:r>
              <a:rPr kumimoji="1" lang="en-US" altLang="zh-CN" sz="1400" dirty="0" err="1" smtClean="0"/>
              <a:t>util</a:t>
            </a:r>
            <a:r>
              <a:rPr kumimoji="1" lang="zh-CN" altLang="en-US" sz="1400" dirty="0" smtClean="0"/>
              <a:t>包存放工具类</a:t>
            </a:r>
            <a:r>
              <a:rPr kumimoji="1" lang="en-US" altLang="zh-CN" sz="1400" dirty="0" smtClean="0"/>
              <a:t> </a:t>
            </a:r>
          </a:p>
          <a:p>
            <a:pPr marL="342900" indent="-342900">
              <a:buAutoNum type="arabicPeriod"/>
            </a:pPr>
            <a:r>
              <a:rPr kumimoji="1" lang="en-US" altLang="zh-CN" sz="1400" dirty="0" err="1" smtClean="0"/>
              <a:t>Config</a:t>
            </a:r>
            <a:r>
              <a:rPr kumimoji="1" lang="zh-CN" altLang="en-US" sz="1400" dirty="0" smtClean="0"/>
              <a:t> 文件夹存放配置文件</a:t>
            </a:r>
            <a:endParaRPr kumimoji="1" lang="en-US" altLang="zh-CN" sz="1400" dirty="0" smtClean="0"/>
          </a:p>
          <a:p>
            <a:pPr marL="342900" indent="-342900">
              <a:buAutoNum type="arabicPeriod"/>
            </a:pPr>
            <a:r>
              <a:rPr kumimoji="1" lang="en-US" altLang="zh-CN" sz="1400" dirty="0" smtClean="0"/>
              <a:t>rule</a:t>
            </a:r>
            <a:r>
              <a:rPr kumimoji="1" lang="zh-CN" altLang="en-US" sz="1400" dirty="0" smtClean="0"/>
              <a:t>存放规则文件</a:t>
            </a:r>
            <a:endParaRPr kumimoji="1" lang="en-US" altLang="zh-CN" sz="1400" dirty="0" smtClean="0"/>
          </a:p>
          <a:p>
            <a:pPr marL="342900" indent="-342900">
              <a:buAutoNum type="arabicPeriod"/>
            </a:pPr>
            <a:r>
              <a:rPr kumimoji="1" lang="en-US" altLang="zh-CN" sz="1400" dirty="0" err="1" smtClean="0"/>
              <a:t>Sql</a:t>
            </a:r>
            <a:r>
              <a:rPr kumimoji="1" lang="zh-CN" altLang="en-US" sz="1400" dirty="0" smtClean="0"/>
              <a:t>存放数据库命名</a:t>
            </a:r>
            <a:r>
              <a:rPr kumimoji="1" lang="en-US" altLang="zh-CN" sz="1400" dirty="0" err="1" smtClean="0"/>
              <a:t>sql</a:t>
            </a:r>
            <a:endParaRPr kumimoji="1" lang="zh-CN" altLang="en-US" sz="1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24808"/>
            <a:ext cx="3744416" cy="400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30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开发架构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规则配置管理控制台</a:t>
            </a:r>
            <a:endParaRPr lang="zh-CN" sz="20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699542"/>
            <a:ext cx="4445000" cy="25908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292080" y="699542"/>
            <a:ext cx="3528392" cy="3960440"/>
          </a:xfrm>
          <a:prstGeom prst="rect">
            <a:avLst/>
          </a:prstGeom>
          <a:noFill/>
          <a:ln w="19050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zh-CN" sz="14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64088" y="843558"/>
            <a:ext cx="3240360" cy="2739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en-US" altLang="zh-CN" sz="1400" dirty="0" err="1" smtClean="0"/>
              <a:t>com.primeton.brs.deppon</a:t>
            </a:r>
            <a:r>
              <a:rPr kumimoji="1" lang="en-US" altLang="en-US" sz="1400" dirty="0" err="1" smtClean="0"/>
              <a:t>为规则开发管理控制台工程</a:t>
            </a:r>
            <a:r>
              <a:rPr kumimoji="1" lang="en-US" altLang="en-US" sz="1400" dirty="0" smtClean="0"/>
              <a:t>。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 smtClean="0"/>
              <a:t>*</a:t>
            </a:r>
            <a:r>
              <a:rPr kumimoji="1" lang="en-US" altLang="zh-CN" sz="1400" dirty="0" smtClean="0"/>
              <a:t>.base </a:t>
            </a:r>
            <a:r>
              <a:rPr kumimoji="1" lang="zh-CN" altLang="en-US" sz="1400" dirty="0" smtClean="0"/>
              <a:t>构建包是基础模块的构建包，存放数据同步，缓存同步，规则部署等内容</a:t>
            </a:r>
            <a:endParaRPr kumimoji="1" lang="en-US" altLang="zh-CN" sz="1400" dirty="0" smtClean="0"/>
          </a:p>
          <a:p>
            <a:pPr marL="342900" indent="-342900">
              <a:buFont typeface="+mj-lt"/>
              <a:buAutoNum type="arabicPeriod"/>
            </a:pPr>
            <a:r>
              <a:rPr kumimoji="1" lang="en-US" altLang="en-US" sz="1400" dirty="0" smtClean="0"/>
              <a:t>*.</a:t>
            </a:r>
            <a:r>
              <a:rPr kumimoji="1" lang="en-US" altLang="en-US" sz="1400" dirty="0" err="1" smtClean="0"/>
              <a:t>fossbase</a:t>
            </a:r>
            <a:r>
              <a:rPr kumimoji="1" lang="en-US" altLang="en-US" sz="1400" dirty="0" smtClean="0"/>
              <a:t> 构建包存放业务数据初始化相关内容。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en-US" sz="1400" dirty="0"/>
              <a:t>*</a:t>
            </a:r>
            <a:r>
              <a:rPr kumimoji="1" lang="en-US" altLang="en-US" sz="1400" dirty="0" smtClean="0"/>
              <a:t>.</a:t>
            </a:r>
            <a:r>
              <a:rPr kumimoji="1" lang="en-US" altLang="zh-CN" sz="1400" dirty="0" err="1" smtClean="0"/>
              <a:t>r</a:t>
            </a:r>
            <a:r>
              <a:rPr kumimoji="1" lang="en-US" altLang="en-US" sz="1400" dirty="0" err="1" smtClean="0"/>
              <a:t>uleeditor存放规则编辑器的相关内容</a:t>
            </a:r>
            <a:endParaRPr kumimoji="1" lang="en-US" altLang="en-US" sz="1400" dirty="0" smtClean="0"/>
          </a:p>
          <a:p>
            <a:pPr marL="342900" indent="-342900">
              <a:buFont typeface="+mj-lt"/>
              <a:buAutoNum type="arabicPeriod"/>
            </a:pPr>
            <a:r>
              <a:rPr kumimoji="1" lang="en-US" altLang="en-US" sz="1400" dirty="0"/>
              <a:t>*</a:t>
            </a:r>
            <a:r>
              <a:rPr kumimoji="1" lang="en-US" altLang="en-US" sz="1400" dirty="0" smtClean="0"/>
              <a:t>.</a:t>
            </a:r>
            <a:r>
              <a:rPr kumimoji="1" lang="en-US" altLang="zh-CN" sz="1400" dirty="0" err="1" smtClean="0"/>
              <a:t>r</a:t>
            </a:r>
            <a:r>
              <a:rPr kumimoji="1" lang="en-US" altLang="en-US" sz="1400" dirty="0" err="1" smtClean="0"/>
              <a:t>uleresposity存放规则版本库的相关内容</a:t>
            </a:r>
            <a:r>
              <a:rPr kumimoji="1" lang="en-US" altLang="en-US" sz="1400" dirty="0" smtClean="0"/>
              <a:t>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122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endParaRPr lang="zh-CN" sz="2800" dirty="0" smtClean="0"/>
          </a:p>
        </p:txBody>
      </p: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2840686" y="2073313"/>
            <a:ext cx="186727" cy="136817"/>
            <a:chOff x="0" y="0"/>
            <a:chExt cx="314991" cy="377988"/>
          </a:xfrm>
        </p:grpSpPr>
        <p:sp>
          <p:nvSpPr>
            <p:cNvPr id="6" name="直接连接符 38"/>
            <p:cNvSpPr>
              <a:spLocks noChangeShapeType="1"/>
            </p:cNvSpPr>
            <p:nvPr/>
          </p:nvSpPr>
          <p:spPr bwMode="auto">
            <a:xfrm flipV="1">
              <a:off x="0" y="340306"/>
              <a:ext cx="314991" cy="9867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直接连接符 42"/>
            <p:cNvSpPr>
              <a:spLocks noChangeShapeType="1"/>
            </p:cNvSpPr>
            <p:nvPr/>
          </p:nvSpPr>
          <p:spPr bwMode="auto">
            <a:xfrm rot="5400000" flipV="1">
              <a:off x="130573" y="162598"/>
              <a:ext cx="315780" cy="198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直接连接符 46"/>
            <p:cNvSpPr>
              <a:spLocks noChangeShapeType="1"/>
            </p:cNvSpPr>
            <p:nvPr/>
          </p:nvSpPr>
          <p:spPr bwMode="auto">
            <a:xfrm rot="2700000" flipV="1">
              <a:off x="-53051" y="185704"/>
              <a:ext cx="377988" cy="6579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" name="矩形 23"/>
          <p:cNvSpPr>
            <a:spLocks noChangeArrowheads="1"/>
          </p:cNvSpPr>
          <p:nvPr/>
        </p:nvSpPr>
        <p:spPr bwMode="auto">
          <a:xfrm>
            <a:off x="3196103" y="1866087"/>
            <a:ext cx="1987965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逻辑架构</a:t>
            </a:r>
            <a:endParaRPr lang="en-US" dirty="0"/>
          </a:p>
        </p:txBody>
      </p:sp>
      <p:grpSp>
        <p:nvGrpSpPr>
          <p:cNvPr id="10" name="Group 21"/>
          <p:cNvGrpSpPr>
            <a:grpSpLocks/>
          </p:cNvGrpSpPr>
          <p:nvPr/>
        </p:nvGrpSpPr>
        <p:grpSpPr bwMode="auto">
          <a:xfrm>
            <a:off x="2840686" y="2544444"/>
            <a:ext cx="186727" cy="136817"/>
            <a:chOff x="0" y="-1499"/>
            <a:chExt cx="314991" cy="377988"/>
          </a:xfrm>
        </p:grpSpPr>
        <p:sp>
          <p:nvSpPr>
            <p:cNvPr id="11" name="直接连接符 32"/>
            <p:cNvSpPr>
              <a:spLocks noChangeShapeType="1"/>
            </p:cNvSpPr>
            <p:nvPr/>
          </p:nvSpPr>
          <p:spPr bwMode="auto">
            <a:xfrm flipV="1">
              <a:off x="0" y="338807"/>
              <a:ext cx="314991" cy="9867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直接连接符 33"/>
            <p:cNvSpPr>
              <a:spLocks noChangeShapeType="1"/>
            </p:cNvSpPr>
            <p:nvPr/>
          </p:nvSpPr>
          <p:spPr bwMode="auto">
            <a:xfrm rot="5400000" flipV="1">
              <a:off x="130575" y="161100"/>
              <a:ext cx="315780" cy="19894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直接连接符 34"/>
            <p:cNvSpPr>
              <a:spLocks noChangeShapeType="1"/>
            </p:cNvSpPr>
            <p:nvPr/>
          </p:nvSpPr>
          <p:spPr bwMode="auto">
            <a:xfrm rot="2700000" flipV="1">
              <a:off x="-53051" y="184205"/>
              <a:ext cx="377988" cy="6579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矩形 25"/>
          <p:cNvSpPr>
            <a:spLocks noChangeArrowheads="1"/>
          </p:cNvSpPr>
          <p:nvPr/>
        </p:nvSpPr>
        <p:spPr bwMode="auto">
          <a:xfrm>
            <a:off x="3194482" y="2342035"/>
            <a:ext cx="1987966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物理架构</a:t>
            </a:r>
            <a:endParaRPr lang="en-US" dirty="0"/>
          </a:p>
        </p:txBody>
      </p:sp>
      <p:sp>
        <p:nvSpPr>
          <p:cNvPr id="15" name="直接连接符 28"/>
          <p:cNvSpPr>
            <a:spLocks noChangeShapeType="1"/>
          </p:cNvSpPr>
          <p:nvPr/>
        </p:nvSpPr>
        <p:spPr bwMode="auto">
          <a:xfrm rot="5400000">
            <a:off x="612542" y="2930809"/>
            <a:ext cx="2016225" cy="1966"/>
          </a:xfrm>
          <a:prstGeom prst="line">
            <a:avLst/>
          </a:prstGeom>
          <a:noFill/>
          <a:ln w="50800" cmpd="thickThin">
            <a:solidFill>
              <a:srgbClr val="3F315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组合 2"/>
          <p:cNvGrpSpPr/>
          <p:nvPr/>
        </p:nvGrpSpPr>
        <p:grpSpPr>
          <a:xfrm>
            <a:off x="2840686" y="3015575"/>
            <a:ext cx="186727" cy="168053"/>
            <a:chOff x="3535234" y="3437684"/>
            <a:chExt cx="186727" cy="168053"/>
          </a:xfrm>
        </p:grpSpPr>
        <p:sp>
          <p:nvSpPr>
            <p:cNvPr id="18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19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20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  <p:sp>
        <p:nvSpPr>
          <p:cNvPr id="21" name="矩形 25"/>
          <p:cNvSpPr>
            <a:spLocks noChangeArrowheads="1"/>
          </p:cNvSpPr>
          <p:nvPr/>
        </p:nvSpPr>
        <p:spPr bwMode="auto">
          <a:xfrm>
            <a:off x="3204950" y="2832385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en-US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运行架构</a:t>
            </a:r>
            <a:endParaRPr lang="en-US" dirty="0"/>
          </a:p>
        </p:txBody>
      </p:sp>
      <p:sp>
        <p:nvSpPr>
          <p:cNvPr id="22" name="圆角矩形 21"/>
          <p:cNvSpPr/>
          <p:nvPr/>
        </p:nvSpPr>
        <p:spPr>
          <a:xfrm>
            <a:off x="2267745" y="3887538"/>
            <a:ext cx="3600400" cy="412404"/>
          </a:xfrm>
          <a:prstGeom prst="roundRect">
            <a:avLst/>
          </a:prstGeom>
          <a:noFill/>
          <a:ln w="38100" cmpd="sng"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3"/>
          <p:cNvSpPr/>
          <p:nvPr/>
        </p:nvSpPr>
        <p:spPr>
          <a:xfrm>
            <a:off x="1619672" y="699542"/>
            <a:ext cx="4187957" cy="642943"/>
          </a:xfrm>
          <a:prstGeom prst="rect">
            <a:avLst/>
          </a:prstGeom>
          <a:solidFill>
            <a:srgbClr val="373C64">
              <a:alpha val="74902"/>
            </a:srgbClr>
          </a:solidFill>
          <a:ln>
            <a:solidFill>
              <a:srgbClr val="373C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总体架构</a:t>
            </a:r>
            <a:endParaRPr lang="en-US" altLang="zh-CN" b="1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8" name="组合 2"/>
          <p:cNvGrpSpPr/>
          <p:nvPr/>
        </p:nvGrpSpPr>
        <p:grpSpPr>
          <a:xfrm>
            <a:off x="2843808" y="3455162"/>
            <a:ext cx="186727" cy="168053"/>
            <a:chOff x="3535234" y="3437684"/>
            <a:chExt cx="186727" cy="168053"/>
          </a:xfrm>
        </p:grpSpPr>
        <p:sp>
          <p:nvSpPr>
            <p:cNvPr id="29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0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1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  <p:sp>
        <p:nvSpPr>
          <p:cNvPr id="32" name="矩形 25"/>
          <p:cNvSpPr>
            <a:spLocks noChangeArrowheads="1"/>
          </p:cNvSpPr>
          <p:nvPr/>
        </p:nvSpPr>
        <p:spPr bwMode="auto">
          <a:xfrm>
            <a:off x="3203848" y="3311146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zh-CN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开发架构</a:t>
            </a:r>
            <a:endParaRPr lang="en-US" dirty="0"/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3203848" y="3795886"/>
            <a:ext cx="1987966" cy="48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2" tIns="45716" rIns="91432" bIns="45716">
            <a:spAutoFit/>
          </a:bodyPr>
          <a:lstStyle/>
          <a:p>
            <a:pPr marL="342866" indent="-342866">
              <a:lnSpc>
                <a:spcPct val="150000"/>
              </a:lnSpc>
            </a:pPr>
            <a:r>
              <a:rPr lang="zh-CN" altLang="zh-CN" b="1" dirty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en-US" altLang="zh-CN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 </a:t>
            </a:r>
            <a:r>
              <a:rPr lang="zh-CN" altLang="en-US" b="1" dirty="0" smtClean="0">
                <a:solidFill>
                  <a:srgbClr val="3F315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部署流程</a:t>
            </a:r>
            <a:endParaRPr lang="en-US" dirty="0"/>
          </a:p>
        </p:txBody>
      </p:sp>
      <p:grpSp>
        <p:nvGrpSpPr>
          <p:cNvPr id="33" name="组合 2"/>
          <p:cNvGrpSpPr/>
          <p:nvPr/>
        </p:nvGrpSpPr>
        <p:grpSpPr>
          <a:xfrm>
            <a:off x="2843808" y="3987873"/>
            <a:ext cx="186727" cy="168053"/>
            <a:chOff x="3535234" y="3437684"/>
            <a:chExt cx="186727" cy="168053"/>
          </a:xfrm>
        </p:grpSpPr>
        <p:sp>
          <p:nvSpPr>
            <p:cNvPr id="34" name="直接连接符 32"/>
            <p:cNvSpPr>
              <a:spLocks noChangeShapeType="1"/>
            </p:cNvSpPr>
            <p:nvPr/>
          </p:nvSpPr>
          <p:spPr bwMode="auto">
            <a:xfrm flipV="1">
              <a:off x="3535234" y="3576480"/>
              <a:ext cx="186727" cy="3571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5" name="直接连接符 33"/>
            <p:cNvSpPr>
              <a:spLocks noChangeShapeType="1"/>
            </p:cNvSpPr>
            <p:nvPr/>
          </p:nvSpPr>
          <p:spPr bwMode="auto">
            <a:xfrm rot="5400000" flipV="1">
              <a:off x="3649079" y="3509861"/>
              <a:ext cx="114300" cy="11793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  <p:sp>
          <p:nvSpPr>
            <p:cNvPr id="36" name="直接连接符 34"/>
            <p:cNvSpPr>
              <a:spLocks noChangeShapeType="1"/>
            </p:cNvSpPr>
            <p:nvPr/>
          </p:nvSpPr>
          <p:spPr bwMode="auto">
            <a:xfrm rot="2700000" flipV="1">
              <a:off x="3531795" y="3520123"/>
              <a:ext cx="168053" cy="3175"/>
            </a:xfrm>
            <a:prstGeom prst="line">
              <a:avLst/>
            </a:prstGeom>
            <a:noFill/>
            <a:ln w="25400" cmpd="thickThin">
              <a:solidFill>
                <a:srgbClr val="5F497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1432" tIns="45716" rIns="91432" bIns="45716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519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部署流程</a:t>
            </a:r>
            <a:endParaRPr lang="zh-CN" sz="2000" dirty="0" smtClean="0"/>
          </a:p>
        </p:txBody>
      </p:sp>
      <p:sp>
        <p:nvSpPr>
          <p:cNvPr id="59" name="矩形 58"/>
          <p:cNvSpPr/>
          <p:nvPr/>
        </p:nvSpPr>
        <p:spPr>
          <a:xfrm>
            <a:off x="6657006" y="627534"/>
            <a:ext cx="223547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部署流程</a:t>
            </a:r>
            <a:endParaRPr kumimoji="1" lang="en-US" altLang="zh-CN" sz="1400" dirty="0"/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开发角色分为：规则配置员、规则测试员、规则管理员、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流程分为三个阶段：开发阶段、测试阶段、部署阶段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规则开发员负责根据规则调整需求调整规则，并将规则导出成</a:t>
            </a:r>
            <a:r>
              <a:rPr lang="en-US" altLang="zh-CN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excel</a:t>
            </a: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，提交给测试人员。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测试人员经</a:t>
            </a:r>
            <a:r>
              <a:rPr lang="en-US" altLang="zh-CN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excel</a:t>
            </a: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导入规则引擎并激活，根据业务需求测试所有规则。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测试完毕后，规则管理员将</a:t>
            </a:r>
            <a:r>
              <a:rPr lang="en-US" altLang="zh-CN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excel</a:t>
            </a:r>
            <a:r>
              <a:rPr lang="zh-CN" altLang="en-US" sz="16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中得规则导入到生产环境，并激活所有规则。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55527"/>
            <a:ext cx="6557309" cy="453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9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2" y="67588"/>
            <a:ext cx="184714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6" rIns="91432" bIns="45716" anchor="ctr">
            <a:spAutoFit/>
          </a:bodyPr>
          <a:lstStyle/>
          <a:p>
            <a:endParaRPr lang="zh-CN" altLang="en-US" sz="1600">
              <a:latin typeface="Calibri" pitchFamily="34" charset="0"/>
            </a:endParaRPr>
          </a:p>
        </p:txBody>
      </p:sp>
      <p:sp>
        <p:nvSpPr>
          <p:cNvPr id="8" name="TextBox 30"/>
          <p:cNvSpPr txBox="1">
            <a:spLocks noChangeArrowheads="1"/>
          </p:cNvSpPr>
          <p:nvPr/>
        </p:nvSpPr>
        <p:spPr bwMode="auto">
          <a:xfrm>
            <a:off x="555631" y="15471"/>
            <a:ext cx="8215313" cy="553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目录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9"/>
          <p:cNvGrpSpPr>
            <a:grpSpLocks/>
          </p:cNvGrpSpPr>
          <p:nvPr/>
        </p:nvGrpSpPr>
        <p:grpSpPr bwMode="auto">
          <a:xfrm rot="10800000">
            <a:off x="369889" y="218646"/>
            <a:ext cx="273051" cy="98822"/>
            <a:chOff x="8299450" y="542925"/>
            <a:chExt cx="415925" cy="214313"/>
          </a:xfrm>
        </p:grpSpPr>
        <p:sp>
          <p:nvSpPr>
            <p:cNvPr id="10" name="燕尾形 9"/>
            <p:cNvSpPr>
              <a:spLocks noChangeArrowheads="1"/>
            </p:cNvSpPr>
            <p:nvPr/>
          </p:nvSpPr>
          <p:spPr bwMode="auto">
            <a:xfrm flipH="1">
              <a:off x="8415522" y="542925"/>
              <a:ext cx="215218" cy="214313"/>
            </a:xfrm>
            <a:prstGeom prst="chevron">
              <a:avLst>
                <a:gd name="adj" fmla="val 50000"/>
              </a:avLst>
            </a:prstGeom>
            <a:solidFill>
              <a:schemeClr val="accent4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燕尾形 10"/>
            <p:cNvSpPr/>
            <p:nvPr/>
          </p:nvSpPr>
          <p:spPr bwMode="auto">
            <a:xfrm flipH="1">
              <a:off x="8621067" y="542925"/>
              <a:ext cx="215216" cy="214313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4211960" y="987574"/>
            <a:ext cx="0" cy="25202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3479506" y="2463570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479506" y="3075554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8" name="TextBox 43"/>
          <p:cNvSpPr txBox="1"/>
          <p:nvPr/>
        </p:nvSpPr>
        <p:spPr bwMode="auto">
          <a:xfrm>
            <a:off x="203516" y="1933680"/>
            <a:ext cx="121058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目录</a:t>
            </a:r>
          </a:p>
        </p:txBody>
      </p:sp>
      <p:sp>
        <p:nvSpPr>
          <p:cNvPr id="29" name="矩形 28"/>
          <p:cNvSpPr/>
          <p:nvPr/>
        </p:nvSpPr>
        <p:spPr bwMode="auto">
          <a:xfrm>
            <a:off x="971865" y="2562184"/>
            <a:ext cx="288000" cy="38500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0" name="TextBox 45"/>
          <p:cNvSpPr txBox="1"/>
          <p:nvPr/>
        </p:nvSpPr>
        <p:spPr bwMode="auto">
          <a:xfrm>
            <a:off x="874499" y="2455027"/>
            <a:ext cx="14911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ontents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 bwMode="auto">
          <a:xfrm>
            <a:off x="1738099" y="2454641"/>
            <a:ext cx="13440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479506" y="1239602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479506" y="1851586"/>
            <a:ext cx="192617" cy="1083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/>
              </a:rPr>
              <a:t>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6" name="圆角矩形 3"/>
          <p:cNvSpPr/>
          <p:nvPr/>
        </p:nvSpPr>
        <p:spPr>
          <a:xfrm>
            <a:off x="4560507" y="2025310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三</a:t>
            </a:r>
            <a:r>
              <a:rPr lang="zh-CN" altLang="en-US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、概念架构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圆角矩形 3"/>
          <p:cNvSpPr/>
          <p:nvPr/>
        </p:nvSpPr>
        <p:spPr>
          <a:xfrm>
            <a:off x="4560507" y="2688194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四、总体架构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圆角矩形 3"/>
          <p:cNvSpPr/>
          <p:nvPr/>
        </p:nvSpPr>
        <p:spPr>
          <a:xfrm>
            <a:off x="4560507" y="699542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一、系统上下文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圆角矩形 3"/>
          <p:cNvSpPr/>
          <p:nvPr/>
        </p:nvSpPr>
        <p:spPr>
          <a:xfrm>
            <a:off x="4560507" y="1362426"/>
            <a:ext cx="4187957" cy="504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二、实施范围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圆角矩形 3"/>
          <p:cNvSpPr/>
          <p:nvPr/>
        </p:nvSpPr>
        <p:spPr>
          <a:xfrm>
            <a:off x="4572000" y="3319294"/>
            <a:ext cx="4187957" cy="504000"/>
          </a:xfrm>
          <a:prstGeom prst="rect">
            <a:avLst/>
          </a:prstGeom>
          <a:solidFill>
            <a:srgbClr val="373C64">
              <a:alpha val="7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五、规则设计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332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规则设计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关键模型视图（规则模型）</a:t>
            </a:r>
            <a:endParaRPr lang="zh-CN" sz="2000" dirty="0" smtClean="0"/>
          </a:p>
        </p:txBody>
      </p:sp>
      <p:sp>
        <p:nvSpPr>
          <p:cNvPr id="59" name="矩形 58"/>
          <p:cNvSpPr/>
          <p:nvPr/>
        </p:nvSpPr>
        <p:spPr>
          <a:xfrm>
            <a:off x="6657006" y="627534"/>
            <a:ext cx="223547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规则模型</a:t>
            </a:r>
            <a:endParaRPr kumimoji="1" lang="en-US" altLang="zh-CN" sz="1400" dirty="0"/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规则业务域与系统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模块是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1: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多得关系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系统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模块与规则类型是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1: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多得关系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规则类型与规则方案是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：多得关系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规则方案与规则项是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：多得关系。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115616" y="978438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规则业务域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843808" y="987574"/>
            <a:ext cx="84055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系统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模块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2871219" y="1995686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规则类型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2816397" y="3147854"/>
            <a:ext cx="897584" cy="36000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规则方案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501505" y="3154832"/>
            <a:ext cx="900000" cy="36000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规则项</a:t>
            </a:r>
            <a:endParaRPr kumimoji="1" lang="en-US" altLang="zh-CN" sz="1050" b="1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0" name="直线连接符 79"/>
          <p:cNvCxnSpPr>
            <a:stCxn id="75" idx="3"/>
            <a:endCxn id="76" idx="1"/>
          </p:cNvCxnSpPr>
          <p:nvPr/>
        </p:nvCxnSpPr>
        <p:spPr>
          <a:xfrm>
            <a:off x="1979712" y="1158458"/>
            <a:ext cx="864096" cy="9136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979712" y="915566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81" name="文本框 80"/>
          <p:cNvSpPr txBox="1"/>
          <p:nvPr/>
        </p:nvSpPr>
        <p:spPr>
          <a:xfrm>
            <a:off x="2555776" y="915566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100" dirty="0"/>
              <a:t>*</a:t>
            </a:r>
            <a:endParaRPr kumimoji="1" lang="zh-CN" altLang="en-US" sz="1100" dirty="0"/>
          </a:p>
        </p:txBody>
      </p:sp>
      <p:cxnSp>
        <p:nvCxnSpPr>
          <p:cNvPr id="82" name="直线连接符 81"/>
          <p:cNvCxnSpPr>
            <a:stCxn id="76" idx="2"/>
            <a:endCxn id="77" idx="0"/>
          </p:cNvCxnSpPr>
          <p:nvPr/>
        </p:nvCxnSpPr>
        <p:spPr>
          <a:xfrm>
            <a:off x="3264087" y="1347614"/>
            <a:ext cx="3176" cy="648072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3347864" y="1347614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84" name="文本框 83"/>
          <p:cNvSpPr txBox="1"/>
          <p:nvPr/>
        </p:nvSpPr>
        <p:spPr>
          <a:xfrm>
            <a:off x="3347864" y="1779662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100" dirty="0"/>
              <a:t>*</a:t>
            </a:r>
            <a:endParaRPr kumimoji="1" lang="zh-CN" altLang="en-US" sz="1100" dirty="0"/>
          </a:p>
        </p:txBody>
      </p:sp>
      <p:cxnSp>
        <p:nvCxnSpPr>
          <p:cNvPr id="85" name="直线连接符 84"/>
          <p:cNvCxnSpPr>
            <a:stCxn id="77" idx="2"/>
            <a:endCxn id="78" idx="0"/>
          </p:cNvCxnSpPr>
          <p:nvPr/>
        </p:nvCxnSpPr>
        <p:spPr>
          <a:xfrm flipH="1">
            <a:off x="3265189" y="2355726"/>
            <a:ext cx="2074" cy="792128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3347864" y="2427734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87" name="文本框 86"/>
          <p:cNvSpPr txBox="1"/>
          <p:nvPr/>
        </p:nvSpPr>
        <p:spPr>
          <a:xfrm>
            <a:off x="3347864" y="2931790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100" dirty="0"/>
              <a:t>*</a:t>
            </a:r>
            <a:endParaRPr kumimoji="1" lang="zh-CN" altLang="en-US" sz="1100" dirty="0"/>
          </a:p>
        </p:txBody>
      </p:sp>
      <p:cxnSp>
        <p:nvCxnSpPr>
          <p:cNvPr id="88" name="直线连接符 87"/>
          <p:cNvCxnSpPr>
            <a:stCxn id="78" idx="3"/>
            <a:endCxn id="79" idx="1"/>
          </p:cNvCxnSpPr>
          <p:nvPr/>
        </p:nvCxnSpPr>
        <p:spPr>
          <a:xfrm>
            <a:off x="3713981" y="3327854"/>
            <a:ext cx="787524" cy="6978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/>
        </p:nvSpPr>
        <p:spPr>
          <a:xfrm>
            <a:off x="3707904" y="3075806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90" name="文本框 89"/>
          <p:cNvSpPr txBox="1"/>
          <p:nvPr/>
        </p:nvSpPr>
        <p:spPr>
          <a:xfrm>
            <a:off x="4283968" y="3075806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100" dirty="0"/>
              <a:t>*</a:t>
            </a:r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6587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规则设计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关键模型视图（规则模型）</a:t>
            </a:r>
            <a:endParaRPr lang="zh-CN" sz="2000" dirty="0" smtClean="0"/>
          </a:p>
        </p:txBody>
      </p:sp>
      <p:sp>
        <p:nvSpPr>
          <p:cNvPr id="4" name="矩形 3"/>
          <p:cNvSpPr/>
          <p:nvPr/>
        </p:nvSpPr>
        <p:spPr>
          <a:xfrm>
            <a:off x="275058" y="915566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域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99194" y="915566"/>
            <a:ext cx="55252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折扣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5058" y="2859782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规则业务域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 2</a:t>
            </a:r>
          </a:p>
        </p:txBody>
      </p:sp>
      <p:sp>
        <p:nvSpPr>
          <p:cNvPr id="7" name="矩形 6"/>
          <p:cNvSpPr/>
          <p:nvPr/>
        </p:nvSpPr>
        <p:spPr>
          <a:xfrm>
            <a:off x="275058" y="3939902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规则业务域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N</a:t>
            </a:r>
          </a:p>
        </p:txBody>
      </p:sp>
      <p:sp>
        <p:nvSpPr>
          <p:cNvPr id="8" name="矩形 7"/>
          <p:cNvSpPr/>
          <p:nvPr/>
        </p:nvSpPr>
        <p:spPr>
          <a:xfrm>
            <a:off x="1499194" y="1779662"/>
            <a:ext cx="50405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系统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 2</a:t>
            </a:r>
          </a:p>
        </p:txBody>
      </p:sp>
      <p:sp>
        <p:nvSpPr>
          <p:cNvPr id="9" name="矩形 8"/>
          <p:cNvSpPr/>
          <p:nvPr/>
        </p:nvSpPr>
        <p:spPr>
          <a:xfrm>
            <a:off x="1499194" y="2283718"/>
            <a:ext cx="50405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系统</a:t>
            </a:r>
            <a:r>
              <a:rPr kumimoji="1" lang="en-US" altLang="zh-CN" sz="105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  N</a:t>
            </a:r>
          </a:p>
        </p:txBody>
      </p:sp>
      <p:sp>
        <p:nvSpPr>
          <p:cNvPr id="10" name="矩形 9"/>
          <p:cNvSpPr/>
          <p:nvPr/>
        </p:nvSpPr>
        <p:spPr>
          <a:xfrm>
            <a:off x="4506504" y="977574"/>
            <a:ext cx="897584" cy="226024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规则方案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06504" y="1337614"/>
            <a:ext cx="897584" cy="226024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规则方案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12" name="矩形 11"/>
          <p:cNvSpPr/>
          <p:nvPr/>
        </p:nvSpPr>
        <p:spPr>
          <a:xfrm>
            <a:off x="4506504" y="1697654"/>
            <a:ext cx="897584" cy="226024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规则方案 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N</a:t>
            </a:r>
          </a:p>
        </p:txBody>
      </p:sp>
      <p:sp>
        <p:nvSpPr>
          <p:cNvPr id="13" name="矩形 12"/>
          <p:cNvSpPr/>
          <p:nvPr/>
        </p:nvSpPr>
        <p:spPr>
          <a:xfrm>
            <a:off x="5796136" y="977574"/>
            <a:ext cx="576064" cy="216024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V1.1.1</a:t>
            </a:r>
          </a:p>
        </p:txBody>
      </p:sp>
      <p:sp>
        <p:nvSpPr>
          <p:cNvPr id="14" name="矩形 13"/>
          <p:cNvSpPr/>
          <p:nvPr/>
        </p:nvSpPr>
        <p:spPr>
          <a:xfrm>
            <a:off x="5796136" y="1265606"/>
            <a:ext cx="576064" cy="216024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V1.1.2</a:t>
            </a:r>
          </a:p>
        </p:txBody>
      </p:sp>
      <p:sp>
        <p:nvSpPr>
          <p:cNvPr id="15" name="矩形 14"/>
          <p:cNvSpPr/>
          <p:nvPr/>
        </p:nvSpPr>
        <p:spPr>
          <a:xfrm>
            <a:off x="5796136" y="1553638"/>
            <a:ext cx="576064" cy="216024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V1.2.2</a:t>
            </a:r>
          </a:p>
        </p:txBody>
      </p:sp>
      <p:cxnSp>
        <p:nvCxnSpPr>
          <p:cNvPr id="16" name="直线连接符 15"/>
          <p:cNvCxnSpPr/>
          <p:nvPr/>
        </p:nvCxnSpPr>
        <p:spPr>
          <a:xfrm>
            <a:off x="107504" y="1153598"/>
            <a:ext cx="0" cy="3024336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/>
          <p:cNvCxnSpPr/>
          <p:nvPr/>
        </p:nvCxnSpPr>
        <p:spPr>
          <a:xfrm>
            <a:off x="107504" y="1153598"/>
            <a:ext cx="135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/>
        </p:nvCxnSpPr>
        <p:spPr>
          <a:xfrm>
            <a:off x="131042" y="3025806"/>
            <a:ext cx="135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/>
          <p:cNvCxnSpPr/>
          <p:nvPr/>
        </p:nvCxnSpPr>
        <p:spPr>
          <a:xfrm>
            <a:off x="107504" y="4177934"/>
            <a:ext cx="135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35"/>
          <p:cNvCxnSpPr/>
          <p:nvPr/>
        </p:nvCxnSpPr>
        <p:spPr>
          <a:xfrm>
            <a:off x="1139154" y="1131590"/>
            <a:ext cx="360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线连接符 36"/>
          <p:cNvCxnSpPr/>
          <p:nvPr/>
        </p:nvCxnSpPr>
        <p:spPr>
          <a:xfrm>
            <a:off x="1283170" y="1131590"/>
            <a:ext cx="0" cy="1368152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42"/>
          <p:cNvCxnSpPr/>
          <p:nvPr/>
        </p:nvCxnSpPr>
        <p:spPr>
          <a:xfrm>
            <a:off x="1291555" y="1923678"/>
            <a:ext cx="180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/>
          <p:cNvCxnSpPr/>
          <p:nvPr/>
        </p:nvCxnSpPr>
        <p:spPr>
          <a:xfrm>
            <a:off x="1283170" y="2499742"/>
            <a:ext cx="180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线连接符 46"/>
          <p:cNvCxnSpPr/>
          <p:nvPr/>
        </p:nvCxnSpPr>
        <p:spPr>
          <a:xfrm>
            <a:off x="4139952" y="1121590"/>
            <a:ext cx="360040" cy="1000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/>
          <p:cNvCxnSpPr/>
          <p:nvPr/>
        </p:nvCxnSpPr>
        <p:spPr>
          <a:xfrm>
            <a:off x="4312831" y="1121590"/>
            <a:ext cx="0" cy="648072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/>
          <p:cNvCxnSpPr/>
          <p:nvPr/>
        </p:nvCxnSpPr>
        <p:spPr>
          <a:xfrm>
            <a:off x="4317456" y="1448406"/>
            <a:ext cx="180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/>
          <p:cNvCxnSpPr/>
          <p:nvPr/>
        </p:nvCxnSpPr>
        <p:spPr>
          <a:xfrm>
            <a:off x="4317456" y="1802886"/>
            <a:ext cx="180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/>
          <p:cNvCxnSpPr/>
          <p:nvPr/>
        </p:nvCxnSpPr>
        <p:spPr>
          <a:xfrm>
            <a:off x="5400136" y="1088366"/>
            <a:ext cx="396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/>
          <p:cNvCxnSpPr/>
          <p:nvPr/>
        </p:nvCxnSpPr>
        <p:spPr>
          <a:xfrm>
            <a:off x="5508104" y="1111894"/>
            <a:ext cx="0" cy="612876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/>
          <p:cNvCxnSpPr/>
          <p:nvPr/>
        </p:nvCxnSpPr>
        <p:spPr>
          <a:xfrm>
            <a:off x="5508104" y="1399926"/>
            <a:ext cx="360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/>
          <p:cNvCxnSpPr/>
          <p:nvPr/>
        </p:nvCxnSpPr>
        <p:spPr>
          <a:xfrm>
            <a:off x="5521948" y="1674126"/>
            <a:ext cx="396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6657006" y="627534"/>
            <a:ext cx="223547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规则运行平台规则模型</a:t>
            </a:r>
            <a:endParaRPr kumimoji="1" lang="en-US" altLang="zh-CN" sz="1400" dirty="0"/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规则模型采用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：业务域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系统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规则类型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规则方案</a:t>
            </a:r>
            <a:r>
              <a:rPr lang="zh-CN" altLang="zh-CN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版本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规则项 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级模型描述所有规则</a:t>
            </a:r>
            <a:endParaRPr lang="en-US" altLang="zh-CN" sz="14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业务域是是某一类业务系统</a:t>
            </a:r>
            <a:r>
              <a:rPr lang="zh-CN" altLang="en-US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的总称，一个业务域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下有多个系统</a:t>
            </a:r>
            <a:r>
              <a:rPr lang="zh-CN" altLang="en-US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例如：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业务域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系统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模块，只业务域下某一个具体的系统（模块）。一个系统下有多个业务规则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规则类型是某一类业务规则的集合。例如：运费折扣。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规则类型分多个版本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规则方案描述一组具有相似业务规则的组合。例如：阿里诚信通客户运费折扣方案。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规则版本指的是某一规则在不同时间版本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规则项描述了某一规则方案中一条具体的业务规则</a:t>
            </a:r>
            <a:endParaRPr lang="en-US" altLang="zh-CN" sz="14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5" name="直线连接符 64"/>
          <p:cNvCxnSpPr/>
          <p:nvPr/>
        </p:nvCxnSpPr>
        <p:spPr>
          <a:xfrm rot="5400000" flipV="1">
            <a:off x="5814392" y="2039438"/>
            <a:ext cx="53955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65"/>
          <p:cNvCxnSpPr/>
          <p:nvPr/>
        </p:nvCxnSpPr>
        <p:spPr>
          <a:xfrm>
            <a:off x="5724128" y="2355726"/>
            <a:ext cx="72008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线连接符 68"/>
          <p:cNvCxnSpPr/>
          <p:nvPr/>
        </p:nvCxnSpPr>
        <p:spPr>
          <a:xfrm rot="5400000">
            <a:off x="5526128" y="2543726"/>
            <a:ext cx="396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5580112" y="2705766"/>
            <a:ext cx="288032" cy="864096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规则项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zh-CN" sz="1050" b="1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1" name="直线连接符 70"/>
          <p:cNvCxnSpPr/>
          <p:nvPr/>
        </p:nvCxnSpPr>
        <p:spPr>
          <a:xfrm rot="5400000">
            <a:off x="5886168" y="2543726"/>
            <a:ext cx="396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5940152" y="2705766"/>
            <a:ext cx="288032" cy="864096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规则项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zh-CN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3" name="直线连接符 72"/>
          <p:cNvCxnSpPr/>
          <p:nvPr/>
        </p:nvCxnSpPr>
        <p:spPr>
          <a:xfrm rot="5400000">
            <a:off x="6246208" y="2543726"/>
            <a:ext cx="396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6300192" y="2705766"/>
            <a:ext cx="288032" cy="864096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规则项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N</a:t>
            </a:r>
          </a:p>
        </p:txBody>
      </p:sp>
      <p:sp>
        <p:nvSpPr>
          <p:cNvPr id="40" name="矩形 39"/>
          <p:cNvSpPr/>
          <p:nvPr/>
        </p:nvSpPr>
        <p:spPr>
          <a:xfrm>
            <a:off x="2411760" y="915566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运费折扣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4" name="直线连接符 43"/>
          <p:cNvCxnSpPr/>
          <p:nvPr/>
        </p:nvCxnSpPr>
        <p:spPr>
          <a:xfrm>
            <a:off x="2051720" y="1131590"/>
            <a:ext cx="360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2411760" y="1793944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增值折扣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411760" y="2298000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规则类型</a:t>
            </a:r>
            <a:r>
              <a:rPr kumimoji="1" lang="en-US" altLang="zh-CN" sz="105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N</a:t>
            </a:r>
          </a:p>
        </p:txBody>
      </p:sp>
      <p:cxnSp>
        <p:nvCxnSpPr>
          <p:cNvPr id="52" name="直线连接符 51"/>
          <p:cNvCxnSpPr/>
          <p:nvPr/>
        </p:nvCxnSpPr>
        <p:spPr>
          <a:xfrm>
            <a:off x="2204121" y="1937960"/>
            <a:ext cx="180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/>
          <p:cNvCxnSpPr/>
          <p:nvPr/>
        </p:nvCxnSpPr>
        <p:spPr>
          <a:xfrm>
            <a:off x="2195736" y="2514024"/>
            <a:ext cx="180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线连接符 57"/>
          <p:cNvCxnSpPr/>
          <p:nvPr/>
        </p:nvCxnSpPr>
        <p:spPr>
          <a:xfrm>
            <a:off x="2195736" y="1131590"/>
            <a:ext cx="0" cy="1368152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3599848" y="987574"/>
            <a:ext cx="576064" cy="216024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V1.0</a:t>
            </a:r>
          </a:p>
        </p:txBody>
      </p:sp>
      <p:sp>
        <p:nvSpPr>
          <p:cNvPr id="61" name="矩形 60"/>
          <p:cNvSpPr/>
          <p:nvPr/>
        </p:nvSpPr>
        <p:spPr>
          <a:xfrm>
            <a:off x="3599848" y="1275606"/>
            <a:ext cx="576064" cy="216024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V2.0</a:t>
            </a:r>
          </a:p>
        </p:txBody>
      </p:sp>
      <p:sp>
        <p:nvSpPr>
          <p:cNvPr id="62" name="矩形 61"/>
          <p:cNvSpPr/>
          <p:nvPr/>
        </p:nvSpPr>
        <p:spPr>
          <a:xfrm>
            <a:off x="3599848" y="1563638"/>
            <a:ext cx="576064" cy="216024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V3.0</a:t>
            </a:r>
          </a:p>
        </p:txBody>
      </p:sp>
      <p:cxnSp>
        <p:nvCxnSpPr>
          <p:cNvPr id="63" name="直线连接符 62"/>
          <p:cNvCxnSpPr/>
          <p:nvPr/>
        </p:nvCxnSpPr>
        <p:spPr>
          <a:xfrm>
            <a:off x="3203848" y="1098366"/>
            <a:ext cx="396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/>
          <p:cNvCxnSpPr/>
          <p:nvPr/>
        </p:nvCxnSpPr>
        <p:spPr>
          <a:xfrm>
            <a:off x="3311816" y="1121894"/>
            <a:ext cx="0" cy="612876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/>
          <p:cNvCxnSpPr/>
          <p:nvPr/>
        </p:nvCxnSpPr>
        <p:spPr>
          <a:xfrm>
            <a:off x="3311816" y="1409926"/>
            <a:ext cx="360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/>
          <p:cNvCxnSpPr/>
          <p:nvPr/>
        </p:nvCxnSpPr>
        <p:spPr>
          <a:xfrm>
            <a:off x="3325660" y="1684126"/>
            <a:ext cx="39600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3419872" y="699542"/>
            <a:ext cx="936104" cy="1512168"/>
          </a:xfrm>
          <a:prstGeom prst="roundRect">
            <a:avLst/>
          </a:prstGeom>
          <a:noFill/>
          <a:ln w="38100" cmpd="sng">
            <a:solidFill>
              <a:srgbClr val="FAAF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ctr"/>
            <a:r>
              <a:rPr kumimoji="1" lang="zh-CN" altLang="en-US" sz="1100" b="1" dirty="0" smtClean="0">
                <a:solidFill>
                  <a:srgbClr val="373C64"/>
                </a:solidFill>
              </a:rPr>
              <a:t>虚节点</a:t>
            </a:r>
            <a:endParaRPr kumimoji="1" lang="en-US" altLang="zh-CN" sz="1100" b="1" dirty="0" smtClean="0">
              <a:solidFill>
                <a:srgbClr val="373C64"/>
              </a:solidFill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5580112" y="699542"/>
            <a:ext cx="936104" cy="1512168"/>
          </a:xfrm>
          <a:prstGeom prst="roundRect">
            <a:avLst/>
          </a:prstGeom>
          <a:noFill/>
          <a:ln w="38100" cmpd="sng">
            <a:solidFill>
              <a:srgbClr val="FAAF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ctr"/>
            <a:r>
              <a:rPr kumimoji="1" lang="zh-CN" altLang="en-US" sz="1100" b="1" dirty="0" smtClean="0">
                <a:solidFill>
                  <a:srgbClr val="373C64"/>
                </a:solidFill>
              </a:rPr>
              <a:t>虚节点</a:t>
            </a:r>
            <a:endParaRPr kumimoji="1" lang="en-US" altLang="zh-CN" sz="1100" b="1" dirty="0" smtClean="0">
              <a:solidFill>
                <a:srgbClr val="373C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63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规则设计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关键模型视图（规则版本）</a:t>
            </a:r>
            <a:endParaRPr lang="zh-CN" sz="2000" dirty="0" smtClean="0"/>
          </a:p>
        </p:txBody>
      </p:sp>
      <p:sp>
        <p:nvSpPr>
          <p:cNvPr id="59" name="矩形 58"/>
          <p:cNvSpPr/>
          <p:nvPr/>
        </p:nvSpPr>
        <p:spPr>
          <a:xfrm>
            <a:off x="6657006" y="627534"/>
            <a:ext cx="223547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规则版本模型</a:t>
            </a:r>
            <a:endParaRPr kumimoji="1" lang="en-US" altLang="zh-CN" sz="1400" dirty="0"/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en-US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规则版按照标准版本定义方案来定义。分三段：主版本 子版本 修正版本。</a:t>
            </a: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en-US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主版本对应规则类型的模板。模板变化，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主</a:t>
            </a:r>
            <a:r>
              <a:rPr lang="en-US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版本号加1.</a:t>
            </a: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子版本对应规则方案的条件部分，条件变化，子版本加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修正版本对应规则方案的结果部分，结果变化，修正版本加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如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v1.1.1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 和 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v1.2.1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两个版本的规则一看便知：</a:t>
            </a:r>
            <a:r>
              <a:rPr lang="zh-CN" altLang="zh-CN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571456" lvl="2" indent="-342900">
              <a:spcAft>
                <a:spcPts val="1200"/>
              </a:spcAft>
              <a:buFont typeface="+mj-lt"/>
              <a:buAutoNum type="arabicParenBoth"/>
            </a:pPr>
            <a:r>
              <a:rPr lang="zh-CN" altLang="en-US" sz="12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两个版本都是处于同一个规则类型模板下；</a:t>
            </a:r>
            <a:endParaRPr lang="en-US" altLang="zh-CN" sz="12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571456" lvl="2" indent="-342900">
              <a:spcAft>
                <a:spcPts val="1200"/>
              </a:spcAft>
              <a:buFont typeface="+mj-lt"/>
              <a:buAutoNum type="arabicParenBoth"/>
            </a:pPr>
            <a:r>
              <a:rPr lang="zh-CN" altLang="en-US" sz="12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两个版本之间的差异在规则方案的条件部分。</a:t>
            </a:r>
            <a:endParaRPr lang="en-US" altLang="zh-CN" sz="12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475656" y="915566"/>
            <a:ext cx="3960440" cy="1296144"/>
          </a:xfrm>
          <a:prstGeom prst="rect">
            <a:avLst/>
          </a:prstGeom>
          <a:noFill/>
          <a:ln w="12700" cmpd="sng"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规则版本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907704" y="1707694"/>
            <a:ext cx="675483" cy="36000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131840" y="1707694"/>
            <a:ext cx="675483" cy="36000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427984" y="1707694"/>
            <a:ext cx="675483" cy="36000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2771800" y="1203598"/>
            <a:ext cx="1368152" cy="36000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</a:t>
            </a:r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.1.1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699792" y="1491630"/>
            <a:ext cx="216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 smtClean="0">
                <a:solidFill>
                  <a:srgbClr val="FAAF19"/>
                </a:solidFill>
              </a:rPr>
              <a:t>.</a:t>
            </a:r>
            <a:endParaRPr kumimoji="1" lang="zh-CN" altLang="en-US" sz="3600" dirty="0">
              <a:solidFill>
                <a:srgbClr val="FAAF19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995936" y="1491630"/>
            <a:ext cx="216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 smtClean="0">
                <a:solidFill>
                  <a:srgbClr val="FAAF19"/>
                </a:solidFill>
              </a:rPr>
              <a:t>.</a:t>
            </a:r>
            <a:endParaRPr kumimoji="1" lang="zh-CN" altLang="en-US" sz="3600" dirty="0">
              <a:solidFill>
                <a:srgbClr val="FAAF19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907704" y="2715806"/>
            <a:ext cx="675483" cy="36000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主版本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3131840" y="2715806"/>
            <a:ext cx="675483" cy="36000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子版本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4355976" y="2715806"/>
            <a:ext cx="792088" cy="36000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修正版本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763688" y="3723878"/>
            <a:ext cx="1008112" cy="36000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规则类型模板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987824" y="3723878"/>
            <a:ext cx="1008112" cy="36000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规则方案条件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283968" y="3723878"/>
            <a:ext cx="1008112" cy="36000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规则方案结果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8" name="直线连接符 87"/>
          <p:cNvCxnSpPr/>
          <p:nvPr/>
        </p:nvCxnSpPr>
        <p:spPr>
          <a:xfrm>
            <a:off x="2195736" y="2139702"/>
            <a:ext cx="0" cy="504056"/>
          </a:xfrm>
          <a:prstGeom prst="line">
            <a:avLst/>
          </a:prstGeom>
          <a:ln w="38100" cmpd="sng"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/>
          <p:cNvCxnSpPr/>
          <p:nvPr/>
        </p:nvCxnSpPr>
        <p:spPr>
          <a:xfrm>
            <a:off x="2195736" y="3147814"/>
            <a:ext cx="0" cy="504056"/>
          </a:xfrm>
          <a:prstGeom prst="line">
            <a:avLst/>
          </a:prstGeom>
          <a:ln w="38100" cmpd="sng"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线连接符 89"/>
          <p:cNvCxnSpPr/>
          <p:nvPr/>
        </p:nvCxnSpPr>
        <p:spPr>
          <a:xfrm>
            <a:off x="3419872" y="2139702"/>
            <a:ext cx="0" cy="504056"/>
          </a:xfrm>
          <a:prstGeom prst="line">
            <a:avLst/>
          </a:prstGeom>
          <a:ln w="38100" cmpd="sng"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/>
          <p:cNvCxnSpPr/>
          <p:nvPr/>
        </p:nvCxnSpPr>
        <p:spPr>
          <a:xfrm>
            <a:off x="3419872" y="3147814"/>
            <a:ext cx="0" cy="504056"/>
          </a:xfrm>
          <a:prstGeom prst="line">
            <a:avLst/>
          </a:prstGeom>
          <a:ln w="38100" cmpd="sng"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/>
          <p:cNvCxnSpPr/>
          <p:nvPr/>
        </p:nvCxnSpPr>
        <p:spPr>
          <a:xfrm>
            <a:off x="4716016" y="2139702"/>
            <a:ext cx="0" cy="504056"/>
          </a:xfrm>
          <a:prstGeom prst="line">
            <a:avLst/>
          </a:prstGeom>
          <a:ln w="38100" cmpd="sng"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线连接符 92"/>
          <p:cNvCxnSpPr/>
          <p:nvPr/>
        </p:nvCxnSpPr>
        <p:spPr>
          <a:xfrm>
            <a:off x="4716016" y="3147814"/>
            <a:ext cx="0" cy="504056"/>
          </a:xfrm>
          <a:prstGeom prst="line">
            <a:avLst/>
          </a:prstGeom>
          <a:ln w="38100" cmpd="sng"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36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规则设计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关键模型视图（规则库</a:t>
            </a:r>
            <a:r>
              <a:rPr lang="en-US" altLang="en-US" sz="2000" dirty="0" smtClean="0"/>
              <a:t>编码</a:t>
            </a:r>
            <a:r>
              <a:rPr lang="zh-CN" altLang="en-US" sz="2000" dirty="0" smtClean="0"/>
              <a:t>）</a:t>
            </a:r>
            <a:endParaRPr lang="zh-CN" sz="2000" dirty="0" smtClean="0"/>
          </a:p>
        </p:txBody>
      </p:sp>
      <p:sp>
        <p:nvSpPr>
          <p:cNvPr id="59" name="矩形 58"/>
          <p:cNvSpPr/>
          <p:nvPr/>
        </p:nvSpPr>
        <p:spPr>
          <a:xfrm>
            <a:off x="6657006" y="627534"/>
            <a:ext cx="223547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规则编码库模型</a:t>
            </a:r>
            <a:endParaRPr kumimoji="1" lang="en-US" altLang="zh-CN" sz="1400" dirty="0"/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en-US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库</a:t>
            </a:r>
            <a:r>
              <a:rPr lang="en-US" altLang="en-US" sz="1400" b="1" baseline="-25000" dirty="0" err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方案的编码由域-系统</a:t>
            </a:r>
            <a:r>
              <a:rPr lang="en-US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en-US" sz="1400" b="1" baseline="-25000" dirty="0" err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模块-运费类型-类型模板版本组合而成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338152" y="1059582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规则业务域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490280" y="1059582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系统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模块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9" name="直线连接符 28"/>
          <p:cNvCxnSpPr>
            <a:stCxn id="23" idx="3"/>
            <a:endCxn id="24" idx="1"/>
          </p:cNvCxnSpPr>
          <p:nvPr/>
        </p:nvCxnSpPr>
        <p:spPr>
          <a:xfrm>
            <a:off x="2202248" y="1239602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3570400" y="1059582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规则类型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线连接符 36"/>
          <p:cNvCxnSpPr>
            <a:stCxn id="24" idx="3"/>
            <a:endCxn id="36" idx="1"/>
          </p:cNvCxnSpPr>
          <p:nvPr/>
        </p:nvCxnSpPr>
        <p:spPr>
          <a:xfrm>
            <a:off x="3282368" y="1239602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4614560" y="1059582"/>
            <a:ext cx="118157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类型模板版本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3" name="直线连接符 42"/>
          <p:cNvCxnSpPr>
            <a:stCxn id="36" idx="3"/>
            <a:endCxn id="40" idx="1"/>
          </p:cNvCxnSpPr>
          <p:nvPr/>
        </p:nvCxnSpPr>
        <p:spPr>
          <a:xfrm>
            <a:off x="4362488" y="1239602"/>
            <a:ext cx="25207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1338152" y="1779662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</a:p>
        </p:txBody>
      </p:sp>
      <p:sp>
        <p:nvSpPr>
          <p:cNvPr id="66" name="矩形 65"/>
          <p:cNvSpPr/>
          <p:nvPr/>
        </p:nvSpPr>
        <p:spPr>
          <a:xfrm>
            <a:off x="2490280" y="1779662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折扣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8" name="直线连接符 67"/>
          <p:cNvCxnSpPr>
            <a:stCxn id="65" idx="3"/>
            <a:endCxn id="66" idx="1"/>
          </p:cNvCxnSpPr>
          <p:nvPr/>
        </p:nvCxnSpPr>
        <p:spPr>
          <a:xfrm>
            <a:off x="2202248" y="1959682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3570400" y="1779662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运费折扣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1" name="直线连接符 70"/>
          <p:cNvCxnSpPr>
            <a:stCxn id="66" idx="3"/>
            <a:endCxn id="70" idx="1"/>
          </p:cNvCxnSpPr>
          <p:nvPr/>
        </p:nvCxnSpPr>
        <p:spPr>
          <a:xfrm>
            <a:off x="3282368" y="1959682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/>
          <p:cNvCxnSpPr>
            <a:stCxn id="70" idx="3"/>
          </p:cNvCxnSpPr>
          <p:nvPr/>
        </p:nvCxnSpPr>
        <p:spPr>
          <a:xfrm>
            <a:off x="4362488" y="1959682"/>
            <a:ext cx="25207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1338152" y="2643758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</a:p>
        </p:txBody>
      </p:sp>
      <p:sp>
        <p:nvSpPr>
          <p:cNvPr id="95" name="矩形 94"/>
          <p:cNvSpPr/>
          <p:nvPr/>
        </p:nvSpPr>
        <p:spPr>
          <a:xfrm>
            <a:off x="2490280" y="2643758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DIS</a:t>
            </a:r>
          </a:p>
        </p:txBody>
      </p:sp>
      <p:sp>
        <p:nvSpPr>
          <p:cNvPr id="96" name="矩形 95"/>
          <p:cNvSpPr/>
          <p:nvPr/>
        </p:nvSpPr>
        <p:spPr>
          <a:xfrm>
            <a:off x="4644008" y="2643758"/>
            <a:ext cx="115212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v1</a:t>
            </a:r>
          </a:p>
        </p:txBody>
      </p:sp>
      <p:cxnSp>
        <p:nvCxnSpPr>
          <p:cNvPr id="97" name="直线连接符 96"/>
          <p:cNvCxnSpPr>
            <a:stCxn id="94" idx="3"/>
            <a:endCxn id="95" idx="1"/>
          </p:cNvCxnSpPr>
          <p:nvPr/>
        </p:nvCxnSpPr>
        <p:spPr>
          <a:xfrm>
            <a:off x="2202248" y="2823778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矩形 98"/>
          <p:cNvSpPr/>
          <p:nvPr/>
        </p:nvSpPr>
        <p:spPr>
          <a:xfrm>
            <a:off x="3570400" y="2643758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err="1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050" b="1" dirty="0" err="1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ransdis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0" name="直线连接符 99"/>
          <p:cNvCxnSpPr>
            <a:stCxn id="95" idx="3"/>
            <a:endCxn id="99" idx="1"/>
          </p:cNvCxnSpPr>
          <p:nvPr/>
        </p:nvCxnSpPr>
        <p:spPr>
          <a:xfrm>
            <a:off x="3282368" y="2823778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01"/>
          <p:cNvCxnSpPr>
            <a:stCxn id="99" idx="3"/>
          </p:cNvCxnSpPr>
          <p:nvPr/>
        </p:nvCxnSpPr>
        <p:spPr>
          <a:xfrm>
            <a:off x="4362488" y="2823778"/>
            <a:ext cx="25207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2202248" y="3723878"/>
            <a:ext cx="2952328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Foss.dis.transdis.v1</a:t>
            </a:r>
          </a:p>
        </p:txBody>
      </p:sp>
      <p:cxnSp>
        <p:nvCxnSpPr>
          <p:cNvPr id="108" name="曲线连接符 107"/>
          <p:cNvCxnSpPr>
            <a:stCxn id="94" idx="2"/>
            <a:endCxn id="107" idx="0"/>
          </p:cNvCxnSpPr>
          <p:nvPr/>
        </p:nvCxnSpPr>
        <p:spPr>
          <a:xfrm rot="16200000" flipH="1">
            <a:off x="2364266" y="2409732"/>
            <a:ext cx="720080" cy="1908212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曲线连接符 108"/>
          <p:cNvCxnSpPr>
            <a:stCxn id="95" idx="2"/>
            <a:endCxn id="107" idx="0"/>
          </p:cNvCxnSpPr>
          <p:nvPr/>
        </p:nvCxnSpPr>
        <p:spPr>
          <a:xfrm rot="16200000" flipH="1">
            <a:off x="2922328" y="2967794"/>
            <a:ext cx="720080" cy="792088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曲线连接符 109"/>
          <p:cNvCxnSpPr>
            <a:stCxn id="99" idx="2"/>
            <a:endCxn id="107" idx="0"/>
          </p:cNvCxnSpPr>
          <p:nvPr/>
        </p:nvCxnSpPr>
        <p:spPr>
          <a:xfrm rot="5400000">
            <a:off x="3462388" y="3219822"/>
            <a:ext cx="720080" cy="288032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曲线连接符 110"/>
          <p:cNvCxnSpPr>
            <a:stCxn id="96" idx="2"/>
            <a:endCxn id="107" idx="0"/>
          </p:cNvCxnSpPr>
          <p:nvPr/>
        </p:nvCxnSpPr>
        <p:spPr>
          <a:xfrm rot="5400000">
            <a:off x="4089202" y="2593008"/>
            <a:ext cx="720080" cy="1541660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4605922" y="1779662"/>
            <a:ext cx="1190214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运费折扣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v1</a:t>
            </a:r>
          </a:p>
        </p:txBody>
      </p:sp>
    </p:spTree>
    <p:extLst>
      <p:ext uri="{BB962C8B-B14F-4D97-AF65-F5344CB8AC3E}">
        <p14:creationId xmlns:p14="http://schemas.microsoft.com/office/powerpoint/2010/main" val="52892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规则设计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关键模型视图（规则定义</a:t>
            </a:r>
            <a:r>
              <a:rPr lang="en-US" altLang="en-US" sz="2000" dirty="0" smtClean="0"/>
              <a:t>编码</a:t>
            </a:r>
            <a:r>
              <a:rPr lang="zh-CN" altLang="en-US" sz="2000" dirty="0" smtClean="0"/>
              <a:t>）</a:t>
            </a:r>
            <a:endParaRPr lang="zh-CN" sz="2000" dirty="0" smtClean="0"/>
          </a:p>
        </p:txBody>
      </p:sp>
      <p:sp>
        <p:nvSpPr>
          <p:cNvPr id="59" name="矩形 58"/>
          <p:cNvSpPr/>
          <p:nvPr/>
        </p:nvSpPr>
        <p:spPr>
          <a:xfrm>
            <a:off x="6657006" y="627534"/>
            <a:ext cx="223547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规则编码库模型</a:t>
            </a:r>
            <a:endParaRPr kumimoji="1" lang="en-US" altLang="zh-CN" sz="1400" dirty="0"/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en-US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库</a:t>
            </a:r>
            <a:r>
              <a:rPr lang="en-US" altLang="en-US" sz="1400" b="1" baseline="-25000" dirty="0" err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方案的编码由域-系统</a:t>
            </a:r>
            <a:r>
              <a:rPr lang="en-US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en-US" sz="1400" b="1" baseline="-25000" dirty="0" err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模块-运费类型-方案名称-方案版本组合而成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79512" y="915566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规则业务域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331640" y="915566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系统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模块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506504" y="915566"/>
            <a:ext cx="78557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规则定义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9" name="直线连接符 28"/>
          <p:cNvCxnSpPr>
            <a:stCxn id="23" idx="3"/>
            <a:endCxn id="24" idx="1"/>
          </p:cNvCxnSpPr>
          <p:nvPr/>
        </p:nvCxnSpPr>
        <p:spPr>
          <a:xfrm>
            <a:off x="1043608" y="1095586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/>
          <p:cNvCxnSpPr>
            <a:stCxn id="40" idx="3"/>
            <a:endCxn id="26" idx="1"/>
          </p:cNvCxnSpPr>
          <p:nvPr/>
        </p:nvCxnSpPr>
        <p:spPr>
          <a:xfrm>
            <a:off x="4211960" y="1095586"/>
            <a:ext cx="294544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2411760" y="915566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规则类型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线连接符 36"/>
          <p:cNvCxnSpPr>
            <a:stCxn id="24" idx="3"/>
            <a:endCxn id="36" idx="1"/>
          </p:cNvCxnSpPr>
          <p:nvPr/>
        </p:nvCxnSpPr>
        <p:spPr>
          <a:xfrm>
            <a:off x="2123728" y="1095586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3455920" y="915566"/>
            <a:ext cx="756040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类型模板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版本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3" name="直线连接符 42"/>
          <p:cNvCxnSpPr>
            <a:stCxn id="36" idx="3"/>
            <a:endCxn id="40" idx="1"/>
          </p:cNvCxnSpPr>
          <p:nvPr/>
        </p:nvCxnSpPr>
        <p:spPr>
          <a:xfrm>
            <a:off x="3203848" y="1095586"/>
            <a:ext cx="25207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5652120" y="915566"/>
            <a:ext cx="78557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方案版本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9" name="直线连接符 48"/>
          <p:cNvCxnSpPr>
            <a:stCxn id="26" idx="3"/>
            <a:endCxn id="48" idx="1"/>
          </p:cNvCxnSpPr>
          <p:nvPr/>
        </p:nvCxnSpPr>
        <p:spPr>
          <a:xfrm>
            <a:off x="5292080" y="1095586"/>
            <a:ext cx="36004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179512" y="1635646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</a:p>
        </p:txBody>
      </p:sp>
      <p:sp>
        <p:nvSpPr>
          <p:cNvPr id="66" name="矩形 65"/>
          <p:cNvSpPr/>
          <p:nvPr/>
        </p:nvSpPr>
        <p:spPr>
          <a:xfrm>
            <a:off x="1331640" y="1635646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折扣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499992" y="1635646"/>
            <a:ext cx="78557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大票送货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8" name="直线连接符 67"/>
          <p:cNvCxnSpPr>
            <a:stCxn id="65" idx="3"/>
            <a:endCxn id="66" idx="1"/>
          </p:cNvCxnSpPr>
          <p:nvPr/>
        </p:nvCxnSpPr>
        <p:spPr>
          <a:xfrm>
            <a:off x="1043608" y="1815666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2411760" y="1635646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运费折扣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1" name="直线连接符 70"/>
          <p:cNvCxnSpPr>
            <a:stCxn id="66" idx="3"/>
            <a:endCxn id="70" idx="1"/>
          </p:cNvCxnSpPr>
          <p:nvPr/>
        </p:nvCxnSpPr>
        <p:spPr>
          <a:xfrm>
            <a:off x="2123728" y="1815666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/>
          <p:cNvCxnSpPr>
            <a:stCxn id="70" idx="3"/>
          </p:cNvCxnSpPr>
          <p:nvPr/>
        </p:nvCxnSpPr>
        <p:spPr>
          <a:xfrm>
            <a:off x="3203848" y="1815666"/>
            <a:ext cx="25207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5580112" y="1635646"/>
            <a:ext cx="78557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V1.1.1</a:t>
            </a:r>
          </a:p>
        </p:txBody>
      </p:sp>
      <p:cxnSp>
        <p:nvCxnSpPr>
          <p:cNvPr id="75" name="直线连接符 74"/>
          <p:cNvCxnSpPr>
            <a:stCxn id="67" idx="3"/>
            <a:endCxn id="74" idx="1"/>
          </p:cNvCxnSpPr>
          <p:nvPr/>
        </p:nvCxnSpPr>
        <p:spPr>
          <a:xfrm>
            <a:off x="5285568" y="1815666"/>
            <a:ext cx="294544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179512" y="2499742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</a:p>
        </p:txBody>
      </p:sp>
      <p:sp>
        <p:nvSpPr>
          <p:cNvPr id="95" name="矩形 94"/>
          <p:cNvSpPr/>
          <p:nvPr/>
        </p:nvSpPr>
        <p:spPr>
          <a:xfrm>
            <a:off x="1331640" y="2499742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DIS</a:t>
            </a:r>
          </a:p>
        </p:txBody>
      </p:sp>
      <p:sp>
        <p:nvSpPr>
          <p:cNvPr id="96" name="矩形 95"/>
          <p:cNvSpPr/>
          <p:nvPr/>
        </p:nvSpPr>
        <p:spPr>
          <a:xfrm>
            <a:off x="3491880" y="2499742"/>
            <a:ext cx="785576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v1</a:t>
            </a:r>
          </a:p>
        </p:txBody>
      </p:sp>
      <p:cxnSp>
        <p:nvCxnSpPr>
          <p:cNvPr id="97" name="直线连接符 96"/>
          <p:cNvCxnSpPr>
            <a:stCxn id="94" idx="3"/>
            <a:endCxn id="95" idx="1"/>
          </p:cNvCxnSpPr>
          <p:nvPr/>
        </p:nvCxnSpPr>
        <p:spPr>
          <a:xfrm>
            <a:off x="1043608" y="2679762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矩形 98"/>
          <p:cNvSpPr/>
          <p:nvPr/>
        </p:nvSpPr>
        <p:spPr>
          <a:xfrm>
            <a:off x="2411760" y="2499742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err="1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050" b="1" dirty="0" err="1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ransdis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0" name="直线连接符 99"/>
          <p:cNvCxnSpPr>
            <a:stCxn id="95" idx="3"/>
            <a:endCxn id="99" idx="1"/>
          </p:cNvCxnSpPr>
          <p:nvPr/>
        </p:nvCxnSpPr>
        <p:spPr>
          <a:xfrm>
            <a:off x="2123728" y="2679762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01"/>
          <p:cNvCxnSpPr>
            <a:stCxn id="99" idx="3"/>
          </p:cNvCxnSpPr>
          <p:nvPr/>
        </p:nvCxnSpPr>
        <p:spPr>
          <a:xfrm>
            <a:off x="3203848" y="2679762"/>
            <a:ext cx="25207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5580112" y="2499742"/>
            <a:ext cx="78557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V1.1.1</a:t>
            </a:r>
          </a:p>
        </p:txBody>
      </p:sp>
      <p:cxnSp>
        <p:nvCxnSpPr>
          <p:cNvPr id="104" name="直线连接符 103"/>
          <p:cNvCxnSpPr>
            <a:stCxn id="96" idx="3"/>
            <a:endCxn id="103" idx="1"/>
          </p:cNvCxnSpPr>
          <p:nvPr/>
        </p:nvCxnSpPr>
        <p:spPr>
          <a:xfrm>
            <a:off x="4277456" y="2679762"/>
            <a:ext cx="1302656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1691680" y="3579862"/>
            <a:ext cx="2952328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Foss.dis.transdis.v1.xxxxx.v1.1.1</a:t>
            </a:r>
          </a:p>
        </p:txBody>
      </p:sp>
      <p:cxnSp>
        <p:nvCxnSpPr>
          <p:cNvPr id="108" name="曲线连接符 107"/>
          <p:cNvCxnSpPr>
            <a:stCxn id="94" idx="2"/>
            <a:endCxn id="107" idx="0"/>
          </p:cNvCxnSpPr>
          <p:nvPr/>
        </p:nvCxnSpPr>
        <p:spPr>
          <a:xfrm rot="16200000" flipH="1">
            <a:off x="1529662" y="1941680"/>
            <a:ext cx="720080" cy="2556284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曲线连接符 108"/>
          <p:cNvCxnSpPr>
            <a:stCxn id="95" idx="2"/>
            <a:endCxn id="107" idx="0"/>
          </p:cNvCxnSpPr>
          <p:nvPr/>
        </p:nvCxnSpPr>
        <p:spPr>
          <a:xfrm rot="16200000" flipH="1">
            <a:off x="2087724" y="2499742"/>
            <a:ext cx="720080" cy="1440160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曲线连接符 109"/>
          <p:cNvCxnSpPr>
            <a:stCxn id="99" idx="2"/>
            <a:endCxn id="107" idx="0"/>
          </p:cNvCxnSpPr>
          <p:nvPr/>
        </p:nvCxnSpPr>
        <p:spPr>
          <a:xfrm rot="16200000" flipH="1">
            <a:off x="2627784" y="3039802"/>
            <a:ext cx="720080" cy="360040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曲线连接符 110"/>
          <p:cNvCxnSpPr>
            <a:stCxn id="96" idx="2"/>
            <a:endCxn id="107" idx="0"/>
          </p:cNvCxnSpPr>
          <p:nvPr/>
        </p:nvCxnSpPr>
        <p:spPr>
          <a:xfrm rot="5400000">
            <a:off x="3166216" y="2861410"/>
            <a:ext cx="720080" cy="716824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曲线连接符 111"/>
          <p:cNvCxnSpPr>
            <a:stCxn id="103" idx="2"/>
            <a:endCxn id="107" idx="0"/>
          </p:cNvCxnSpPr>
          <p:nvPr/>
        </p:nvCxnSpPr>
        <p:spPr>
          <a:xfrm rot="5400000">
            <a:off x="4210332" y="1817294"/>
            <a:ext cx="720080" cy="2805056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3491880" y="1635646"/>
            <a:ext cx="756040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运费折扣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v1</a:t>
            </a:r>
          </a:p>
        </p:txBody>
      </p:sp>
      <p:cxnSp>
        <p:nvCxnSpPr>
          <p:cNvPr id="42" name="直线连接符 41"/>
          <p:cNvCxnSpPr/>
          <p:nvPr/>
        </p:nvCxnSpPr>
        <p:spPr>
          <a:xfrm>
            <a:off x="4211960" y="1851670"/>
            <a:ext cx="294544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4499992" y="2499742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XXXXX</a:t>
            </a:r>
          </a:p>
        </p:txBody>
      </p:sp>
      <p:cxnSp>
        <p:nvCxnSpPr>
          <p:cNvPr id="46" name="曲线连接符 45"/>
          <p:cNvCxnSpPr>
            <a:stCxn id="45" idx="2"/>
            <a:endCxn id="107" idx="0"/>
          </p:cNvCxnSpPr>
          <p:nvPr/>
        </p:nvCxnSpPr>
        <p:spPr>
          <a:xfrm rot="5400000">
            <a:off x="3671900" y="2355726"/>
            <a:ext cx="720080" cy="1728192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90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规则设计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关键概念（规则类型</a:t>
            </a:r>
            <a:r>
              <a:rPr lang="en-US" altLang="en-US" sz="2000" dirty="0" smtClean="0"/>
              <a:t>编码</a:t>
            </a:r>
            <a:r>
              <a:rPr lang="zh-CN" altLang="en-US" sz="2000" dirty="0" smtClean="0"/>
              <a:t>和规则库编码）</a:t>
            </a:r>
            <a:endParaRPr lang="zh-CN" sz="2000" dirty="0" smtClean="0"/>
          </a:p>
        </p:txBody>
      </p:sp>
      <p:sp>
        <p:nvSpPr>
          <p:cNvPr id="59" name="矩形 58"/>
          <p:cNvSpPr/>
          <p:nvPr/>
        </p:nvSpPr>
        <p:spPr>
          <a:xfrm>
            <a:off x="6657006" y="627534"/>
            <a:ext cx="223547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规则编码库模型</a:t>
            </a:r>
            <a:endParaRPr kumimoji="1" lang="en-US" altLang="zh-CN" sz="1400" dirty="0"/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规则类型编码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规则库编码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79512" y="915566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规则业务域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331640" y="915566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系统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模块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506504" y="915566"/>
            <a:ext cx="78557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</a:t>
            </a:r>
            <a:r>
              <a:rPr kumimoji="1" lang="en-US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定义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9" name="直线连接符 28"/>
          <p:cNvCxnSpPr>
            <a:stCxn id="23" idx="3"/>
            <a:endCxn id="24" idx="1"/>
          </p:cNvCxnSpPr>
          <p:nvPr/>
        </p:nvCxnSpPr>
        <p:spPr>
          <a:xfrm>
            <a:off x="1043608" y="1095586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/>
          <p:cNvCxnSpPr>
            <a:stCxn id="40" idx="3"/>
            <a:endCxn id="26" idx="1"/>
          </p:cNvCxnSpPr>
          <p:nvPr/>
        </p:nvCxnSpPr>
        <p:spPr>
          <a:xfrm>
            <a:off x="4211960" y="1095586"/>
            <a:ext cx="294544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2411760" y="915566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规则类型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线连接符 36"/>
          <p:cNvCxnSpPr>
            <a:stCxn id="24" idx="3"/>
            <a:endCxn id="36" idx="1"/>
          </p:cNvCxnSpPr>
          <p:nvPr/>
        </p:nvCxnSpPr>
        <p:spPr>
          <a:xfrm>
            <a:off x="2123728" y="1095586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3455920" y="915566"/>
            <a:ext cx="756040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类型模板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版本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3" name="直线连接符 42"/>
          <p:cNvCxnSpPr>
            <a:stCxn id="36" idx="3"/>
            <a:endCxn id="40" idx="1"/>
          </p:cNvCxnSpPr>
          <p:nvPr/>
        </p:nvCxnSpPr>
        <p:spPr>
          <a:xfrm>
            <a:off x="3203848" y="1095586"/>
            <a:ext cx="25207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5652120" y="915566"/>
            <a:ext cx="785576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方案版本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9" name="直线连接符 48"/>
          <p:cNvCxnSpPr>
            <a:stCxn id="26" idx="3"/>
            <a:endCxn id="48" idx="1"/>
          </p:cNvCxnSpPr>
          <p:nvPr/>
        </p:nvCxnSpPr>
        <p:spPr>
          <a:xfrm>
            <a:off x="5292080" y="1095586"/>
            <a:ext cx="36004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179512" y="1635646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</a:p>
        </p:txBody>
      </p:sp>
      <p:sp>
        <p:nvSpPr>
          <p:cNvPr id="66" name="矩形 65"/>
          <p:cNvSpPr/>
          <p:nvPr/>
        </p:nvSpPr>
        <p:spPr>
          <a:xfrm>
            <a:off x="1331640" y="1635646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折扣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499992" y="1635646"/>
            <a:ext cx="78557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大票送货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8" name="直线连接符 67"/>
          <p:cNvCxnSpPr>
            <a:stCxn id="65" idx="3"/>
            <a:endCxn id="66" idx="1"/>
          </p:cNvCxnSpPr>
          <p:nvPr/>
        </p:nvCxnSpPr>
        <p:spPr>
          <a:xfrm>
            <a:off x="1043608" y="1815666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2411760" y="1635646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运费折扣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1" name="直线连接符 70"/>
          <p:cNvCxnSpPr>
            <a:stCxn id="66" idx="3"/>
            <a:endCxn id="70" idx="1"/>
          </p:cNvCxnSpPr>
          <p:nvPr/>
        </p:nvCxnSpPr>
        <p:spPr>
          <a:xfrm>
            <a:off x="2123728" y="1815666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/>
          <p:cNvCxnSpPr>
            <a:stCxn id="70" idx="3"/>
          </p:cNvCxnSpPr>
          <p:nvPr/>
        </p:nvCxnSpPr>
        <p:spPr>
          <a:xfrm>
            <a:off x="3203848" y="1815666"/>
            <a:ext cx="25207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5580112" y="1635646"/>
            <a:ext cx="785576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V1.1.1</a:t>
            </a:r>
          </a:p>
        </p:txBody>
      </p:sp>
      <p:cxnSp>
        <p:nvCxnSpPr>
          <p:cNvPr id="75" name="直线连接符 74"/>
          <p:cNvCxnSpPr>
            <a:stCxn id="67" idx="3"/>
            <a:endCxn id="74" idx="1"/>
          </p:cNvCxnSpPr>
          <p:nvPr/>
        </p:nvCxnSpPr>
        <p:spPr>
          <a:xfrm>
            <a:off x="5285568" y="1815666"/>
            <a:ext cx="294544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179512" y="2499742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</a:p>
        </p:txBody>
      </p:sp>
      <p:sp>
        <p:nvSpPr>
          <p:cNvPr id="95" name="矩形 94"/>
          <p:cNvSpPr/>
          <p:nvPr/>
        </p:nvSpPr>
        <p:spPr>
          <a:xfrm>
            <a:off x="1331640" y="2499742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DIS</a:t>
            </a:r>
          </a:p>
        </p:txBody>
      </p:sp>
      <p:sp>
        <p:nvSpPr>
          <p:cNvPr id="96" name="矩形 95"/>
          <p:cNvSpPr/>
          <p:nvPr/>
        </p:nvSpPr>
        <p:spPr>
          <a:xfrm>
            <a:off x="3491880" y="2499742"/>
            <a:ext cx="785576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v1</a:t>
            </a:r>
          </a:p>
        </p:txBody>
      </p:sp>
      <p:cxnSp>
        <p:nvCxnSpPr>
          <p:cNvPr id="97" name="直线连接符 96"/>
          <p:cNvCxnSpPr>
            <a:stCxn id="94" idx="3"/>
            <a:endCxn id="95" idx="1"/>
          </p:cNvCxnSpPr>
          <p:nvPr/>
        </p:nvCxnSpPr>
        <p:spPr>
          <a:xfrm>
            <a:off x="1043608" y="2679762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矩形 98"/>
          <p:cNvSpPr/>
          <p:nvPr/>
        </p:nvSpPr>
        <p:spPr>
          <a:xfrm>
            <a:off x="2411760" y="2499742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err="1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050" b="1" dirty="0" err="1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ransdis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0" name="直线连接符 99"/>
          <p:cNvCxnSpPr>
            <a:stCxn id="95" idx="3"/>
            <a:endCxn id="99" idx="1"/>
          </p:cNvCxnSpPr>
          <p:nvPr/>
        </p:nvCxnSpPr>
        <p:spPr>
          <a:xfrm>
            <a:off x="2123728" y="2679762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01"/>
          <p:cNvCxnSpPr>
            <a:stCxn id="99" idx="3"/>
          </p:cNvCxnSpPr>
          <p:nvPr/>
        </p:nvCxnSpPr>
        <p:spPr>
          <a:xfrm>
            <a:off x="3203848" y="2679762"/>
            <a:ext cx="25207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5580112" y="2499742"/>
            <a:ext cx="785576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V1.1.1</a:t>
            </a:r>
          </a:p>
        </p:txBody>
      </p:sp>
      <p:cxnSp>
        <p:nvCxnSpPr>
          <p:cNvPr id="104" name="直线连接符 103"/>
          <p:cNvCxnSpPr>
            <a:stCxn id="96" idx="3"/>
            <a:endCxn id="103" idx="1"/>
          </p:cNvCxnSpPr>
          <p:nvPr/>
        </p:nvCxnSpPr>
        <p:spPr>
          <a:xfrm>
            <a:off x="4277456" y="2679762"/>
            <a:ext cx="1302656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3635896" y="4011910"/>
            <a:ext cx="2232248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规则库编码：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Foss.dis.transdis.v1</a:t>
            </a:r>
          </a:p>
        </p:txBody>
      </p:sp>
      <p:cxnSp>
        <p:nvCxnSpPr>
          <p:cNvPr id="108" name="曲线连接符 107"/>
          <p:cNvCxnSpPr>
            <a:stCxn id="94" idx="2"/>
            <a:endCxn id="107" idx="0"/>
          </p:cNvCxnSpPr>
          <p:nvPr/>
        </p:nvCxnSpPr>
        <p:spPr>
          <a:xfrm rot="16200000" flipH="1">
            <a:off x="2105726" y="1365616"/>
            <a:ext cx="1152128" cy="4140460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曲线连接符 108"/>
          <p:cNvCxnSpPr>
            <a:stCxn id="95" idx="2"/>
            <a:endCxn id="107" idx="0"/>
          </p:cNvCxnSpPr>
          <p:nvPr/>
        </p:nvCxnSpPr>
        <p:spPr>
          <a:xfrm rot="16200000" flipH="1">
            <a:off x="2663788" y="1923678"/>
            <a:ext cx="1152128" cy="3024336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曲线连接符 109"/>
          <p:cNvCxnSpPr>
            <a:stCxn id="99" idx="2"/>
            <a:endCxn id="107" idx="0"/>
          </p:cNvCxnSpPr>
          <p:nvPr/>
        </p:nvCxnSpPr>
        <p:spPr>
          <a:xfrm rot="16200000" flipH="1">
            <a:off x="3203848" y="2463738"/>
            <a:ext cx="1152128" cy="1944216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曲线连接符 110"/>
          <p:cNvCxnSpPr>
            <a:stCxn id="96" idx="2"/>
            <a:endCxn id="107" idx="0"/>
          </p:cNvCxnSpPr>
          <p:nvPr/>
        </p:nvCxnSpPr>
        <p:spPr>
          <a:xfrm rot="16200000" flipH="1">
            <a:off x="3742280" y="3002170"/>
            <a:ext cx="1152128" cy="867352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3491880" y="1635646"/>
            <a:ext cx="756040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运费折扣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v1</a:t>
            </a:r>
          </a:p>
        </p:txBody>
      </p:sp>
      <p:cxnSp>
        <p:nvCxnSpPr>
          <p:cNvPr id="42" name="直线连接符 41"/>
          <p:cNvCxnSpPr/>
          <p:nvPr/>
        </p:nvCxnSpPr>
        <p:spPr>
          <a:xfrm>
            <a:off x="4211960" y="1851670"/>
            <a:ext cx="294544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4499992" y="2499742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XXXXX</a:t>
            </a:r>
          </a:p>
        </p:txBody>
      </p:sp>
      <p:sp>
        <p:nvSpPr>
          <p:cNvPr id="50" name="矩形 49"/>
          <p:cNvSpPr/>
          <p:nvPr/>
        </p:nvSpPr>
        <p:spPr>
          <a:xfrm>
            <a:off x="611560" y="4011910"/>
            <a:ext cx="1944216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规则类型编码：</a:t>
            </a:r>
            <a:r>
              <a:rPr kumimoji="1" lang="en-US" altLang="zh-CN" sz="1050" b="1" dirty="0" err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Foss.dis.transdis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2" name="曲线连接符 61"/>
          <p:cNvCxnSpPr>
            <a:stCxn id="94" idx="2"/>
            <a:endCxn id="50" idx="0"/>
          </p:cNvCxnSpPr>
          <p:nvPr/>
        </p:nvCxnSpPr>
        <p:spPr>
          <a:xfrm rot="16200000" flipH="1">
            <a:off x="521550" y="2949792"/>
            <a:ext cx="1152128" cy="972108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373C64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曲线连接符 63"/>
          <p:cNvCxnSpPr>
            <a:stCxn id="95" idx="2"/>
            <a:endCxn id="50" idx="0"/>
          </p:cNvCxnSpPr>
          <p:nvPr/>
        </p:nvCxnSpPr>
        <p:spPr>
          <a:xfrm rot="5400000">
            <a:off x="1079612" y="3363838"/>
            <a:ext cx="1152128" cy="144016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373C64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曲线连接符 68"/>
          <p:cNvCxnSpPr>
            <a:stCxn id="99" idx="2"/>
            <a:endCxn id="50" idx="0"/>
          </p:cNvCxnSpPr>
          <p:nvPr/>
        </p:nvCxnSpPr>
        <p:spPr>
          <a:xfrm rot="5400000">
            <a:off x="1619672" y="2823778"/>
            <a:ext cx="1152128" cy="1224136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373C64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83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8434786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规则设计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关键概念（规则定义</a:t>
            </a:r>
            <a:r>
              <a:rPr lang="zh-CN" altLang="en-US" sz="2000" dirty="0"/>
              <a:t>、</a:t>
            </a:r>
            <a:r>
              <a:rPr lang="zh-CN" altLang="en-US" sz="2000" dirty="0" smtClean="0"/>
              <a:t>规则定义方案、规则定义业务编码）</a:t>
            </a:r>
            <a:endParaRPr lang="zh-CN" sz="2000" dirty="0" smtClean="0"/>
          </a:p>
        </p:txBody>
      </p:sp>
      <p:sp>
        <p:nvSpPr>
          <p:cNvPr id="59" name="矩形 58"/>
          <p:cNvSpPr/>
          <p:nvPr/>
        </p:nvSpPr>
        <p:spPr>
          <a:xfrm>
            <a:off x="6657006" y="627534"/>
            <a:ext cx="223547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规则编码库模型</a:t>
            </a:r>
            <a:endParaRPr kumimoji="1" lang="en-US" altLang="zh-CN" sz="1400" dirty="0"/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规则定义编码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规则定义版本编码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 indent="-2286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规则定义业务编码</a:t>
            </a: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79512" y="915566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规则业务域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331640" y="915566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系统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模块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506504" y="915566"/>
            <a:ext cx="78557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规则定义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9" name="直线连接符 28"/>
          <p:cNvCxnSpPr>
            <a:stCxn id="23" idx="3"/>
            <a:endCxn id="24" idx="1"/>
          </p:cNvCxnSpPr>
          <p:nvPr/>
        </p:nvCxnSpPr>
        <p:spPr>
          <a:xfrm>
            <a:off x="1043608" y="1095586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/>
          <p:cNvCxnSpPr>
            <a:stCxn id="40" idx="3"/>
            <a:endCxn id="26" idx="1"/>
          </p:cNvCxnSpPr>
          <p:nvPr/>
        </p:nvCxnSpPr>
        <p:spPr>
          <a:xfrm>
            <a:off x="4211960" y="1095586"/>
            <a:ext cx="294544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2411760" y="915566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规则类型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线连接符 36"/>
          <p:cNvCxnSpPr>
            <a:stCxn id="24" idx="3"/>
            <a:endCxn id="36" idx="1"/>
          </p:cNvCxnSpPr>
          <p:nvPr/>
        </p:nvCxnSpPr>
        <p:spPr>
          <a:xfrm>
            <a:off x="2123728" y="1095586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3455920" y="915566"/>
            <a:ext cx="756040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类型模板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版本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3" name="直线连接符 42"/>
          <p:cNvCxnSpPr>
            <a:stCxn id="36" idx="3"/>
            <a:endCxn id="40" idx="1"/>
          </p:cNvCxnSpPr>
          <p:nvPr/>
        </p:nvCxnSpPr>
        <p:spPr>
          <a:xfrm>
            <a:off x="3203848" y="1095586"/>
            <a:ext cx="25207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5652120" y="915566"/>
            <a:ext cx="785576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方案版本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9" name="直线连接符 48"/>
          <p:cNvCxnSpPr>
            <a:stCxn id="26" idx="3"/>
            <a:endCxn id="48" idx="1"/>
          </p:cNvCxnSpPr>
          <p:nvPr/>
        </p:nvCxnSpPr>
        <p:spPr>
          <a:xfrm>
            <a:off x="5292080" y="1095586"/>
            <a:ext cx="360040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179512" y="1635646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</a:p>
        </p:txBody>
      </p:sp>
      <p:sp>
        <p:nvSpPr>
          <p:cNvPr id="66" name="矩形 65"/>
          <p:cNvSpPr/>
          <p:nvPr/>
        </p:nvSpPr>
        <p:spPr>
          <a:xfrm>
            <a:off x="1331640" y="1635646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折扣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499992" y="1635646"/>
            <a:ext cx="78557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大票送货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8" name="直线连接符 67"/>
          <p:cNvCxnSpPr>
            <a:stCxn id="65" idx="3"/>
            <a:endCxn id="66" idx="1"/>
          </p:cNvCxnSpPr>
          <p:nvPr/>
        </p:nvCxnSpPr>
        <p:spPr>
          <a:xfrm>
            <a:off x="1043608" y="1815666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2411760" y="1635646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运费折扣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1" name="直线连接符 70"/>
          <p:cNvCxnSpPr>
            <a:stCxn id="66" idx="3"/>
            <a:endCxn id="70" idx="1"/>
          </p:cNvCxnSpPr>
          <p:nvPr/>
        </p:nvCxnSpPr>
        <p:spPr>
          <a:xfrm>
            <a:off x="2123728" y="1815666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/>
          <p:cNvCxnSpPr>
            <a:stCxn id="70" idx="3"/>
          </p:cNvCxnSpPr>
          <p:nvPr/>
        </p:nvCxnSpPr>
        <p:spPr>
          <a:xfrm>
            <a:off x="3203848" y="1815666"/>
            <a:ext cx="25207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5580112" y="1635646"/>
            <a:ext cx="785576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V1.1.1</a:t>
            </a:r>
          </a:p>
        </p:txBody>
      </p:sp>
      <p:cxnSp>
        <p:nvCxnSpPr>
          <p:cNvPr id="75" name="直线连接符 74"/>
          <p:cNvCxnSpPr>
            <a:stCxn id="67" idx="3"/>
            <a:endCxn id="74" idx="1"/>
          </p:cNvCxnSpPr>
          <p:nvPr/>
        </p:nvCxnSpPr>
        <p:spPr>
          <a:xfrm>
            <a:off x="5285568" y="1815666"/>
            <a:ext cx="294544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179512" y="2499742"/>
            <a:ext cx="864096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FOSS</a:t>
            </a:r>
          </a:p>
        </p:txBody>
      </p:sp>
      <p:sp>
        <p:nvSpPr>
          <p:cNvPr id="95" name="矩形 94"/>
          <p:cNvSpPr/>
          <p:nvPr/>
        </p:nvSpPr>
        <p:spPr>
          <a:xfrm>
            <a:off x="1331640" y="2499742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DIS</a:t>
            </a:r>
          </a:p>
        </p:txBody>
      </p:sp>
      <p:sp>
        <p:nvSpPr>
          <p:cNvPr id="96" name="矩形 95"/>
          <p:cNvSpPr/>
          <p:nvPr/>
        </p:nvSpPr>
        <p:spPr>
          <a:xfrm>
            <a:off x="3491880" y="2499742"/>
            <a:ext cx="785576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v1</a:t>
            </a:r>
          </a:p>
        </p:txBody>
      </p:sp>
      <p:cxnSp>
        <p:nvCxnSpPr>
          <p:cNvPr id="97" name="直线连接符 96"/>
          <p:cNvCxnSpPr>
            <a:stCxn id="94" idx="3"/>
            <a:endCxn id="95" idx="1"/>
          </p:cNvCxnSpPr>
          <p:nvPr/>
        </p:nvCxnSpPr>
        <p:spPr>
          <a:xfrm>
            <a:off x="1043608" y="2679762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矩形 98"/>
          <p:cNvSpPr/>
          <p:nvPr/>
        </p:nvSpPr>
        <p:spPr>
          <a:xfrm>
            <a:off x="2411760" y="2499742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err="1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050" b="1" dirty="0" err="1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ransdis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0" name="直线连接符 99"/>
          <p:cNvCxnSpPr>
            <a:stCxn id="95" idx="3"/>
            <a:endCxn id="99" idx="1"/>
          </p:cNvCxnSpPr>
          <p:nvPr/>
        </p:nvCxnSpPr>
        <p:spPr>
          <a:xfrm>
            <a:off x="2123728" y="2679762"/>
            <a:ext cx="28803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01"/>
          <p:cNvCxnSpPr>
            <a:stCxn id="99" idx="3"/>
          </p:cNvCxnSpPr>
          <p:nvPr/>
        </p:nvCxnSpPr>
        <p:spPr>
          <a:xfrm>
            <a:off x="3203848" y="2679762"/>
            <a:ext cx="252072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5580112" y="2499742"/>
            <a:ext cx="785576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V1.1.1</a:t>
            </a:r>
          </a:p>
        </p:txBody>
      </p:sp>
      <p:cxnSp>
        <p:nvCxnSpPr>
          <p:cNvPr id="104" name="直线连接符 103"/>
          <p:cNvCxnSpPr>
            <a:stCxn id="96" idx="3"/>
            <a:endCxn id="103" idx="1"/>
          </p:cNvCxnSpPr>
          <p:nvPr/>
        </p:nvCxnSpPr>
        <p:spPr>
          <a:xfrm>
            <a:off x="4277456" y="2679762"/>
            <a:ext cx="1302656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曲线连接符 107"/>
          <p:cNvCxnSpPr>
            <a:stCxn id="94" idx="2"/>
            <a:endCxn id="105" idx="0"/>
          </p:cNvCxnSpPr>
          <p:nvPr/>
        </p:nvCxnSpPr>
        <p:spPr>
          <a:xfrm rot="16200000" flipH="1">
            <a:off x="2321750" y="1149592"/>
            <a:ext cx="1224136" cy="4644516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曲线连接符 108"/>
          <p:cNvCxnSpPr>
            <a:stCxn id="95" idx="2"/>
            <a:endCxn id="105" idx="0"/>
          </p:cNvCxnSpPr>
          <p:nvPr/>
        </p:nvCxnSpPr>
        <p:spPr>
          <a:xfrm rot="16200000" flipH="1">
            <a:off x="2879812" y="1707654"/>
            <a:ext cx="1224136" cy="3528392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曲线连接符 109"/>
          <p:cNvCxnSpPr>
            <a:stCxn id="99" idx="2"/>
            <a:endCxn id="105" idx="0"/>
          </p:cNvCxnSpPr>
          <p:nvPr/>
        </p:nvCxnSpPr>
        <p:spPr>
          <a:xfrm rot="16200000" flipH="1">
            <a:off x="3419872" y="2247714"/>
            <a:ext cx="1224136" cy="2448272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曲线连接符 110"/>
          <p:cNvCxnSpPr>
            <a:stCxn id="96" idx="2"/>
            <a:endCxn id="105" idx="0"/>
          </p:cNvCxnSpPr>
          <p:nvPr/>
        </p:nvCxnSpPr>
        <p:spPr>
          <a:xfrm rot="16200000" flipH="1">
            <a:off x="3958304" y="2786146"/>
            <a:ext cx="1224136" cy="1371408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3491880" y="1635646"/>
            <a:ext cx="756040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运费折扣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v1</a:t>
            </a:r>
          </a:p>
        </p:txBody>
      </p:sp>
      <p:cxnSp>
        <p:nvCxnSpPr>
          <p:cNvPr id="42" name="直线连接符 41"/>
          <p:cNvCxnSpPr/>
          <p:nvPr/>
        </p:nvCxnSpPr>
        <p:spPr>
          <a:xfrm>
            <a:off x="4211960" y="1851670"/>
            <a:ext cx="294544" cy="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4499992" y="2499742"/>
            <a:ext cx="792088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XXXXX</a:t>
            </a:r>
          </a:p>
        </p:txBody>
      </p:sp>
      <p:cxnSp>
        <p:nvCxnSpPr>
          <p:cNvPr id="62" name="曲线连接符 61"/>
          <p:cNvCxnSpPr>
            <a:stCxn id="94" idx="2"/>
            <a:endCxn id="78" idx="0"/>
          </p:cNvCxnSpPr>
          <p:nvPr/>
        </p:nvCxnSpPr>
        <p:spPr>
          <a:xfrm rot="16200000" flipH="1">
            <a:off x="233518" y="3237824"/>
            <a:ext cx="1224136" cy="468052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373C64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曲线连接符 63"/>
          <p:cNvCxnSpPr>
            <a:stCxn id="95" idx="2"/>
            <a:endCxn id="78" idx="0"/>
          </p:cNvCxnSpPr>
          <p:nvPr/>
        </p:nvCxnSpPr>
        <p:spPr>
          <a:xfrm rot="5400000">
            <a:off x="791580" y="3147814"/>
            <a:ext cx="1224136" cy="648072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373C64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曲线连接符 68"/>
          <p:cNvCxnSpPr>
            <a:stCxn id="99" idx="2"/>
            <a:endCxn id="78" idx="0"/>
          </p:cNvCxnSpPr>
          <p:nvPr/>
        </p:nvCxnSpPr>
        <p:spPr>
          <a:xfrm rot="5400000">
            <a:off x="1331640" y="2607754"/>
            <a:ext cx="1224136" cy="1728192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373C64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107504" y="4083918"/>
            <a:ext cx="1944216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规则定义编码：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Foss.dis.transdis.v1.xxxxx</a:t>
            </a:r>
          </a:p>
        </p:txBody>
      </p:sp>
      <p:sp>
        <p:nvSpPr>
          <p:cNvPr id="105" name="矩形 104"/>
          <p:cNvSpPr/>
          <p:nvPr/>
        </p:nvSpPr>
        <p:spPr>
          <a:xfrm>
            <a:off x="4067944" y="4083918"/>
            <a:ext cx="2376264" cy="360040"/>
          </a:xfrm>
          <a:prstGeom prst="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规则定义版本编码：</a:t>
            </a:r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Foss.dis.transdis.v1.xxxxx.v1.1.1</a:t>
            </a:r>
          </a:p>
        </p:txBody>
      </p:sp>
      <p:cxnSp>
        <p:nvCxnSpPr>
          <p:cNvPr id="113" name="曲线连接符 112"/>
          <p:cNvCxnSpPr>
            <a:stCxn id="96" idx="2"/>
            <a:endCxn id="78" idx="0"/>
          </p:cNvCxnSpPr>
          <p:nvPr/>
        </p:nvCxnSpPr>
        <p:spPr>
          <a:xfrm rot="5400000">
            <a:off x="1870072" y="2069322"/>
            <a:ext cx="1224136" cy="2805056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373C64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曲线连接符 113"/>
          <p:cNvCxnSpPr>
            <a:stCxn id="45" idx="2"/>
            <a:endCxn id="78" idx="0"/>
          </p:cNvCxnSpPr>
          <p:nvPr/>
        </p:nvCxnSpPr>
        <p:spPr>
          <a:xfrm rot="5400000">
            <a:off x="2375756" y="1563638"/>
            <a:ext cx="1224136" cy="3816424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373C64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曲线连接符 114"/>
          <p:cNvCxnSpPr>
            <a:stCxn id="45" idx="2"/>
            <a:endCxn id="105" idx="0"/>
          </p:cNvCxnSpPr>
          <p:nvPr/>
        </p:nvCxnSpPr>
        <p:spPr>
          <a:xfrm rot="16200000" flipH="1">
            <a:off x="4463988" y="3291830"/>
            <a:ext cx="1224136" cy="360040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曲线连接符 115"/>
          <p:cNvCxnSpPr>
            <a:stCxn id="103" idx="2"/>
            <a:endCxn id="105" idx="0"/>
          </p:cNvCxnSpPr>
          <p:nvPr/>
        </p:nvCxnSpPr>
        <p:spPr>
          <a:xfrm rot="5400000">
            <a:off x="5002420" y="3113438"/>
            <a:ext cx="1224136" cy="716824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FAAF19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矩形 130"/>
          <p:cNvSpPr/>
          <p:nvPr/>
        </p:nvSpPr>
        <p:spPr>
          <a:xfrm>
            <a:off x="2411760" y="4083918"/>
            <a:ext cx="1296144" cy="360040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规则定义业务编码：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XXXXX</a:t>
            </a:r>
          </a:p>
        </p:txBody>
      </p:sp>
      <p:cxnSp>
        <p:nvCxnSpPr>
          <p:cNvPr id="132" name="曲线连接符 131"/>
          <p:cNvCxnSpPr>
            <a:stCxn id="45" idx="2"/>
            <a:endCxn id="131" idx="0"/>
          </p:cNvCxnSpPr>
          <p:nvPr/>
        </p:nvCxnSpPr>
        <p:spPr>
          <a:xfrm rot="5400000">
            <a:off x="3365866" y="2553748"/>
            <a:ext cx="1224136" cy="1836204"/>
          </a:xfrm>
          <a:prstGeom prst="curvedConnector3">
            <a:avLst>
              <a:gd name="adj1" fmla="val 50000"/>
            </a:avLst>
          </a:prstGeom>
          <a:ln w="28575" cmpd="sng">
            <a:solidFill>
              <a:srgbClr val="373C64"/>
            </a:solidFill>
            <a:prstDash val="solid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55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规则设计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关键模型视图（模型映射）</a:t>
            </a:r>
            <a:endParaRPr lang="zh-CN" sz="2000" dirty="0" smtClean="0"/>
          </a:p>
        </p:txBody>
      </p:sp>
      <p:sp>
        <p:nvSpPr>
          <p:cNvPr id="59" name="矩形 58"/>
          <p:cNvSpPr/>
          <p:nvPr/>
        </p:nvSpPr>
        <p:spPr>
          <a:xfrm>
            <a:off x="6657006" y="627535"/>
            <a:ext cx="2235474" cy="3888432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规则模型</a:t>
            </a:r>
            <a:endParaRPr kumimoji="1" lang="en-US" altLang="zh-CN" sz="1400" dirty="0"/>
          </a:p>
          <a:p>
            <a:pPr marL="571456" lvl="2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规则模型分为三种：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56" lvl="2">
              <a:spcAft>
                <a:spcPts val="1200"/>
              </a:spcAft>
            </a:pPr>
            <a:r>
              <a:rPr lang="en-US" altLang="zh-CN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规则业务模型</a:t>
            </a:r>
            <a:endParaRPr lang="en-US" altLang="zh-CN" sz="14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56" lvl="2">
              <a:spcAft>
                <a:spcPts val="1200"/>
              </a:spcAft>
            </a:pPr>
            <a:r>
              <a:rPr lang="zh-CN" altLang="zh-CN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规则配置文件模型（</a:t>
            </a:r>
            <a:r>
              <a:rPr lang="en-US" altLang="zh-CN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excel</a:t>
            </a:r>
            <a:r>
              <a:rPr lang="zh-CN" altLang="en-US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4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56" lvl="2">
              <a:spcAft>
                <a:spcPts val="1200"/>
              </a:spcAft>
            </a:pPr>
            <a:r>
              <a:rPr lang="zh-CN" altLang="zh-CN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规则引擎运行时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模型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56" lvl="2">
              <a:spcAft>
                <a:spcPts val="1200"/>
              </a:spcAft>
            </a:pPr>
            <a:endParaRPr lang="en-US" altLang="zh-CN" sz="14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571456" lvl="2" indent="-342900">
              <a:spcAft>
                <a:spcPts val="1200"/>
              </a:spcAft>
              <a:buFont typeface="+mj-ea"/>
              <a:buAutoNum type="circleNumDbPlain" startAt="2"/>
            </a:pP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模型映射关系：</a:t>
            </a:r>
            <a:endParaRPr lang="en-US" altLang="zh-CN" sz="14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56" lvl="2">
              <a:spcAft>
                <a:spcPts val="1200"/>
              </a:spcAft>
            </a:pPr>
            <a:r>
              <a:rPr lang="zh-CN" altLang="zh-CN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规则库（分版本）</a:t>
            </a:r>
            <a:r>
              <a:rPr lang="en-US" altLang="zh-CN" sz="1400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—RuleSet—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Knowledgebase</a:t>
            </a:r>
          </a:p>
          <a:p>
            <a:pPr marL="228556" lvl="2">
              <a:spcAft>
                <a:spcPts val="1200"/>
              </a:spcAft>
            </a:pPr>
            <a:r>
              <a:rPr lang="zh-CN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规则定义方案（分版本）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—RuleTable—</a:t>
            </a:r>
            <a:r>
              <a:rPr lang="en-US" altLang="zh-CN" sz="1400" b="1" baseline="-25000" dirty="0" err="1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KnowledgePackage</a:t>
            </a:r>
            <a:endParaRPr lang="en-US" altLang="zh-CN" sz="14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56" lvl="2">
              <a:spcAft>
                <a:spcPts val="1200"/>
              </a:spcAft>
            </a:pPr>
            <a:r>
              <a:rPr lang="zh-CN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规则明细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—Excel</a:t>
            </a:r>
            <a:r>
              <a:rPr lang="zh-CN" altLang="en-US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行</a:t>
            </a:r>
            <a:r>
              <a:rPr lang="en-US" altLang="zh-CN" sz="1400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—Rule</a:t>
            </a:r>
            <a:endParaRPr lang="en-US" altLang="zh-CN" sz="1400" b="1" baseline="-25000" dirty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11560" y="1347614"/>
            <a:ext cx="1368152" cy="432048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规则库（分版本）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427984" y="1347614"/>
            <a:ext cx="1584176" cy="432048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200" dirty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kumimoji="1" lang="en-US" altLang="zh-CN" sz="120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nowledgebase</a:t>
            </a:r>
          </a:p>
        </p:txBody>
      </p:sp>
      <p:sp>
        <p:nvSpPr>
          <p:cNvPr id="51" name="矩形 50"/>
          <p:cNvSpPr/>
          <p:nvPr/>
        </p:nvSpPr>
        <p:spPr>
          <a:xfrm>
            <a:off x="4427984" y="2283718"/>
            <a:ext cx="1584176" cy="432048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 b="1" dirty="0">
                <a:solidFill>
                  <a:srgbClr val="FAAF19"/>
                </a:solidFill>
                <a:latin typeface="微软雅黑"/>
                <a:ea typeface="微软雅黑"/>
                <a:cs typeface="微软雅黑"/>
              </a:rPr>
              <a:t>KnowledgePackage</a:t>
            </a:r>
            <a:endParaRPr kumimoji="1" lang="en-US" altLang="zh-CN" sz="1200" b="1" dirty="0" smtClean="0">
              <a:solidFill>
                <a:srgbClr val="FAAF1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11560" y="2283718"/>
            <a:ext cx="1368152" cy="432048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规则定义</a:t>
            </a:r>
            <a:endParaRPr kumimoji="1" lang="en-US" altLang="zh-CN" sz="1050" b="1" dirty="0" smtClean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分版本</a:t>
            </a:r>
            <a:r>
              <a:rPr kumimoji="1" lang="en-US" altLang="zh-CN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kumimoji="1" lang="en-US" altLang="zh-CN" sz="1050" b="1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11560" y="3219822"/>
            <a:ext cx="1368152" cy="432048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zh-CN" altLang="en-US" sz="1050" b="1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规则明细</a:t>
            </a:r>
            <a:endParaRPr kumimoji="1" lang="en-US" altLang="zh-CN" sz="1050" b="1" dirty="0">
              <a:solidFill>
                <a:srgbClr val="FAAF1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427984" y="3219822"/>
            <a:ext cx="1584176" cy="432048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200" b="1" dirty="0" smtClean="0">
                <a:solidFill>
                  <a:srgbClr val="FAAF19"/>
                </a:solidFill>
                <a:latin typeface="微软雅黑"/>
                <a:ea typeface="微软雅黑"/>
                <a:cs typeface="微软雅黑"/>
              </a:rPr>
              <a:t>Rule</a:t>
            </a:r>
          </a:p>
        </p:txBody>
      </p:sp>
      <p:sp>
        <p:nvSpPr>
          <p:cNvPr id="10" name="矩形 9"/>
          <p:cNvSpPr/>
          <p:nvPr/>
        </p:nvSpPr>
        <p:spPr>
          <a:xfrm>
            <a:off x="2448840" y="1347614"/>
            <a:ext cx="1512168" cy="432048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200" dirty="0" smtClean="0">
                <a:solidFill>
                  <a:srgbClr val="FAAF19"/>
                </a:solidFill>
                <a:latin typeface="微软雅黑" pitchFamily="34" charset="-122"/>
                <a:ea typeface="微软雅黑" pitchFamily="34" charset="-122"/>
              </a:rPr>
              <a:t>RuleSet</a:t>
            </a:r>
          </a:p>
        </p:txBody>
      </p:sp>
      <p:sp>
        <p:nvSpPr>
          <p:cNvPr id="11" name="矩形 10"/>
          <p:cNvSpPr/>
          <p:nvPr/>
        </p:nvSpPr>
        <p:spPr>
          <a:xfrm>
            <a:off x="2448840" y="2283718"/>
            <a:ext cx="1512168" cy="432048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200" b="1" dirty="0" smtClean="0">
                <a:solidFill>
                  <a:srgbClr val="FAAF19"/>
                </a:solidFill>
                <a:latin typeface="微软雅黑"/>
                <a:ea typeface="微软雅黑"/>
                <a:cs typeface="微软雅黑"/>
              </a:rPr>
              <a:t>RuleTable</a:t>
            </a:r>
          </a:p>
        </p:txBody>
      </p:sp>
      <p:sp>
        <p:nvSpPr>
          <p:cNvPr id="12" name="矩形 11"/>
          <p:cNvSpPr/>
          <p:nvPr/>
        </p:nvSpPr>
        <p:spPr>
          <a:xfrm>
            <a:off x="2448840" y="3219822"/>
            <a:ext cx="1512168" cy="432048"/>
          </a:xfrm>
          <a:prstGeom prst="rect">
            <a:avLst/>
          </a:prstGeom>
          <a:solidFill>
            <a:srgbClr val="373C64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zh-CN" sz="1200" b="1" dirty="0" smtClean="0">
                <a:solidFill>
                  <a:srgbClr val="FAAF19"/>
                </a:solidFill>
                <a:latin typeface="微软雅黑"/>
                <a:ea typeface="微软雅黑"/>
                <a:cs typeface="微软雅黑"/>
              </a:rPr>
              <a:t>Excel</a:t>
            </a:r>
            <a:r>
              <a:rPr kumimoji="1" lang="zh-CN" altLang="en-US" sz="1200" b="1" dirty="0" smtClean="0">
                <a:solidFill>
                  <a:srgbClr val="FAAF19"/>
                </a:solidFill>
                <a:latin typeface="微软雅黑"/>
                <a:ea typeface="微软雅黑"/>
                <a:cs typeface="微软雅黑"/>
              </a:rPr>
              <a:t> 行</a:t>
            </a:r>
            <a:endParaRPr kumimoji="1" lang="en-US" altLang="zh-CN" sz="1200" b="1" dirty="0" smtClean="0">
              <a:solidFill>
                <a:srgbClr val="FAAF1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5536" y="915566"/>
            <a:ext cx="1728192" cy="3096344"/>
          </a:xfrm>
          <a:prstGeom prst="rect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规则业务模型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39752" y="915566"/>
            <a:ext cx="1728192" cy="3096344"/>
          </a:xfrm>
          <a:prstGeom prst="rect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规则配置文件模型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kumimoji="1" lang="en-US" altLang="zh-CN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Excel</a:t>
            </a:r>
          </a:p>
        </p:txBody>
      </p:sp>
      <p:sp>
        <p:nvSpPr>
          <p:cNvPr id="16" name="矩形 15"/>
          <p:cNvSpPr/>
          <p:nvPr/>
        </p:nvSpPr>
        <p:spPr>
          <a:xfrm>
            <a:off x="4283968" y="915566"/>
            <a:ext cx="1800200" cy="3096344"/>
          </a:xfrm>
          <a:prstGeom prst="rect">
            <a:avLst/>
          </a:prstGeom>
          <a:noFill/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kumimoji="1" lang="zh-CN" altLang="en-US" sz="1050" b="1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规则引擎运行时模型</a:t>
            </a:r>
            <a:endParaRPr kumimoji="1" lang="en-US" altLang="zh-CN" sz="1050" b="1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8" name="直线连接符 17"/>
          <p:cNvCxnSpPr/>
          <p:nvPr/>
        </p:nvCxnSpPr>
        <p:spPr>
          <a:xfrm>
            <a:off x="1259632" y="1851670"/>
            <a:ext cx="0" cy="36004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/>
          <p:cNvCxnSpPr/>
          <p:nvPr/>
        </p:nvCxnSpPr>
        <p:spPr>
          <a:xfrm>
            <a:off x="1259632" y="2787774"/>
            <a:ext cx="0" cy="36004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/>
          <p:cNvCxnSpPr/>
          <p:nvPr/>
        </p:nvCxnSpPr>
        <p:spPr>
          <a:xfrm>
            <a:off x="3203848" y="1851670"/>
            <a:ext cx="0" cy="36004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/>
          <p:cNvCxnSpPr/>
          <p:nvPr/>
        </p:nvCxnSpPr>
        <p:spPr>
          <a:xfrm>
            <a:off x="3203848" y="2787774"/>
            <a:ext cx="0" cy="36004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5148064" y="1851670"/>
            <a:ext cx="0" cy="36004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>
            <a:off x="5148064" y="2787774"/>
            <a:ext cx="0" cy="36004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 rot="5400000">
            <a:off x="2231740" y="1311610"/>
            <a:ext cx="0" cy="36004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/>
          <p:cNvCxnSpPr/>
          <p:nvPr/>
        </p:nvCxnSpPr>
        <p:spPr>
          <a:xfrm rot="5400000">
            <a:off x="4175956" y="1311610"/>
            <a:ext cx="0" cy="36004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/>
          <p:cNvCxnSpPr/>
          <p:nvPr/>
        </p:nvCxnSpPr>
        <p:spPr>
          <a:xfrm rot="5400000">
            <a:off x="2231740" y="2319722"/>
            <a:ext cx="0" cy="36004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 rot="5400000">
            <a:off x="2231740" y="3255826"/>
            <a:ext cx="0" cy="36004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/>
          <p:cNvCxnSpPr/>
          <p:nvPr/>
        </p:nvCxnSpPr>
        <p:spPr>
          <a:xfrm rot="5400000">
            <a:off x="4175956" y="2319722"/>
            <a:ext cx="0" cy="36004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/>
          <p:cNvCxnSpPr/>
          <p:nvPr/>
        </p:nvCxnSpPr>
        <p:spPr>
          <a:xfrm rot="5400000">
            <a:off x="4175956" y="3255826"/>
            <a:ext cx="0" cy="360040"/>
          </a:xfrm>
          <a:prstGeom prst="line">
            <a:avLst/>
          </a:prstGeom>
          <a:ln>
            <a:solidFill>
              <a:srgbClr val="37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971600" y="1779662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32" name="文本框 31"/>
          <p:cNvSpPr txBox="1"/>
          <p:nvPr/>
        </p:nvSpPr>
        <p:spPr>
          <a:xfrm>
            <a:off x="1043608" y="2715766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34" name="文本框 33"/>
          <p:cNvSpPr txBox="1"/>
          <p:nvPr/>
        </p:nvSpPr>
        <p:spPr>
          <a:xfrm>
            <a:off x="2915816" y="1779662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35" name="文本框 34"/>
          <p:cNvSpPr txBox="1"/>
          <p:nvPr/>
        </p:nvSpPr>
        <p:spPr>
          <a:xfrm>
            <a:off x="2987824" y="2715766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37" name="文本框 36"/>
          <p:cNvSpPr txBox="1"/>
          <p:nvPr/>
        </p:nvSpPr>
        <p:spPr>
          <a:xfrm>
            <a:off x="4860032" y="1779662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38" name="文本框 37"/>
          <p:cNvSpPr txBox="1"/>
          <p:nvPr/>
        </p:nvSpPr>
        <p:spPr>
          <a:xfrm>
            <a:off x="4932040" y="2715766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39" name="文本框 38"/>
          <p:cNvSpPr txBox="1"/>
          <p:nvPr/>
        </p:nvSpPr>
        <p:spPr>
          <a:xfrm>
            <a:off x="1259632" y="1995686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100" dirty="0"/>
              <a:t>*</a:t>
            </a:r>
            <a:endParaRPr kumimoji="1" lang="zh-CN" altLang="en-US" sz="1100" dirty="0"/>
          </a:p>
        </p:txBody>
      </p:sp>
      <p:sp>
        <p:nvSpPr>
          <p:cNvPr id="40" name="文本框 39"/>
          <p:cNvSpPr txBox="1"/>
          <p:nvPr/>
        </p:nvSpPr>
        <p:spPr>
          <a:xfrm>
            <a:off x="1259632" y="2931790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100" dirty="0"/>
              <a:t>*</a:t>
            </a:r>
            <a:endParaRPr kumimoji="1" lang="zh-CN" altLang="en-US" sz="1100" dirty="0"/>
          </a:p>
        </p:txBody>
      </p:sp>
      <p:sp>
        <p:nvSpPr>
          <p:cNvPr id="41" name="文本框 40"/>
          <p:cNvSpPr txBox="1"/>
          <p:nvPr/>
        </p:nvSpPr>
        <p:spPr>
          <a:xfrm>
            <a:off x="3168920" y="1995686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100" dirty="0"/>
              <a:t>*</a:t>
            </a:r>
            <a:endParaRPr kumimoji="1" lang="zh-CN" altLang="en-US" sz="1100" dirty="0"/>
          </a:p>
        </p:txBody>
      </p:sp>
      <p:sp>
        <p:nvSpPr>
          <p:cNvPr id="42" name="文本框 41"/>
          <p:cNvSpPr txBox="1"/>
          <p:nvPr/>
        </p:nvSpPr>
        <p:spPr>
          <a:xfrm>
            <a:off x="3168920" y="2931790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100" dirty="0"/>
              <a:t>*</a:t>
            </a:r>
            <a:endParaRPr kumimoji="1" lang="zh-CN" altLang="en-US" sz="1100" dirty="0"/>
          </a:p>
        </p:txBody>
      </p:sp>
      <p:sp>
        <p:nvSpPr>
          <p:cNvPr id="43" name="文本框 42"/>
          <p:cNvSpPr txBox="1"/>
          <p:nvPr/>
        </p:nvSpPr>
        <p:spPr>
          <a:xfrm>
            <a:off x="5148064" y="2022108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100" dirty="0"/>
              <a:t>*</a:t>
            </a:r>
            <a:endParaRPr kumimoji="1" lang="zh-CN" altLang="en-US" sz="1100" dirty="0"/>
          </a:p>
        </p:txBody>
      </p:sp>
      <p:sp>
        <p:nvSpPr>
          <p:cNvPr id="45" name="文本框 44"/>
          <p:cNvSpPr txBox="1"/>
          <p:nvPr/>
        </p:nvSpPr>
        <p:spPr>
          <a:xfrm>
            <a:off x="5148064" y="2958212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100" dirty="0"/>
              <a:t>*</a:t>
            </a:r>
            <a:endParaRPr kumimoji="1" lang="zh-CN" altLang="en-US" sz="1100" dirty="0"/>
          </a:p>
        </p:txBody>
      </p:sp>
      <p:sp>
        <p:nvSpPr>
          <p:cNvPr id="46" name="文本框 45"/>
          <p:cNvSpPr txBox="1"/>
          <p:nvPr/>
        </p:nvSpPr>
        <p:spPr>
          <a:xfrm>
            <a:off x="1907704" y="1203598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47" name="文本框 46"/>
          <p:cNvSpPr txBox="1"/>
          <p:nvPr/>
        </p:nvSpPr>
        <p:spPr>
          <a:xfrm>
            <a:off x="2258474" y="1203598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48" name="文本框 47"/>
          <p:cNvSpPr txBox="1"/>
          <p:nvPr/>
        </p:nvSpPr>
        <p:spPr>
          <a:xfrm>
            <a:off x="3870460" y="1203598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49" name="文本框 48"/>
          <p:cNvSpPr txBox="1"/>
          <p:nvPr/>
        </p:nvSpPr>
        <p:spPr>
          <a:xfrm>
            <a:off x="4202690" y="1203598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56" name="文本框 55"/>
          <p:cNvSpPr txBox="1"/>
          <p:nvPr/>
        </p:nvSpPr>
        <p:spPr>
          <a:xfrm>
            <a:off x="4202690" y="2238132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57" name="文本框 56"/>
          <p:cNvSpPr txBox="1"/>
          <p:nvPr/>
        </p:nvSpPr>
        <p:spPr>
          <a:xfrm>
            <a:off x="3889000" y="3174236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58" name="文本框 57"/>
          <p:cNvSpPr txBox="1"/>
          <p:nvPr/>
        </p:nvSpPr>
        <p:spPr>
          <a:xfrm>
            <a:off x="4204842" y="3174236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62" name="文本框 61"/>
          <p:cNvSpPr txBox="1"/>
          <p:nvPr/>
        </p:nvSpPr>
        <p:spPr>
          <a:xfrm>
            <a:off x="1924092" y="2238132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64" name="文本框 63"/>
          <p:cNvSpPr txBox="1"/>
          <p:nvPr/>
        </p:nvSpPr>
        <p:spPr>
          <a:xfrm>
            <a:off x="1926244" y="3174236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65" name="文本框 64"/>
          <p:cNvSpPr txBox="1"/>
          <p:nvPr/>
        </p:nvSpPr>
        <p:spPr>
          <a:xfrm>
            <a:off x="2242086" y="3174236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 smtClean="0"/>
              <a:t>1</a:t>
            </a:r>
            <a:endParaRPr kumimoji="1" lang="zh-CN" altLang="en-US" sz="1100" dirty="0"/>
          </a:p>
        </p:txBody>
      </p:sp>
      <p:sp>
        <p:nvSpPr>
          <p:cNvPr id="60" name="文本框 59"/>
          <p:cNvSpPr txBox="1"/>
          <p:nvPr/>
        </p:nvSpPr>
        <p:spPr>
          <a:xfrm>
            <a:off x="2150051" y="2247174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100" dirty="0">
                <a:solidFill>
                  <a:srgbClr val="FF0000"/>
                </a:solidFill>
              </a:rPr>
              <a:t>*</a:t>
            </a:r>
            <a:endParaRPr kumimoji="1"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887380" y="2238132"/>
            <a:ext cx="216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1100" dirty="0">
                <a:solidFill>
                  <a:srgbClr val="FF0000"/>
                </a:solidFill>
              </a:rPr>
              <a:t>*</a:t>
            </a:r>
            <a:endParaRPr kumimoji="1" lang="zh-CN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7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en-US" altLang="en-US" sz="2000" dirty="0" smtClean="0"/>
              <a:t>规则设计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关键模型视图（规则状态）</a:t>
            </a:r>
            <a:endParaRPr lang="zh-CN" sz="2000" dirty="0" smtClean="0"/>
          </a:p>
        </p:txBody>
      </p:sp>
      <p:sp>
        <p:nvSpPr>
          <p:cNvPr id="59" name="矩形 58"/>
          <p:cNvSpPr/>
          <p:nvPr/>
        </p:nvSpPr>
        <p:spPr>
          <a:xfrm>
            <a:off x="6657006" y="627534"/>
            <a:ext cx="2235474" cy="410445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373C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457156" lvl="2">
              <a:spcAft>
                <a:spcPts val="1200"/>
              </a:spcAft>
            </a:pPr>
            <a:r>
              <a:rPr lang="zh-CN" altLang="en-US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规则状态分为四种：</a:t>
            </a:r>
            <a:endParaRPr lang="en-US" altLang="zh-CN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编辑状态：规则在规则编辑器中的状态。</a:t>
            </a:r>
            <a:endParaRPr lang="en-US" altLang="zh-CN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提交状态</a:t>
            </a:r>
            <a:r>
              <a:rPr lang="zh-CN" altLang="zh-CN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规则提交到版本库中的状态</a:t>
            </a:r>
            <a:endParaRPr lang="en-US" altLang="zh-CN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激活状态</a:t>
            </a:r>
            <a:r>
              <a:rPr lang="zh-CN" altLang="zh-CN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规则部署到规则引擎服务器后的状态</a:t>
            </a:r>
            <a:endParaRPr lang="en-US" altLang="zh-CN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056" lvl="2" indent="-342900">
              <a:spcAft>
                <a:spcPts val="1200"/>
              </a:spcAft>
              <a:buFont typeface="+mj-ea"/>
              <a:buAutoNum type="circleNumDbPlain"/>
            </a:pPr>
            <a:r>
              <a:rPr lang="zh-CN" altLang="en-US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废弃状态</a:t>
            </a:r>
            <a:r>
              <a:rPr lang="zh-CN" altLang="zh-CN" b="1" baseline="-25000" dirty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b="1" baseline="-25000" dirty="0" smtClean="0">
                <a:solidFill>
                  <a:srgbClr val="373C64"/>
                </a:solidFill>
                <a:latin typeface="微软雅黑" pitchFamily="34" charset="-122"/>
                <a:ea typeface="微软雅黑" pitchFamily="34" charset="-122"/>
              </a:rPr>
              <a:t>规则从版本库中被删除后的状态</a:t>
            </a:r>
            <a:endParaRPr lang="en-US" altLang="zh-CN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16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56" lvl="2">
              <a:spcAft>
                <a:spcPts val="1200"/>
              </a:spcAft>
            </a:pPr>
            <a:endParaRPr lang="en-US" altLang="zh-CN" sz="2000" b="1" baseline="-25000" dirty="0" smtClean="0">
              <a:solidFill>
                <a:srgbClr val="373C6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863696" y="1851790"/>
            <a:ext cx="972000" cy="972000"/>
          </a:xfrm>
          <a:prstGeom prst="ellipse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 smtClean="0">
                <a:solidFill>
                  <a:srgbClr val="FAAF19"/>
                </a:solidFill>
              </a:rPr>
              <a:t>编辑</a:t>
            </a:r>
            <a:endParaRPr kumimoji="1" lang="zh-CN" altLang="en-US" sz="1400" dirty="0">
              <a:solidFill>
                <a:srgbClr val="FAAF19"/>
              </a:soli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857098" y="1851790"/>
            <a:ext cx="972000" cy="972000"/>
          </a:xfrm>
          <a:prstGeom prst="ellipse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 smtClean="0">
                <a:solidFill>
                  <a:srgbClr val="FAAF19"/>
                </a:solidFill>
              </a:rPr>
              <a:t>提交</a:t>
            </a:r>
            <a:endParaRPr kumimoji="1" lang="zh-CN" altLang="en-US" sz="1400" dirty="0">
              <a:solidFill>
                <a:srgbClr val="FAAF19"/>
              </a:solidFill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4884618" y="1851790"/>
            <a:ext cx="972000" cy="972000"/>
          </a:xfrm>
          <a:prstGeom prst="ellipse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 smtClean="0">
                <a:solidFill>
                  <a:srgbClr val="FAAF19"/>
                </a:solidFill>
              </a:rPr>
              <a:t>激活</a:t>
            </a:r>
            <a:endParaRPr kumimoji="1" lang="zh-CN" altLang="en-US" sz="1400" dirty="0">
              <a:solidFill>
                <a:srgbClr val="FAAF19"/>
              </a:solidFill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2843808" y="3723998"/>
            <a:ext cx="972000" cy="972000"/>
          </a:xfrm>
          <a:prstGeom prst="ellipse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 smtClean="0">
                <a:solidFill>
                  <a:srgbClr val="FAAF19"/>
                </a:solidFill>
              </a:rPr>
              <a:t>废弃</a:t>
            </a:r>
            <a:endParaRPr kumimoji="1" lang="zh-CN" altLang="en-US" sz="1400" dirty="0">
              <a:solidFill>
                <a:srgbClr val="FAAF19"/>
              </a:solidFill>
            </a:endParaRPr>
          </a:p>
        </p:txBody>
      </p:sp>
      <p:cxnSp>
        <p:nvCxnSpPr>
          <p:cNvPr id="11" name="直线连接符 10"/>
          <p:cNvCxnSpPr/>
          <p:nvPr/>
        </p:nvCxnSpPr>
        <p:spPr>
          <a:xfrm flipV="1">
            <a:off x="1774254" y="2274566"/>
            <a:ext cx="1069554" cy="9272"/>
          </a:xfrm>
          <a:prstGeom prst="line">
            <a:avLst/>
          </a:prstGeom>
          <a:ln w="63500" cmpd="sng">
            <a:solidFill>
              <a:srgbClr val="FAAF19"/>
            </a:solidFill>
            <a:headEnd type="none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/>
          <p:cNvCxnSpPr/>
          <p:nvPr/>
        </p:nvCxnSpPr>
        <p:spPr>
          <a:xfrm>
            <a:off x="3450348" y="2859902"/>
            <a:ext cx="0" cy="936104"/>
          </a:xfrm>
          <a:prstGeom prst="line">
            <a:avLst/>
          </a:prstGeom>
          <a:ln w="63500" cmpd="sng">
            <a:solidFill>
              <a:srgbClr val="FAAF19"/>
            </a:solidFill>
            <a:headEnd type="none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835696" y="1798736"/>
            <a:ext cx="792088" cy="276999"/>
          </a:xfrm>
          <a:prstGeom prst="rect">
            <a:avLst/>
          </a:prstGeom>
          <a:ln>
            <a:solidFill>
              <a:srgbClr val="373C6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1200" b="1" dirty="0" smtClean="0">
                <a:solidFill>
                  <a:srgbClr val="373C64"/>
                </a:solidFill>
              </a:rPr>
              <a:t>规则提交</a:t>
            </a:r>
            <a:endParaRPr kumimoji="1" lang="zh-CN" altLang="en-US" sz="1200" b="1" dirty="0">
              <a:solidFill>
                <a:srgbClr val="373C64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64130" y="2689011"/>
            <a:ext cx="792088" cy="276999"/>
          </a:xfrm>
          <a:prstGeom prst="rect">
            <a:avLst/>
          </a:prstGeom>
          <a:ln>
            <a:solidFill>
              <a:srgbClr val="373C6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1200" b="1" dirty="0" smtClean="0">
                <a:solidFill>
                  <a:srgbClr val="373C64"/>
                </a:solidFill>
              </a:rPr>
              <a:t>置为编辑</a:t>
            </a:r>
            <a:endParaRPr kumimoji="1" lang="zh-CN" altLang="en-US" sz="1200" b="1" dirty="0">
              <a:solidFill>
                <a:srgbClr val="373C64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948514" y="1851790"/>
            <a:ext cx="792088" cy="276999"/>
          </a:xfrm>
          <a:prstGeom prst="rect">
            <a:avLst/>
          </a:prstGeom>
          <a:ln>
            <a:solidFill>
              <a:srgbClr val="373C6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1200" b="1" dirty="0" smtClean="0">
                <a:solidFill>
                  <a:srgbClr val="373C64"/>
                </a:solidFill>
              </a:rPr>
              <a:t>规则部署</a:t>
            </a:r>
            <a:endParaRPr kumimoji="1" lang="zh-CN" altLang="en-US" sz="1200" b="1" dirty="0">
              <a:solidFill>
                <a:srgbClr val="373C64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581106" y="2931998"/>
            <a:ext cx="288000" cy="792000"/>
          </a:xfrm>
          <a:prstGeom prst="rect">
            <a:avLst/>
          </a:prstGeom>
          <a:ln>
            <a:solidFill>
              <a:srgbClr val="373C6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eaVert" wrap="square" rtlCol="0" anchor="ctr" anchorCtr="1">
            <a:spAutoFit/>
          </a:bodyPr>
          <a:lstStyle/>
          <a:p>
            <a:r>
              <a:rPr kumimoji="1" lang="zh-CN" altLang="en-US" sz="1200" b="1" dirty="0" smtClean="0">
                <a:solidFill>
                  <a:srgbClr val="373C64"/>
                </a:solidFill>
              </a:rPr>
              <a:t>规则删除</a:t>
            </a:r>
            <a:endParaRPr kumimoji="1" lang="zh-CN" altLang="en-US" sz="1200" b="1" dirty="0">
              <a:solidFill>
                <a:srgbClr val="373C64"/>
              </a:solidFill>
            </a:endParaRPr>
          </a:p>
        </p:txBody>
      </p:sp>
      <p:cxnSp>
        <p:nvCxnSpPr>
          <p:cNvPr id="32" name="直线连接符 31"/>
          <p:cNvCxnSpPr/>
          <p:nvPr/>
        </p:nvCxnSpPr>
        <p:spPr>
          <a:xfrm flipV="1">
            <a:off x="3221034" y="2859902"/>
            <a:ext cx="0" cy="936104"/>
          </a:xfrm>
          <a:prstGeom prst="line">
            <a:avLst/>
          </a:prstGeom>
          <a:ln w="63500" cmpd="sng">
            <a:solidFill>
              <a:srgbClr val="FAAF19"/>
            </a:solidFill>
            <a:headEnd type="none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2760584" y="2931998"/>
            <a:ext cx="288000" cy="792000"/>
          </a:xfrm>
          <a:prstGeom prst="rect">
            <a:avLst/>
          </a:prstGeom>
          <a:ln>
            <a:solidFill>
              <a:srgbClr val="373C6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eaVert" wrap="square" rtlCol="0" anchor="ctr" anchorCtr="1">
            <a:spAutoFit/>
          </a:bodyPr>
          <a:lstStyle/>
          <a:p>
            <a:r>
              <a:rPr kumimoji="1" lang="zh-CN" altLang="en-US" sz="1200" b="1" dirty="0" smtClean="0">
                <a:solidFill>
                  <a:srgbClr val="373C64"/>
                </a:solidFill>
              </a:rPr>
              <a:t>规则还原</a:t>
            </a:r>
            <a:endParaRPr kumimoji="1" lang="zh-CN" altLang="en-US" sz="1200" b="1" dirty="0">
              <a:solidFill>
                <a:srgbClr val="373C64"/>
              </a:solidFill>
            </a:endParaRPr>
          </a:p>
        </p:txBody>
      </p:sp>
      <p:cxnSp>
        <p:nvCxnSpPr>
          <p:cNvPr id="40" name="直线连接符 39"/>
          <p:cNvCxnSpPr/>
          <p:nvPr/>
        </p:nvCxnSpPr>
        <p:spPr>
          <a:xfrm flipH="1" flipV="1">
            <a:off x="1763688" y="2499862"/>
            <a:ext cx="1069554" cy="9272"/>
          </a:xfrm>
          <a:prstGeom prst="line">
            <a:avLst/>
          </a:prstGeom>
          <a:ln w="63500" cmpd="sng">
            <a:solidFill>
              <a:srgbClr val="FAAF19"/>
            </a:solidFill>
            <a:headEnd type="none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/>
        </p:nvCxnSpPr>
        <p:spPr>
          <a:xfrm flipV="1">
            <a:off x="3815064" y="2283838"/>
            <a:ext cx="1069554" cy="9272"/>
          </a:xfrm>
          <a:prstGeom prst="line">
            <a:avLst/>
          </a:prstGeom>
          <a:ln w="63500" cmpd="sng">
            <a:solidFill>
              <a:srgbClr val="FAAF19"/>
            </a:solidFill>
            <a:headEnd type="none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5028634" y="3765014"/>
            <a:ext cx="822960" cy="822960"/>
          </a:xfrm>
          <a:prstGeom prst="roundRect">
            <a:avLst/>
          </a:prstGeom>
          <a:solidFill>
            <a:srgbClr val="FAAF19"/>
          </a:solidFill>
          <a:ln>
            <a:solidFill>
              <a:srgbClr val="37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1600" b="1" dirty="0" smtClean="0">
                <a:solidFill>
                  <a:srgbClr val="373C64"/>
                </a:solidFill>
              </a:rPr>
              <a:t>当前版本</a:t>
            </a:r>
            <a:endParaRPr lang="zh-CN" altLang="en-US" sz="1600" b="1" dirty="0">
              <a:solidFill>
                <a:srgbClr val="373C64"/>
              </a:solidFill>
            </a:endParaRPr>
          </a:p>
        </p:txBody>
      </p:sp>
      <p:cxnSp>
        <p:nvCxnSpPr>
          <p:cNvPr id="25" name="直线连接符 24"/>
          <p:cNvCxnSpPr/>
          <p:nvPr/>
        </p:nvCxnSpPr>
        <p:spPr>
          <a:xfrm>
            <a:off x="5532690" y="2787774"/>
            <a:ext cx="0" cy="936104"/>
          </a:xfrm>
          <a:prstGeom prst="line">
            <a:avLst/>
          </a:prstGeom>
          <a:ln w="63500" cmpd="sng">
            <a:solidFill>
              <a:srgbClr val="FAAF19"/>
            </a:solidFill>
            <a:headEnd type="none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670172" y="2859870"/>
            <a:ext cx="288000" cy="792000"/>
          </a:xfrm>
          <a:prstGeom prst="rect">
            <a:avLst/>
          </a:prstGeom>
          <a:ln>
            <a:solidFill>
              <a:srgbClr val="373C6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eaVert" wrap="square" rtlCol="0" anchor="ctr" anchorCtr="1">
            <a:spAutoFit/>
          </a:bodyPr>
          <a:lstStyle/>
          <a:p>
            <a:r>
              <a:rPr kumimoji="1" lang="zh-CN" altLang="en-US" sz="1200" b="1" dirty="0" smtClean="0">
                <a:solidFill>
                  <a:srgbClr val="373C64"/>
                </a:solidFill>
              </a:rPr>
              <a:t>默认版本</a:t>
            </a:r>
            <a:endParaRPr kumimoji="1" lang="zh-CN" altLang="en-US" sz="1200" b="1" dirty="0">
              <a:solidFill>
                <a:srgbClr val="373C64"/>
              </a:solidFill>
            </a:endParaRPr>
          </a:p>
        </p:txBody>
      </p:sp>
      <p:cxnSp>
        <p:nvCxnSpPr>
          <p:cNvPr id="27" name="直线连接符 26"/>
          <p:cNvCxnSpPr/>
          <p:nvPr/>
        </p:nvCxnSpPr>
        <p:spPr>
          <a:xfrm flipV="1">
            <a:off x="5303376" y="2787774"/>
            <a:ext cx="0" cy="936104"/>
          </a:xfrm>
          <a:prstGeom prst="line">
            <a:avLst/>
          </a:prstGeom>
          <a:ln w="63500" cmpd="sng">
            <a:solidFill>
              <a:srgbClr val="FAAF19"/>
            </a:solidFill>
            <a:headEnd type="none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802260" y="2859870"/>
            <a:ext cx="288000" cy="792000"/>
          </a:xfrm>
          <a:prstGeom prst="rect">
            <a:avLst/>
          </a:prstGeom>
          <a:ln>
            <a:solidFill>
              <a:srgbClr val="373C6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eaVert" wrap="square" rtlCol="0" anchor="ctr" anchorCtr="1">
            <a:spAutoFit/>
          </a:bodyPr>
          <a:lstStyle/>
          <a:p>
            <a:r>
              <a:rPr kumimoji="1" lang="zh-CN" altLang="en-US" sz="1200" b="1" dirty="0" smtClean="0">
                <a:solidFill>
                  <a:srgbClr val="373C64"/>
                </a:solidFill>
              </a:rPr>
              <a:t>切换版本</a:t>
            </a:r>
            <a:endParaRPr kumimoji="1" lang="zh-CN" altLang="en-US" sz="1200" b="1" dirty="0">
              <a:solidFill>
                <a:srgbClr val="373C64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923928" y="555526"/>
            <a:ext cx="972000" cy="972000"/>
          </a:xfrm>
          <a:prstGeom prst="ellipse">
            <a:avLst/>
          </a:prstGeom>
          <a:solidFill>
            <a:srgbClr val="373C64"/>
          </a:solidFill>
          <a:ln>
            <a:solidFill>
              <a:srgbClr val="FAA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 smtClean="0">
                <a:solidFill>
                  <a:srgbClr val="FAAF19"/>
                </a:solidFill>
              </a:rPr>
              <a:t>激活失败</a:t>
            </a:r>
            <a:endParaRPr kumimoji="1" lang="zh-CN" altLang="en-US" sz="1400" dirty="0">
              <a:solidFill>
                <a:srgbClr val="FAAF19"/>
              </a:solidFill>
            </a:endParaRPr>
          </a:p>
        </p:txBody>
      </p:sp>
      <p:cxnSp>
        <p:nvCxnSpPr>
          <p:cNvPr id="30" name="直线连接符 29"/>
          <p:cNvCxnSpPr/>
          <p:nvPr/>
        </p:nvCxnSpPr>
        <p:spPr>
          <a:xfrm flipV="1">
            <a:off x="3419872" y="1275606"/>
            <a:ext cx="576064" cy="585336"/>
          </a:xfrm>
          <a:prstGeom prst="line">
            <a:avLst/>
          </a:prstGeom>
          <a:ln w="63500" cmpd="sng">
            <a:solidFill>
              <a:srgbClr val="FAAF19"/>
            </a:solidFill>
            <a:headEnd type="none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/>
          <p:cNvCxnSpPr>
            <a:endCxn id="45" idx="0"/>
          </p:cNvCxnSpPr>
          <p:nvPr/>
        </p:nvCxnSpPr>
        <p:spPr>
          <a:xfrm>
            <a:off x="4860032" y="1212870"/>
            <a:ext cx="510586" cy="638920"/>
          </a:xfrm>
          <a:prstGeom prst="line">
            <a:avLst/>
          </a:prstGeom>
          <a:ln w="63500" cmpd="sng">
            <a:solidFill>
              <a:srgbClr val="FAAF19"/>
            </a:solidFill>
            <a:headEnd type="none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2843808" y="1203598"/>
            <a:ext cx="792088" cy="276999"/>
          </a:xfrm>
          <a:prstGeom prst="rect">
            <a:avLst/>
          </a:prstGeom>
          <a:ln>
            <a:solidFill>
              <a:srgbClr val="373C6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1200" b="1" dirty="0" smtClean="0">
                <a:solidFill>
                  <a:srgbClr val="373C64"/>
                </a:solidFill>
              </a:rPr>
              <a:t>部署失败</a:t>
            </a:r>
            <a:endParaRPr kumimoji="1" lang="zh-CN" altLang="en-US" sz="1200" b="1" dirty="0">
              <a:solidFill>
                <a:srgbClr val="373C64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220072" y="1203598"/>
            <a:ext cx="648072" cy="276999"/>
          </a:xfrm>
          <a:prstGeom prst="rect">
            <a:avLst/>
          </a:prstGeom>
          <a:ln>
            <a:solidFill>
              <a:srgbClr val="373C6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1200" b="1" dirty="0" smtClean="0">
                <a:solidFill>
                  <a:srgbClr val="373C64"/>
                </a:solidFill>
              </a:rPr>
              <a:t>再部署</a:t>
            </a:r>
            <a:endParaRPr kumimoji="1" lang="zh-CN" altLang="en-US" sz="1200" b="1" dirty="0">
              <a:solidFill>
                <a:srgbClr val="373C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38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运费折扣开发界面</a:t>
            </a:r>
            <a:r>
              <a:rPr lang="en-US" altLang="zh-CN" sz="2000" dirty="0" smtClean="0"/>
              <a:t>—</a:t>
            </a:r>
            <a:r>
              <a:rPr lang="zh-CN" altLang="en-US" sz="2000" dirty="0" smtClean="0"/>
              <a:t>主界面</a:t>
            </a:r>
            <a:endParaRPr lang="zh-CN" sz="20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555526"/>
            <a:ext cx="8028384" cy="437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2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运费折扣开发界面</a:t>
            </a:r>
            <a:r>
              <a:rPr lang="en-US" altLang="zh-CN" sz="2000" dirty="0" smtClean="0"/>
              <a:t>—</a:t>
            </a:r>
            <a:r>
              <a:rPr lang="zh-CN" altLang="en-US" sz="2000" dirty="0" smtClean="0"/>
              <a:t>新建规则界面</a:t>
            </a:r>
            <a:endParaRPr lang="zh-CN" sz="20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555526"/>
            <a:ext cx="7529346" cy="443620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584965"/>
            <a:ext cx="7848871" cy="436304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604639"/>
            <a:ext cx="7295387" cy="45388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704" y="627534"/>
            <a:ext cx="7040047" cy="422793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9712" y="627534"/>
            <a:ext cx="7027116" cy="415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4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增值费折扣开发界面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主界面</a:t>
            </a:r>
            <a:endParaRPr lang="zh-CN" sz="20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555526"/>
            <a:ext cx="7812360" cy="436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4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增值费折扣开发界面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新增规则界面</a:t>
            </a:r>
            <a:endParaRPr lang="zh-CN" sz="20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529401"/>
            <a:ext cx="6884067" cy="413058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83518"/>
            <a:ext cx="6842911" cy="413210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555526"/>
            <a:ext cx="6736232" cy="40324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592" y="555526"/>
            <a:ext cx="7089222" cy="418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1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 noChangeArrowheads="1"/>
          </p:cNvSpPr>
          <p:nvPr/>
        </p:nvSpPr>
        <p:spPr bwMode="auto">
          <a:xfrm>
            <a:off x="385686" y="76200"/>
            <a:ext cx="6911975" cy="37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 kern="1200">
                <a:solidFill>
                  <a:srgbClr val="000000"/>
                </a:solidFill>
                <a:latin typeface="Arial"/>
                <a:ea typeface="ＭＳ Ｐゴシック" pitchFamily="34" charset="-128"/>
                <a:cs typeface="Arial"/>
              </a:defRPr>
            </a:lvl1pPr>
            <a:lvl2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2pPr>
            <a:lvl3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3pPr>
            <a:lvl4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4pPr>
            <a:lvl5pPr algn="l" defTabSz="342884" rtl="0" eaLnBrk="0" fontAlgn="base" hangingPunct="0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 b="1">
                <a:solidFill>
                  <a:srgbClr val="000000"/>
                </a:solidFill>
                <a:latin typeface="Arial" pitchFamily="-106" charset="0"/>
                <a:ea typeface="ＭＳ Ｐゴシック" pitchFamily="34" charset="-128"/>
                <a:cs typeface="Arial" pitchFamily="34" charset="0"/>
              </a:defRPr>
            </a:lvl5pPr>
            <a:lvl6pPr marL="342884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6pPr>
            <a:lvl7pPr marL="685766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7pPr>
            <a:lvl8pPr marL="1028649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8pPr>
            <a:lvl9pPr marL="1371532" algn="l" defTabSz="342884" rtl="0" eaLnBrk="1" fontAlgn="base" hangingPunct="1">
              <a:lnSpc>
                <a:spcPts val="2325"/>
              </a:lnSpc>
              <a:spcBef>
                <a:spcPct val="0"/>
              </a:spcBef>
              <a:spcAft>
                <a:spcPct val="0"/>
              </a:spcAft>
              <a:defRPr sz="1950">
                <a:solidFill>
                  <a:srgbClr val="000000"/>
                </a:solidFill>
                <a:latin typeface="Arial" pitchFamily="-106" charset="0"/>
                <a:ea typeface="ＭＳ Ｐゴシック" pitchFamily="-106" charset="-128"/>
              </a:defRPr>
            </a:lvl9pPr>
          </a:lstStyle>
          <a:p>
            <a:pPr eaLnBrk="1" hangingPunct="1"/>
            <a:r>
              <a:rPr lang="zh-CN" altLang="en-US" sz="2000" dirty="0" smtClean="0"/>
              <a:t>规则管理界面</a:t>
            </a:r>
            <a:endParaRPr lang="zh-CN" sz="20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535199"/>
            <a:ext cx="7070289" cy="419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56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3" descr="F:\品牌\换标\PPT封1面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9147176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itle 1"/>
          <p:cNvSpPr>
            <a:spLocks noGrp="1"/>
          </p:cNvSpPr>
          <p:nvPr>
            <p:ph type="title"/>
          </p:nvPr>
        </p:nvSpPr>
        <p:spPr>
          <a:xfrm>
            <a:off x="876301" y="1401369"/>
            <a:ext cx="7867651" cy="739378"/>
          </a:xfrm>
        </p:spPr>
        <p:txBody>
          <a:bodyPr anchor="ctr"/>
          <a:lstStyle/>
          <a:p>
            <a:pPr algn="ctr" eaLnBrk="1" hangingPunct="1">
              <a:lnSpc>
                <a:spcPts val="3244"/>
              </a:lnSpc>
              <a:spcAft>
                <a:spcPts val="2700"/>
              </a:spcAft>
            </a:pPr>
            <a:r>
              <a:rPr lang="zh-CN" altLang="en-US" sz="5000">
                <a:latin typeface="Arial" pitchFamily="34" charset="0"/>
                <a:ea typeface="方正兰亭粗黑简体"/>
                <a:cs typeface="方正兰亭粗黑简体"/>
              </a:rPr>
              <a:t>谢谢</a:t>
            </a:r>
            <a:endParaRPr lang="zh-CN" altLang="en-US" smtClean="0">
              <a:latin typeface="Arial" pitchFamily="34" charset="0"/>
              <a:ea typeface="方正兰亭粗黑简体"/>
              <a:cs typeface="方正兰亭粗黑简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pp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34751</TotalTime>
  <Words>3514</Words>
  <Application>Microsoft Office PowerPoint</Application>
  <PresentationFormat>全屏显示(16:9)</PresentationFormat>
  <Paragraphs>929</Paragraphs>
  <Slides>52</Slides>
  <Notes>6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3" baseType="lpstr">
      <vt:lpstr>Deppon</vt:lpstr>
      <vt:lpstr>德 邦 物 流  规则引擎项目总体设计   普元信息技术股份有限公司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德 邦 物 流 规则引擎项目普元投标方案 讲标</dc:title>
  <dc:creator>zhang bg</dc:creator>
  <cp:lastModifiedBy>Louis</cp:lastModifiedBy>
  <cp:revision>602</cp:revision>
  <dcterms:created xsi:type="dcterms:W3CDTF">2012-06-15T16:29:50Z</dcterms:created>
  <dcterms:modified xsi:type="dcterms:W3CDTF">2015-04-29T07:13:33Z</dcterms:modified>
</cp:coreProperties>
</file>