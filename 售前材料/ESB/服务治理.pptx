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396" r:id="rId2"/>
    <p:sldId id="397" r:id="rId3"/>
    <p:sldId id="398" r:id="rId4"/>
    <p:sldId id="399" r:id="rId5"/>
    <p:sldId id="419" r:id="rId6"/>
    <p:sldId id="464" r:id="rId7"/>
    <p:sldId id="465" r:id="rId8"/>
    <p:sldId id="466" r:id="rId9"/>
    <p:sldId id="467" r:id="rId10"/>
    <p:sldId id="411" r:id="rId11"/>
    <p:sldId id="412" r:id="rId12"/>
    <p:sldId id="468" r:id="rId13"/>
    <p:sldId id="413" r:id="rId14"/>
    <p:sldId id="444" r:id="rId15"/>
    <p:sldId id="469" r:id="rId16"/>
    <p:sldId id="470" r:id="rId17"/>
    <p:sldId id="471" r:id="rId18"/>
    <p:sldId id="472" r:id="rId19"/>
    <p:sldId id="473" r:id="rId20"/>
    <p:sldId id="474" r:id="rId21"/>
    <p:sldId id="475" r:id="rId22"/>
    <p:sldId id="476" r:id="rId23"/>
    <p:sldId id="477" r:id="rId24"/>
    <p:sldId id="478" r:id="rId25"/>
    <p:sldId id="479" r:id="rId26"/>
    <p:sldId id="480" r:id="rId27"/>
    <p:sldId id="481" r:id="rId28"/>
    <p:sldId id="260"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7375E"/>
    <a:srgbClr val="FEFFFF"/>
    <a:srgbClr val="D7D7D7"/>
    <a:srgbClr val="1737AB"/>
    <a:srgbClr val="178586"/>
    <a:srgbClr val="00007F"/>
    <a:srgbClr val="929292"/>
    <a:srgbClr val="D6D6D6"/>
    <a:srgbClr val="79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2" autoAdjust="0"/>
    <p:restoredTop sz="96372" autoAdjust="0"/>
  </p:normalViewPr>
  <p:slideViewPr>
    <p:cSldViewPr snapToObjects="1" showGuides="1">
      <p:cViewPr varScale="1">
        <p:scale>
          <a:sx n="84" d="100"/>
          <a:sy n="84" d="100"/>
        </p:scale>
        <p:origin x="540"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20" d="100"/>
          <a:sy n="120" d="100"/>
        </p:scale>
        <p:origin x="3712" y="20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34051-BEF0-7D4C-9196-86755A91DC50}" type="datetimeFigureOut">
              <a:rPr kumimoji="1" lang="zh-CN" altLang="en-US" smtClean="0"/>
              <a:pPr/>
              <a:t>2015-12-30</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F50FCA8-6321-0949-96E4-AD67B1E048D6}" type="slidenum">
              <a:rPr kumimoji="1" lang="zh-CN" altLang="en-US" smtClean="0"/>
              <a:pPr/>
              <a:t>‹#›</a:t>
            </a:fld>
            <a:endParaRPr kumimoji="1" lang="zh-CN" altLang="en-US"/>
          </a:p>
        </p:txBody>
      </p:sp>
    </p:spTree>
    <p:extLst>
      <p:ext uri="{BB962C8B-B14F-4D97-AF65-F5344CB8AC3E}">
        <p14:creationId xmlns:p14="http://schemas.microsoft.com/office/powerpoint/2010/main" val="2949388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E5CB33-C662-8F41-8A71-5104D135C80E}" type="datetimeFigureOut">
              <a:rPr kumimoji="1" lang="zh-CN" altLang="en-US" smtClean="0"/>
              <a:pPr/>
              <a:t>2015-12-30</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863DDE-E268-D241-A46D-5F7888E658E3}" type="slidenum">
              <a:rPr kumimoji="1" lang="zh-CN" altLang="en-US" smtClean="0"/>
              <a:pPr/>
              <a:t>‹#›</a:t>
            </a:fld>
            <a:endParaRPr kumimoji="1" lang="zh-CN" altLang="en-US"/>
          </a:p>
        </p:txBody>
      </p:sp>
    </p:spTree>
    <p:extLst>
      <p:ext uri="{BB962C8B-B14F-4D97-AF65-F5344CB8AC3E}">
        <p14:creationId xmlns:p14="http://schemas.microsoft.com/office/powerpoint/2010/main" val="384461235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a:t>
            </a:fld>
            <a:endParaRPr kumimoji="1" lang="zh-CN" altLang="en-US"/>
          </a:p>
        </p:txBody>
      </p:sp>
    </p:spTree>
    <p:extLst>
      <p:ext uri="{BB962C8B-B14F-4D97-AF65-F5344CB8AC3E}">
        <p14:creationId xmlns:p14="http://schemas.microsoft.com/office/powerpoint/2010/main" val="2981957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a:t>
            </a:fld>
            <a:endParaRPr kumimoji="1" lang="zh-CN" altLang="en-US"/>
          </a:p>
        </p:txBody>
      </p:sp>
    </p:spTree>
    <p:extLst>
      <p:ext uri="{BB962C8B-B14F-4D97-AF65-F5344CB8AC3E}">
        <p14:creationId xmlns:p14="http://schemas.microsoft.com/office/powerpoint/2010/main" val="3945727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4</a:t>
            </a:fld>
            <a:endParaRPr kumimoji="1" lang="zh-CN" altLang="en-US"/>
          </a:p>
        </p:txBody>
      </p:sp>
    </p:spTree>
    <p:extLst>
      <p:ext uri="{BB962C8B-B14F-4D97-AF65-F5344CB8AC3E}">
        <p14:creationId xmlns:p14="http://schemas.microsoft.com/office/powerpoint/2010/main" val="906666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5</a:t>
            </a:fld>
            <a:endParaRPr kumimoji="1" lang="zh-CN" altLang="en-US"/>
          </a:p>
        </p:txBody>
      </p:sp>
    </p:spTree>
    <p:extLst>
      <p:ext uri="{BB962C8B-B14F-4D97-AF65-F5344CB8AC3E}">
        <p14:creationId xmlns:p14="http://schemas.microsoft.com/office/powerpoint/2010/main" val="882359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6</a:t>
            </a:fld>
            <a:endParaRPr kumimoji="1" lang="zh-CN" altLang="en-US"/>
          </a:p>
        </p:txBody>
      </p:sp>
    </p:spTree>
    <p:extLst>
      <p:ext uri="{BB962C8B-B14F-4D97-AF65-F5344CB8AC3E}">
        <p14:creationId xmlns:p14="http://schemas.microsoft.com/office/powerpoint/2010/main" val="3299841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7</a:t>
            </a:fld>
            <a:endParaRPr kumimoji="1" lang="zh-CN" altLang="en-US"/>
          </a:p>
        </p:txBody>
      </p:sp>
    </p:spTree>
    <p:extLst>
      <p:ext uri="{BB962C8B-B14F-4D97-AF65-F5344CB8AC3E}">
        <p14:creationId xmlns:p14="http://schemas.microsoft.com/office/powerpoint/2010/main" val="2393349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8</a:t>
            </a:fld>
            <a:endParaRPr kumimoji="1" lang="zh-CN" altLang="en-US"/>
          </a:p>
        </p:txBody>
      </p:sp>
    </p:spTree>
    <p:extLst>
      <p:ext uri="{BB962C8B-B14F-4D97-AF65-F5344CB8AC3E}">
        <p14:creationId xmlns:p14="http://schemas.microsoft.com/office/powerpoint/2010/main" val="2844422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9</a:t>
            </a:fld>
            <a:endParaRPr kumimoji="1" lang="zh-CN" altLang="en-US"/>
          </a:p>
        </p:txBody>
      </p:sp>
    </p:spTree>
    <p:extLst>
      <p:ext uri="{BB962C8B-B14F-4D97-AF65-F5344CB8AC3E}">
        <p14:creationId xmlns:p14="http://schemas.microsoft.com/office/powerpoint/2010/main" val="1712073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11</a:t>
            </a:fld>
            <a:endParaRPr kumimoji="1" lang="zh-CN" altLang="en-US"/>
          </a:p>
        </p:txBody>
      </p:sp>
    </p:spTree>
    <p:extLst>
      <p:ext uri="{BB962C8B-B14F-4D97-AF65-F5344CB8AC3E}">
        <p14:creationId xmlns:p14="http://schemas.microsoft.com/office/powerpoint/2010/main" val="1157595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12</a:t>
            </a:fld>
            <a:endParaRPr kumimoji="1" lang="zh-CN" altLang="en-US"/>
          </a:p>
        </p:txBody>
      </p:sp>
    </p:spTree>
    <p:extLst>
      <p:ext uri="{BB962C8B-B14F-4D97-AF65-F5344CB8AC3E}">
        <p14:creationId xmlns:p14="http://schemas.microsoft.com/office/powerpoint/2010/main" val="4287660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14</a:t>
            </a:fld>
            <a:endParaRPr kumimoji="1" lang="zh-CN" altLang="en-US"/>
          </a:p>
        </p:txBody>
      </p:sp>
    </p:spTree>
    <p:extLst>
      <p:ext uri="{BB962C8B-B14F-4D97-AF65-F5344CB8AC3E}">
        <p14:creationId xmlns:p14="http://schemas.microsoft.com/office/powerpoint/2010/main" val="2547640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15</a:t>
            </a:fld>
            <a:endParaRPr kumimoji="1" lang="zh-CN" altLang="en-US"/>
          </a:p>
        </p:txBody>
      </p:sp>
    </p:spTree>
    <p:extLst>
      <p:ext uri="{BB962C8B-B14F-4D97-AF65-F5344CB8AC3E}">
        <p14:creationId xmlns:p14="http://schemas.microsoft.com/office/powerpoint/2010/main" val="356258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16</a:t>
            </a:fld>
            <a:endParaRPr kumimoji="1" lang="zh-CN" altLang="en-US"/>
          </a:p>
        </p:txBody>
      </p:sp>
    </p:spTree>
    <p:extLst>
      <p:ext uri="{BB962C8B-B14F-4D97-AF65-F5344CB8AC3E}">
        <p14:creationId xmlns:p14="http://schemas.microsoft.com/office/powerpoint/2010/main" val="89630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17</a:t>
            </a:fld>
            <a:endParaRPr kumimoji="1" lang="zh-CN" altLang="en-US"/>
          </a:p>
        </p:txBody>
      </p:sp>
    </p:spTree>
    <p:extLst>
      <p:ext uri="{BB962C8B-B14F-4D97-AF65-F5344CB8AC3E}">
        <p14:creationId xmlns:p14="http://schemas.microsoft.com/office/powerpoint/2010/main" val="2840847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18</a:t>
            </a:fld>
            <a:endParaRPr kumimoji="1" lang="zh-CN" altLang="en-US"/>
          </a:p>
        </p:txBody>
      </p:sp>
    </p:spTree>
    <p:extLst>
      <p:ext uri="{BB962C8B-B14F-4D97-AF65-F5344CB8AC3E}">
        <p14:creationId xmlns:p14="http://schemas.microsoft.com/office/powerpoint/2010/main" val="89290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19</a:t>
            </a:fld>
            <a:endParaRPr kumimoji="1" lang="zh-CN" altLang="en-US"/>
          </a:p>
        </p:txBody>
      </p:sp>
    </p:spTree>
    <p:extLst>
      <p:ext uri="{BB962C8B-B14F-4D97-AF65-F5344CB8AC3E}">
        <p14:creationId xmlns:p14="http://schemas.microsoft.com/office/powerpoint/2010/main" val="3389664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20</a:t>
            </a:fld>
            <a:endParaRPr kumimoji="1" lang="zh-CN" altLang="en-US"/>
          </a:p>
        </p:txBody>
      </p:sp>
    </p:spTree>
    <p:extLst>
      <p:ext uri="{BB962C8B-B14F-4D97-AF65-F5344CB8AC3E}">
        <p14:creationId xmlns:p14="http://schemas.microsoft.com/office/powerpoint/2010/main" val="425770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21</a:t>
            </a:fld>
            <a:endParaRPr kumimoji="1" lang="zh-CN" altLang="en-US"/>
          </a:p>
        </p:txBody>
      </p:sp>
    </p:spTree>
    <p:extLst>
      <p:ext uri="{BB962C8B-B14F-4D97-AF65-F5344CB8AC3E}">
        <p14:creationId xmlns:p14="http://schemas.microsoft.com/office/powerpoint/2010/main" val="2808260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22</a:t>
            </a:fld>
            <a:endParaRPr kumimoji="1" lang="zh-CN" altLang="en-US"/>
          </a:p>
        </p:txBody>
      </p:sp>
    </p:spTree>
    <p:extLst>
      <p:ext uri="{BB962C8B-B14F-4D97-AF65-F5344CB8AC3E}">
        <p14:creationId xmlns:p14="http://schemas.microsoft.com/office/powerpoint/2010/main" val="2333231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23</a:t>
            </a:fld>
            <a:endParaRPr kumimoji="1" lang="zh-CN" altLang="en-US"/>
          </a:p>
        </p:txBody>
      </p:sp>
    </p:spTree>
    <p:extLst>
      <p:ext uri="{BB962C8B-B14F-4D97-AF65-F5344CB8AC3E}">
        <p14:creationId xmlns:p14="http://schemas.microsoft.com/office/powerpoint/2010/main" val="292624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24</a:t>
            </a:fld>
            <a:endParaRPr kumimoji="1" lang="zh-CN" altLang="en-US"/>
          </a:p>
        </p:txBody>
      </p:sp>
    </p:spTree>
    <p:extLst>
      <p:ext uri="{BB962C8B-B14F-4D97-AF65-F5344CB8AC3E}">
        <p14:creationId xmlns:p14="http://schemas.microsoft.com/office/powerpoint/2010/main" val="3237580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25</a:t>
            </a:fld>
            <a:endParaRPr kumimoji="1" lang="zh-CN" altLang="en-US"/>
          </a:p>
        </p:txBody>
      </p:sp>
    </p:spTree>
    <p:extLst>
      <p:ext uri="{BB962C8B-B14F-4D97-AF65-F5344CB8AC3E}">
        <p14:creationId xmlns:p14="http://schemas.microsoft.com/office/powerpoint/2010/main" val="32505689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26</a:t>
            </a:fld>
            <a:endParaRPr kumimoji="1" lang="zh-CN" altLang="en-US"/>
          </a:p>
        </p:txBody>
      </p:sp>
    </p:spTree>
    <p:extLst>
      <p:ext uri="{BB962C8B-B14F-4D97-AF65-F5344CB8AC3E}">
        <p14:creationId xmlns:p14="http://schemas.microsoft.com/office/powerpoint/2010/main" val="33817947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863DDE-E268-D241-A46D-5F7888E658E3}" type="slidenum">
              <a:rPr kumimoji="1" lang="zh-CN" altLang="en-US" smtClean="0"/>
              <a:pPr/>
              <a:t>27</a:t>
            </a:fld>
            <a:endParaRPr kumimoji="1" lang="zh-CN" altLang="en-US"/>
          </a:p>
        </p:txBody>
      </p:sp>
    </p:spTree>
    <p:extLst>
      <p:ext uri="{BB962C8B-B14F-4D97-AF65-F5344CB8AC3E}">
        <p14:creationId xmlns:p14="http://schemas.microsoft.com/office/powerpoint/2010/main" val="39755878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ront Page">
    <p:spTree>
      <p:nvGrpSpPr>
        <p:cNvPr id="1" name=""/>
        <p:cNvGrpSpPr/>
        <p:nvPr/>
      </p:nvGrpSpPr>
      <p:grpSpPr>
        <a:xfrm>
          <a:off x="0" y="0"/>
          <a:ext cx="0" cy="0"/>
          <a:chOff x="0" y="0"/>
          <a:chExt cx="0" cy="0"/>
        </a:xfrm>
      </p:grpSpPr>
      <p:sp>
        <p:nvSpPr>
          <p:cNvPr id="8" name="Rectangle 7"/>
          <p:cNvSpPr/>
          <p:nvPr userDrawn="1"/>
        </p:nvSpPr>
        <p:spPr>
          <a:xfrm>
            <a:off x="0" y="0"/>
            <a:ext cx="12193488" cy="602128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标题 1"/>
          <p:cNvSpPr>
            <a:spLocks noGrp="1"/>
          </p:cNvSpPr>
          <p:nvPr>
            <p:ph type="ctrTitle"/>
          </p:nvPr>
        </p:nvSpPr>
        <p:spPr>
          <a:xfrm>
            <a:off x="914400" y="1709441"/>
            <a:ext cx="10363200" cy="988281"/>
          </a:xfrm>
          <a:prstGeom prst="rect">
            <a:avLst/>
          </a:prstGeom>
        </p:spPr>
        <p:txBody>
          <a:bodyPr>
            <a:normAutofit/>
          </a:bodyPr>
          <a:lstStyle>
            <a:lvl1pPr algn="ctr">
              <a:defRPr sz="4000">
                <a:solidFill>
                  <a:schemeClr val="bg1"/>
                </a:solidFill>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828800" y="2882455"/>
            <a:ext cx="8534400" cy="816681"/>
          </a:xfrm>
          <a:prstGeom prst="rect">
            <a:avLst/>
          </a:prstGeo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a:xfrm>
            <a:off x="9072331" y="6307039"/>
            <a:ext cx="2844800" cy="365125"/>
          </a:xfrm>
        </p:spPr>
        <p:txBody>
          <a:bodyPr/>
          <a:lstStyle>
            <a:lvl1pPr>
              <a:defRPr>
                <a:solidFill>
                  <a:schemeClr val="tx2">
                    <a:lumMod val="75000"/>
                  </a:schemeClr>
                </a:solidFill>
              </a:defRPr>
            </a:lvl1pPr>
          </a:lstStyle>
          <a:p>
            <a:pPr algn="ctr"/>
            <a:r>
              <a:rPr lang="en-US" altLang="zh-CN" smtClean="0"/>
              <a:t>November 17, 2015</a:t>
            </a:r>
            <a:endParaRPr lang="zh-CN" altLang="en-US" dirty="0"/>
          </a:p>
        </p:txBody>
      </p:sp>
      <p:pic>
        <p:nvPicPr>
          <p:cNvPr id="10" name="Picture 2"/>
          <p:cNvPicPr>
            <a:picLocks noChangeAspect="1" noChangeArrowheads="1"/>
          </p:cNvPicPr>
          <p:nvPr userDrawn="1"/>
        </p:nvPicPr>
        <p:blipFill>
          <a:blip r:embed="rId2" cstate="print"/>
          <a:srcRect/>
          <a:stretch>
            <a:fillRect/>
          </a:stretch>
        </p:blipFill>
        <p:spPr bwMode="auto">
          <a:xfrm>
            <a:off x="4711695" y="6367933"/>
            <a:ext cx="2768608" cy="243335"/>
          </a:xfrm>
          <a:prstGeom prst="rect">
            <a:avLst/>
          </a:prstGeom>
          <a:noFill/>
          <a:ln w="9525">
            <a:noFill/>
            <a:miter lim="800000"/>
            <a:headEnd/>
            <a:tailEnd/>
          </a:ln>
          <a:effectLst/>
        </p:spPr>
      </p:pic>
      <p:sp>
        <p:nvSpPr>
          <p:cNvPr id="11" name="Rectangle 10"/>
          <p:cNvSpPr/>
          <p:nvPr userDrawn="1"/>
        </p:nvSpPr>
        <p:spPr>
          <a:xfrm>
            <a:off x="0" y="5517232"/>
            <a:ext cx="12193488" cy="50405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Microsoft YaHei" charset="0"/>
                <a:ea typeface="Microsoft YaHei" charset="0"/>
                <a:cs typeface="Microsoft YaHei" charset="0"/>
              </a:rPr>
              <a:t>平台 </a:t>
            </a:r>
            <a:r>
              <a:rPr lang="en-US" altLang="zh-CN" sz="1800" dirty="0" smtClean="0">
                <a:latin typeface="Microsoft YaHei" charset="0"/>
                <a:ea typeface="Microsoft YaHei" charset="0"/>
                <a:cs typeface="Microsoft YaHei" charset="0"/>
              </a:rPr>
              <a:t>·</a:t>
            </a:r>
            <a:r>
              <a:rPr lang="zh-CN" altLang="en-US" sz="1800" baseline="0" dirty="0" smtClean="0">
                <a:latin typeface="Microsoft YaHei" charset="0"/>
                <a:ea typeface="Microsoft YaHei" charset="0"/>
                <a:cs typeface="Microsoft YaHei" charset="0"/>
              </a:rPr>
              <a:t> 让创新无限</a:t>
            </a:r>
            <a:endParaRPr lang="en-US" sz="1800" dirty="0">
              <a:latin typeface="Microsoft YaHei" charset="0"/>
              <a:ea typeface="Microsoft YaHei" charset="0"/>
              <a:cs typeface="Microsoft YaHei" charset="0"/>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7" name="内容占位符 2"/>
          <p:cNvSpPr>
            <a:spLocks noGrp="1"/>
          </p:cNvSpPr>
          <p:nvPr>
            <p:ph idx="13" hasCustomPrompt="1"/>
          </p:nvPr>
        </p:nvSpPr>
        <p:spPr>
          <a:xfrm>
            <a:off x="612605" y="1052737"/>
            <a:ext cx="10972800" cy="5040560"/>
          </a:xfrm>
          <a:prstGeom prst="rect">
            <a:avLst/>
          </a:prstGeom>
        </p:spPr>
        <p:txBody>
          <a:bodyPr>
            <a:normAutofit/>
          </a:bodyPr>
          <a:lstStyle>
            <a:lvl1pPr marL="342900" marR="0" indent="-342900" algn="l" defTabSz="914400" rtl="0" eaLnBrk="1" fontAlgn="auto" latinLnBrk="0" hangingPunct="1">
              <a:lnSpc>
                <a:spcPct val="100000"/>
              </a:lnSpc>
              <a:spcBef>
                <a:spcPts val="1000"/>
              </a:spcBef>
              <a:spcAft>
                <a:spcPts val="0"/>
              </a:spcAft>
              <a:buClrTx/>
              <a:buSzTx/>
              <a:buFont typeface="Arial" charset="0"/>
              <a:buChar char="•"/>
              <a:tabLst/>
              <a:defRPr sz="2800">
                <a:solidFill>
                  <a:schemeClr val="tx2">
                    <a:lumMod val="75000"/>
                  </a:schemeClr>
                </a:solidFill>
              </a:defRPr>
            </a:lvl1pPr>
            <a:lvl2pPr marL="742950" indent="-285750">
              <a:spcBef>
                <a:spcPts val="1000"/>
              </a:spcBef>
              <a:buFont typeface="Arial"/>
              <a:buChar char="•"/>
              <a:defRPr sz="2400">
                <a:solidFill>
                  <a:schemeClr val="tx2">
                    <a:lumMod val="75000"/>
                  </a:schemeClr>
                </a:solidFill>
              </a:defRPr>
            </a:lvl2pPr>
            <a:lvl3pPr marL="1143000" indent="-228600">
              <a:spcBef>
                <a:spcPts val="1000"/>
              </a:spcBef>
              <a:buFont typeface="Symbol" charset="2"/>
              <a:buChar char="-"/>
              <a:defRPr sz="2000">
                <a:solidFill>
                  <a:schemeClr val="tx2">
                    <a:lumMod val="75000"/>
                  </a:schemeClr>
                </a:solidFill>
              </a:defRPr>
            </a:lvl3pPr>
            <a:lvl4pPr marL="1600200" indent="-228600">
              <a:buFont typeface="Arial"/>
              <a:buChar char="•"/>
              <a:defRPr sz="1600"/>
            </a:lvl4pPr>
            <a:lvl5pPr>
              <a:defRPr sz="1600"/>
            </a:lvl5pPr>
          </a:lstStyle>
          <a:p>
            <a:pPr lvl="0"/>
            <a:r>
              <a:rPr lang="zh-CN" altLang="en-US" dirty="0" smtClean="0"/>
              <a:t>一级正文</a:t>
            </a:r>
            <a:r>
              <a:rPr lang="en-US" altLang="zh-CN" dirty="0" smtClean="0"/>
              <a:t>28P</a:t>
            </a:r>
            <a:r>
              <a:rPr lang="zh-CN" altLang="en-US" dirty="0" smtClean="0"/>
              <a:t>微软雅黑</a:t>
            </a:r>
            <a:endParaRPr lang="en-US" altLang="zh-CN" dirty="0" smtClean="0"/>
          </a:p>
          <a:p>
            <a:pPr lvl="1"/>
            <a:r>
              <a:rPr lang="zh-CN" altLang="en-US" dirty="0" smtClean="0"/>
              <a:t>二级正文</a:t>
            </a:r>
            <a:r>
              <a:rPr lang="en-US" altLang="zh-CN" dirty="0" smtClean="0"/>
              <a:t>24P</a:t>
            </a:r>
            <a:r>
              <a:rPr lang="zh-CN" altLang="en-US" dirty="0" smtClean="0"/>
              <a:t>微软雅黑</a:t>
            </a:r>
            <a:endParaRPr lang="en-US" altLang="zh-CN" dirty="0" smtClean="0"/>
          </a:p>
          <a:p>
            <a:pPr lvl="2"/>
            <a:r>
              <a:rPr lang="zh-CN" altLang="en-US" dirty="0" smtClean="0"/>
              <a:t>三级正文</a:t>
            </a:r>
            <a:r>
              <a:rPr lang="en-US" altLang="zh-CN" dirty="0" smtClean="0"/>
              <a:t>20P</a:t>
            </a:r>
            <a:r>
              <a:rPr lang="zh-CN" altLang="en-US" dirty="0" smtClean="0"/>
              <a:t>微软雅黑</a:t>
            </a:r>
            <a:endParaRPr lang="en-US" altLang="zh-CN" dirty="0" smtClean="0"/>
          </a:p>
        </p:txBody>
      </p:sp>
      <p:pic>
        <p:nvPicPr>
          <p:cNvPr id="8" name="Picture 2"/>
          <p:cNvPicPr>
            <a:picLocks noChangeAspect="1" noChangeArrowheads="1"/>
          </p:cNvPicPr>
          <p:nvPr userDrawn="1"/>
        </p:nvPicPr>
        <p:blipFill>
          <a:blip r:embed="rId2" cstate="print"/>
          <a:srcRect/>
          <a:stretch>
            <a:fillRect/>
          </a:stretch>
        </p:blipFill>
        <p:spPr bwMode="auto">
          <a:xfrm>
            <a:off x="9168341" y="6428047"/>
            <a:ext cx="2768608" cy="243335"/>
          </a:xfrm>
          <a:prstGeom prst="rect">
            <a:avLst/>
          </a:prstGeom>
          <a:noFill/>
          <a:ln w="9525">
            <a:noFill/>
            <a:miter lim="800000"/>
            <a:headEnd/>
            <a:tailEnd/>
          </a:ln>
          <a:effectLst/>
        </p:spPr>
      </p:pic>
      <p:sp>
        <p:nvSpPr>
          <p:cNvPr id="10" name="灯片编号占位符 5"/>
          <p:cNvSpPr>
            <a:spLocks noGrp="1"/>
          </p:cNvSpPr>
          <p:nvPr>
            <p:ph type="sldNum" sz="quarter" idx="12"/>
          </p:nvPr>
        </p:nvSpPr>
        <p:spPr>
          <a:xfrm>
            <a:off x="143339" y="6307038"/>
            <a:ext cx="2844800" cy="365125"/>
          </a:xfrm>
        </p:spPr>
        <p:txBody>
          <a:bodyPr/>
          <a:lstStyle>
            <a:lvl1pPr>
              <a:defRPr>
                <a:solidFill>
                  <a:schemeClr val="tx2">
                    <a:lumMod val="75000"/>
                  </a:schemeClr>
                </a:solidFill>
              </a:defRPr>
            </a:lvl1pPr>
          </a:lstStyle>
          <a:p>
            <a:fld id="{8222EC5C-8AE4-417F-927C-71FD1BF6CFB7}" type="slidenum">
              <a:rPr lang="zh-CN" altLang="en-US" smtClean="0"/>
              <a:pPr/>
              <a:t>‹#›</a:t>
            </a:fld>
            <a:endParaRPr lang="zh-CN" altLang="en-US"/>
          </a:p>
        </p:txBody>
      </p:sp>
      <p:sp>
        <p:nvSpPr>
          <p:cNvPr id="12" name="Rectangle 11"/>
          <p:cNvSpPr/>
          <p:nvPr userDrawn="1"/>
        </p:nvSpPr>
        <p:spPr>
          <a:xfrm>
            <a:off x="0" y="0"/>
            <a:ext cx="12193488" cy="7179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itle 2"/>
          <p:cNvSpPr>
            <a:spLocks noGrp="1"/>
          </p:cNvSpPr>
          <p:nvPr>
            <p:ph type="title"/>
          </p:nvPr>
        </p:nvSpPr>
        <p:spPr>
          <a:xfrm>
            <a:off x="142595" y="85722"/>
            <a:ext cx="11905321" cy="546544"/>
          </a:xfrm>
          <a:prstGeom prst="rect">
            <a:avLst/>
          </a:prstGeom>
        </p:spPr>
        <p:txBody>
          <a:bodyPr/>
          <a:lstStyle>
            <a:lvl1pPr>
              <a:defRPr sz="3200">
                <a:solidFill>
                  <a:schemeClr val="bg1"/>
                </a:solidFill>
                <a:latin typeface="Microsoft YaHei" charset="0"/>
                <a:ea typeface="Microsoft YaHei" charset="0"/>
                <a:cs typeface="Microsoft YaHei" charset="0"/>
              </a:defRPr>
            </a:lvl1pPr>
          </a:lstStyle>
          <a:p>
            <a:r>
              <a:rPr lang="en-US" altLang="zh-CN" dirty="0" smtClean="0"/>
              <a:t>Click to edit Master title style</a:t>
            </a:r>
            <a:endParaRPr lang="en-US" dirty="0"/>
          </a:p>
        </p:txBody>
      </p:sp>
      <p:sp>
        <p:nvSpPr>
          <p:cNvPr id="9" name="Rectangle 8"/>
          <p:cNvSpPr/>
          <p:nvPr userDrawn="1"/>
        </p:nvSpPr>
        <p:spPr>
          <a:xfrm flipV="1">
            <a:off x="-1489" y="772173"/>
            <a:ext cx="12193488" cy="45719"/>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Microsoft YaHei" charset="0"/>
              <a:ea typeface="Microsoft YaHei" charset="0"/>
              <a:cs typeface="Microsoft YaHei" charset="0"/>
            </a:endParaRPr>
          </a:p>
        </p:txBody>
      </p:sp>
    </p:spTree>
    <p:extLst>
      <p:ext uri="{BB962C8B-B14F-4D97-AF65-F5344CB8AC3E}">
        <p14:creationId xmlns:p14="http://schemas.microsoft.com/office/powerpoint/2010/main" val="327295080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9" name="Rectangle 8"/>
          <p:cNvSpPr/>
          <p:nvPr userDrawn="1"/>
        </p:nvSpPr>
        <p:spPr>
          <a:xfrm>
            <a:off x="0" y="872078"/>
            <a:ext cx="3503712" cy="598592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8" name="Picture 2"/>
          <p:cNvPicPr>
            <a:picLocks noChangeAspect="1" noChangeArrowheads="1"/>
          </p:cNvPicPr>
          <p:nvPr userDrawn="1"/>
        </p:nvPicPr>
        <p:blipFill>
          <a:blip r:embed="rId2" cstate="print"/>
          <a:srcRect/>
          <a:stretch>
            <a:fillRect/>
          </a:stretch>
        </p:blipFill>
        <p:spPr bwMode="auto">
          <a:xfrm>
            <a:off x="9168341" y="6428047"/>
            <a:ext cx="2768608" cy="243335"/>
          </a:xfrm>
          <a:prstGeom prst="rect">
            <a:avLst/>
          </a:prstGeom>
          <a:noFill/>
          <a:ln w="9525">
            <a:noFill/>
            <a:miter lim="800000"/>
            <a:headEnd/>
            <a:tailEnd/>
          </a:ln>
          <a:effectLst/>
        </p:spPr>
      </p:pic>
      <p:sp>
        <p:nvSpPr>
          <p:cNvPr id="7" name="Rectangle 6"/>
          <p:cNvSpPr/>
          <p:nvPr userDrawn="1"/>
        </p:nvSpPr>
        <p:spPr>
          <a:xfrm>
            <a:off x="-1489" y="0"/>
            <a:ext cx="12193488" cy="7179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200" dirty="0" smtClean="0">
                <a:latin typeface="Microsoft YaHei" charset="0"/>
                <a:ea typeface="Microsoft YaHei" charset="0"/>
                <a:cs typeface="Microsoft YaHei" charset="0"/>
              </a:rPr>
              <a:t> 目录</a:t>
            </a:r>
            <a:endParaRPr lang="en-US" sz="3200" dirty="0">
              <a:latin typeface="Microsoft YaHei" charset="0"/>
              <a:ea typeface="Microsoft YaHei" charset="0"/>
              <a:cs typeface="Microsoft YaHei" charset="0"/>
            </a:endParaRPr>
          </a:p>
        </p:txBody>
      </p:sp>
      <p:sp>
        <p:nvSpPr>
          <p:cNvPr id="12" name="Rectangle 11"/>
          <p:cNvSpPr/>
          <p:nvPr userDrawn="1"/>
        </p:nvSpPr>
        <p:spPr>
          <a:xfrm flipV="1">
            <a:off x="-1489" y="772173"/>
            <a:ext cx="12193488" cy="45719"/>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Microsoft YaHei" charset="0"/>
              <a:ea typeface="Microsoft YaHei" charset="0"/>
              <a:cs typeface="Microsoft YaHei" charset="0"/>
            </a:endParaRPr>
          </a:p>
        </p:txBody>
      </p:sp>
      <p:sp>
        <p:nvSpPr>
          <p:cNvPr id="10" name="灯片编号占位符 5"/>
          <p:cNvSpPr>
            <a:spLocks noGrp="1"/>
          </p:cNvSpPr>
          <p:nvPr>
            <p:ph type="sldNum" sz="quarter" idx="12"/>
          </p:nvPr>
        </p:nvSpPr>
        <p:spPr>
          <a:xfrm>
            <a:off x="143339" y="6307038"/>
            <a:ext cx="2844800" cy="365125"/>
          </a:xfrm>
        </p:spPr>
        <p:txBody>
          <a:bodyPr/>
          <a:lstStyle>
            <a:lvl1pPr>
              <a:defRPr>
                <a:solidFill>
                  <a:schemeClr val="tx2">
                    <a:lumMod val="75000"/>
                  </a:schemeClr>
                </a:solidFill>
              </a:defRPr>
            </a:lvl1pPr>
          </a:lstStyle>
          <a:p>
            <a:fld id="{8222EC5C-8AE4-417F-927C-71FD1BF6CFB7}" type="slidenum">
              <a:rPr lang="zh-CN" altLang="en-US" smtClean="0"/>
              <a:pPr/>
              <a:t>‹#›</a:t>
            </a:fld>
            <a:endParaRPr lang="zh-CN" altLang="en-US"/>
          </a:p>
        </p:txBody>
      </p:sp>
      <p:sp>
        <p:nvSpPr>
          <p:cNvPr id="3" name="Content Placeholder 2"/>
          <p:cNvSpPr>
            <a:spLocks noGrp="1"/>
          </p:cNvSpPr>
          <p:nvPr>
            <p:ph sz="quarter" idx="13"/>
          </p:nvPr>
        </p:nvSpPr>
        <p:spPr>
          <a:xfrm>
            <a:off x="3648074" y="1341438"/>
            <a:ext cx="7920534" cy="4607842"/>
          </a:xfrm>
          <a:prstGeom prst="rect">
            <a:avLst/>
          </a:prstGeom>
        </p:spPr>
        <p:txBody>
          <a:bodyPr/>
          <a:lstStyle>
            <a:lvl1pPr marL="342900" indent="-342900">
              <a:buFont typeface="Arial" charset="0"/>
              <a:buChar char="•"/>
              <a:defRPr>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altLang="zh-CN" dirty="0" smtClean="0"/>
              <a:t>Click to edit Master text styles</a:t>
            </a:r>
            <a:endParaRPr lang="zh-CN" altLang="en-US" dirty="0" smtClean="0"/>
          </a:p>
          <a:p>
            <a:pPr lvl="0"/>
            <a:endParaRPr lang="zh-CN" altLang="en-US" dirty="0" smtClean="0"/>
          </a:p>
          <a:p>
            <a:pPr lvl="0"/>
            <a:endParaRPr lang="en-US" altLang="zh-CN" dirty="0" smtClean="0"/>
          </a:p>
        </p:txBody>
      </p:sp>
    </p:spTree>
    <p:extLst>
      <p:ext uri="{BB962C8B-B14F-4D97-AF65-F5344CB8AC3E}">
        <p14:creationId xmlns:p14="http://schemas.microsoft.com/office/powerpoint/2010/main" val="73515701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cstate="print"/>
          <a:srcRect/>
          <a:stretch>
            <a:fillRect/>
          </a:stretch>
        </p:blipFill>
        <p:spPr bwMode="auto">
          <a:xfrm>
            <a:off x="9168341" y="6428047"/>
            <a:ext cx="2768608" cy="243335"/>
          </a:xfrm>
          <a:prstGeom prst="rect">
            <a:avLst/>
          </a:prstGeom>
          <a:noFill/>
          <a:ln w="9525">
            <a:noFill/>
            <a:miter lim="800000"/>
            <a:headEnd/>
            <a:tailEnd/>
          </a:ln>
          <a:effectLst/>
        </p:spPr>
      </p:pic>
      <p:sp>
        <p:nvSpPr>
          <p:cNvPr id="7" name="Rectangle 6"/>
          <p:cNvSpPr/>
          <p:nvPr userDrawn="1"/>
        </p:nvSpPr>
        <p:spPr>
          <a:xfrm>
            <a:off x="-1489" y="0"/>
            <a:ext cx="12193488" cy="7179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Rectangle 11"/>
          <p:cNvSpPr/>
          <p:nvPr userDrawn="1"/>
        </p:nvSpPr>
        <p:spPr>
          <a:xfrm flipV="1">
            <a:off x="-1489" y="772173"/>
            <a:ext cx="12193488" cy="45719"/>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Microsoft YaHei" charset="0"/>
              <a:ea typeface="Microsoft YaHei" charset="0"/>
              <a:cs typeface="Microsoft YaHei" charset="0"/>
            </a:endParaRPr>
          </a:p>
        </p:txBody>
      </p:sp>
      <p:sp>
        <p:nvSpPr>
          <p:cNvPr id="10" name="灯片编号占位符 5"/>
          <p:cNvSpPr>
            <a:spLocks noGrp="1"/>
          </p:cNvSpPr>
          <p:nvPr>
            <p:ph type="sldNum" sz="quarter" idx="12"/>
          </p:nvPr>
        </p:nvSpPr>
        <p:spPr>
          <a:xfrm>
            <a:off x="143339" y="6307038"/>
            <a:ext cx="2844800" cy="365125"/>
          </a:xfrm>
        </p:spPr>
        <p:txBody>
          <a:bodyPr/>
          <a:lstStyle>
            <a:lvl1pPr>
              <a:defRPr>
                <a:solidFill>
                  <a:schemeClr val="tx2">
                    <a:lumMod val="75000"/>
                  </a:schemeClr>
                </a:solidFill>
              </a:defRPr>
            </a:lvl1pPr>
          </a:lstStyle>
          <a:p>
            <a:fld id="{8222EC5C-8AE4-417F-927C-71FD1BF6CFB7}" type="slidenum">
              <a:rPr lang="zh-CN" altLang="en-US" smtClean="0"/>
              <a:pPr/>
              <a:t>‹#›</a:t>
            </a:fld>
            <a:endParaRPr lang="zh-CN" altLang="en-US"/>
          </a:p>
        </p:txBody>
      </p:sp>
      <p:sp>
        <p:nvSpPr>
          <p:cNvPr id="14" name="Title 2"/>
          <p:cNvSpPr>
            <a:spLocks noGrp="1"/>
          </p:cNvSpPr>
          <p:nvPr>
            <p:ph type="title"/>
          </p:nvPr>
        </p:nvSpPr>
        <p:spPr>
          <a:xfrm>
            <a:off x="142595" y="85722"/>
            <a:ext cx="11905321" cy="546544"/>
          </a:xfrm>
          <a:prstGeom prst="rect">
            <a:avLst/>
          </a:prstGeom>
        </p:spPr>
        <p:txBody>
          <a:bodyPr/>
          <a:lstStyle>
            <a:lvl1pPr>
              <a:defRPr sz="3200">
                <a:solidFill>
                  <a:schemeClr val="bg1"/>
                </a:solidFill>
                <a:latin typeface="Microsoft YaHei" charset="0"/>
                <a:ea typeface="Microsoft YaHei" charset="0"/>
                <a:cs typeface="Microsoft YaHei" charset="0"/>
              </a:defRPr>
            </a:lvl1pPr>
          </a:lstStyle>
          <a:p>
            <a:r>
              <a:rPr lang="en-US" altLang="zh-CN" dirty="0" smtClean="0"/>
              <a:t>Click to edit Master title style</a:t>
            </a:r>
            <a:endParaRPr lang="en-US" dirty="0"/>
          </a:p>
        </p:txBody>
      </p:sp>
    </p:spTree>
    <p:extLst>
      <p:ext uri="{BB962C8B-B14F-4D97-AF65-F5344CB8AC3E}">
        <p14:creationId xmlns:p14="http://schemas.microsoft.com/office/powerpoint/2010/main" val="142177972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sp>
        <p:nvSpPr>
          <p:cNvPr id="10" name="Rectangle 9"/>
          <p:cNvSpPr/>
          <p:nvPr userDrawn="1"/>
        </p:nvSpPr>
        <p:spPr>
          <a:xfrm>
            <a:off x="0" y="0"/>
            <a:ext cx="12193488" cy="602128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smtClean="0">
                <a:latin typeface="Microsoft YaHei" charset="0"/>
                <a:ea typeface="Microsoft YaHei" charset="0"/>
                <a:cs typeface="Microsoft YaHei" charset="0"/>
              </a:rPr>
              <a:t>请扫我</a:t>
            </a:r>
            <a:endParaRPr lang="en-US" sz="4000" dirty="0">
              <a:latin typeface="Microsoft YaHei" charset="0"/>
              <a:ea typeface="Microsoft YaHei" charset="0"/>
              <a:cs typeface="Microsoft YaHei" charset="0"/>
            </a:endParaRPr>
          </a:p>
        </p:txBody>
      </p:sp>
      <p:pic>
        <p:nvPicPr>
          <p:cNvPr id="8" name="Picture 2"/>
          <p:cNvPicPr>
            <a:picLocks noChangeAspect="1" noChangeArrowheads="1"/>
          </p:cNvPicPr>
          <p:nvPr userDrawn="1"/>
        </p:nvPicPr>
        <p:blipFill>
          <a:blip r:embed="rId2" cstate="print"/>
          <a:srcRect/>
          <a:stretch>
            <a:fillRect/>
          </a:stretch>
        </p:blipFill>
        <p:spPr bwMode="auto">
          <a:xfrm>
            <a:off x="4711695" y="6367933"/>
            <a:ext cx="2768608" cy="243335"/>
          </a:xfrm>
          <a:prstGeom prst="rect">
            <a:avLst/>
          </a:prstGeom>
          <a:noFill/>
          <a:ln w="9525">
            <a:noFill/>
            <a:miter lim="800000"/>
            <a:headEnd/>
            <a:tailEnd/>
          </a:ln>
          <a:effectLst/>
        </p:spPr>
      </p:pic>
      <p:sp>
        <p:nvSpPr>
          <p:cNvPr id="12" name="日期占位符 3"/>
          <p:cNvSpPr>
            <a:spLocks noGrp="1"/>
          </p:cNvSpPr>
          <p:nvPr>
            <p:ph type="dt" sz="half" idx="10"/>
          </p:nvPr>
        </p:nvSpPr>
        <p:spPr>
          <a:xfrm>
            <a:off x="9072331" y="6307039"/>
            <a:ext cx="2844800" cy="365125"/>
          </a:xfrm>
        </p:spPr>
        <p:txBody>
          <a:bodyPr/>
          <a:lstStyle>
            <a:lvl1pPr>
              <a:defRPr>
                <a:solidFill>
                  <a:schemeClr val="tx2">
                    <a:lumMod val="75000"/>
                  </a:schemeClr>
                </a:solidFill>
              </a:defRPr>
            </a:lvl1pPr>
          </a:lstStyle>
          <a:p>
            <a:pPr algn="ctr"/>
            <a:r>
              <a:rPr lang="en-US" altLang="zh-CN" smtClean="0"/>
              <a:t>November 17, 2015</a:t>
            </a:r>
            <a:endParaRPr lang="zh-CN" altLang="en-US" dirty="0"/>
          </a:p>
        </p:txBody>
      </p:sp>
      <p:sp>
        <p:nvSpPr>
          <p:cNvPr id="4" name="Rectangle 3"/>
          <p:cNvSpPr/>
          <p:nvPr userDrawn="1"/>
        </p:nvSpPr>
        <p:spPr>
          <a:xfrm>
            <a:off x="0" y="5517232"/>
            <a:ext cx="12193488" cy="50405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latin typeface="Microsoft YaHei" charset="0"/>
                <a:ea typeface="Microsoft YaHei" charset="0"/>
                <a:cs typeface="Microsoft YaHei" charset="0"/>
              </a:rPr>
              <a:t>上海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北京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广州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西安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武汉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成都  </a:t>
            </a:r>
            <a:r>
              <a:rPr lang="en-US" altLang="zh-CN" sz="1800" dirty="0" smtClean="0">
                <a:latin typeface="Microsoft YaHei" charset="0"/>
                <a:ea typeface="Microsoft YaHei" charset="0"/>
                <a:cs typeface="Microsoft YaHei" charset="0"/>
              </a:rPr>
              <a:t>|</a:t>
            </a:r>
            <a:r>
              <a:rPr lang="zh-CN" altLang="en-US" sz="1800" dirty="0" smtClean="0">
                <a:latin typeface="Microsoft YaHei" charset="0"/>
                <a:ea typeface="Microsoft YaHei" charset="0"/>
                <a:cs typeface="Microsoft YaHei" charset="0"/>
              </a:rPr>
              <a:t>  ☎ </a:t>
            </a:r>
            <a:r>
              <a:rPr lang="en-US" altLang="zh-CN" sz="1800" dirty="0" smtClean="0">
                <a:latin typeface="Microsoft YaHei" charset="0"/>
                <a:ea typeface="Microsoft YaHei" charset="0"/>
                <a:cs typeface="Microsoft YaHei" charset="0"/>
              </a:rPr>
              <a:t>400-</a:t>
            </a:r>
            <a:r>
              <a:rPr lang="en-US" altLang="zh-CN" sz="1800" baseline="0" dirty="0" smtClean="0">
                <a:latin typeface="Microsoft YaHei" charset="0"/>
                <a:ea typeface="Microsoft YaHei" charset="0"/>
                <a:cs typeface="Microsoft YaHei" charset="0"/>
              </a:rPr>
              <a:t>820-5821</a:t>
            </a:r>
            <a:endParaRPr lang="en-US" sz="1800" dirty="0">
              <a:latin typeface="Microsoft YaHei" charset="0"/>
              <a:ea typeface="Microsoft YaHei" charset="0"/>
              <a:cs typeface="Microsoft YaHei" charset="0"/>
            </a:endParaRPr>
          </a:p>
        </p:txBody>
      </p:sp>
      <p:pic>
        <p:nvPicPr>
          <p:cNvPr id="5" name="图片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2256" y="1196752"/>
            <a:ext cx="3600400" cy="3600400"/>
          </a:xfrm>
          <a:prstGeom prst="rect">
            <a:avLst/>
          </a:prstGeom>
        </p:spPr>
      </p:pic>
      <p:pic>
        <p:nvPicPr>
          <p:cNvPr id="9" name="Picture 2"/>
          <p:cNvPicPr>
            <a:picLocks noChangeAspect="1"/>
          </p:cNvPicPr>
          <p:nvPr userDrawn="1"/>
        </p:nvPicPr>
        <p:blipFill>
          <a:blip r:embed="rId4">
            <a:lum bright="70000" contrast="-70000"/>
          </a:blip>
          <a:stretch>
            <a:fillRect/>
          </a:stretch>
        </p:blipFill>
        <p:spPr>
          <a:xfrm>
            <a:off x="2186568" y="786127"/>
            <a:ext cx="274320" cy="274320"/>
          </a:xfrm>
          <a:prstGeom prst="rect">
            <a:avLst/>
          </a:prstGeom>
        </p:spPr>
      </p:pic>
      <p:sp>
        <p:nvSpPr>
          <p:cNvPr id="6" name="文本框 5"/>
          <p:cNvSpPr txBox="1"/>
          <p:nvPr userDrawn="1"/>
        </p:nvSpPr>
        <p:spPr>
          <a:xfrm>
            <a:off x="2495600" y="738621"/>
            <a:ext cx="1152128" cy="369332"/>
          </a:xfrm>
          <a:prstGeom prst="rect">
            <a:avLst/>
          </a:prstGeom>
          <a:noFill/>
        </p:spPr>
        <p:txBody>
          <a:bodyPr wrap="square" rtlCol="0">
            <a:spAutoFit/>
          </a:bodyPr>
          <a:lstStyle/>
          <a:p>
            <a:r>
              <a:rPr kumimoji="0" lang="zh-CN" altLang="en-US" sz="1800" b="0" i="0" u="none" strike="noStrike" kern="1200" cap="none" spc="0" normalizeH="0" baseline="0" noProof="0" dirty="0" smtClean="0">
                <a:ln>
                  <a:noFill/>
                </a:ln>
                <a:solidFill>
                  <a:srgbClr val="FEFFFF"/>
                </a:solidFill>
                <a:effectLst/>
                <a:uLnTx/>
                <a:uFillTx/>
                <a:latin typeface="Microsoft YaHei" charset="0"/>
                <a:ea typeface="Microsoft YaHei" charset="0"/>
                <a:cs typeface="Microsoft YaHei" charset="0"/>
              </a:rPr>
              <a:t>普元软件</a:t>
            </a:r>
            <a:endParaRPr lang="zh-CN" altLang="en-US" dirty="0" smtClean="0">
              <a:solidFill>
                <a:schemeClr val="tx2">
                  <a:lumMod val="75000"/>
                </a:schemeClr>
              </a:solidFill>
              <a:latin typeface="Microsoft YaHei" charset="0"/>
              <a:ea typeface="Microsoft YaHei" charset="0"/>
              <a:cs typeface="Microsoft YaHei" charset="0"/>
            </a:endParaRPr>
          </a:p>
        </p:txBody>
      </p:sp>
      <p:pic>
        <p:nvPicPr>
          <p:cNvPr id="7" name="图片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531513" y="1196752"/>
            <a:ext cx="3591909" cy="3591909"/>
          </a:xfrm>
          <a:prstGeom prst="rect">
            <a:avLst/>
          </a:prstGeom>
        </p:spPr>
      </p:pic>
      <p:pic>
        <p:nvPicPr>
          <p:cNvPr id="13" name="Picture 1"/>
          <p:cNvPicPr>
            <a:picLocks noChangeAspect="1"/>
          </p:cNvPicPr>
          <p:nvPr userDrawn="1"/>
        </p:nvPicPr>
        <p:blipFill>
          <a:blip r:embed="rId6">
            <a:lum bright="70000" contrast="-70000"/>
          </a:blip>
          <a:stretch>
            <a:fillRect/>
          </a:stretch>
        </p:blipFill>
        <p:spPr>
          <a:xfrm>
            <a:off x="8589732" y="788163"/>
            <a:ext cx="270249" cy="270249"/>
          </a:xfrm>
          <a:prstGeom prst="rect">
            <a:avLst/>
          </a:prstGeom>
          <a:noFill/>
        </p:spPr>
      </p:pic>
      <p:sp>
        <p:nvSpPr>
          <p:cNvPr id="14" name="文本框 13"/>
          <p:cNvSpPr txBox="1"/>
          <p:nvPr userDrawn="1"/>
        </p:nvSpPr>
        <p:spPr>
          <a:xfrm>
            <a:off x="8898877" y="738621"/>
            <a:ext cx="1152128" cy="369332"/>
          </a:xfrm>
          <a:prstGeom prst="rect">
            <a:avLst/>
          </a:prstGeom>
          <a:noFill/>
        </p:spPr>
        <p:txBody>
          <a:bodyPr wrap="square" rtlCol="0">
            <a:spAutoFit/>
          </a:bodyPr>
          <a:lstStyle/>
          <a:p>
            <a:r>
              <a:rPr kumimoji="0" lang="zh-CN" altLang="en-US" sz="1800" b="0" i="0" u="none" strike="noStrike" kern="1200" cap="none" spc="0" normalizeH="0" baseline="0" noProof="0" dirty="0" smtClean="0">
                <a:ln>
                  <a:noFill/>
                </a:ln>
                <a:solidFill>
                  <a:srgbClr val="FEFFFF"/>
                </a:solidFill>
                <a:effectLst/>
                <a:uLnTx/>
                <a:uFillTx/>
                <a:latin typeface="Microsoft YaHei" charset="0"/>
                <a:ea typeface="Microsoft YaHei" charset="0"/>
                <a:cs typeface="Microsoft YaHei" charset="0"/>
              </a:rPr>
              <a:t>普元信息</a:t>
            </a:r>
            <a:endParaRPr lang="zh-CN" altLang="en-US" dirty="0" smtClean="0">
              <a:solidFill>
                <a:schemeClr val="tx2">
                  <a:lumMod val="75000"/>
                </a:schemeClr>
              </a:solidFill>
              <a:latin typeface="Microsoft YaHei" charset="0"/>
              <a:ea typeface="Microsoft YaHei" charset="0"/>
              <a:cs typeface="Microsoft YaHei" charset="0"/>
            </a:endParaRPr>
          </a:p>
        </p:txBody>
      </p:sp>
    </p:spTree>
    <p:extLst>
      <p:ext uri="{BB962C8B-B14F-4D97-AF65-F5344CB8AC3E}">
        <p14:creationId xmlns:p14="http://schemas.microsoft.com/office/powerpoint/2010/main" val="10847817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微软雅黑"/>
                <a:ea typeface="微软雅黑"/>
                <a:cs typeface="微软雅黑"/>
              </a:defRPr>
            </a:lvl1pPr>
          </a:lstStyle>
          <a:p>
            <a:fld id="{120C7143-BB4D-47C6-9008-44C955299D49}" type="datetimeFigureOut">
              <a:rPr lang="zh-CN" altLang="en-US" smtClean="0"/>
              <a:pPr/>
              <a:t>2015-12-30</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a:ea typeface="微软雅黑"/>
                <a:cs typeface="微软雅黑"/>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微软雅黑"/>
                <a:ea typeface="微软雅黑"/>
                <a:cs typeface="微软雅黑"/>
              </a:defRPr>
            </a:lvl1pPr>
          </a:lstStyle>
          <a:p>
            <a:fld id="{8222EC5C-8AE4-417F-927C-71FD1BF6CFB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9" r:id="rId3"/>
    <p:sldLayoutId id="2147483657" r:id="rId4"/>
    <p:sldLayoutId id="2147483656" r:id="rId5"/>
  </p:sldLayoutIdLst>
  <p:timing>
    <p:tnLst>
      <p:par>
        <p:cTn id="1" dur="indefinite" restart="never" nodeType="tmRoot"/>
      </p:par>
    </p:tnLst>
  </p:timing>
  <p:txStyles>
    <p:titleStyle>
      <a:lvl1pPr algn="l" defTabSz="914400" rtl="0" eaLnBrk="1" latinLnBrk="0" hangingPunct="1">
        <a:spcBef>
          <a:spcPct val="0"/>
        </a:spcBef>
        <a:buNone/>
        <a:defRPr sz="4000" b="1" kern="1200">
          <a:solidFill>
            <a:schemeClr val="tx1"/>
          </a:solidFill>
          <a:latin typeface="微软雅黑"/>
          <a:ea typeface="微软雅黑"/>
          <a:cs typeface="微软雅黑"/>
        </a:defRPr>
      </a:lvl1pPr>
    </p:titleStyle>
    <p:bodyStyle>
      <a:lvl1pPr marL="0" indent="0" algn="l" defTabSz="914400" rtl="0" eaLnBrk="1" latinLnBrk="0" hangingPunct="1">
        <a:spcBef>
          <a:spcPct val="20000"/>
        </a:spcBef>
        <a:buFont typeface="Arial" pitchFamily="34" charset="0"/>
        <a:buNone/>
        <a:defRPr sz="2400" kern="1200">
          <a:solidFill>
            <a:schemeClr val="tx1"/>
          </a:solidFill>
          <a:latin typeface="微软雅黑"/>
          <a:ea typeface="微软雅黑"/>
          <a:cs typeface="微软雅黑"/>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a:ea typeface="微软雅黑"/>
          <a:cs typeface="微软雅黑"/>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a:ea typeface="微软雅黑"/>
          <a:cs typeface="微软雅黑"/>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a:ea typeface="微软雅黑"/>
          <a:cs typeface="微软雅黑"/>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a:ea typeface="微软雅黑"/>
          <a:cs typeface="微软雅黑"/>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6.xml"/><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96240" y="908720"/>
            <a:ext cx="11399520" cy="2160240"/>
          </a:xfrm>
        </p:spPr>
        <p:txBody>
          <a:bodyPr anchor="ctr">
            <a:noAutofit/>
          </a:bodyPr>
          <a:lstStyle/>
          <a:p>
            <a:r>
              <a:rPr lang="zh-CN" altLang="en-US" sz="6600" dirty="0" smtClean="0"/>
              <a:t>基于</a:t>
            </a:r>
            <a:r>
              <a:rPr lang="en-US" altLang="zh-CN" sz="6600" dirty="0" smtClean="0"/>
              <a:t>ESB</a:t>
            </a:r>
            <a:r>
              <a:rPr lang="zh-CN" altLang="en-US" sz="6600" dirty="0" smtClean="0"/>
              <a:t>的服务治理方案</a:t>
            </a:r>
            <a:endParaRPr lang="en-US" sz="6600" dirty="0"/>
          </a:p>
        </p:txBody>
      </p:sp>
      <p:sp>
        <p:nvSpPr>
          <p:cNvPr id="5" name="Subtitle 4"/>
          <p:cNvSpPr>
            <a:spLocks noGrp="1"/>
          </p:cNvSpPr>
          <p:nvPr>
            <p:ph type="subTitle" idx="1"/>
          </p:nvPr>
        </p:nvSpPr>
        <p:spPr>
          <a:xfrm>
            <a:off x="1828800" y="3548423"/>
            <a:ext cx="8534400" cy="816681"/>
          </a:xfrm>
        </p:spPr>
        <p:txBody>
          <a:bodyPr/>
          <a:lstStyle/>
          <a:p>
            <a:endParaRPr lang="en-US" sz="3600" dirty="0"/>
          </a:p>
        </p:txBody>
      </p:sp>
    </p:spTree>
    <p:extLst>
      <p:ext uri="{BB962C8B-B14F-4D97-AF65-F5344CB8AC3E}">
        <p14:creationId xmlns:p14="http://schemas.microsoft.com/office/powerpoint/2010/main" val="5939645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3575720" y="908720"/>
            <a:ext cx="7920534" cy="5688632"/>
          </a:xfrm>
        </p:spPr>
        <p:txBody>
          <a:bodyPr anchor="ctr"/>
          <a:lstStyle/>
          <a:p>
            <a:pPr marL="571500" indent="-571500">
              <a:buFont typeface="Wingdings" charset="2"/>
              <a:buAutoNum type="circleNumWdBlackPlain"/>
            </a:pPr>
            <a:r>
              <a:rPr lang="zh-CN" altLang="en-US" sz="2800" dirty="0" smtClean="0"/>
              <a:t>服务治理概述</a:t>
            </a:r>
          </a:p>
          <a:p>
            <a:pPr marL="571500" indent="-571500">
              <a:buFont typeface="Wingdings" charset="2"/>
              <a:buAutoNum type="circleNumWdBlackPlain"/>
            </a:pPr>
            <a:r>
              <a:rPr lang="zh-CN" altLang="en-US" sz="2800" dirty="0" smtClean="0"/>
              <a:t>服务治理组织保障</a:t>
            </a:r>
            <a:endParaRPr lang="en-US" altLang="zh-CN" sz="2800" dirty="0" smtClean="0"/>
          </a:p>
          <a:p>
            <a:pPr marL="571500" indent="-571500">
              <a:buFont typeface="Wingdings" charset="2"/>
              <a:buAutoNum type="circleNumWdBlackPlain"/>
            </a:pPr>
            <a:r>
              <a:rPr lang="zh-CN" altLang="en-US" sz="2800" dirty="0" smtClean="0"/>
              <a:t>服务定义</a:t>
            </a:r>
            <a:endParaRPr lang="en-US" altLang="zh-CN" sz="2800" dirty="0" smtClean="0"/>
          </a:p>
        </p:txBody>
      </p:sp>
    </p:spTree>
    <p:extLst>
      <p:ext uri="{BB962C8B-B14F-4D97-AF65-F5344CB8AC3E}">
        <p14:creationId xmlns:p14="http://schemas.microsoft.com/office/powerpoint/2010/main" val="19111780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61100" y="3167769"/>
            <a:ext cx="2954655" cy="646331"/>
          </a:xfrm>
          <a:prstGeom prst="rect">
            <a:avLst/>
          </a:prstGeom>
        </p:spPr>
        <p:txBody>
          <a:bodyPr wrap="none">
            <a:spAutoFit/>
          </a:bodyPr>
          <a:lstStyle/>
          <a:p>
            <a:r>
              <a:rPr lang="zh-CN" altLang="en-US" sz="3600" b="1" dirty="0" smtClean="0">
                <a:latin typeface="华文细黑"/>
                <a:ea typeface="华文细黑"/>
                <a:cs typeface="华文细黑"/>
              </a:rPr>
              <a:t>服务治理概述</a:t>
            </a:r>
            <a:endParaRPr lang="zh-CN" altLang="en-US" sz="3600" b="1" dirty="0">
              <a:latin typeface="华文细黑"/>
              <a:ea typeface="华文细黑"/>
              <a:cs typeface="华文细黑"/>
            </a:endParaRPr>
          </a:p>
        </p:txBody>
      </p:sp>
      <p:sp>
        <p:nvSpPr>
          <p:cNvPr id="5" name="文本框 4"/>
          <p:cNvSpPr txBox="1"/>
          <p:nvPr/>
        </p:nvSpPr>
        <p:spPr>
          <a:xfrm>
            <a:off x="2351584" y="2780928"/>
            <a:ext cx="638320" cy="769441"/>
          </a:xfrm>
          <a:prstGeom prst="rect">
            <a:avLst/>
          </a:prstGeom>
        </p:spPr>
        <p:txBody>
          <a:bodyPr wrap="none">
            <a:spAutoFit/>
          </a:bodyPr>
          <a:lstStyle>
            <a:defPPr>
              <a:defRPr lang="zh-CN"/>
            </a:defPPr>
            <a:lvl1pPr>
              <a:defRPr sz="3600" b="1">
                <a:latin typeface="华文细黑"/>
                <a:ea typeface="华文细黑"/>
                <a:cs typeface="华文细黑"/>
              </a:defRPr>
            </a:lvl1pPr>
          </a:lstStyle>
          <a:p>
            <a:r>
              <a:rPr lang="en-US" altLang="zh-CN" sz="4400" i="1" dirty="0">
                <a:solidFill>
                  <a:srgbClr val="797979"/>
                </a:solidFill>
              </a:rPr>
              <a:t>1</a:t>
            </a:r>
            <a:endParaRPr lang="zh-CN" altLang="en-US" sz="4400" i="1" dirty="0">
              <a:solidFill>
                <a:srgbClr val="797979"/>
              </a:solidFill>
            </a:endParaRPr>
          </a:p>
        </p:txBody>
      </p:sp>
      <p:cxnSp>
        <p:nvCxnSpPr>
          <p:cNvPr id="7" name="直线连接符 6"/>
          <p:cNvCxnSpPr/>
          <p:nvPr/>
        </p:nvCxnSpPr>
        <p:spPr>
          <a:xfrm flipH="1">
            <a:off x="2423592" y="2840231"/>
            <a:ext cx="792088" cy="940879"/>
          </a:xfrm>
          <a:prstGeom prst="line">
            <a:avLst/>
          </a:prstGeom>
          <a:ln w="25400">
            <a:solidFill>
              <a:srgbClr val="929292"/>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283355" y="2420888"/>
            <a:ext cx="902811"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含义</a:t>
            </a:r>
            <a:endParaRPr kumimoji="1" lang="zh-CN" altLang="en-US" sz="2800" dirty="0" smtClean="0">
              <a:solidFill>
                <a:schemeClr val="tx2">
                  <a:lumMod val="75000"/>
                </a:schemeClr>
              </a:solidFill>
              <a:latin typeface="华文细黑"/>
              <a:ea typeface="华文细黑"/>
              <a:cs typeface="华文细黑"/>
            </a:endParaRPr>
          </a:p>
        </p:txBody>
      </p:sp>
      <p:sp>
        <p:nvSpPr>
          <p:cNvPr id="8" name="文本框 7"/>
          <p:cNvSpPr txBox="1"/>
          <p:nvPr/>
        </p:nvSpPr>
        <p:spPr>
          <a:xfrm>
            <a:off x="7283355" y="3371709"/>
            <a:ext cx="902811"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内容</a:t>
            </a:r>
            <a:endParaRPr kumimoji="1" lang="zh-CN" altLang="en-US" sz="2800" dirty="0" smtClean="0">
              <a:solidFill>
                <a:schemeClr val="tx2">
                  <a:lumMod val="75000"/>
                </a:schemeClr>
              </a:solidFill>
              <a:latin typeface="华文细黑"/>
              <a:ea typeface="华文细黑"/>
              <a:cs typeface="华文细黑"/>
            </a:endParaRPr>
          </a:p>
        </p:txBody>
      </p:sp>
      <p:cxnSp>
        <p:nvCxnSpPr>
          <p:cNvPr id="9" name="直线连接符 15"/>
          <p:cNvCxnSpPr/>
          <p:nvPr/>
        </p:nvCxnSpPr>
        <p:spPr>
          <a:xfrm>
            <a:off x="7138694" y="1700808"/>
            <a:ext cx="0" cy="4326504"/>
          </a:xfrm>
          <a:prstGeom prst="line">
            <a:avLst/>
          </a:prstGeom>
          <a:ln w="3175"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椭圆 9"/>
          <p:cNvSpPr>
            <a:spLocks noChangeAspect="1"/>
          </p:cNvSpPr>
          <p:nvPr/>
        </p:nvSpPr>
        <p:spPr>
          <a:xfrm>
            <a:off x="7048683" y="2574487"/>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
        <p:nvSpPr>
          <p:cNvPr id="11" name="椭圆 10"/>
          <p:cNvSpPr>
            <a:spLocks noChangeAspect="1"/>
          </p:cNvSpPr>
          <p:nvPr/>
        </p:nvSpPr>
        <p:spPr>
          <a:xfrm>
            <a:off x="7048683" y="3526197"/>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
        <p:nvSpPr>
          <p:cNvPr id="12" name="文本框 11"/>
          <p:cNvSpPr txBox="1"/>
          <p:nvPr/>
        </p:nvSpPr>
        <p:spPr>
          <a:xfrm>
            <a:off x="7283355" y="4322530"/>
            <a:ext cx="902811"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目标</a:t>
            </a:r>
            <a:endParaRPr kumimoji="1" lang="zh-CN" altLang="en-US" sz="2800" dirty="0" smtClean="0">
              <a:solidFill>
                <a:schemeClr val="tx2">
                  <a:lumMod val="75000"/>
                </a:schemeClr>
              </a:solidFill>
              <a:latin typeface="华文细黑"/>
              <a:ea typeface="华文细黑"/>
              <a:cs typeface="华文细黑"/>
            </a:endParaRPr>
          </a:p>
        </p:txBody>
      </p:sp>
      <p:sp>
        <p:nvSpPr>
          <p:cNvPr id="13" name="椭圆 12"/>
          <p:cNvSpPr>
            <a:spLocks noChangeAspect="1"/>
          </p:cNvSpPr>
          <p:nvPr/>
        </p:nvSpPr>
        <p:spPr>
          <a:xfrm>
            <a:off x="7048683" y="4477018"/>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
        <p:nvSpPr>
          <p:cNvPr id="14" name="文本框 13"/>
          <p:cNvSpPr txBox="1"/>
          <p:nvPr/>
        </p:nvSpPr>
        <p:spPr>
          <a:xfrm>
            <a:off x="7281421" y="5240630"/>
            <a:ext cx="902811"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重点</a:t>
            </a:r>
            <a:endParaRPr kumimoji="1" lang="zh-CN" altLang="en-US" sz="2800" dirty="0" smtClean="0">
              <a:solidFill>
                <a:schemeClr val="tx2">
                  <a:lumMod val="75000"/>
                </a:schemeClr>
              </a:solidFill>
              <a:latin typeface="华文细黑"/>
              <a:ea typeface="华文细黑"/>
              <a:cs typeface="华文细黑"/>
            </a:endParaRPr>
          </a:p>
        </p:txBody>
      </p:sp>
      <p:sp>
        <p:nvSpPr>
          <p:cNvPr id="15" name="椭圆 14"/>
          <p:cNvSpPr>
            <a:spLocks noChangeAspect="1"/>
          </p:cNvSpPr>
          <p:nvPr/>
        </p:nvSpPr>
        <p:spPr>
          <a:xfrm>
            <a:off x="7046749" y="5395118"/>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Tree>
    <p:extLst>
      <p:ext uri="{BB962C8B-B14F-4D97-AF65-F5344CB8AC3E}">
        <p14:creationId xmlns:p14="http://schemas.microsoft.com/office/powerpoint/2010/main" val="3778574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服务治理的含义</a:t>
            </a:r>
            <a:endParaRPr lang="en-US" dirty="0"/>
          </a:p>
        </p:txBody>
      </p:sp>
      <p:sp>
        <p:nvSpPr>
          <p:cNvPr id="50" name="TextBox 3"/>
          <p:cNvSpPr txBox="1"/>
          <p:nvPr/>
        </p:nvSpPr>
        <p:spPr>
          <a:xfrm>
            <a:off x="1142976" y="1524848"/>
            <a:ext cx="7000924" cy="3416320"/>
          </a:xfrm>
          <a:prstGeom prst="rect">
            <a:avLst/>
          </a:prstGeom>
          <a:noFill/>
        </p:spPr>
        <p:txBody>
          <a:bodyPr wrap="square" rtlCol="0" anchor="ctr" anchorCtr="0">
            <a:spAutoFit/>
          </a:bodyPr>
          <a:lstStyle/>
          <a:p>
            <a:pPr indent="457200" algn="just">
              <a:lnSpc>
                <a:spcPct val="200000"/>
              </a:lnSpc>
            </a:pPr>
            <a:r>
              <a:rPr lang="zh-CN" altLang="en-US" dirty="0" smtClean="0">
                <a:latin typeface="微软雅黑" pitchFamily="34" charset="-122"/>
                <a:ea typeface="微软雅黑" pitchFamily="34" charset="-122"/>
              </a:rPr>
              <a:t>在面向服务的架构（</a:t>
            </a:r>
            <a:r>
              <a:rPr lang="en-US" altLang="zh-CN" dirty="0" smtClean="0">
                <a:latin typeface="微软雅黑" pitchFamily="34" charset="-122"/>
                <a:ea typeface="微软雅黑" pitchFamily="34" charset="-122"/>
              </a:rPr>
              <a:t>SOA</a:t>
            </a:r>
            <a:r>
              <a:rPr lang="zh-CN" altLang="en-US" dirty="0" smtClean="0">
                <a:latin typeface="微软雅黑" pitchFamily="34" charset="-122"/>
                <a:ea typeface="微软雅黑" pitchFamily="34" charset="-122"/>
              </a:rPr>
              <a:t>）体系中，对服务（</a:t>
            </a:r>
            <a:r>
              <a:rPr lang="en-US" altLang="zh-CN" dirty="0" smtClean="0">
                <a:latin typeface="微软雅黑" pitchFamily="34" charset="-122"/>
                <a:ea typeface="微软雅黑" pitchFamily="34" charset="-122"/>
              </a:rPr>
              <a:t>Service</a:t>
            </a:r>
            <a:r>
              <a:rPr lang="zh-CN" altLang="en-US" dirty="0" smtClean="0">
                <a:latin typeface="微软雅黑" pitchFamily="34" charset="-122"/>
                <a:ea typeface="微软雅黑" pitchFamily="34" charset="-122"/>
              </a:rPr>
              <a:t>）的定义、实现、运行、退役等全生命周期过程制定标准规范并严格执行，为企业整体架构向基于服务的</a:t>
            </a:r>
            <a:r>
              <a:rPr lang="en-US" altLang="zh-CN" dirty="0" smtClean="0">
                <a:latin typeface="微软雅黑" pitchFamily="34" charset="-122"/>
                <a:ea typeface="微软雅黑" pitchFamily="34" charset="-122"/>
              </a:rPr>
              <a:t>SOA</a:t>
            </a:r>
            <a:r>
              <a:rPr lang="zh-CN" altLang="en-US" dirty="0" smtClean="0">
                <a:latin typeface="微软雅黑" pitchFamily="34" charset="-122"/>
                <a:ea typeface="微软雅黑" pitchFamily="34" charset="-122"/>
              </a:rPr>
              <a:t>架构过渡提供保障，最终形成银行服务库，实现服务的高效利用。</a:t>
            </a:r>
            <a:endParaRPr lang="en-US" altLang="zh-CN" dirty="0" smtClean="0">
              <a:latin typeface="微软雅黑" pitchFamily="34" charset="-122"/>
              <a:ea typeface="微软雅黑" pitchFamily="34" charset="-122"/>
            </a:endParaRPr>
          </a:p>
          <a:p>
            <a:pPr indent="457200" algn="just">
              <a:lnSpc>
                <a:spcPct val="200000"/>
              </a:lnSpc>
            </a:pPr>
            <a:r>
              <a:rPr lang="zh-CN" altLang="en-US" dirty="0" smtClean="0">
                <a:latin typeface="微软雅黑" pitchFamily="34" charset="-122"/>
                <a:ea typeface="微软雅黑" pitchFamily="34" charset="-122"/>
              </a:rPr>
              <a:t>服务治理是银行</a:t>
            </a:r>
            <a:r>
              <a:rPr lang="en-US" altLang="zh-CN" dirty="0" smtClean="0">
                <a:latin typeface="微软雅黑" pitchFamily="34" charset="-122"/>
                <a:ea typeface="微软雅黑" pitchFamily="34" charset="-122"/>
              </a:rPr>
              <a:t>IT</a:t>
            </a:r>
            <a:r>
              <a:rPr lang="zh-CN" altLang="en-US" dirty="0" smtClean="0">
                <a:latin typeface="微软雅黑" pitchFamily="34" charset="-122"/>
                <a:ea typeface="微软雅黑" pitchFamily="34" charset="-122"/>
              </a:rPr>
              <a:t>治理的重要组成部分，服务治理产生的金融服务规范是银行</a:t>
            </a:r>
            <a:r>
              <a:rPr lang="en-US" altLang="zh-CN" dirty="0" smtClean="0">
                <a:latin typeface="微软雅黑" pitchFamily="34" charset="-122"/>
                <a:ea typeface="微软雅黑" pitchFamily="34" charset="-122"/>
              </a:rPr>
              <a:t>IT</a:t>
            </a:r>
            <a:r>
              <a:rPr lang="zh-CN" altLang="en-US" dirty="0" smtClean="0">
                <a:latin typeface="微软雅黑" pitchFamily="34" charset="-122"/>
                <a:ea typeface="微软雅黑" pitchFamily="34" charset="-122"/>
              </a:rPr>
              <a:t>规范的重要组成部分。</a:t>
            </a:r>
            <a:endParaRPr lang="en-US" altLang="zh-CN" dirty="0" smtClean="0">
              <a:latin typeface="微软雅黑" pitchFamily="34" charset="-122"/>
              <a:ea typeface="微软雅黑" pitchFamily="34" charset="-122"/>
            </a:endParaRPr>
          </a:p>
        </p:txBody>
      </p:sp>
      <p:pic>
        <p:nvPicPr>
          <p:cNvPr id="98" name="Content Placeholder 2" descr="C:\Documents and Settings\Dan\My Documents\PRESPRO\WebSites\resources\powerdesigns\trials\PresPro_FS_PuzzleGraphic.tif"/>
          <p:cNvPicPr>
            <a:picLocks noChangeAspect="1" noChangeArrowheads="1"/>
          </p:cNvPicPr>
          <p:nvPr/>
        </p:nvPicPr>
        <p:blipFill>
          <a:blip r:embed="rId3" cstate="print"/>
          <a:srcRect/>
          <a:stretch>
            <a:fillRect/>
          </a:stretch>
        </p:blipFill>
        <p:spPr>
          <a:xfrm>
            <a:off x="8832304" y="3933056"/>
            <a:ext cx="2764997" cy="2292223"/>
          </a:xfrm>
          <a:prstGeom prst="rect">
            <a:avLst/>
          </a:prstGeom>
          <a:noFill/>
        </p:spPr>
      </p:pic>
    </p:spTree>
    <p:extLst>
      <p:ext uri="{BB962C8B-B14F-4D97-AF65-F5344CB8AC3E}">
        <p14:creationId xmlns:p14="http://schemas.microsoft.com/office/powerpoint/2010/main" val="28466273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zh-CN" altLang="en-US" dirty="0" smtClean="0"/>
              <a:t>服务治理的内容</a:t>
            </a:r>
            <a:endParaRPr lang="en-US" dirty="0"/>
          </a:p>
        </p:txBody>
      </p:sp>
      <p:sp>
        <p:nvSpPr>
          <p:cNvPr id="38" name="TextBox 5"/>
          <p:cNvSpPr txBox="1"/>
          <p:nvPr/>
        </p:nvSpPr>
        <p:spPr>
          <a:xfrm>
            <a:off x="1134200" y="1514981"/>
            <a:ext cx="9066256" cy="4257576"/>
          </a:xfrm>
          <a:prstGeom prst="rect">
            <a:avLst/>
          </a:prstGeom>
          <a:noFill/>
        </p:spPr>
        <p:txBody>
          <a:bodyPr wrap="square" rtlCol="0" anchor="ctr" anchorCtr="0">
            <a:spAutoFit/>
          </a:bodyPr>
          <a:lstStyle/>
          <a:p>
            <a:pPr indent="457200">
              <a:lnSpc>
                <a:spcPct val="200000"/>
              </a:lnSpc>
              <a:buFont typeface="Wingdings" pitchFamily="2" charset="2"/>
              <a:buChar char="p"/>
            </a:pPr>
            <a:r>
              <a:rPr lang="zh-CN" altLang="en-US" b="1" dirty="0" smtClean="0">
                <a:latin typeface="微软雅黑" pitchFamily="34" charset="-122"/>
                <a:ea typeface="微软雅黑" pitchFamily="34" charset="-122"/>
              </a:rPr>
              <a:t>实现服务全生命周期管理</a:t>
            </a:r>
            <a:endParaRPr lang="en-US" altLang="zh-CN" b="1" dirty="0" smtClean="0">
              <a:latin typeface="微软雅黑" pitchFamily="34" charset="-122"/>
              <a:ea typeface="微软雅黑" pitchFamily="34" charset="-122"/>
            </a:endParaRPr>
          </a:p>
          <a:p>
            <a:pPr indent="457200">
              <a:lnSpc>
                <a:spcPct val="200000"/>
              </a:lnSpc>
            </a:pPr>
            <a:r>
              <a:rPr lang="en-US" altLang="zh-CN" sz="1600" dirty="0" smtClean="0">
                <a:latin typeface="微软雅黑" pitchFamily="34" charset="-122"/>
                <a:ea typeface="微软雅黑" pitchFamily="34" charset="-122"/>
              </a:rPr>
              <a:t> </a:t>
            </a:r>
            <a:r>
              <a:rPr lang="zh-CN" altLang="en-US" sz="1600" dirty="0" smtClean="0">
                <a:latin typeface="微软雅黑" pitchFamily="34" charset="-122"/>
                <a:ea typeface="微软雅黑" pitchFamily="34" charset="-122"/>
              </a:rPr>
              <a:t>服务从创建到消亡的全过程，我们称之为服务的全生命周期。在服务治理过程中，需要遵循统一标准，对服务的全生命周期进行管理。</a:t>
            </a:r>
            <a:endParaRPr lang="en-US" altLang="zh-CN" sz="1600" dirty="0" smtClean="0">
              <a:latin typeface="微软雅黑" pitchFamily="34" charset="-122"/>
              <a:ea typeface="微软雅黑" pitchFamily="34" charset="-122"/>
            </a:endParaRPr>
          </a:p>
          <a:p>
            <a:pPr indent="457200">
              <a:lnSpc>
                <a:spcPct val="200000"/>
              </a:lnSpc>
              <a:spcBef>
                <a:spcPts val="800"/>
              </a:spcBef>
              <a:buFont typeface="Wingdings" pitchFamily="2" charset="2"/>
              <a:buChar char="p"/>
            </a:pPr>
            <a:r>
              <a:rPr lang="zh-CN" altLang="en-US" b="1" dirty="0" smtClean="0">
                <a:latin typeface="微软雅黑" pitchFamily="34" charset="-122"/>
                <a:ea typeface="微软雅黑" pitchFamily="34" charset="-122"/>
              </a:rPr>
              <a:t>建立层次丰富的服务库</a:t>
            </a:r>
            <a:endParaRPr lang="en-US" altLang="zh-CN" b="1" dirty="0" smtClean="0">
              <a:latin typeface="微软雅黑" pitchFamily="34" charset="-122"/>
              <a:ea typeface="微软雅黑" pitchFamily="34" charset="-122"/>
            </a:endParaRPr>
          </a:p>
          <a:p>
            <a:pPr indent="457200">
              <a:lnSpc>
                <a:spcPct val="200000"/>
              </a:lnSpc>
            </a:pPr>
            <a:r>
              <a:rPr lang="zh-CN" altLang="en-US" sz="1600" dirty="0" smtClean="0">
                <a:latin typeface="微软雅黑" pitchFamily="34" charset="-122"/>
                <a:ea typeface="微软雅黑" pitchFamily="34" charset="-122"/>
              </a:rPr>
              <a:t>服务库是服务的承载体。服务定义完成后，存放在服务库中。随着服务治理的深入，服务库的内容越来越多，逐渐覆盖到全行各个业务条线。服务使用者通过复用服务库中的服务，提高服务开发的效率，实现业务敏捷开发。</a:t>
            </a:r>
            <a:endParaRPr lang="en-US" altLang="zh-CN" sz="1600" dirty="0" smtClean="0">
              <a:latin typeface="微软雅黑" pitchFamily="34" charset="-122"/>
              <a:ea typeface="微软雅黑" pitchFamily="34" charset="-122"/>
            </a:endParaRPr>
          </a:p>
          <a:p>
            <a:pPr indent="457200">
              <a:lnSpc>
                <a:spcPct val="200000"/>
              </a:lnSpc>
            </a:pPr>
            <a:r>
              <a:rPr lang="zh-CN" altLang="en-US" sz="1600" dirty="0" smtClean="0">
                <a:latin typeface="微软雅黑" pitchFamily="34" charset="-122"/>
                <a:ea typeface="微软雅黑" pitchFamily="34" charset="-122"/>
              </a:rPr>
              <a:t>服务库及其服务的优化，是一个持续的过程。</a:t>
            </a:r>
            <a:endParaRPr lang="en-US" altLang="zh-CN" sz="1600" dirty="0" smtClean="0">
              <a:latin typeface="微软雅黑" pitchFamily="34" charset="-122"/>
              <a:ea typeface="微软雅黑" pitchFamily="34" charset="-122"/>
            </a:endParaRPr>
          </a:p>
        </p:txBody>
      </p:sp>
    </p:spTree>
    <p:extLst>
      <p:ext uri="{BB962C8B-B14F-4D97-AF65-F5344CB8AC3E}">
        <p14:creationId xmlns:p14="http://schemas.microsoft.com/office/powerpoint/2010/main" val="32165724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zh-CN" altLang="en-US" dirty="0" smtClean="0"/>
              <a:t>服务全生命周期管理</a:t>
            </a:r>
            <a:endParaRPr lang="en-US" dirty="0"/>
          </a:p>
        </p:txBody>
      </p:sp>
      <p:grpSp>
        <p:nvGrpSpPr>
          <p:cNvPr id="52" name="组合 69"/>
          <p:cNvGrpSpPr/>
          <p:nvPr/>
        </p:nvGrpSpPr>
        <p:grpSpPr>
          <a:xfrm>
            <a:off x="2175797" y="1196752"/>
            <a:ext cx="7488237" cy="1388146"/>
            <a:chOff x="939829" y="1344176"/>
            <a:chExt cx="7488237" cy="1388146"/>
          </a:xfrm>
        </p:grpSpPr>
        <p:sp>
          <p:nvSpPr>
            <p:cNvPr id="53" name="AutoShape 2"/>
            <p:cNvSpPr>
              <a:spLocks noChangeArrowheads="1"/>
            </p:cNvSpPr>
            <p:nvPr/>
          </p:nvSpPr>
          <p:spPr bwMode="gray">
            <a:xfrm rot="5400000">
              <a:off x="2307841" y="1837919"/>
              <a:ext cx="607222" cy="431800"/>
            </a:xfrm>
            <a:prstGeom prst="upArrow">
              <a:avLst>
                <a:gd name="adj1" fmla="val 43389"/>
                <a:gd name="adj2" fmla="val 43750"/>
              </a:avLst>
            </a:prstGeom>
            <a:solidFill>
              <a:sysClr val="window" lastClr="FFFFFF">
                <a:lumMod val="75000"/>
              </a:sysClr>
            </a:solidFill>
            <a:ln w="9525" algn="ctr">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54" name="AutoShape 3"/>
            <p:cNvSpPr>
              <a:spLocks noChangeArrowheads="1"/>
            </p:cNvSpPr>
            <p:nvPr/>
          </p:nvSpPr>
          <p:spPr bwMode="gray">
            <a:xfrm rot="5400000">
              <a:off x="4379543" y="1842852"/>
              <a:ext cx="607222" cy="431800"/>
            </a:xfrm>
            <a:prstGeom prst="upArrow">
              <a:avLst>
                <a:gd name="adj1" fmla="val 43389"/>
                <a:gd name="adj2" fmla="val 43750"/>
              </a:avLst>
            </a:prstGeom>
            <a:solidFill>
              <a:sysClr val="window" lastClr="FFFFFF">
                <a:lumMod val="75000"/>
              </a:sysClr>
            </a:solidFill>
            <a:ln w="9525" algn="ctr">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55" name="AutoShape 4"/>
            <p:cNvSpPr>
              <a:spLocks noChangeArrowheads="1"/>
            </p:cNvSpPr>
            <p:nvPr/>
          </p:nvSpPr>
          <p:spPr bwMode="gray">
            <a:xfrm rot="5400000">
              <a:off x="6451245" y="1842852"/>
              <a:ext cx="607222" cy="431800"/>
            </a:xfrm>
            <a:prstGeom prst="upArrow">
              <a:avLst>
                <a:gd name="adj1" fmla="val 43389"/>
                <a:gd name="adj2" fmla="val 43750"/>
              </a:avLst>
            </a:prstGeom>
            <a:solidFill>
              <a:sysClr val="window" lastClr="FFFFFF">
                <a:lumMod val="75000"/>
              </a:sysClr>
            </a:solidFill>
            <a:ln w="9525" algn="ctr">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nvGrpSpPr>
            <p:cNvPr id="56" name="Group 7"/>
            <p:cNvGrpSpPr>
              <a:grpSpLocks/>
            </p:cNvGrpSpPr>
            <p:nvPr/>
          </p:nvGrpSpPr>
          <p:grpSpPr bwMode="auto">
            <a:xfrm>
              <a:off x="5029229" y="1344176"/>
              <a:ext cx="1331912" cy="1370444"/>
              <a:chOff x="2200" y="1570"/>
              <a:chExt cx="1496" cy="1496"/>
            </a:xfrm>
          </p:grpSpPr>
          <p:sp>
            <p:nvSpPr>
              <p:cNvPr id="79" name="Oval 8"/>
              <p:cNvSpPr>
                <a:spLocks noChangeArrowheads="1"/>
              </p:cNvSpPr>
              <p:nvPr/>
            </p:nvSpPr>
            <p:spPr bwMode="gray">
              <a:xfrm>
                <a:off x="2200" y="1570"/>
                <a:ext cx="1496" cy="1496"/>
              </a:xfrm>
              <a:prstGeom prst="ellipse">
                <a:avLst/>
              </a:prstGeom>
              <a:gradFill rotWithShape="1">
                <a:gsLst>
                  <a:gs pos="0">
                    <a:srgbClr val="67AFBD">
                      <a:gamma/>
                      <a:tint val="0"/>
                      <a:invGamma/>
                    </a:srgbClr>
                  </a:gs>
                  <a:gs pos="50000">
                    <a:srgbClr val="67AFBD"/>
                  </a:gs>
                  <a:gs pos="100000">
                    <a:srgbClr val="67AFBD">
                      <a:gamma/>
                      <a:tint val="0"/>
                      <a:invGamma/>
                    </a:srgbClr>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80" name="Oval 9"/>
              <p:cNvSpPr>
                <a:spLocks noChangeArrowheads="1"/>
              </p:cNvSpPr>
              <p:nvPr/>
            </p:nvSpPr>
            <p:spPr bwMode="gray">
              <a:xfrm>
                <a:off x="2200" y="1570"/>
                <a:ext cx="1496" cy="1496"/>
              </a:xfrm>
              <a:prstGeom prst="ellipse">
                <a:avLst/>
              </a:prstGeom>
              <a:gradFill rotWithShape="1">
                <a:gsLst>
                  <a:gs pos="0">
                    <a:srgbClr val="67AFBD">
                      <a:gamma/>
                      <a:shade val="0"/>
                      <a:invGamma/>
                    </a:srgbClr>
                  </a:gs>
                  <a:gs pos="100000">
                    <a:srgbClr val="67AFBD"/>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81" name="Oval 10"/>
              <p:cNvSpPr>
                <a:spLocks noChangeArrowheads="1"/>
              </p:cNvSpPr>
              <p:nvPr/>
            </p:nvSpPr>
            <p:spPr bwMode="gray">
              <a:xfrm>
                <a:off x="2298" y="1669"/>
                <a:ext cx="1300" cy="1298"/>
              </a:xfrm>
              <a:prstGeom prst="ellipse">
                <a:avLst/>
              </a:prstGeom>
              <a:gradFill rotWithShape="1">
                <a:gsLst>
                  <a:gs pos="0">
                    <a:srgbClr val="67AFBD">
                      <a:gamma/>
                      <a:shade val="54118"/>
                      <a:invGamma/>
                    </a:srgbClr>
                  </a:gs>
                  <a:gs pos="50000">
                    <a:srgbClr val="67AFBD"/>
                  </a:gs>
                  <a:gs pos="100000">
                    <a:srgbClr val="67AFBD">
                      <a:gamma/>
                      <a:shade val="54118"/>
                      <a:invGamma/>
                    </a:srgbClr>
                  </a:gs>
                </a:gsLst>
                <a:lin ang="189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82" name="Oval 11"/>
              <p:cNvSpPr>
                <a:spLocks noChangeArrowheads="1"/>
              </p:cNvSpPr>
              <p:nvPr/>
            </p:nvSpPr>
            <p:spPr bwMode="gray">
              <a:xfrm>
                <a:off x="2298" y="1669"/>
                <a:ext cx="1300" cy="1298"/>
              </a:xfrm>
              <a:prstGeom prst="ellipse">
                <a:avLst/>
              </a:prstGeom>
              <a:gradFill rotWithShape="1">
                <a:gsLst>
                  <a:gs pos="0">
                    <a:srgbClr val="67AFBD"/>
                  </a:gs>
                  <a:gs pos="100000">
                    <a:srgbClr val="67AFBD">
                      <a:gamma/>
                      <a:shade val="48627"/>
                      <a:invGamma/>
                    </a:srgbClr>
                  </a:gs>
                </a:gsLst>
                <a:lin ang="27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83" name="Oval 12"/>
              <p:cNvSpPr>
                <a:spLocks noChangeArrowheads="1"/>
              </p:cNvSpPr>
              <p:nvPr/>
            </p:nvSpPr>
            <p:spPr bwMode="gray">
              <a:xfrm>
                <a:off x="2362" y="1733"/>
                <a:ext cx="1171" cy="1170"/>
              </a:xfrm>
              <a:prstGeom prst="ellipse">
                <a:avLst/>
              </a:prstGeom>
              <a:gradFill rotWithShape="1">
                <a:gsLst>
                  <a:gs pos="0">
                    <a:srgbClr val="67AFBD">
                      <a:gamma/>
                      <a:shade val="46275"/>
                      <a:invGamma/>
                    </a:srgbClr>
                  </a:gs>
                  <a:gs pos="100000">
                    <a:srgbClr val="67AFBD"/>
                  </a:gs>
                </a:gsLst>
                <a:lin ang="54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57" name="Group 13"/>
            <p:cNvGrpSpPr>
              <a:grpSpLocks/>
            </p:cNvGrpSpPr>
            <p:nvPr/>
          </p:nvGrpSpPr>
          <p:grpSpPr bwMode="auto">
            <a:xfrm>
              <a:off x="939829" y="1357298"/>
              <a:ext cx="1331912" cy="1375024"/>
              <a:chOff x="2200" y="1565"/>
              <a:chExt cx="1496" cy="1501"/>
            </a:xfrm>
          </p:grpSpPr>
          <p:sp>
            <p:nvSpPr>
              <p:cNvPr id="74" name="Oval 14"/>
              <p:cNvSpPr>
                <a:spLocks noChangeArrowheads="1"/>
              </p:cNvSpPr>
              <p:nvPr/>
            </p:nvSpPr>
            <p:spPr bwMode="gray">
              <a:xfrm>
                <a:off x="2200" y="1570"/>
                <a:ext cx="1496" cy="1496"/>
              </a:xfrm>
              <a:prstGeom prst="ellipse">
                <a:avLst/>
              </a:prstGeom>
              <a:gradFill rotWithShape="1">
                <a:gsLst>
                  <a:gs pos="0">
                    <a:srgbClr val="438086">
                      <a:gamma/>
                      <a:tint val="0"/>
                      <a:invGamma/>
                    </a:srgbClr>
                  </a:gs>
                  <a:gs pos="50000">
                    <a:srgbClr val="438086"/>
                  </a:gs>
                  <a:gs pos="100000">
                    <a:srgbClr val="438086">
                      <a:gamma/>
                      <a:tint val="0"/>
                      <a:invGamma/>
                    </a:srgbClr>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5" name="Oval 15"/>
              <p:cNvSpPr>
                <a:spLocks noChangeArrowheads="1"/>
              </p:cNvSpPr>
              <p:nvPr/>
            </p:nvSpPr>
            <p:spPr bwMode="gray">
              <a:xfrm>
                <a:off x="2200" y="1565"/>
                <a:ext cx="1496" cy="1496"/>
              </a:xfrm>
              <a:prstGeom prst="ellipse">
                <a:avLst/>
              </a:prstGeom>
              <a:gradFill rotWithShape="1">
                <a:gsLst>
                  <a:gs pos="0">
                    <a:srgbClr val="438086">
                      <a:gamma/>
                      <a:shade val="0"/>
                      <a:invGamma/>
                    </a:srgbClr>
                  </a:gs>
                  <a:gs pos="100000">
                    <a:srgbClr val="438086"/>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6" name="Oval 16"/>
              <p:cNvSpPr>
                <a:spLocks noChangeArrowheads="1"/>
              </p:cNvSpPr>
              <p:nvPr/>
            </p:nvSpPr>
            <p:spPr bwMode="gray">
              <a:xfrm>
                <a:off x="2298" y="1669"/>
                <a:ext cx="1300" cy="1298"/>
              </a:xfrm>
              <a:prstGeom prst="ellipse">
                <a:avLst/>
              </a:prstGeom>
              <a:gradFill rotWithShape="1">
                <a:gsLst>
                  <a:gs pos="0">
                    <a:srgbClr val="438086">
                      <a:gamma/>
                      <a:shade val="54118"/>
                      <a:invGamma/>
                    </a:srgbClr>
                  </a:gs>
                  <a:gs pos="50000">
                    <a:srgbClr val="438086"/>
                  </a:gs>
                  <a:gs pos="100000">
                    <a:srgbClr val="438086">
                      <a:gamma/>
                      <a:shade val="54118"/>
                      <a:invGamma/>
                    </a:srgbClr>
                  </a:gs>
                </a:gsLst>
                <a:lin ang="189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7" name="Oval 17"/>
              <p:cNvSpPr>
                <a:spLocks noChangeArrowheads="1"/>
              </p:cNvSpPr>
              <p:nvPr/>
            </p:nvSpPr>
            <p:spPr bwMode="gray">
              <a:xfrm>
                <a:off x="2298" y="1669"/>
                <a:ext cx="1300" cy="1298"/>
              </a:xfrm>
              <a:prstGeom prst="ellipse">
                <a:avLst/>
              </a:prstGeom>
              <a:gradFill rotWithShape="1">
                <a:gsLst>
                  <a:gs pos="0">
                    <a:srgbClr val="438086"/>
                  </a:gs>
                  <a:gs pos="100000">
                    <a:srgbClr val="438086">
                      <a:gamma/>
                      <a:shade val="48627"/>
                      <a:invGamma/>
                    </a:srgbClr>
                  </a:gs>
                </a:gsLst>
                <a:lin ang="27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8" name="Oval 18"/>
              <p:cNvSpPr>
                <a:spLocks noChangeArrowheads="1"/>
              </p:cNvSpPr>
              <p:nvPr/>
            </p:nvSpPr>
            <p:spPr bwMode="gray">
              <a:xfrm>
                <a:off x="2362" y="1733"/>
                <a:ext cx="1171" cy="1170"/>
              </a:xfrm>
              <a:prstGeom prst="ellipse">
                <a:avLst/>
              </a:prstGeom>
              <a:gradFill rotWithShape="1">
                <a:gsLst>
                  <a:gs pos="0">
                    <a:srgbClr val="438086">
                      <a:gamma/>
                      <a:shade val="46275"/>
                      <a:invGamma/>
                    </a:srgbClr>
                  </a:gs>
                  <a:gs pos="100000">
                    <a:srgbClr val="438086"/>
                  </a:gs>
                </a:gsLst>
                <a:lin ang="54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58" name="Group 19"/>
            <p:cNvGrpSpPr>
              <a:grpSpLocks/>
            </p:cNvGrpSpPr>
            <p:nvPr/>
          </p:nvGrpSpPr>
          <p:grpSpPr bwMode="auto">
            <a:xfrm>
              <a:off x="7096154" y="1344176"/>
              <a:ext cx="1331912" cy="1370444"/>
              <a:chOff x="2200" y="1570"/>
              <a:chExt cx="1496" cy="1496"/>
            </a:xfrm>
          </p:grpSpPr>
          <p:sp>
            <p:nvSpPr>
              <p:cNvPr id="69" name="Oval 20"/>
              <p:cNvSpPr>
                <a:spLocks noChangeArrowheads="1"/>
              </p:cNvSpPr>
              <p:nvPr/>
            </p:nvSpPr>
            <p:spPr bwMode="gray">
              <a:xfrm>
                <a:off x="2200" y="1570"/>
                <a:ext cx="1496" cy="1496"/>
              </a:xfrm>
              <a:prstGeom prst="ellipse">
                <a:avLst/>
              </a:prstGeom>
              <a:gradFill rotWithShape="1">
                <a:gsLst>
                  <a:gs pos="0">
                    <a:srgbClr val="53548A">
                      <a:gamma/>
                      <a:tint val="0"/>
                      <a:invGamma/>
                    </a:srgbClr>
                  </a:gs>
                  <a:gs pos="50000">
                    <a:srgbClr val="53548A"/>
                  </a:gs>
                  <a:gs pos="100000">
                    <a:srgbClr val="53548A">
                      <a:gamma/>
                      <a:tint val="0"/>
                      <a:invGamma/>
                    </a:srgbClr>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0" name="Oval 21"/>
              <p:cNvSpPr>
                <a:spLocks noChangeArrowheads="1"/>
              </p:cNvSpPr>
              <p:nvPr/>
            </p:nvSpPr>
            <p:spPr bwMode="gray">
              <a:xfrm>
                <a:off x="2200" y="1570"/>
                <a:ext cx="1496" cy="1496"/>
              </a:xfrm>
              <a:prstGeom prst="ellipse">
                <a:avLst/>
              </a:prstGeom>
              <a:gradFill rotWithShape="1">
                <a:gsLst>
                  <a:gs pos="0">
                    <a:srgbClr val="53548A">
                      <a:gamma/>
                      <a:shade val="0"/>
                      <a:invGamma/>
                    </a:srgbClr>
                  </a:gs>
                  <a:gs pos="100000">
                    <a:srgbClr val="53548A"/>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1" name="Oval 22"/>
              <p:cNvSpPr>
                <a:spLocks noChangeArrowheads="1"/>
              </p:cNvSpPr>
              <p:nvPr/>
            </p:nvSpPr>
            <p:spPr bwMode="gray">
              <a:xfrm>
                <a:off x="2298" y="1669"/>
                <a:ext cx="1300" cy="1298"/>
              </a:xfrm>
              <a:prstGeom prst="ellipse">
                <a:avLst/>
              </a:prstGeom>
              <a:gradFill rotWithShape="1">
                <a:gsLst>
                  <a:gs pos="0">
                    <a:srgbClr val="53548A">
                      <a:gamma/>
                      <a:shade val="54118"/>
                      <a:invGamma/>
                    </a:srgbClr>
                  </a:gs>
                  <a:gs pos="50000">
                    <a:srgbClr val="53548A"/>
                  </a:gs>
                  <a:gs pos="100000">
                    <a:srgbClr val="53548A">
                      <a:gamma/>
                      <a:shade val="54118"/>
                      <a:invGamma/>
                    </a:srgbClr>
                  </a:gs>
                </a:gsLst>
                <a:lin ang="189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2" name="Oval 23"/>
              <p:cNvSpPr>
                <a:spLocks noChangeArrowheads="1"/>
              </p:cNvSpPr>
              <p:nvPr/>
            </p:nvSpPr>
            <p:spPr bwMode="gray">
              <a:xfrm>
                <a:off x="2298" y="1669"/>
                <a:ext cx="1300" cy="1298"/>
              </a:xfrm>
              <a:prstGeom prst="ellipse">
                <a:avLst/>
              </a:prstGeom>
              <a:gradFill rotWithShape="1">
                <a:gsLst>
                  <a:gs pos="0">
                    <a:srgbClr val="53548A"/>
                  </a:gs>
                  <a:gs pos="100000">
                    <a:srgbClr val="53548A">
                      <a:gamma/>
                      <a:shade val="48627"/>
                      <a:invGamma/>
                    </a:srgbClr>
                  </a:gs>
                </a:gsLst>
                <a:lin ang="27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3" name="Oval 24"/>
              <p:cNvSpPr>
                <a:spLocks noChangeArrowheads="1"/>
              </p:cNvSpPr>
              <p:nvPr/>
            </p:nvSpPr>
            <p:spPr bwMode="gray">
              <a:xfrm>
                <a:off x="2362" y="1733"/>
                <a:ext cx="1171" cy="1170"/>
              </a:xfrm>
              <a:prstGeom prst="ellipse">
                <a:avLst/>
              </a:prstGeom>
              <a:gradFill rotWithShape="1">
                <a:gsLst>
                  <a:gs pos="0">
                    <a:srgbClr val="53548A">
                      <a:gamma/>
                      <a:shade val="46275"/>
                      <a:invGamma/>
                    </a:srgbClr>
                  </a:gs>
                  <a:gs pos="100000">
                    <a:srgbClr val="53548A"/>
                  </a:gs>
                </a:gsLst>
                <a:lin ang="54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59" name="Group 25"/>
            <p:cNvGrpSpPr>
              <a:grpSpLocks/>
            </p:cNvGrpSpPr>
            <p:nvPr/>
          </p:nvGrpSpPr>
          <p:grpSpPr bwMode="auto">
            <a:xfrm>
              <a:off x="2957541" y="1357298"/>
              <a:ext cx="1331913" cy="1370444"/>
              <a:chOff x="2200" y="1570"/>
              <a:chExt cx="1496" cy="1496"/>
            </a:xfrm>
          </p:grpSpPr>
          <p:sp>
            <p:nvSpPr>
              <p:cNvPr id="64" name="Oval 26"/>
              <p:cNvSpPr>
                <a:spLocks noChangeArrowheads="1"/>
              </p:cNvSpPr>
              <p:nvPr/>
            </p:nvSpPr>
            <p:spPr bwMode="gray">
              <a:xfrm>
                <a:off x="2200" y="1570"/>
                <a:ext cx="1496" cy="1496"/>
              </a:xfrm>
              <a:prstGeom prst="ellipse">
                <a:avLst/>
              </a:prstGeom>
              <a:gradFill rotWithShape="1">
                <a:gsLst>
                  <a:gs pos="0">
                    <a:srgbClr val="C2A874">
                      <a:gamma/>
                      <a:tint val="0"/>
                      <a:invGamma/>
                    </a:srgbClr>
                  </a:gs>
                  <a:gs pos="50000">
                    <a:srgbClr val="C2A874"/>
                  </a:gs>
                  <a:gs pos="100000">
                    <a:srgbClr val="C2A874">
                      <a:gamma/>
                      <a:tint val="0"/>
                      <a:invGamma/>
                    </a:srgbClr>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65" name="Oval 27"/>
              <p:cNvSpPr>
                <a:spLocks noChangeArrowheads="1"/>
              </p:cNvSpPr>
              <p:nvPr/>
            </p:nvSpPr>
            <p:spPr bwMode="gray">
              <a:xfrm>
                <a:off x="2200" y="1570"/>
                <a:ext cx="1496" cy="1496"/>
              </a:xfrm>
              <a:prstGeom prst="ellipse">
                <a:avLst/>
              </a:prstGeom>
              <a:gradFill rotWithShape="1">
                <a:gsLst>
                  <a:gs pos="0">
                    <a:srgbClr val="C2A874">
                      <a:gamma/>
                      <a:shade val="0"/>
                      <a:invGamma/>
                    </a:srgbClr>
                  </a:gs>
                  <a:gs pos="100000">
                    <a:srgbClr val="C2A874"/>
                  </a:gs>
                </a:gsLst>
                <a:lin ang="2700000" scaled="1"/>
              </a:gradFill>
              <a:ln w="38100" algn="ctr">
                <a:noFill/>
                <a:round/>
                <a:headEnd/>
                <a:tailEnd/>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66" name="Oval 28"/>
              <p:cNvSpPr>
                <a:spLocks noChangeArrowheads="1"/>
              </p:cNvSpPr>
              <p:nvPr/>
            </p:nvSpPr>
            <p:spPr bwMode="gray">
              <a:xfrm>
                <a:off x="2298" y="1669"/>
                <a:ext cx="1300" cy="1298"/>
              </a:xfrm>
              <a:prstGeom prst="ellipse">
                <a:avLst/>
              </a:prstGeom>
              <a:gradFill rotWithShape="1">
                <a:gsLst>
                  <a:gs pos="0">
                    <a:srgbClr val="C2A874">
                      <a:gamma/>
                      <a:shade val="54118"/>
                      <a:invGamma/>
                    </a:srgbClr>
                  </a:gs>
                  <a:gs pos="50000">
                    <a:srgbClr val="C2A874"/>
                  </a:gs>
                  <a:gs pos="100000">
                    <a:srgbClr val="C2A874">
                      <a:gamma/>
                      <a:shade val="54118"/>
                      <a:invGamma/>
                    </a:srgbClr>
                  </a:gs>
                </a:gsLst>
                <a:lin ang="189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67" name="Oval 29"/>
              <p:cNvSpPr>
                <a:spLocks noChangeArrowheads="1"/>
              </p:cNvSpPr>
              <p:nvPr/>
            </p:nvSpPr>
            <p:spPr bwMode="gray">
              <a:xfrm>
                <a:off x="2298" y="1669"/>
                <a:ext cx="1300" cy="1298"/>
              </a:xfrm>
              <a:prstGeom prst="ellipse">
                <a:avLst/>
              </a:prstGeom>
              <a:gradFill rotWithShape="1">
                <a:gsLst>
                  <a:gs pos="0">
                    <a:srgbClr val="C2A874"/>
                  </a:gs>
                  <a:gs pos="100000">
                    <a:srgbClr val="C2A874">
                      <a:gamma/>
                      <a:shade val="48627"/>
                      <a:invGamma/>
                    </a:srgbClr>
                  </a:gs>
                </a:gsLst>
                <a:lin ang="27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68" name="Oval 30"/>
              <p:cNvSpPr>
                <a:spLocks noChangeArrowheads="1"/>
              </p:cNvSpPr>
              <p:nvPr/>
            </p:nvSpPr>
            <p:spPr bwMode="gray">
              <a:xfrm>
                <a:off x="2362" y="1733"/>
                <a:ext cx="1171" cy="1170"/>
              </a:xfrm>
              <a:prstGeom prst="ellipse">
                <a:avLst/>
              </a:prstGeom>
              <a:gradFill rotWithShape="1">
                <a:gsLst>
                  <a:gs pos="0">
                    <a:srgbClr val="C2A874">
                      <a:gamma/>
                      <a:shade val="46275"/>
                      <a:invGamma/>
                    </a:srgbClr>
                  </a:gs>
                  <a:gs pos="100000">
                    <a:srgbClr val="C2A874"/>
                  </a:gs>
                </a:gsLst>
                <a:lin ang="5400000" scaled="1"/>
              </a:gradFill>
              <a:ln w="38100" algn="ctr">
                <a:noFill/>
                <a:round/>
                <a:headEnd/>
                <a:tailEnd/>
              </a:ln>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sp>
          <p:nvSpPr>
            <p:cNvPr id="60" name="Text Box 31"/>
            <p:cNvSpPr txBox="1">
              <a:spLocks noChangeArrowheads="1"/>
            </p:cNvSpPr>
            <p:nvPr/>
          </p:nvSpPr>
          <p:spPr bwMode="gray">
            <a:xfrm>
              <a:off x="1112841" y="1785926"/>
              <a:ext cx="1028682" cy="357728"/>
            </a:xfrm>
            <a:prstGeom prst="rect">
              <a:avLst/>
            </a:prstGeom>
            <a:noFill/>
            <a:ln w="9525" algn="ctr">
              <a:noFill/>
              <a:miter lim="800000"/>
              <a:headEnd/>
              <a:tailEnd/>
            </a:ln>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rPr>
                <a:t>服务定义</a:t>
              </a:r>
              <a:endParaRPr kumimoji="0" lang="en-US" altLang="ko-KR"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endParaRPr>
            </a:p>
          </p:txBody>
        </p:sp>
        <p:sp>
          <p:nvSpPr>
            <p:cNvPr id="61" name="Text Box 32"/>
            <p:cNvSpPr txBox="1">
              <a:spLocks noChangeArrowheads="1"/>
            </p:cNvSpPr>
            <p:nvPr/>
          </p:nvSpPr>
          <p:spPr bwMode="gray">
            <a:xfrm>
              <a:off x="3100416" y="1823473"/>
              <a:ext cx="1155697" cy="338554"/>
            </a:xfrm>
            <a:prstGeom prst="rect">
              <a:avLst/>
            </a:prstGeom>
            <a:noFill/>
            <a:ln w="9525" algn="ctr">
              <a:noFill/>
              <a:miter lim="800000"/>
              <a:headEnd/>
              <a:tailEnd/>
            </a:ln>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rPr>
                <a:t>服务实现</a:t>
              </a:r>
              <a:endParaRPr kumimoji="0" lang="en-US" altLang="ko-KR"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endParaRPr>
            </a:p>
          </p:txBody>
        </p:sp>
        <p:sp>
          <p:nvSpPr>
            <p:cNvPr id="62" name="Text Box 33"/>
            <p:cNvSpPr txBox="1">
              <a:spLocks noChangeArrowheads="1"/>
            </p:cNvSpPr>
            <p:nvPr/>
          </p:nvSpPr>
          <p:spPr bwMode="gray">
            <a:xfrm>
              <a:off x="5184807" y="1803782"/>
              <a:ext cx="1081099" cy="357728"/>
            </a:xfrm>
            <a:prstGeom prst="rect">
              <a:avLst/>
            </a:prstGeom>
            <a:noFill/>
            <a:ln w="9525" algn="ctr">
              <a:noFill/>
              <a:miter lim="800000"/>
              <a:headEnd/>
              <a:tailEnd/>
            </a:ln>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rPr>
                <a:t>服务运行</a:t>
              </a:r>
              <a:endParaRPr kumimoji="0" lang="en-US" altLang="ko-KR"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endParaRPr>
            </a:p>
          </p:txBody>
        </p:sp>
        <p:sp>
          <p:nvSpPr>
            <p:cNvPr id="63" name="Text Box 34"/>
            <p:cNvSpPr txBox="1">
              <a:spLocks noChangeArrowheads="1"/>
            </p:cNvSpPr>
            <p:nvPr/>
          </p:nvSpPr>
          <p:spPr bwMode="gray">
            <a:xfrm>
              <a:off x="7313641" y="1803782"/>
              <a:ext cx="1085876" cy="338554"/>
            </a:xfrm>
            <a:prstGeom prst="rect">
              <a:avLst/>
            </a:prstGeom>
            <a:noFill/>
            <a:ln w="9525" algn="ctr">
              <a:noFill/>
              <a:miter lim="800000"/>
              <a:headEnd/>
              <a:tailEnd/>
            </a:ln>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rPr>
                <a:t>服务退役</a:t>
              </a:r>
              <a:endParaRPr kumimoji="0" lang="en-US" altLang="ko-KR" sz="1600" b="1" i="0" u="none" strike="noStrike" kern="0" cap="none" spc="0" normalizeH="0" baseline="0" noProof="0" dirty="0" smtClean="0">
                <a:ln>
                  <a:noFill/>
                </a:ln>
                <a:solidFill>
                  <a:prstClr val="white"/>
                </a:solidFill>
                <a:effectLst/>
                <a:uLnTx/>
                <a:uFillTx/>
                <a:latin typeface="微软雅黑" pitchFamily="34" charset="-122"/>
                <a:ea typeface="微软雅黑" pitchFamily="34" charset="-122"/>
              </a:endParaRPr>
            </a:p>
          </p:txBody>
        </p:sp>
      </p:grpSp>
      <p:sp>
        <p:nvSpPr>
          <p:cNvPr id="84" name="Rectangle 35"/>
          <p:cNvSpPr>
            <a:spLocks noChangeArrowheads="1"/>
          </p:cNvSpPr>
          <p:nvPr/>
        </p:nvSpPr>
        <p:spPr bwMode="auto">
          <a:xfrm>
            <a:off x="1920181" y="2727774"/>
            <a:ext cx="1871662" cy="2400657"/>
          </a:xfrm>
          <a:prstGeom prst="rect">
            <a:avLst/>
          </a:prstGeom>
          <a:noFill/>
          <a:ln w="19050" algn="ctr">
            <a:noFill/>
            <a:prstDash val="sysDash"/>
            <a:miter lim="800000"/>
            <a:headEnd/>
            <a:tailEnd/>
          </a:ln>
        </p:spPr>
        <p:txBody>
          <a:bodyPr>
            <a:spAutoFit/>
          </a:bodyPr>
          <a:lstStyle/>
          <a:p>
            <a:pPr eaLnBrk="0" hangingPunct="0"/>
            <a:r>
              <a:rPr lang="zh-CN" altLang="en-US" sz="1600" u="sng" dirty="0" smtClean="0">
                <a:solidFill>
                  <a:prstClr val="black"/>
                </a:solidFill>
                <a:latin typeface="微软雅黑" pitchFamily="34" charset="-122"/>
                <a:ea typeface="微软雅黑" pitchFamily="34" charset="-122"/>
              </a:rPr>
              <a:t>功能分解</a:t>
            </a:r>
            <a:endParaRPr lang="en-US" altLang="ko-KR" sz="1600" u="sng" dirty="0" smtClean="0">
              <a:solidFill>
                <a:prstClr val="black"/>
              </a:solidFill>
              <a:latin typeface="微软雅黑" pitchFamily="34" charset="-122"/>
              <a:ea typeface="微软雅黑" pitchFamily="34" charset="-122"/>
            </a:endParaRPr>
          </a:p>
          <a:p>
            <a:pPr marL="174625" indent="-1746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功能分解</a:t>
            </a:r>
            <a:endParaRPr lang="en-US" altLang="zh-CN" sz="1400" dirty="0" smtClean="0">
              <a:solidFill>
                <a:srgbClr val="424456"/>
              </a:solidFill>
              <a:latin typeface="微软雅黑" pitchFamily="34" charset="-122"/>
              <a:ea typeface="微软雅黑" pitchFamily="34" charset="-122"/>
            </a:endParaRPr>
          </a:p>
          <a:p>
            <a:pPr marL="174625" indent="-174625" eaLnBrk="0" hangingPunct="0">
              <a:buFont typeface="Arial" pitchFamily="34" charset="0"/>
              <a:buChar char="•"/>
            </a:pPr>
            <a:endParaRPr lang="en-US" altLang="zh-CN" sz="1400" dirty="0" smtClean="0">
              <a:solidFill>
                <a:srgbClr val="424456"/>
              </a:solidFill>
              <a:latin typeface="微软雅黑" pitchFamily="34" charset="-122"/>
              <a:ea typeface="微软雅黑" pitchFamily="34" charset="-122"/>
            </a:endParaRPr>
          </a:p>
          <a:p>
            <a:pPr eaLnBrk="0" hangingPunct="0"/>
            <a:r>
              <a:rPr lang="zh-CN" altLang="en-US" sz="1600" u="sng" dirty="0" smtClean="0">
                <a:solidFill>
                  <a:prstClr val="black"/>
                </a:solidFill>
                <a:latin typeface="微软雅黑" pitchFamily="34" charset="-122"/>
                <a:ea typeface="微软雅黑" pitchFamily="34" charset="-122"/>
              </a:rPr>
              <a:t>服务识别</a:t>
            </a:r>
            <a:endParaRPr lang="en-US" altLang="zh-CN" sz="1600" u="sng" dirty="0" smtClean="0">
              <a:solidFill>
                <a:prstClr val="black"/>
              </a:solidFill>
              <a:latin typeface="微软雅黑" pitchFamily="34" charset="-122"/>
              <a:ea typeface="微软雅黑" pitchFamily="34" charset="-122"/>
            </a:endParaRPr>
          </a:p>
          <a:p>
            <a:pPr marL="174625" indent="-1746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服务识别</a:t>
            </a:r>
            <a:endParaRPr lang="en-US" altLang="zh-CN" sz="1400" dirty="0" smtClean="0">
              <a:solidFill>
                <a:srgbClr val="424456"/>
              </a:solidFill>
              <a:latin typeface="微软雅黑" pitchFamily="34" charset="-122"/>
              <a:ea typeface="微软雅黑" pitchFamily="34" charset="-122"/>
            </a:endParaRPr>
          </a:p>
          <a:p>
            <a:pPr eaLnBrk="0" hangingPunct="0"/>
            <a:endParaRPr lang="en-US" altLang="zh-CN" sz="1600" u="sng" dirty="0" smtClean="0">
              <a:solidFill>
                <a:prstClr val="black"/>
              </a:solidFill>
              <a:latin typeface="微软雅黑" pitchFamily="34" charset="-122"/>
              <a:ea typeface="微软雅黑" pitchFamily="34" charset="-122"/>
            </a:endParaRPr>
          </a:p>
          <a:p>
            <a:pPr eaLnBrk="0" hangingPunct="0"/>
            <a:r>
              <a:rPr lang="zh-CN" altLang="en-US" sz="1600" u="sng" dirty="0" smtClean="0">
                <a:solidFill>
                  <a:prstClr val="black"/>
                </a:solidFill>
                <a:latin typeface="微软雅黑" pitchFamily="34" charset="-122"/>
                <a:ea typeface="微软雅黑" pitchFamily="34" charset="-122"/>
              </a:rPr>
              <a:t>服务设计</a:t>
            </a:r>
            <a:endParaRPr lang="en-US" altLang="zh-CN" sz="1600" u="sng" dirty="0" smtClean="0">
              <a:solidFill>
                <a:prstClr val="black"/>
              </a:solidFill>
              <a:latin typeface="微软雅黑" pitchFamily="34" charset="-122"/>
              <a:ea typeface="微软雅黑" pitchFamily="34" charset="-122"/>
            </a:endParaRPr>
          </a:p>
          <a:p>
            <a:pPr marL="174625" indent="-1746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服务设计</a:t>
            </a:r>
            <a:endParaRPr lang="en-US" altLang="zh-CN" sz="1400" dirty="0" smtClean="0">
              <a:solidFill>
                <a:srgbClr val="424456"/>
              </a:solidFill>
              <a:latin typeface="微软雅黑" pitchFamily="34" charset="-122"/>
              <a:ea typeface="微软雅黑" pitchFamily="34" charset="-122"/>
            </a:endParaRPr>
          </a:p>
          <a:p>
            <a:pPr marL="174625" indent="-174625" eaLnBrk="0" hangingPunct="0">
              <a:buFont typeface="Arial" pitchFamily="34" charset="0"/>
              <a:buChar char="•"/>
            </a:pPr>
            <a:endParaRPr lang="en-US" altLang="zh-CN" sz="1400" dirty="0" smtClean="0">
              <a:solidFill>
                <a:srgbClr val="424456"/>
              </a:solidFill>
              <a:latin typeface="微软雅黑" pitchFamily="34" charset="-122"/>
              <a:ea typeface="微软雅黑" pitchFamily="34" charset="-122"/>
            </a:endParaRPr>
          </a:p>
          <a:p>
            <a:pPr eaLnBrk="0" hangingPunct="0"/>
            <a:endParaRPr lang="en-US" altLang="zh-CN" sz="1600" u="sng" dirty="0" smtClean="0">
              <a:solidFill>
                <a:prstClr val="black"/>
              </a:solidFill>
              <a:latin typeface="微软雅黑" pitchFamily="34" charset="-122"/>
              <a:ea typeface="微软雅黑" pitchFamily="34" charset="-122"/>
            </a:endParaRPr>
          </a:p>
        </p:txBody>
      </p:sp>
      <p:sp>
        <p:nvSpPr>
          <p:cNvPr id="85" name="Rectangle 38"/>
          <p:cNvSpPr>
            <a:spLocks noChangeArrowheads="1"/>
          </p:cNvSpPr>
          <p:nvPr/>
        </p:nvSpPr>
        <p:spPr bwMode="auto">
          <a:xfrm>
            <a:off x="8308298" y="2727774"/>
            <a:ext cx="1643074" cy="2862322"/>
          </a:xfrm>
          <a:prstGeom prst="rect">
            <a:avLst/>
          </a:prstGeom>
          <a:noFill/>
          <a:ln w="0" algn="ctr">
            <a:noFill/>
            <a:miter lim="800000"/>
            <a:headEnd/>
            <a:tailEnd/>
          </a:ln>
        </p:spPr>
        <p:txBody>
          <a:bodyPr wrap="square">
            <a:spAutoFit/>
          </a:bodyPr>
          <a:lstStyle/>
          <a:p>
            <a:pPr eaLnBrk="0" hangingPunct="0"/>
            <a:r>
              <a:rPr lang="zh-CN" altLang="en-US" sz="1600" u="sng" dirty="0" smtClean="0">
                <a:solidFill>
                  <a:prstClr val="black"/>
                </a:solidFill>
                <a:latin typeface="微软雅黑" pitchFamily="34" charset="-122"/>
                <a:ea typeface="微软雅黑" pitchFamily="34" charset="-122"/>
              </a:rPr>
              <a:t>服务下线</a:t>
            </a:r>
            <a:endParaRPr lang="en-US" altLang="zh-CN" sz="1600" u="sng" dirty="0" smtClean="0">
              <a:solidFill>
                <a:prstClr val="black"/>
              </a:solidFill>
              <a:latin typeface="微软雅黑" pitchFamily="34" charset="-122"/>
              <a:ea typeface="微软雅黑" pitchFamily="34" charset="-122"/>
            </a:endParaRPr>
          </a:p>
          <a:p>
            <a:pPr marL="357188" indent="-171450"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服务下线评估</a:t>
            </a:r>
            <a:endParaRPr lang="en-US" altLang="zh-CN" sz="1400" dirty="0" smtClean="0">
              <a:solidFill>
                <a:srgbClr val="424456"/>
              </a:solidFill>
              <a:latin typeface="微软雅黑" pitchFamily="34" charset="-122"/>
              <a:ea typeface="微软雅黑" pitchFamily="34" charset="-122"/>
            </a:endParaRPr>
          </a:p>
          <a:p>
            <a:pPr marL="357188" indent="-171450"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执行下线</a:t>
            </a:r>
            <a:endParaRPr lang="en-US" altLang="zh-CN" sz="1400" dirty="0" smtClean="0">
              <a:solidFill>
                <a:srgbClr val="424456"/>
              </a:solidFill>
              <a:latin typeface="微软雅黑" pitchFamily="34" charset="-122"/>
              <a:ea typeface="微软雅黑" pitchFamily="34" charset="-122"/>
            </a:endParaRPr>
          </a:p>
          <a:p>
            <a:pPr eaLnBrk="0" hangingPunct="0"/>
            <a:endParaRPr lang="en-US" altLang="ko-KR" sz="1600" u="sng" dirty="0" smtClean="0">
              <a:solidFill>
                <a:srgbClr val="53548A"/>
              </a:solidFill>
              <a:latin typeface="微软雅黑" pitchFamily="34" charset="-122"/>
              <a:ea typeface="微软雅黑" pitchFamily="34" charset="-122"/>
            </a:endParaRPr>
          </a:p>
          <a:p>
            <a:pPr eaLnBrk="0" hangingPunct="0"/>
            <a:r>
              <a:rPr lang="zh-CN" altLang="en-US" sz="1600" u="sng" dirty="0" smtClean="0">
                <a:solidFill>
                  <a:prstClr val="black"/>
                </a:solidFill>
                <a:latin typeface="微软雅黑" pitchFamily="34" charset="-122"/>
                <a:ea typeface="微软雅黑" pitchFamily="34" charset="-122"/>
              </a:rPr>
              <a:t>服务重启</a:t>
            </a:r>
            <a:endParaRPr lang="en-US" altLang="zh-CN" sz="1600" u="sng" dirty="0" smtClean="0">
              <a:solidFill>
                <a:prstClr val="black"/>
              </a:solidFill>
              <a:latin typeface="微软雅黑" pitchFamily="34" charset="-122"/>
              <a:ea typeface="微软雅黑" pitchFamily="34" charset="-122"/>
            </a:endParaRPr>
          </a:p>
          <a:p>
            <a:pPr marL="357188" indent="-171450"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服务重新评估</a:t>
            </a:r>
            <a:endParaRPr lang="en-US" altLang="zh-CN" sz="1400" dirty="0" smtClean="0">
              <a:solidFill>
                <a:srgbClr val="424456"/>
              </a:solidFill>
              <a:latin typeface="微软雅黑" pitchFamily="34" charset="-122"/>
              <a:ea typeface="微软雅黑" pitchFamily="34" charset="-122"/>
            </a:endParaRPr>
          </a:p>
          <a:p>
            <a:pPr marL="357188" indent="-171450"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服务启动</a:t>
            </a:r>
            <a:endParaRPr lang="en-US" altLang="zh-CN" sz="1400" dirty="0" smtClean="0">
              <a:solidFill>
                <a:srgbClr val="424456"/>
              </a:solidFill>
              <a:latin typeface="微软雅黑" pitchFamily="34" charset="-122"/>
              <a:ea typeface="微软雅黑" pitchFamily="34" charset="-122"/>
            </a:endParaRPr>
          </a:p>
          <a:p>
            <a:pPr eaLnBrk="0" hangingPunct="0"/>
            <a:endParaRPr lang="en-US" altLang="ko-KR" sz="1600" u="sng" dirty="0" smtClean="0">
              <a:solidFill>
                <a:srgbClr val="53548A"/>
              </a:solidFill>
              <a:latin typeface="微软雅黑" pitchFamily="34" charset="-122"/>
              <a:ea typeface="微软雅黑" pitchFamily="34" charset="-122"/>
            </a:endParaRPr>
          </a:p>
          <a:p>
            <a:pPr eaLnBrk="0" hangingPunct="0"/>
            <a:r>
              <a:rPr lang="zh-CN" altLang="en-US" sz="1600" u="sng" dirty="0" smtClean="0">
                <a:solidFill>
                  <a:prstClr val="black"/>
                </a:solidFill>
                <a:latin typeface="微软雅黑" pitchFamily="34" charset="-122"/>
                <a:ea typeface="微软雅黑" pitchFamily="34" charset="-122"/>
              </a:rPr>
              <a:t>服务删除</a:t>
            </a:r>
            <a:endParaRPr lang="en-US" altLang="zh-CN" sz="1600" u="sng" dirty="0" smtClean="0">
              <a:solidFill>
                <a:prstClr val="black"/>
              </a:solidFill>
              <a:latin typeface="微软雅黑" pitchFamily="34" charset="-122"/>
              <a:ea typeface="微软雅黑" pitchFamily="34" charset="-122"/>
            </a:endParaRPr>
          </a:p>
          <a:p>
            <a:pPr marL="357188" indent="-171450"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服务删除评估</a:t>
            </a:r>
            <a:endParaRPr lang="en-US" altLang="zh-CN" sz="1400" dirty="0" smtClean="0">
              <a:solidFill>
                <a:srgbClr val="424456"/>
              </a:solidFill>
              <a:latin typeface="微软雅黑" pitchFamily="34" charset="-122"/>
              <a:ea typeface="微软雅黑" pitchFamily="34" charset="-122"/>
            </a:endParaRPr>
          </a:p>
          <a:p>
            <a:pPr marL="357188" indent="-171450"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执行删除</a:t>
            </a:r>
            <a:endParaRPr lang="en-US" altLang="zh-CN" sz="1400" dirty="0" smtClean="0">
              <a:solidFill>
                <a:srgbClr val="424456"/>
              </a:solidFill>
              <a:latin typeface="微软雅黑" pitchFamily="34" charset="-122"/>
              <a:ea typeface="微软雅黑" pitchFamily="34" charset="-122"/>
            </a:endParaRPr>
          </a:p>
          <a:p>
            <a:pPr eaLnBrk="0" hangingPunct="0"/>
            <a:endParaRPr lang="en-US" altLang="ko-KR" sz="1600" b="1" dirty="0">
              <a:solidFill>
                <a:srgbClr val="424456"/>
              </a:solidFill>
              <a:latin typeface="微软雅黑" pitchFamily="34" charset="-122"/>
              <a:ea typeface="微软雅黑" pitchFamily="34" charset="-122"/>
            </a:endParaRPr>
          </a:p>
        </p:txBody>
      </p:sp>
      <p:sp>
        <p:nvSpPr>
          <p:cNvPr id="86" name="矩形 85"/>
          <p:cNvSpPr/>
          <p:nvPr/>
        </p:nvSpPr>
        <p:spPr bwMode="auto">
          <a:xfrm>
            <a:off x="4063321" y="2721020"/>
            <a:ext cx="1857388" cy="3435778"/>
          </a:xfrm>
          <a:prstGeom prst="rect">
            <a:avLst/>
          </a:prstGeom>
          <a:noFill/>
          <a:ln w="19050" cap="flat" cmpd="sng" algn="ctr">
            <a:solidFill>
              <a:sysClr val="windowText" lastClr="00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50000"/>
              </a:spcBef>
              <a:spcAft>
                <a:spcPct val="0"/>
              </a:spcAft>
              <a:buClr>
                <a:prstClr val="black"/>
              </a:buClr>
              <a:buSzTx/>
              <a:buFont typeface="Wingdings" pitchFamily="2" charset="2"/>
              <a:buNone/>
              <a:tabLst/>
              <a:defRPr/>
            </a:pPr>
            <a:endParaRPr kumimoji="0" lang="zh-CN" altLang="en-US" sz="1200" b="1" i="0" u="none" strike="noStrike" kern="0" cap="none" spc="0" normalizeH="0" baseline="0" noProof="0" smtClean="0">
              <a:ln>
                <a:noFill/>
              </a:ln>
              <a:solidFill>
                <a:prstClr val="black"/>
              </a:solidFill>
              <a:effectLst/>
              <a:uLnTx/>
              <a:uFillTx/>
              <a:latin typeface="宋体" pitchFamily="2" charset="-122"/>
            </a:endParaRPr>
          </a:p>
        </p:txBody>
      </p:sp>
      <p:grpSp>
        <p:nvGrpSpPr>
          <p:cNvPr id="87" name="组合 51"/>
          <p:cNvGrpSpPr/>
          <p:nvPr/>
        </p:nvGrpSpPr>
        <p:grpSpPr>
          <a:xfrm>
            <a:off x="5807968" y="2721020"/>
            <a:ext cx="2184443" cy="3435777"/>
            <a:chOff x="4459259" y="3857626"/>
            <a:chExt cx="2184443" cy="3435777"/>
          </a:xfrm>
        </p:grpSpPr>
        <p:sp>
          <p:nvSpPr>
            <p:cNvPr id="88" name="Rectangle 37"/>
            <p:cNvSpPr>
              <a:spLocks noChangeArrowheads="1"/>
            </p:cNvSpPr>
            <p:nvPr/>
          </p:nvSpPr>
          <p:spPr bwMode="auto">
            <a:xfrm>
              <a:off x="4459259" y="3864380"/>
              <a:ext cx="2071702" cy="3046988"/>
            </a:xfrm>
            <a:prstGeom prst="rect">
              <a:avLst/>
            </a:prstGeom>
            <a:noFill/>
            <a:ln w="0" algn="ctr">
              <a:noFill/>
              <a:miter lim="800000"/>
              <a:headEnd/>
              <a:tailEnd/>
            </a:ln>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rPr>
                <a:t>服务监控</a:t>
              </a:r>
              <a:endParaRPr kumimoji="0" lang="en-US" altLang="zh-CN"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r>
                <a:rPr kumimoji="0" lang="zh-CN" altLang="en-US"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rPr>
                <a:t>运行监控</a:t>
              </a: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rPr>
                <a:t>服务度量</a:t>
              </a:r>
              <a:endParaRPr kumimoji="0" lang="en-US" altLang="zh-CN"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r>
                <a:rPr kumimoji="0" lang="zh-CN" altLang="en-US"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rPr>
                <a:t>服务质量分析</a:t>
              </a: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altLang="zh-CN"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endParaRPr>
            </a:p>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rPr>
                <a:t>服务优化</a:t>
              </a:r>
              <a:endParaRPr kumimoji="0" lang="en-US" altLang="zh-CN"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r>
                <a:rPr kumimoji="0" lang="zh-CN" altLang="en-US"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rPr>
                <a:t>服务优化评估</a:t>
              </a: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r>
                <a:rPr kumimoji="0" lang="zh-CN" altLang="en-US"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rPr>
                <a:t>执行优化</a:t>
              </a: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rPr>
                <a:t>服务变更</a:t>
              </a:r>
              <a:endParaRPr kumimoji="0" lang="en-US" altLang="zh-CN" sz="1600" b="0" i="0" u="sng" strike="noStrike" kern="0" cap="none" spc="0" normalizeH="0" baseline="0" noProof="0" dirty="0" smtClean="0">
                <a:ln>
                  <a:noFill/>
                </a:ln>
                <a:solidFill>
                  <a:prstClr val="black"/>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r>
                <a:rPr kumimoji="0" lang="zh-CN" altLang="en-US"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rPr>
                <a:t>服务变更评审</a:t>
              </a: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a:p>
              <a:pPr marL="800100" marR="0" lvl="0" indent="-171450" defTabSz="914400" eaLnBrk="0" fontAlgn="auto" latinLnBrk="0" hangingPunct="0">
                <a:lnSpc>
                  <a:spcPct val="100000"/>
                </a:lnSpc>
                <a:spcBef>
                  <a:spcPts val="0"/>
                </a:spcBef>
                <a:spcAft>
                  <a:spcPts val="0"/>
                </a:spcAft>
                <a:buClrTx/>
                <a:buSzTx/>
                <a:buFont typeface="Arial" pitchFamily="34" charset="0"/>
                <a:buChar char="•"/>
                <a:tabLst/>
                <a:defRPr/>
              </a:pPr>
              <a:r>
                <a:rPr kumimoji="0" lang="zh-CN" altLang="en-US"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rPr>
                <a:t>执行变更</a:t>
              </a:r>
              <a:endParaRPr kumimoji="0" lang="en-US" altLang="zh-CN" sz="1400" b="0" i="0" u="none" strike="noStrike" kern="0" cap="none" spc="0" normalizeH="0" baseline="0" noProof="0" dirty="0" smtClean="0">
                <a:ln>
                  <a:noFill/>
                </a:ln>
                <a:solidFill>
                  <a:srgbClr val="424456"/>
                </a:solidFill>
                <a:effectLst/>
                <a:uLnTx/>
                <a:uFillTx/>
                <a:latin typeface="微软雅黑" pitchFamily="34" charset="-122"/>
                <a:ea typeface="微软雅黑" pitchFamily="34" charset="-122"/>
              </a:endParaRPr>
            </a:p>
          </p:txBody>
        </p:sp>
        <p:sp>
          <p:nvSpPr>
            <p:cNvPr id="89" name="矩形 88"/>
            <p:cNvSpPr/>
            <p:nvPr/>
          </p:nvSpPr>
          <p:spPr bwMode="auto">
            <a:xfrm>
              <a:off x="4786314" y="3857626"/>
              <a:ext cx="1857388" cy="3435777"/>
            </a:xfrm>
            <a:prstGeom prst="rect">
              <a:avLst/>
            </a:prstGeom>
            <a:noFill/>
            <a:ln w="19050" cap="flat" cmpd="sng" algn="ctr">
              <a:solidFill>
                <a:sysClr val="windowText" lastClr="00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50000"/>
                </a:spcBef>
                <a:spcAft>
                  <a:spcPct val="0"/>
                </a:spcAft>
                <a:buClr>
                  <a:prstClr val="black"/>
                </a:buClr>
                <a:buSzTx/>
                <a:buFont typeface="Wingdings" pitchFamily="2" charset="2"/>
                <a:buNone/>
                <a:tabLst/>
                <a:defRPr/>
              </a:pPr>
              <a:endParaRPr kumimoji="0" lang="zh-CN" altLang="en-US" sz="1200" b="1" i="0" u="none" strike="noStrike" kern="0" cap="none" spc="0" normalizeH="0" baseline="0" noProof="0" smtClean="0">
                <a:ln>
                  <a:noFill/>
                </a:ln>
                <a:solidFill>
                  <a:prstClr val="black"/>
                </a:solidFill>
                <a:effectLst/>
                <a:uLnTx/>
                <a:uFillTx/>
                <a:latin typeface="宋体" pitchFamily="2" charset="-122"/>
              </a:endParaRPr>
            </a:p>
          </p:txBody>
        </p:sp>
      </p:grpSp>
      <p:sp>
        <p:nvSpPr>
          <p:cNvPr id="90" name="矩形 89"/>
          <p:cNvSpPr/>
          <p:nvPr/>
        </p:nvSpPr>
        <p:spPr bwMode="auto">
          <a:xfrm>
            <a:off x="8206725" y="2721020"/>
            <a:ext cx="1714512" cy="3435777"/>
          </a:xfrm>
          <a:prstGeom prst="rect">
            <a:avLst/>
          </a:prstGeom>
          <a:noFill/>
          <a:ln w="19050" cap="flat" cmpd="sng" algn="ctr">
            <a:solidFill>
              <a:sysClr val="windowText" lastClr="00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50000"/>
              </a:spcBef>
              <a:spcAft>
                <a:spcPct val="0"/>
              </a:spcAft>
              <a:buClr>
                <a:prstClr val="black"/>
              </a:buClr>
              <a:buSzTx/>
              <a:buFont typeface="Wingdings" pitchFamily="2" charset="2"/>
              <a:buNone/>
              <a:tabLst/>
              <a:defRPr/>
            </a:pPr>
            <a:endParaRPr kumimoji="0" lang="zh-CN" altLang="en-US" sz="1200" b="1" i="0" u="none" strike="noStrike" kern="0" cap="none" spc="0" normalizeH="0" baseline="0" noProof="0" smtClean="0">
              <a:ln>
                <a:noFill/>
              </a:ln>
              <a:solidFill>
                <a:prstClr val="black"/>
              </a:solidFill>
              <a:effectLst/>
              <a:uLnTx/>
              <a:uFillTx/>
              <a:latin typeface="宋体" pitchFamily="2" charset="-122"/>
            </a:endParaRPr>
          </a:p>
        </p:txBody>
      </p:sp>
      <p:sp>
        <p:nvSpPr>
          <p:cNvPr id="91" name="矩形 90"/>
          <p:cNvSpPr/>
          <p:nvPr/>
        </p:nvSpPr>
        <p:spPr bwMode="auto">
          <a:xfrm>
            <a:off x="1920181" y="2721020"/>
            <a:ext cx="1857388" cy="3435777"/>
          </a:xfrm>
          <a:prstGeom prst="rect">
            <a:avLst/>
          </a:prstGeom>
          <a:noFill/>
          <a:ln w="19050" cap="flat" cmpd="sng" algn="ctr">
            <a:solidFill>
              <a:sysClr val="windowText" lastClr="00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50000"/>
              </a:spcBef>
              <a:spcAft>
                <a:spcPct val="0"/>
              </a:spcAft>
              <a:buClr>
                <a:prstClr val="black"/>
              </a:buClr>
              <a:buSzTx/>
              <a:buFont typeface="Wingdings" pitchFamily="2" charset="2"/>
              <a:buNone/>
              <a:tabLst/>
              <a:defRPr/>
            </a:pPr>
            <a:endParaRPr kumimoji="0" lang="zh-CN" altLang="en-US" sz="1200" b="1" i="0" u="none" strike="noStrike" kern="0" cap="none" spc="0" normalizeH="0" baseline="0" noProof="0" smtClean="0">
              <a:ln>
                <a:noFill/>
              </a:ln>
              <a:solidFill>
                <a:prstClr val="black"/>
              </a:solidFill>
              <a:effectLst/>
              <a:uLnTx/>
              <a:uFillTx/>
              <a:latin typeface="宋体" pitchFamily="2" charset="-122"/>
            </a:endParaRPr>
          </a:p>
        </p:txBody>
      </p:sp>
      <p:sp>
        <p:nvSpPr>
          <p:cNvPr id="92" name="Rectangle 36"/>
          <p:cNvSpPr>
            <a:spLocks noChangeArrowheads="1"/>
          </p:cNvSpPr>
          <p:nvPr/>
        </p:nvSpPr>
        <p:spPr bwMode="auto">
          <a:xfrm>
            <a:off x="4022018" y="2727774"/>
            <a:ext cx="1816085" cy="3200876"/>
          </a:xfrm>
          <a:prstGeom prst="rect">
            <a:avLst/>
          </a:prstGeom>
          <a:noFill/>
          <a:ln w="0" algn="ctr">
            <a:noFill/>
            <a:miter lim="800000"/>
            <a:headEnd/>
            <a:tailEnd/>
          </a:ln>
        </p:spPr>
        <p:txBody>
          <a:bodyPr wrap="square">
            <a:spAutoFit/>
          </a:bodyPr>
          <a:lstStyle/>
          <a:p>
            <a:pPr algn="ctr" eaLnBrk="0" hangingPunct="0"/>
            <a:r>
              <a:rPr lang="zh-CN" altLang="en-US" sz="1600" u="sng" dirty="0" smtClean="0">
                <a:solidFill>
                  <a:prstClr val="black"/>
                </a:solidFill>
                <a:latin typeface="微软雅黑" pitchFamily="34" charset="-122"/>
                <a:ea typeface="微软雅黑" pitchFamily="34" charset="-122"/>
              </a:rPr>
              <a:t>服务开发</a:t>
            </a:r>
            <a:endParaRPr lang="en-US" altLang="zh-CN" sz="1600" u="sng" dirty="0" smtClean="0">
              <a:solidFill>
                <a:prstClr val="black"/>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代码开发</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endParaRPr lang="en-US" altLang="zh-CN" sz="1400" dirty="0" smtClean="0">
              <a:solidFill>
                <a:srgbClr val="424456"/>
              </a:solidFill>
              <a:latin typeface="微软雅黑" pitchFamily="34" charset="-122"/>
              <a:ea typeface="微软雅黑" pitchFamily="34" charset="-122"/>
            </a:endParaRPr>
          </a:p>
          <a:p>
            <a:pPr algn="ctr" eaLnBrk="0" hangingPunct="0"/>
            <a:r>
              <a:rPr lang="zh-CN" altLang="en-US" sz="1600" u="sng" dirty="0" smtClean="0">
                <a:solidFill>
                  <a:prstClr val="black"/>
                </a:solidFill>
                <a:latin typeface="微软雅黑" pitchFamily="34" charset="-122"/>
                <a:ea typeface="微软雅黑" pitchFamily="34" charset="-122"/>
              </a:rPr>
              <a:t>服务测试</a:t>
            </a:r>
            <a:endParaRPr lang="en-US" altLang="zh-CN" sz="1600" u="sng" dirty="0" smtClean="0">
              <a:solidFill>
                <a:prstClr val="black"/>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单元测试</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集成测试</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功能测试</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系统性能测试</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endParaRPr lang="en-US" altLang="zh-CN" sz="1400" dirty="0" smtClean="0">
              <a:solidFill>
                <a:srgbClr val="424456"/>
              </a:solidFill>
              <a:latin typeface="微软雅黑" pitchFamily="34" charset="-122"/>
              <a:ea typeface="微软雅黑" pitchFamily="34" charset="-122"/>
            </a:endParaRPr>
          </a:p>
          <a:p>
            <a:pPr algn="ctr" eaLnBrk="0" hangingPunct="0"/>
            <a:r>
              <a:rPr lang="zh-CN" altLang="en-US" sz="1600" u="sng" dirty="0" smtClean="0">
                <a:solidFill>
                  <a:prstClr val="black"/>
                </a:solidFill>
                <a:latin typeface="微软雅黑" pitchFamily="34" charset="-122"/>
                <a:ea typeface="微软雅黑" pitchFamily="34" charset="-122"/>
              </a:rPr>
              <a:t>服务上线</a:t>
            </a:r>
            <a:endParaRPr lang="en-US" altLang="zh-CN" sz="1600" u="sng" dirty="0" smtClean="0">
              <a:solidFill>
                <a:prstClr val="black"/>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编写部署文档</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投产部署测试</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服务投产</a:t>
            </a:r>
            <a:endParaRPr lang="en-US" altLang="zh-CN" sz="1400" dirty="0" smtClean="0">
              <a:solidFill>
                <a:srgbClr val="424456"/>
              </a:solidFill>
              <a:latin typeface="微软雅黑" pitchFamily="34" charset="-122"/>
              <a:ea typeface="微软雅黑" pitchFamily="34" charset="-122"/>
            </a:endParaRPr>
          </a:p>
          <a:p>
            <a:pPr marL="442913" indent="-85725" eaLnBrk="0" hangingPunct="0">
              <a:buFont typeface="Arial" pitchFamily="34" charset="0"/>
              <a:buChar char="•"/>
            </a:pPr>
            <a:r>
              <a:rPr lang="zh-CN" altLang="en-US" sz="1400" dirty="0" smtClean="0">
                <a:solidFill>
                  <a:srgbClr val="424456"/>
                </a:solidFill>
                <a:latin typeface="微软雅黑" pitchFamily="34" charset="-122"/>
                <a:ea typeface="微软雅黑" pitchFamily="34" charset="-122"/>
              </a:rPr>
              <a:t>服务全行公布</a:t>
            </a:r>
            <a:endParaRPr lang="en-US" altLang="ko-KR" sz="1400" dirty="0">
              <a:solidFill>
                <a:srgbClr val="424456"/>
              </a:solidFill>
              <a:latin typeface="微软雅黑" pitchFamily="34" charset="-122"/>
              <a:ea typeface="微软雅黑" pitchFamily="34" charset="-122"/>
            </a:endParaRPr>
          </a:p>
        </p:txBody>
      </p:sp>
    </p:spTree>
    <p:extLst>
      <p:ext uri="{BB962C8B-B14F-4D97-AF65-F5344CB8AC3E}">
        <p14:creationId xmlns:p14="http://schemas.microsoft.com/office/powerpoint/2010/main" val="41023375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zh-CN" altLang="en-US" dirty="0" smtClean="0"/>
              <a:t>服务库</a:t>
            </a:r>
            <a:endParaRPr lang="en-US" dirty="0"/>
          </a:p>
        </p:txBody>
      </p:sp>
      <p:sp>
        <p:nvSpPr>
          <p:cNvPr id="4" name="矩形 3"/>
          <p:cNvSpPr/>
          <p:nvPr/>
        </p:nvSpPr>
        <p:spPr>
          <a:xfrm>
            <a:off x="1719185" y="1164364"/>
            <a:ext cx="7786742" cy="83099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dirty="0" smtClean="0">
                <a:latin typeface="微软雅黑" pitchFamily="34" charset="-122"/>
                <a:ea typeface="微软雅黑" pitchFamily="34" charset="-122"/>
              </a:rPr>
              <a:t>服务库是一系列独立的、标准化的服务集合。</a:t>
            </a:r>
            <a:endParaRPr lang="en-US" altLang="zh-CN" sz="1600" dirty="0" smtClean="0">
              <a:latin typeface="微软雅黑" pitchFamily="34" charset="-122"/>
              <a:ea typeface="微软雅黑" pitchFamily="34" charset="-122"/>
            </a:endParaRPr>
          </a:p>
          <a:p>
            <a:pPr marL="285750" indent="-285750">
              <a:lnSpc>
                <a:spcPct val="150000"/>
              </a:lnSpc>
              <a:buFont typeface="Arial" panose="020B0604020202020204" pitchFamily="34" charset="0"/>
              <a:buChar char="•"/>
            </a:pPr>
            <a:r>
              <a:rPr lang="zh-CN" altLang="en-US" sz="1600" dirty="0" smtClean="0">
                <a:latin typeface="微软雅黑" pitchFamily="34" charset="-122"/>
                <a:ea typeface="微软雅黑" pitchFamily="34" charset="-122"/>
              </a:rPr>
              <a:t>服务库根据服务的功能和性质组织和管理服务，并对外提供服务的相关操作。</a:t>
            </a:r>
          </a:p>
        </p:txBody>
      </p:sp>
      <p:grpSp>
        <p:nvGrpSpPr>
          <p:cNvPr id="5" name="组合 4"/>
          <p:cNvGrpSpPr/>
          <p:nvPr/>
        </p:nvGrpSpPr>
        <p:grpSpPr>
          <a:xfrm>
            <a:off x="3222759" y="2304067"/>
            <a:ext cx="4786346" cy="3714776"/>
            <a:chOff x="2643174" y="2542378"/>
            <a:chExt cx="4140202" cy="3601266"/>
          </a:xfrm>
        </p:grpSpPr>
        <p:grpSp>
          <p:nvGrpSpPr>
            <p:cNvPr id="6" name="组合 5"/>
            <p:cNvGrpSpPr/>
            <p:nvPr/>
          </p:nvGrpSpPr>
          <p:grpSpPr>
            <a:xfrm>
              <a:off x="2643174" y="2542378"/>
              <a:ext cx="4140202" cy="3601266"/>
              <a:chOff x="4789516" y="2613816"/>
              <a:chExt cx="4140202" cy="3601266"/>
            </a:xfrm>
          </p:grpSpPr>
          <p:grpSp>
            <p:nvGrpSpPr>
              <p:cNvPr id="8" name="Group 5"/>
              <p:cNvGrpSpPr>
                <a:grpSpLocks/>
              </p:cNvGrpSpPr>
              <p:nvPr/>
            </p:nvGrpSpPr>
            <p:grpSpPr bwMode="auto">
              <a:xfrm>
                <a:off x="4789516" y="2613816"/>
                <a:ext cx="4140202" cy="3601266"/>
                <a:chOff x="3028" y="1094"/>
                <a:chExt cx="2608" cy="2804"/>
              </a:xfrm>
            </p:grpSpPr>
            <p:sp>
              <p:nvSpPr>
                <p:cNvPr id="34" name="Rectangle 6"/>
                <p:cNvSpPr>
                  <a:spLocks noChangeArrowheads="1"/>
                </p:cNvSpPr>
                <p:nvPr/>
              </p:nvSpPr>
              <p:spPr bwMode="auto">
                <a:xfrm>
                  <a:off x="3028" y="1276"/>
                  <a:ext cx="2608" cy="2622"/>
                </a:xfrm>
                <a:prstGeom prst="rect">
                  <a:avLst/>
                </a:prstGeom>
                <a:solidFill>
                  <a:schemeClr val="bg1"/>
                </a:solidFill>
                <a:ln w="25400" algn="ctr">
                  <a:solidFill>
                    <a:srgbClr val="C0C0C0"/>
                  </a:solidFill>
                  <a:miter lim="800000"/>
                  <a:headEnd/>
                  <a:tailEnd/>
                </a:ln>
              </p:spPr>
              <p:txBody>
                <a:bodyPr wrap="none" anchor="ctr"/>
                <a:lstStyle/>
                <a:p>
                  <a:endParaRPr lang="en-GB" dirty="0">
                    <a:latin typeface="微软雅黑" pitchFamily="34" charset="-122"/>
                    <a:ea typeface="微软雅黑" pitchFamily="34" charset="-122"/>
                  </a:endParaRPr>
                </a:p>
              </p:txBody>
            </p:sp>
            <p:sp>
              <p:nvSpPr>
                <p:cNvPr id="35" name="Rectangle 7"/>
                <p:cNvSpPr>
                  <a:spLocks noChangeArrowheads="1"/>
                </p:cNvSpPr>
                <p:nvPr/>
              </p:nvSpPr>
              <p:spPr bwMode="auto">
                <a:xfrm>
                  <a:off x="3754" y="1094"/>
                  <a:ext cx="1140" cy="233"/>
                </a:xfrm>
                <a:prstGeom prst="rect">
                  <a:avLst/>
                </a:prstGeom>
                <a:solidFill>
                  <a:schemeClr val="bg1"/>
                </a:solidFill>
                <a:ln w="31750" algn="ctr">
                  <a:solidFill>
                    <a:srgbClr val="C0C0C0"/>
                  </a:solidFill>
                  <a:miter lim="800000"/>
                  <a:headEnd/>
                  <a:tailEnd/>
                </a:ln>
              </p:spPr>
              <p:txBody>
                <a:bodyPr wrap="none" anchor="ctr"/>
                <a:lstStyle/>
                <a:p>
                  <a:pPr algn="ctr" eaLnBrk="0" hangingPunct="0">
                    <a:lnSpc>
                      <a:spcPct val="100000"/>
                    </a:lnSpc>
                    <a:spcBef>
                      <a:spcPct val="0"/>
                    </a:spcBef>
                    <a:buClrTx/>
                  </a:pPr>
                  <a:r>
                    <a:rPr lang="zh-CN" altLang="en-US" sz="1200" b="1" dirty="0" smtClean="0">
                      <a:solidFill>
                        <a:schemeClr val="tx2"/>
                      </a:solidFill>
                      <a:latin typeface="微软雅黑" pitchFamily="34" charset="-122"/>
                      <a:ea typeface="微软雅黑" pitchFamily="34" charset="-122"/>
                    </a:rPr>
                    <a:t>银行服务库</a:t>
                  </a:r>
                  <a:endParaRPr lang="en-US" sz="1200" b="1" dirty="0">
                    <a:solidFill>
                      <a:schemeClr val="tx2"/>
                    </a:solidFill>
                    <a:latin typeface="微软雅黑" pitchFamily="34" charset="-122"/>
                    <a:ea typeface="微软雅黑" pitchFamily="34" charset="-122"/>
                  </a:endParaRPr>
                </a:p>
              </p:txBody>
            </p:sp>
          </p:grpSp>
          <p:grpSp>
            <p:nvGrpSpPr>
              <p:cNvPr id="9" name="组合 286"/>
              <p:cNvGrpSpPr/>
              <p:nvPr/>
            </p:nvGrpSpPr>
            <p:grpSpPr>
              <a:xfrm>
                <a:off x="4929190" y="3000372"/>
                <a:ext cx="3857652" cy="3143272"/>
                <a:chOff x="4929190" y="3000372"/>
                <a:chExt cx="3857652" cy="3143272"/>
              </a:xfrm>
            </p:grpSpPr>
            <p:sp>
              <p:nvSpPr>
                <p:cNvPr id="12" name="矩形 11"/>
                <p:cNvSpPr/>
                <p:nvPr/>
              </p:nvSpPr>
              <p:spPr bwMode="auto">
                <a:xfrm>
                  <a:off x="6786578" y="5429264"/>
                  <a:ext cx="500066" cy="714380"/>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元数据字典</a:t>
                  </a:r>
                </a:p>
              </p:txBody>
            </p:sp>
            <p:sp>
              <p:nvSpPr>
                <p:cNvPr id="13" name="矩形 12"/>
                <p:cNvSpPr/>
                <p:nvPr/>
              </p:nvSpPr>
              <p:spPr bwMode="auto">
                <a:xfrm>
                  <a:off x="7572396" y="5429264"/>
                  <a:ext cx="500066" cy="714380"/>
                </a:xfrm>
                <a:prstGeom prst="rect">
                  <a:avLst/>
                </a:prstGeom>
                <a:solidFill>
                  <a:srgbClr val="8692EE"/>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标准代码表</a:t>
                  </a:r>
                </a:p>
              </p:txBody>
            </p:sp>
            <p:cxnSp>
              <p:nvCxnSpPr>
                <p:cNvPr id="14" name="直接连接符 13"/>
                <p:cNvCxnSpPr/>
                <p:nvPr/>
              </p:nvCxnSpPr>
              <p:spPr>
                <a:xfrm>
                  <a:off x="4929190" y="5356238"/>
                  <a:ext cx="3786214" cy="1588"/>
                </a:xfrm>
                <a:prstGeom prst="line">
                  <a:avLst/>
                </a:prstGeom>
                <a:ln w="6350">
                  <a:prstDash val="lgDash"/>
                </a:ln>
              </p:spPr>
              <p:style>
                <a:lnRef idx="1">
                  <a:schemeClr val="accent1"/>
                </a:lnRef>
                <a:fillRef idx="0">
                  <a:schemeClr val="accent1"/>
                </a:fillRef>
                <a:effectRef idx="0">
                  <a:schemeClr val="accent1"/>
                </a:effectRef>
                <a:fontRef idx="minor">
                  <a:schemeClr val="tx1"/>
                </a:fontRef>
              </p:style>
            </p:cxnSp>
            <p:sp>
              <p:nvSpPr>
                <p:cNvPr id="15" name="矩形 14"/>
                <p:cNvSpPr/>
                <p:nvPr/>
              </p:nvSpPr>
              <p:spPr bwMode="auto">
                <a:xfrm>
                  <a:off x="6286512" y="3000372"/>
                  <a:ext cx="500066" cy="642942"/>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服务库目录</a:t>
                  </a:r>
                </a:p>
              </p:txBody>
            </p:sp>
            <p:graphicFrame>
              <p:nvGraphicFramePr>
                <p:cNvPr id="16" name="Object 38"/>
                <p:cNvGraphicFramePr>
                  <a:graphicFrameLocks noChangeAspect="1"/>
                </p:cNvGraphicFramePr>
                <p:nvPr/>
              </p:nvGraphicFramePr>
              <p:xfrm>
                <a:off x="5000628" y="4643447"/>
                <a:ext cx="571504" cy="642941"/>
              </p:xfrm>
              <a:graphic>
                <a:graphicData uri="http://schemas.openxmlformats.org/presentationml/2006/ole">
                  <mc:AlternateContent xmlns:mc="http://schemas.openxmlformats.org/markup-compatibility/2006">
                    <mc:Choice xmlns:v="urn:schemas-microsoft-com:vml" Requires="v">
                      <p:oleObj spid="_x0000_s3282" name="CorelDRAW" r:id="rId4" imgW="3834360" imgH="2143440" progId="">
                        <p:embed/>
                      </p:oleObj>
                    </mc:Choice>
                    <mc:Fallback>
                      <p:oleObj name="CorelDRAW" r:id="rId4" imgW="3834360" imgH="21434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28" y="4643447"/>
                              <a:ext cx="571504" cy="64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38"/>
                <p:cNvGraphicFramePr>
                  <a:graphicFrameLocks noChangeAspect="1"/>
                </p:cNvGraphicFramePr>
                <p:nvPr/>
              </p:nvGraphicFramePr>
              <p:xfrm>
                <a:off x="6000764" y="4643445"/>
                <a:ext cx="500062" cy="642943"/>
              </p:xfrm>
              <a:graphic>
                <a:graphicData uri="http://schemas.openxmlformats.org/presentationml/2006/ole">
                  <mc:AlternateContent xmlns:mc="http://schemas.openxmlformats.org/markup-compatibility/2006">
                    <mc:Choice xmlns:v="urn:schemas-microsoft-com:vml" Requires="v">
                      <p:oleObj spid="_x0000_s3283" name="CorelDRAW" r:id="rId6" imgW="3834360" imgH="2143440" progId="">
                        <p:embed/>
                      </p:oleObj>
                    </mc:Choice>
                    <mc:Fallback>
                      <p:oleObj name="CorelDRAW" r:id="rId6" imgW="3834360" imgH="21434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0764" y="4643445"/>
                              <a:ext cx="500062" cy="64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Box 192"/>
                <p:cNvSpPr txBox="1"/>
                <p:nvPr/>
              </p:nvSpPr>
              <p:spPr>
                <a:xfrm>
                  <a:off x="5500694" y="4786322"/>
                  <a:ext cx="479618" cy="276999"/>
                </a:xfrm>
                <a:prstGeom prst="rect">
                  <a:avLst/>
                </a:prstGeom>
                <a:noFill/>
              </p:spPr>
              <p:txBody>
                <a:bodyPr wrap="none" rtlCol="0">
                  <a:spAutoFit/>
                </a:bodyPr>
                <a:lstStyle/>
                <a:p>
                  <a:r>
                    <a:rPr lang="en-US" altLang="zh-CN" sz="1200" b="1" dirty="0" smtClean="0">
                      <a:latin typeface="微软雅黑" pitchFamily="34" charset="-122"/>
                      <a:ea typeface="微软雅黑" pitchFamily="34" charset="-122"/>
                    </a:rPr>
                    <a:t>……</a:t>
                  </a:r>
                  <a:endParaRPr lang="zh-CN" altLang="en-US" sz="1200" b="1" dirty="0" smtClean="0">
                    <a:latin typeface="微软雅黑" pitchFamily="34" charset="-122"/>
                    <a:ea typeface="微软雅黑" pitchFamily="34" charset="-122"/>
                  </a:endParaRPr>
                </a:p>
              </p:txBody>
            </p:sp>
            <p:sp>
              <p:nvSpPr>
                <p:cNvPr id="19" name="矩形 18"/>
                <p:cNvSpPr/>
                <p:nvPr/>
              </p:nvSpPr>
              <p:spPr bwMode="auto">
                <a:xfrm>
                  <a:off x="6827937" y="4213867"/>
                  <a:ext cx="500066" cy="714380"/>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服务技术文档</a:t>
                  </a:r>
                </a:p>
              </p:txBody>
            </p:sp>
            <p:sp>
              <p:nvSpPr>
                <p:cNvPr id="20" name="矩形 19"/>
                <p:cNvSpPr/>
                <p:nvPr/>
              </p:nvSpPr>
              <p:spPr bwMode="auto">
                <a:xfrm>
                  <a:off x="7572396" y="4406987"/>
                  <a:ext cx="500066" cy="714380"/>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en-US" altLang="zh-CN" sz="1200" i="0" u="none" strike="noStrike" cap="none" normalizeH="0" baseline="0" dirty="0" smtClean="0">
                      <a:ln>
                        <a:noFill/>
                      </a:ln>
                      <a:solidFill>
                        <a:schemeClr val="tx1"/>
                      </a:solidFill>
                      <a:effectLst/>
                      <a:latin typeface="楷体" pitchFamily="49" charset="-122"/>
                      <a:ea typeface="楷体" pitchFamily="49" charset="-122"/>
                    </a:rPr>
                    <a:t>SLA</a:t>
                  </a: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指标</a:t>
                  </a:r>
                </a:p>
              </p:txBody>
            </p:sp>
            <p:sp>
              <p:nvSpPr>
                <p:cNvPr id="21" name="矩形 20"/>
                <p:cNvSpPr/>
                <p:nvPr/>
              </p:nvSpPr>
              <p:spPr bwMode="auto">
                <a:xfrm>
                  <a:off x="8286776" y="4267372"/>
                  <a:ext cx="500066" cy="714380"/>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服务接口定义</a:t>
                  </a:r>
                </a:p>
              </p:txBody>
            </p:sp>
            <p:graphicFrame>
              <p:nvGraphicFramePr>
                <p:cNvPr id="22" name="Object 38"/>
                <p:cNvGraphicFramePr>
                  <a:graphicFrameLocks noChangeAspect="1"/>
                </p:cNvGraphicFramePr>
                <p:nvPr/>
              </p:nvGraphicFramePr>
              <p:xfrm>
                <a:off x="5214942" y="3857630"/>
                <a:ext cx="571504" cy="642941"/>
              </p:xfrm>
              <a:graphic>
                <a:graphicData uri="http://schemas.openxmlformats.org/presentationml/2006/ole">
                  <mc:AlternateContent xmlns:mc="http://schemas.openxmlformats.org/markup-compatibility/2006">
                    <mc:Choice xmlns:v="urn:schemas-microsoft-com:vml" Requires="v">
                      <p:oleObj spid="_x0000_s3284" name="CorelDRAW" r:id="rId7" imgW="3834360" imgH="2143440" progId="">
                        <p:embed/>
                      </p:oleObj>
                    </mc:Choice>
                    <mc:Fallback>
                      <p:oleObj name="CorelDRAW" r:id="rId7" imgW="3834360" imgH="21434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4942" y="3857630"/>
                              <a:ext cx="571504" cy="64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38"/>
                <p:cNvGraphicFramePr>
                  <a:graphicFrameLocks noChangeAspect="1"/>
                </p:cNvGraphicFramePr>
                <p:nvPr/>
              </p:nvGraphicFramePr>
              <p:xfrm>
                <a:off x="6215078" y="3857628"/>
                <a:ext cx="500062" cy="642943"/>
              </p:xfrm>
              <a:graphic>
                <a:graphicData uri="http://schemas.openxmlformats.org/presentationml/2006/ole">
                  <mc:AlternateContent xmlns:mc="http://schemas.openxmlformats.org/markup-compatibility/2006">
                    <mc:Choice xmlns:v="urn:schemas-microsoft-com:vml" Requires="v">
                      <p:oleObj spid="_x0000_s3285" name="CorelDRAW" r:id="rId8" imgW="3834360" imgH="2143440" progId="">
                        <p:embed/>
                      </p:oleObj>
                    </mc:Choice>
                    <mc:Fallback>
                      <p:oleObj name="CorelDRAW" r:id="rId8" imgW="3834360" imgH="21434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5078" y="3857628"/>
                              <a:ext cx="500062" cy="64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Box 245"/>
                <p:cNvSpPr txBox="1"/>
                <p:nvPr/>
              </p:nvSpPr>
              <p:spPr>
                <a:xfrm>
                  <a:off x="5715008" y="4000505"/>
                  <a:ext cx="479618" cy="276999"/>
                </a:xfrm>
                <a:prstGeom prst="rect">
                  <a:avLst/>
                </a:prstGeom>
                <a:noFill/>
              </p:spPr>
              <p:txBody>
                <a:bodyPr wrap="none" rtlCol="0">
                  <a:spAutoFit/>
                </a:bodyPr>
                <a:lstStyle/>
                <a:p>
                  <a:r>
                    <a:rPr lang="en-US" altLang="zh-CN" sz="1200" b="1" dirty="0" smtClean="0">
                      <a:latin typeface="微软雅黑" pitchFamily="34" charset="-122"/>
                      <a:ea typeface="微软雅黑" pitchFamily="34" charset="-122"/>
                    </a:rPr>
                    <a:t>……</a:t>
                  </a:r>
                  <a:endParaRPr lang="zh-CN" altLang="en-US" sz="1200" b="1" dirty="0" smtClean="0">
                    <a:latin typeface="微软雅黑" pitchFamily="34" charset="-122"/>
                    <a:ea typeface="微软雅黑" pitchFamily="34" charset="-122"/>
                  </a:endParaRPr>
                </a:p>
              </p:txBody>
            </p:sp>
            <p:sp>
              <p:nvSpPr>
                <p:cNvPr id="25" name="TextBox 246"/>
                <p:cNvSpPr txBox="1"/>
                <p:nvPr/>
              </p:nvSpPr>
              <p:spPr>
                <a:xfrm>
                  <a:off x="4929190" y="4429133"/>
                  <a:ext cx="1000132" cy="307777"/>
                </a:xfrm>
                <a:prstGeom prst="rect">
                  <a:avLst/>
                </a:prstGeom>
                <a:solidFill>
                  <a:schemeClr val="accent3">
                    <a:lumMod val="40000"/>
                    <a:lumOff val="60000"/>
                  </a:schemeClr>
                </a:solidFill>
              </p:spPr>
              <p:txBody>
                <a:bodyPr wrap="square" rtlCol="0">
                  <a:spAutoFit/>
                </a:bodyPr>
                <a:lstStyle/>
                <a:p>
                  <a:r>
                    <a:rPr lang="zh-CN" altLang="en-US" sz="1400" dirty="0" smtClean="0">
                      <a:latin typeface="微软雅黑" pitchFamily="34" charset="-122"/>
                      <a:ea typeface="微软雅黑" pitchFamily="34" charset="-122"/>
                    </a:rPr>
                    <a:t>服务信息</a:t>
                  </a:r>
                </a:p>
              </p:txBody>
            </p:sp>
            <p:cxnSp>
              <p:nvCxnSpPr>
                <p:cNvPr id="26" name="曲线连接符 25"/>
                <p:cNvCxnSpPr>
                  <a:stCxn id="25" idx="3"/>
                  <a:endCxn id="19" idx="1"/>
                </p:cNvCxnSpPr>
                <p:nvPr/>
              </p:nvCxnSpPr>
              <p:spPr>
                <a:xfrm flipV="1">
                  <a:off x="5929322" y="4571058"/>
                  <a:ext cx="898615" cy="11964"/>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曲线连接符 26"/>
                <p:cNvCxnSpPr>
                  <a:stCxn id="25" idx="3"/>
                  <a:endCxn id="20" idx="1"/>
                </p:cNvCxnSpPr>
                <p:nvPr/>
              </p:nvCxnSpPr>
              <p:spPr>
                <a:xfrm>
                  <a:off x="5929322" y="4583022"/>
                  <a:ext cx="1643073" cy="181156"/>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曲线连接符 27"/>
                <p:cNvCxnSpPr>
                  <a:stCxn id="25" idx="3"/>
                  <a:endCxn id="21" idx="1"/>
                </p:cNvCxnSpPr>
                <p:nvPr/>
              </p:nvCxnSpPr>
              <p:spPr>
                <a:xfrm>
                  <a:off x="5929322" y="4583022"/>
                  <a:ext cx="2357454" cy="4154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000628" y="3643314"/>
                  <a:ext cx="3786214" cy="1588"/>
                </a:xfrm>
                <a:prstGeom prst="line">
                  <a:avLst/>
                </a:prstGeom>
                <a:ln w="6350">
                  <a:prstDash val="lgDash"/>
                </a:ln>
              </p:spPr>
              <p:style>
                <a:lnRef idx="1">
                  <a:schemeClr val="accent1"/>
                </a:lnRef>
                <a:fillRef idx="0">
                  <a:schemeClr val="accent1"/>
                </a:fillRef>
                <a:effectRef idx="0">
                  <a:schemeClr val="accent1"/>
                </a:effectRef>
                <a:fontRef idx="minor">
                  <a:schemeClr val="tx1"/>
                </a:fontRef>
              </p:style>
            </p:cxnSp>
            <p:sp>
              <p:nvSpPr>
                <p:cNvPr id="30" name="矩形 29"/>
                <p:cNvSpPr/>
                <p:nvPr/>
              </p:nvSpPr>
              <p:spPr bwMode="auto">
                <a:xfrm>
                  <a:off x="7643834" y="3000372"/>
                  <a:ext cx="500066" cy="642942"/>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i="0" u="none" strike="noStrike" cap="none" normalizeH="0" baseline="0" dirty="0" smtClean="0">
                      <a:ln>
                        <a:noFill/>
                      </a:ln>
                      <a:solidFill>
                        <a:schemeClr val="tx1"/>
                      </a:solidFill>
                      <a:effectLst/>
                      <a:latin typeface="楷体" pitchFamily="49" charset="-122"/>
                      <a:ea typeface="楷体" pitchFamily="49" charset="-122"/>
                    </a:rPr>
                    <a:t>服务视图</a:t>
                  </a:r>
                </a:p>
              </p:txBody>
            </p:sp>
            <p:sp>
              <p:nvSpPr>
                <p:cNvPr id="31" name="矩形 30"/>
                <p:cNvSpPr/>
                <p:nvPr/>
              </p:nvSpPr>
              <p:spPr bwMode="auto">
                <a:xfrm>
                  <a:off x="7009625" y="3000372"/>
                  <a:ext cx="480023" cy="642942"/>
                </a:xfrm>
                <a:prstGeom prst="rect">
                  <a:avLst/>
                </a:prstGeom>
                <a:solidFill>
                  <a:srgbClr val="F5F7AB"/>
                </a:solidFill>
                <a:ln w="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900" i="0" u="none" strike="noStrike" cap="none" normalizeH="0" baseline="0" dirty="0" smtClean="0">
                      <a:ln>
                        <a:noFill/>
                      </a:ln>
                      <a:solidFill>
                        <a:schemeClr val="tx1"/>
                      </a:solidFill>
                      <a:effectLst/>
                      <a:latin typeface="楷体" pitchFamily="49" charset="-122"/>
                      <a:ea typeface="楷体" pitchFamily="49" charset="-122"/>
                    </a:rPr>
                    <a:t>服务接口依赖关系视图</a:t>
                  </a:r>
                </a:p>
              </p:txBody>
            </p:sp>
            <p:cxnSp>
              <p:nvCxnSpPr>
                <p:cNvPr id="32" name="曲线连接符 31"/>
                <p:cNvCxnSpPr>
                  <a:stCxn id="25" idx="0"/>
                  <a:endCxn id="31" idx="2"/>
                </p:cNvCxnSpPr>
                <p:nvPr/>
              </p:nvCxnSpPr>
              <p:spPr>
                <a:xfrm rot="5400000" flipH="1" flipV="1">
                  <a:off x="5946537" y="3126033"/>
                  <a:ext cx="785819" cy="182038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曲线连接符 32"/>
                <p:cNvCxnSpPr>
                  <a:stCxn id="25" idx="0"/>
                  <a:endCxn id="30" idx="2"/>
                </p:cNvCxnSpPr>
                <p:nvPr/>
              </p:nvCxnSpPr>
              <p:spPr>
                <a:xfrm rot="5400000" flipH="1" flipV="1">
                  <a:off x="6268652" y="2803919"/>
                  <a:ext cx="785819" cy="246461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10" name="形状 89"/>
              <p:cNvCxnSpPr>
                <a:stCxn id="25" idx="0"/>
                <a:endCxn id="15" idx="1"/>
              </p:cNvCxnSpPr>
              <p:nvPr/>
            </p:nvCxnSpPr>
            <p:spPr>
              <a:xfrm rot="5400000" flipH="1" flipV="1">
                <a:off x="5304239" y="3446860"/>
                <a:ext cx="1107290" cy="857256"/>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90"/>
              <p:cNvSpPr txBox="1"/>
              <p:nvPr/>
            </p:nvSpPr>
            <p:spPr>
              <a:xfrm>
                <a:off x="5000628" y="5662214"/>
                <a:ext cx="1000132" cy="307777"/>
              </a:xfrm>
              <a:prstGeom prst="rect">
                <a:avLst/>
              </a:prstGeom>
              <a:solidFill>
                <a:schemeClr val="accent3">
                  <a:lumMod val="40000"/>
                  <a:lumOff val="60000"/>
                </a:schemeClr>
              </a:solidFill>
            </p:spPr>
            <p:txBody>
              <a:bodyPr wrap="square" rtlCol="0">
                <a:spAutoFit/>
              </a:bodyPr>
              <a:lstStyle/>
              <a:p>
                <a:pPr algn="ctr"/>
                <a:r>
                  <a:rPr lang="zh-CN" altLang="en-US" sz="1400" dirty="0" smtClean="0">
                    <a:latin typeface="微软雅黑" pitchFamily="34" charset="-122"/>
                    <a:ea typeface="微软雅黑" pitchFamily="34" charset="-122"/>
                  </a:rPr>
                  <a:t>公共信息</a:t>
                </a:r>
              </a:p>
            </p:txBody>
          </p:sp>
        </p:grpSp>
        <p:sp>
          <p:nvSpPr>
            <p:cNvPr id="7" name="TextBox 45"/>
            <p:cNvSpPr txBox="1"/>
            <p:nvPr/>
          </p:nvSpPr>
          <p:spPr>
            <a:xfrm>
              <a:off x="2786050" y="3049785"/>
              <a:ext cx="1000132" cy="307777"/>
            </a:xfrm>
            <a:prstGeom prst="rect">
              <a:avLst/>
            </a:prstGeom>
            <a:solidFill>
              <a:schemeClr val="accent3">
                <a:lumMod val="40000"/>
                <a:lumOff val="60000"/>
              </a:schemeClr>
            </a:solidFill>
          </p:spPr>
          <p:txBody>
            <a:bodyPr wrap="square" rtlCol="0">
              <a:spAutoFit/>
            </a:bodyPr>
            <a:lstStyle/>
            <a:p>
              <a:pPr algn="ctr"/>
              <a:r>
                <a:rPr lang="zh-CN" altLang="en-US" sz="1400" dirty="0" smtClean="0">
                  <a:latin typeface="微软雅黑" pitchFamily="34" charset="-122"/>
                  <a:ea typeface="微软雅黑" pitchFamily="34" charset="-122"/>
                </a:rPr>
                <a:t>视图</a:t>
              </a:r>
            </a:p>
          </p:txBody>
        </p:sp>
      </p:grpSp>
    </p:spTree>
    <p:extLst>
      <p:ext uri="{BB962C8B-B14F-4D97-AF65-F5344CB8AC3E}">
        <p14:creationId xmlns:p14="http://schemas.microsoft.com/office/powerpoint/2010/main" val="31356161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zh-CN" altLang="en-US" dirty="0" smtClean="0"/>
              <a:t>服务治理的愿景目标</a:t>
            </a:r>
            <a:endParaRPr lang="en-US" dirty="0"/>
          </a:p>
        </p:txBody>
      </p:sp>
      <p:pic>
        <p:nvPicPr>
          <p:cNvPr id="4" name="Picture 2"/>
          <p:cNvPicPr>
            <a:picLocks noChangeAspect="1" noChangeArrowheads="1"/>
          </p:cNvPicPr>
          <p:nvPr/>
        </p:nvPicPr>
        <p:blipFill>
          <a:blip r:embed="rId3" cstate="print"/>
          <a:srcRect/>
          <a:stretch>
            <a:fillRect/>
          </a:stretch>
        </p:blipFill>
        <p:spPr bwMode="auto">
          <a:xfrm>
            <a:off x="9264352" y="3861048"/>
            <a:ext cx="1590675" cy="1981201"/>
          </a:xfrm>
          <a:prstGeom prst="rect">
            <a:avLst/>
          </a:prstGeom>
          <a:noFill/>
          <a:ln w="9525">
            <a:noFill/>
            <a:miter lim="800000"/>
            <a:headEnd/>
            <a:tailEnd/>
          </a:ln>
          <a:effectLst/>
        </p:spPr>
      </p:pic>
      <p:sp>
        <p:nvSpPr>
          <p:cNvPr id="5" name="TextBox 19"/>
          <p:cNvSpPr txBox="1"/>
          <p:nvPr/>
        </p:nvSpPr>
        <p:spPr>
          <a:xfrm>
            <a:off x="1142976" y="2124306"/>
            <a:ext cx="7358114" cy="1107996"/>
          </a:xfrm>
          <a:prstGeom prst="rect">
            <a:avLst/>
          </a:prstGeom>
          <a:noFill/>
        </p:spPr>
        <p:txBody>
          <a:bodyPr wrap="square" rtlCol="0">
            <a:spAutoFit/>
          </a:bodyPr>
          <a:lstStyle/>
          <a:p>
            <a:pPr>
              <a:lnSpc>
                <a:spcPct val="150000"/>
              </a:lnSpc>
              <a:buFont typeface="Wingdings" pitchFamily="2" charset="2"/>
              <a:buChar char="n"/>
            </a:pPr>
            <a:r>
              <a:rPr lang="zh-CN" altLang="en-US" sz="1600" b="1" dirty="0" smtClean="0">
                <a:latin typeface="微软雅黑" pitchFamily="34" charset="-122"/>
                <a:ea typeface="微软雅黑" pitchFamily="34" charset="-122"/>
              </a:rPr>
              <a:t> 服务治理遵循统一的规范和流程</a:t>
            </a:r>
            <a:endParaRPr lang="en-US" altLang="zh-CN" sz="1600" b="1" dirty="0" smtClean="0">
              <a:latin typeface="微软雅黑" pitchFamily="34" charset="-122"/>
              <a:ea typeface="微软雅黑" pitchFamily="34" charset="-122"/>
            </a:endParaRPr>
          </a:p>
          <a:p>
            <a:pPr marL="360363" indent="-180975">
              <a:lnSpc>
                <a:spcPct val="150000"/>
              </a:lnSpc>
              <a:buFont typeface="Arial" pitchFamily="34" charset="0"/>
              <a:buChar char="•"/>
            </a:pP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服务治理指导规范</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和</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服务接口技术规范</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指导各项目组的服务治理全过程。</a:t>
            </a:r>
            <a:endParaRPr lang="en-US" altLang="zh-CN" sz="1400"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加强服务定义的规范性、一致性和统一性管理。</a:t>
            </a:r>
          </a:p>
        </p:txBody>
      </p:sp>
      <p:sp>
        <p:nvSpPr>
          <p:cNvPr id="6" name="TextBox 20"/>
          <p:cNvSpPr txBox="1"/>
          <p:nvPr/>
        </p:nvSpPr>
        <p:spPr>
          <a:xfrm>
            <a:off x="1142976" y="5124702"/>
            <a:ext cx="7000924" cy="1107996"/>
          </a:xfrm>
          <a:prstGeom prst="rect">
            <a:avLst/>
          </a:prstGeom>
          <a:noFill/>
        </p:spPr>
        <p:txBody>
          <a:bodyPr wrap="square" rtlCol="0">
            <a:spAutoFit/>
          </a:bodyPr>
          <a:lstStyle/>
          <a:p>
            <a:pPr>
              <a:lnSpc>
                <a:spcPct val="150000"/>
              </a:lnSpc>
              <a:buFont typeface="Wingdings" pitchFamily="2" charset="2"/>
              <a:buChar char="n"/>
            </a:pPr>
            <a:r>
              <a:rPr lang="zh-CN" altLang="en-US" sz="1600" b="1" dirty="0" smtClean="0">
                <a:latin typeface="微软雅黑" pitchFamily="34" charset="-122"/>
                <a:ea typeface="微软雅黑" pitchFamily="34" charset="-122"/>
              </a:rPr>
              <a:t> 实现服务的高复用和业务敏捷开发</a:t>
            </a:r>
            <a:endParaRPr lang="en-US" altLang="zh-CN" sz="1600" b="1"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当服务的功能边界相同或相似时，优先考虑复用服务库中已有的服务。</a:t>
            </a:r>
            <a:endParaRPr lang="en-US" altLang="zh-CN" sz="1400"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实现业务的敏捷开发。</a:t>
            </a:r>
            <a:endParaRPr lang="en-US" altLang="zh-CN" sz="1400" dirty="0" smtClean="0">
              <a:latin typeface="微软雅黑" pitchFamily="34" charset="-122"/>
              <a:ea typeface="微软雅黑" pitchFamily="34" charset="-122"/>
            </a:endParaRPr>
          </a:p>
        </p:txBody>
      </p:sp>
      <p:sp>
        <p:nvSpPr>
          <p:cNvPr id="7" name="TextBox 22"/>
          <p:cNvSpPr txBox="1"/>
          <p:nvPr/>
        </p:nvSpPr>
        <p:spPr>
          <a:xfrm>
            <a:off x="1142976" y="4124570"/>
            <a:ext cx="7000924" cy="1107996"/>
          </a:xfrm>
          <a:prstGeom prst="rect">
            <a:avLst/>
          </a:prstGeom>
          <a:noFill/>
        </p:spPr>
        <p:txBody>
          <a:bodyPr wrap="square" rtlCol="0">
            <a:spAutoFit/>
          </a:bodyPr>
          <a:lstStyle/>
          <a:p>
            <a:pPr>
              <a:lnSpc>
                <a:spcPct val="150000"/>
              </a:lnSpc>
              <a:buFont typeface="Wingdings" pitchFamily="2" charset="2"/>
              <a:buChar char="n"/>
            </a:pPr>
            <a:r>
              <a:rPr lang="zh-CN" altLang="en-US" sz="1600" b="1" dirty="0" smtClean="0">
                <a:latin typeface="微软雅黑" pitchFamily="34" charset="-122"/>
                <a:ea typeface="微软雅黑" pitchFamily="34" charset="-122"/>
              </a:rPr>
              <a:t>全行服务资产集中管理，推动服务库的持续优化</a:t>
            </a:r>
            <a:endParaRPr lang="en-US" altLang="zh-CN" sz="1600" b="1"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定义完成的服务保存在服务库中统一管理，供各项目组检索和调用。</a:t>
            </a:r>
            <a:endParaRPr lang="en-US" altLang="zh-CN" sz="1400"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形成全行服务视图， 推动服务库的持续优化。</a:t>
            </a:r>
            <a:endParaRPr lang="en-US" altLang="zh-CN" sz="1400" dirty="0" smtClean="0">
              <a:latin typeface="微软雅黑" pitchFamily="34" charset="-122"/>
              <a:ea typeface="微软雅黑" pitchFamily="34" charset="-122"/>
            </a:endParaRPr>
          </a:p>
        </p:txBody>
      </p:sp>
      <p:sp>
        <p:nvSpPr>
          <p:cNvPr id="8" name="TextBox 23"/>
          <p:cNvSpPr txBox="1"/>
          <p:nvPr/>
        </p:nvSpPr>
        <p:spPr>
          <a:xfrm>
            <a:off x="1142976" y="3124438"/>
            <a:ext cx="7000924" cy="1107996"/>
          </a:xfrm>
          <a:prstGeom prst="rect">
            <a:avLst/>
          </a:prstGeom>
          <a:noFill/>
        </p:spPr>
        <p:txBody>
          <a:bodyPr wrap="square" rtlCol="0">
            <a:spAutoFit/>
          </a:bodyPr>
          <a:lstStyle/>
          <a:p>
            <a:pPr>
              <a:lnSpc>
                <a:spcPct val="150000"/>
              </a:lnSpc>
              <a:buFont typeface="Wingdings" pitchFamily="2" charset="2"/>
              <a:buChar char="n"/>
            </a:pPr>
            <a:r>
              <a:rPr lang="zh-CN" altLang="en-US" sz="1600" b="1" dirty="0" smtClean="0">
                <a:latin typeface="微软雅黑" pitchFamily="34" charset="-122"/>
                <a:ea typeface="微软雅黑" pitchFamily="34" charset="-122"/>
              </a:rPr>
              <a:t> 形成统一的服务质量评判标准，推动服务的持续优化</a:t>
            </a:r>
            <a:endParaRPr lang="en-US" altLang="zh-CN" sz="1600" b="1"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服务质量有统一的评判标准。</a:t>
            </a:r>
            <a:endParaRPr lang="en-US" altLang="zh-CN" sz="1400"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推动服务优化持续不断进行，并形成闭环的优化机制。</a:t>
            </a:r>
            <a:endParaRPr lang="en-US" altLang="zh-CN" sz="1400" dirty="0" smtClean="0">
              <a:latin typeface="微软雅黑" pitchFamily="34" charset="-122"/>
              <a:ea typeface="微软雅黑" pitchFamily="34" charset="-122"/>
            </a:endParaRPr>
          </a:p>
        </p:txBody>
      </p:sp>
      <p:sp>
        <p:nvSpPr>
          <p:cNvPr id="9" name="TextBox 27"/>
          <p:cNvSpPr txBox="1"/>
          <p:nvPr/>
        </p:nvSpPr>
        <p:spPr>
          <a:xfrm>
            <a:off x="1142976" y="1052736"/>
            <a:ext cx="7572428" cy="1107996"/>
          </a:xfrm>
          <a:prstGeom prst="rect">
            <a:avLst/>
          </a:prstGeom>
          <a:noFill/>
        </p:spPr>
        <p:txBody>
          <a:bodyPr wrap="square" rtlCol="0">
            <a:spAutoFit/>
          </a:bodyPr>
          <a:lstStyle/>
          <a:p>
            <a:pPr>
              <a:lnSpc>
                <a:spcPct val="150000"/>
              </a:lnSpc>
              <a:buFont typeface="Wingdings" pitchFamily="2" charset="2"/>
              <a:buChar char="n"/>
            </a:pPr>
            <a:r>
              <a:rPr lang="zh-CN" altLang="en-US" sz="1600" b="1" dirty="0" smtClean="0">
                <a:latin typeface="微软雅黑" pitchFamily="34" charset="-122"/>
                <a:ea typeface="微软雅黑" pitchFamily="34" charset="-122"/>
              </a:rPr>
              <a:t>建立服务治理组织保障</a:t>
            </a:r>
            <a:endParaRPr lang="en-US" altLang="zh-CN" sz="1600" b="1"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通过服务治理组织，合理规划全行服务治理实施路线。</a:t>
            </a:r>
            <a:endParaRPr lang="en-US" altLang="zh-CN" sz="1400" dirty="0" smtClean="0">
              <a:latin typeface="微软雅黑" pitchFamily="34" charset="-122"/>
              <a:ea typeface="微软雅黑" pitchFamily="34" charset="-122"/>
            </a:endParaRPr>
          </a:p>
          <a:p>
            <a:pPr marL="360363" indent="-180975">
              <a:lnSpc>
                <a:spcPct val="150000"/>
              </a:lnSpc>
              <a:buFont typeface="Arial" pitchFamily="34" charset="0"/>
              <a:buChar char="•"/>
            </a:pPr>
            <a:r>
              <a:rPr lang="zh-CN" altLang="en-US" sz="1400" dirty="0" smtClean="0">
                <a:latin typeface="微软雅黑" pitchFamily="34" charset="-122"/>
                <a:ea typeface="微软雅黑" pitchFamily="34" charset="-122"/>
              </a:rPr>
              <a:t>各项目组在统一规划下进行服务治理，服务不再局限在项目的范围，而成为银行</a:t>
            </a:r>
            <a:r>
              <a:rPr lang="en-US" altLang="zh-CN" sz="1400" dirty="0" smtClean="0">
                <a:latin typeface="微软雅黑" pitchFamily="34" charset="-122"/>
                <a:ea typeface="微软雅黑" pitchFamily="34" charset="-122"/>
              </a:rPr>
              <a:t>IT</a:t>
            </a:r>
            <a:r>
              <a:rPr lang="zh-CN" altLang="en-US" sz="1400" dirty="0" smtClean="0">
                <a:latin typeface="微软雅黑" pitchFamily="34" charset="-122"/>
                <a:ea typeface="微软雅黑" pitchFamily="34" charset="-122"/>
              </a:rPr>
              <a:t>资产。</a:t>
            </a:r>
          </a:p>
        </p:txBody>
      </p:sp>
    </p:spTree>
    <p:extLst>
      <p:ext uri="{BB962C8B-B14F-4D97-AF65-F5344CB8AC3E}">
        <p14:creationId xmlns:p14="http://schemas.microsoft.com/office/powerpoint/2010/main" val="1195771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r>
              <a:rPr lang="zh-CN" altLang="en-US" dirty="0" smtClean="0"/>
              <a:t>服务治理的重点工作</a:t>
            </a:r>
            <a:endParaRPr lang="en-US" dirty="0"/>
          </a:p>
        </p:txBody>
      </p:sp>
      <p:grpSp>
        <p:nvGrpSpPr>
          <p:cNvPr id="4" name="组合 3"/>
          <p:cNvGrpSpPr/>
          <p:nvPr/>
        </p:nvGrpSpPr>
        <p:grpSpPr>
          <a:xfrm>
            <a:off x="2336576" y="1268760"/>
            <a:ext cx="7143800" cy="4857784"/>
            <a:chOff x="1571604" y="1500174"/>
            <a:chExt cx="7143800" cy="4857784"/>
          </a:xfrm>
        </p:grpSpPr>
        <p:grpSp>
          <p:nvGrpSpPr>
            <p:cNvPr id="5" name="组合 4"/>
            <p:cNvGrpSpPr/>
            <p:nvPr/>
          </p:nvGrpSpPr>
          <p:grpSpPr>
            <a:xfrm>
              <a:off x="1571604" y="1500174"/>
              <a:ext cx="7143800" cy="4857784"/>
              <a:chOff x="1571604" y="1500174"/>
              <a:chExt cx="7143800" cy="4857784"/>
            </a:xfrm>
          </p:grpSpPr>
          <p:grpSp>
            <p:nvGrpSpPr>
              <p:cNvPr id="10" name="组合 9"/>
              <p:cNvGrpSpPr/>
              <p:nvPr/>
            </p:nvGrpSpPr>
            <p:grpSpPr>
              <a:xfrm>
                <a:off x="1571604" y="1500174"/>
                <a:ext cx="7143800" cy="4857784"/>
                <a:chOff x="785786" y="1784338"/>
                <a:chExt cx="4786346" cy="4502182"/>
              </a:xfrm>
            </p:grpSpPr>
            <p:grpSp>
              <p:nvGrpSpPr>
                <p:cNvPr id="18" name="组合 31"/>
                <p:cNvGrpSpPr/>
                <p:nvPr/>
              </p:nvGrpSpPr>
              <p:grpSpPr>
                <a:xfrm>
                  <a:off x="785786" y="1784338"/>
                  <a:ext cx="4786346" cy="4502182"/>
                  <a:chOff x="642910" y="1784338"/>
                  <a:chExt cx="4786346" cy="4502182"/>
                </a:xfrm>
              </p:grpSpPr>
              <p:grpSp>
                <p:nvGrpSpPr>
                  <p:cNvPr id="20" name="组合 36"/>
                  <p:cNvGrpSpPr/>
                  <p:nvPr/>
                </p:nvGrpSpPr>
                <p:grpSpPr>
                  <a:xfrm>
                    <a:off x="785786" y="1784338"/>
                    <a:ext cx="4500594" cy="4214842"/>
                    <a:chOff x="-51150" y="1545525"/>
                    <a:chExt cx="9397045" cy="4836597"/>
                  </a:xfrm>
                  <a:noFill/>
                </p:grpSpPr>
                <p:sp>
                  <p:nvSpPr>
                    <p:cNvPr id="27" name="TextBox 5"/>
                    <p:cNvSpPr txBox="1"/>
                    <p:nvPr/>
                  </p:nvSpPr>
                  <p:spPr>
                    <a:xfrm>
                      <a:off x="1404442" y="2764081"/>
                      <a:ext cx="1584177" cy="2428262"/>
                    </a:xfrm>
                    <a:prstGeom prst="rect">
                      <a:avLst/>
                    </a:prstGeom>
                    <a:solidFill>
                      <a:srgbClr val="E8EFF4"/>
                    </a:solidFill>
                    <a:ln w="12700">
                      <a:solidFill>
                        <a:schemeClr val="accent2">
                          <a:lumMod val="40000"/>
                          <a:lumOff val="60000"/>
                        </a:schemeClr>
                      </a:solidFill>
                    </a:ln>
                  </p:spPr>
                  <p:txBody>
                    <a:bodyPr vert="eaVert" wrap="square" lIns="36000" rIns="36000" rtlCol="0" anchor="ctr" anchorCtr="0">
                      <a:normAutofit/>
                    </a:bodyPr>
                    <a:lstStyle/>
                    <a:p>
                      <a:pPr marL="88882" indent="-88882" algn="ctr"/>
                      <a:endParaRPr lang="en-US" altLang="zh-CN" sz="1400" b="1" dirty="0" smtClean="0">
                        <a:solidFill>
                          <a:schemeClr val="tx1"/>
                        </a:solidFill>
                        <a:latin typeface="微软雅黑" pitchFamily="34" charset="-122"/>
                        <a:ea typeface="微软雅黑" pitchFamily="34" charset="-122"/>
                      </a:endParaRPr>
                    </a:p>
                  </p:txBody>
                </p:sp>
                <p:sp>
                  <p:nvSpPr>
                    <p:cNvPr id="28" name="TextBox 17"/>
                    <p:cNvSpPr txBox="1"/>
                    <p:nvPr/>
                  </p:nvSpPr>
                  <p:spPr>
                    <a:xfrm>
                      <a:off x="6372993" y="2761131"/>
                      <a:ext cx="1512168" cy="2425184"/>
                    </a:xfrm>
                    <a:prstGeom prst="rect">
                      <a:avLst/>
                    </a:prstGeom>
                    <a:solidFill>
                      <a:srgbClr val="E2EBAB"/>
                    </a:solidFill>
                    <a:ln w="12700">
                      <a:solidFill>
                        <a:schemeClr val="bg1">
                          <a:lumMod val="50000"/>
                        </a:schemeClr>
                      </a:solidFill>
                    </a:ln>
                  </p:spPr>
                  <p:txBody>
                    <a:bodyPr vert="eaVert" wrap="square" rtlCol="0" anchor="ctr" anchorCtr="0">
                      <a:normAutofit/>
                    </a:bodyPr>
                    <a:lstStyle/>
                    <a:p>
                      <a:pPr marL="88882" indent="-88882" algn="ctr"/>
                      <a:endParaRPr lang="en-US" altLang="zh-CN" sz="1600" b="1" dirty="0" smtClean="0">
                        <a:solidFill>
                          <a:schemeClr val="tx1"/>
                        </a:solidFill>
                        <a:latin typeface="微软雅黑" pitchFamily="34" charset="-122"/>
                        <a:ea typeface="微软雅黑" pitchFamily="34" charset="-122"/>
                      </a:endParaRPr>
                    </a:p>
                  </p:txBody>
                </p:sp>
                <p:cxnSp>
                  <p:nvCxnSpPr>
                    <p:cNvPr id="29" name="直接连接符 28"/>
                    <p:cNvCxnSpPr/>
                    <p:nvPr/>
                  </p:nvCxnSpPr>
                  <p:spPr>
                    <a:xfrm>
                      <a:off x="756370" y="6382122"/>
                      <a:ext cx="7704856" cy="0"/>
                    </a:xfrm>
                    <a:prstGeom prst="line">
                      <a:avLst/>
                    </a:prstGeom>
                    <a:grpFill/>
                    <a:ln w="12700">
                      <a:solidFill>
                        <a:srgbClr val="8692EE"/>
                      </a:soli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51150" y="1545525"/>
                      <a:ext cx="9397045" cy="1313442"/>
                      <a:chOff x="-51150" y="1545525"/>
                      <a:chExt cx="9397045" cy="1313442"/>
                    </a:xfrm>
                    <a:grpFill/>
                  </p:grpSpPr>
                  <p:sp>
                    <p:nvSpPr>
                      <p:cNvPr id="32" name="TextBox 22"/>
                      <p:cNvSpPr txBox="1"/>
                      <p:nvPr/>
                    </p:nvSpPr>
                    <p:spPr>
                      <a:xfrm>
                        <a:off x="1949078" y="1925402"/>
                        <a:ext cx="5040558" cy="548891"/>
                      </a:xfrm>
                      <a:prstGeom prst="rect">
                        <a:avLst/>
                      </a:prstGeom>
                      <a:grpFill/>
                    </p:spPr>
                    <p:txBody>
                      <a:bodyPr wrap="square" rtlCol="0">
                        <a:normAutofit/>
                      </a:bodyPr>
                      <a:lstStyle/>
                      <a:p>
                        <a:pPr algn="ctr"/>
                        <a:r>
                          <a:rPr lang="zh-CN" altLang="en-US" sz="2000" b="1" dirty="0" smtClean="0">
                            <a:solidFill>
                              <a:srgbClr val="FF0000"/>
                            </a:solidFill>
                            <a:latin typeface="微软雅黑" pitchFamily="34" charset="-122"/>
                            <a:ea typeface="微软雅黑" pitchFamily="34" charset="-122"/>
                          </a:rPr>
                          <a:t>重点工作</a:t>
                        </a:r>
                      </a:p>
                    </p:txBody>
                  </p:sp>
                  <p:cxnSp>
                    <p:nvCxnSpPr>
                      <p:cNvPr id="33" name="直接连接符 32"/>
                      <p:cNvCxnSpPr/>
                      <p:nvPr/>
                    </p:nvCxnSpPr>
                    <p:spPr>
                      <a:xfrm flipV="1">
                        <a:off x="-51150" y="1545525"/>
                        <a:ext cx="4549365" cy="1313442"/>
                      </a:xfrm>
                      <a:prstGeom prst="line">
                        <a:avLst/>
                      </a:prstGeom>
                      <a:grpFill/>
                      <a:ln w="38100">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498215" y="1545526"/>
                        <a:ext cx="4847680" cy="1313441"/>
                      </a:xfrm>
                      <a:prstGeom prst="line">
                        <a:avLst/>
                      </a:prstGeom>
                      <a:grpFill/>
                      <a:ln w="38100">
                        <a:solidFill>
                          <a:srgbClr val="8692EE"/>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a:xfrm rot="16200000" flipH="1">
                      <a:off x="6549280" y="4424236"/>
                      <a:ext cx="3534834" cy="56676"/>
                    </a:xfrm>
                    <a:prstGeom prst="line">
                      <a:avLst/>
                    </a:prstGeom>
                    <a:grpFill/>
                    <a:ln w="38100">
                      <a:solidFill>
                        <a:srgbClr val="8692EE"/>
                      </a:solidFill>
                    </a:ln>
                  </p:spPr>
                  <p:style>
                    <a:lnRef idx="1">
                      <a:schemeClr val="accent1"/>
                    </a:lnRef>
                    <a:fillRef idx="0">
                      <a:schemeClr val="accent1"/>
                    </a:fillRef>
                    <a:effectRef idx="0">
                      <a:schemeClr val="accent1"/>
                    </a:effectRef>
                    <a:fontRef idx="minor">
                      <a:schemeClr val="tx1"/>
                    </a:fontRef>
                  </p:style>
                </p:cxnSp>
              </p:grpSp>
              <p:cxnSp>
                <p:nvCxnSpPr>
                  <p:cNvPr id="21" name="直接连接符 20"/>
                  <p:cNvCxnSpPr/>
                  <p:nvPr/>
                </p:nvCxnSpPr>
                <p:spPr>
                  <a:xfrm>
                    <a:off x="1428728" y="2641594"/>
                    <a:ext cx="3207319" cy="0"/>
                  </a:xfrm>
                  <a:prstGeom prst="line">
                    <a:avLst/>
                  </a:prstGeom>
                  <a:ln w="12700">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428728" y="2713032"/>
                    <a:ext cx="3207319" cy="0"/>
                  </a:xfrm>
                  <a:prstGeom prst="line">
                    <a:avLst/>
                  </a:prstGeom>
                  <a:ln w="12700">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928662" y="6070618"/>
                    <a:ext cx="4071966" cy="1588"/>
                  </a:xfrm>
                  <a:prstGeom prst="line">
                    <a:avLst/>
                  </a:prstGeom>
                  <a:ln>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85786" y="6142056"/>
                    <a:ext cx="4357718" cy="158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14348" y="6213494"/>
                    <a:ext cx="4500594"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42910" y="6284932"/>
                    <a:ext cx="4786346" cy="1588"/>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9" name="TextBox 5"/>
                <p:cNvSpPr txBox="1"/>
                <p:nvPr/>
              </p:nvSpPr>
              <p:spPr>
                <a:xfrm>
                  <a:off x="2803146" y="2846245"/>
                  <a:ext cx="758721" cy="2116104"/>
                </a:xfrm>
                <a:prstGeom prst="rect">
                  <a:avLst/>
                </a:prstGeom>
                <a:solidFill>
                  <a:srgbClr val="F9EEE7"/>
                </a:solidFill>
                <a:ln w="12700">
                  <a:solidFill>
                    <a:schemeClr val="accent5">
                      <a:lumMod val="40000"/>
                      <a:lumOff val="60000"/>
                    </a:schemeClr>
                  </a:solidFill>
                </a:ln>
              </p:spPr>
              <p:txBody>
                <a:bodyPr vert="eaVert" wrap="square" lIns="36000" rIns="36000" rtlCol="0" anchor="ctr" anchorCtr="0">
                  <a:normAutofit/>
                </a:bodyPr>
                <a:lstStyle/>
                <a:p>
                  <a:pPr marL="88882" indent="-88882" algn="ctr"/>
                  <a:endParaRPr lang="en-US" altLang="zh-CN" sz="1600" b="1" dirty="0" smtClean="0">
                    <a:solidFill>
                      <a:schemeClr val="tx1"/>
                    </a:solidFill>
                    <a:latin typeface="微软雅黑" pitchFamily="34" charset="-122"/>
                    <a:ea typeface="微软雅黑" pitchFamily="34" charset="-122"/>
                  </a:endParaRPr>
                </a:p>
              </p:txBody>
            </p:sp>
          </p:grpSp>
          <p:sp>
            <p:nvSpPr>
              <p:cNvPr id="11" name="TextBox 29"/>
              <p:cNvSpPr txBox="1"/>
              <p:nvPr/>
            </p:nvSpPr>
            <p:spPr>
              <a:xfrm>
                <a:off x="3181651" y="2928934"/>
                <a:ext cx="461665" cy="1643074"/>
              </a:xfrm>
              <a:prstGeom prst="rect">
                <a:avLst/>
              </a:prstGeom>
              <a:noFill/>
            </p:spPr>
            <p:txBody>
              <a:bodyPr vert="eaVert" wrap="square" rtlCol="0">
                <a:spAutoFit/>
              </a:bodyPr>
              <a:lstStyle/>
              <a:p>
                <a:pPr algn="dist"/>
                <a:r>
                  <a:rPr lang="zh-CN" altLang="en-US" b="1" dirty="0" smtClean="0">
                    <a:latin typeface="楷体" pitchFamily="49" charset="-122"/>
                    <a:ea typeface="楷体" pitchFamily="49" charset="-122"/>
                  </a:rPr>
                  <a:t>服务定义</a:t>
                </a:r>
              </a:p>
            </p:txBody>
          </p:sp>
          <p:cxnSp>
            <p:nvCxnSpPr>
              <p:cNvPr id="12" name="肘形连接符 11"/>
              <p:cNvCxnSpPr/>
              <p:nvPr/>
            </p:nvCxnSpPr>
            <p:spPr>
              <a:xfrm>
                <a:off x="4500562" y="2571744"/>
                <a:ext cx="2928958" cy="2428892"/>
              </a:xfrm>
              <a:prstGeom prst="bentConnector3">
                <a:avLst>
                  <a:gd name="adj1" fmla="val 44797"/>
                </a:avLst>
              </a:prstGeom>
              <a:ln>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13" name="肘形连接符 12"/>
              <p:cNvCxnSpPr/>
              <p:nvPr/>
            </p:nvCxnSpPr>
            <p:spPr>
              <a:xfrm>
                <a:off x="2786050" y="2571744"/>
                <a:ext cx="2928958" cy="2428892"/>
              </a:xfrm>
              <a:prstGeom prst="bentConnector3">
                <a:avLst>
                  <a:gd name="adj1" fmla="val 43851"/>
                </a:avLst>
              </a:prstGeom>
              <a:ln>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5400000">
                <a:off x="5679289" y="3178967"/>
                <a:ext cx="2357454" cy="1143008"/>
              </a:xfrm>
              <a:prstGeom prst="bentConnector3">
                <a:avLst>
                  <a:gd name="adj1" fmla="val 46"/>
                </a:avLst>
              </a:prstGeom>
              <a:ln w="12700">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a:off x="1108448" y="4250140"/>
                <a:ext cx="3213916" cy="1588"/>
              </a:xfrm>
              <a:prstGeom prst="line">
                <a:avLst/>
              </a:prstGeom>
              <a:ln>
                <a:solidFill>
                  <a:srgbClr val="8692EE"/>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786050" y="5000636"/>
                <a:ext cx="121444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5400000">
                <a:off x="821505" y="4249743"/>
                <a:ext cx="3357586" cy="1588"/>
              </a:xfrm>
              <a:prstGeom prst="line">
                <a:avLst/>
              </a:prstGeom>
              <a:ln w="38100">
                <a:solidFill>
                  <a:srgbClr val="8692EE"/>
                </a:solidFill>
              </a:ln>
            </p:spPr>
            <p:style>
              <a:lnRef idx="1">
                <a:schemeClr val="accent1"/>
              </a:lnRef>
              <a:fillRef idx="0">
                <a:schemeClr val="accent1"/>
              </a:fillRef>
              <a:effectRef idx="0">
                <a:schemeClr val="accent1"/>
              </a:effectRef>
              <a:fontRef idx="minor">
                <a:schemeClr val="tx1"/>
              </a:fontRef>
            </p:style>
          </p:cxnSp>
        </p:grpSp>
        <p:sp>
          <p:nvSpPr>
            <p:cNvPr id="6" name="TextBox 59"/>
            <p:cNvSpPr txBox="1"/>
            <p:nvPr/>
          </p:nvSpPr>
          <p:spPr>
            <a:xfrm>
              <a:off x="4967601" y="2645955"/>
              <a:ext cx="461665" cy="2277575"/>
            </a:xfrm>
            <a:prstGeom prst="rect">
              <a:avLst/>
            </a:prstGeom>
            <a:noFill/>
          </p:spPr>
          <p:txBody>
            <a:bodyPr vert="eaVert" wrap="square" rtlCol="0">
              <a:spAutoFit/>
            </a:bodyPr>
            <a:lstStyle/>
            <a:p>
              <a:pPr algn="dist"/>
              <a:r>
                <a:rPr lang="zh-CN" altLang="en-US" b="1" dirty="0" smtClean="0">
                  <a:latin typeface="楷体" pitchFamily="49" charset="-122"/>
                  <a:ea typeface="楷体" pitchFamily="49" charset="-122"/>
                </a:rPr>
                <a:t>服务库建设</a:t>
              </a:r>
            </a:p>
          </p:txBody>
        </p:sp>
        <p:sp>
          <p:nvSpPr>
            <p:cNvPr id="7" name="TextBox 60"/>
            <p:cNvSpPr txBox="1"/>
            <p:nvPr/>
          </p:nvSpPr>
          <p:spPr>
            <a:xfrm>
              <a:off x="6753570" y="2928934"/>
              <a:ext cx="461665" cy="1643074"/>
            </a:xfrm>
            <a:prstGeom prst="rect">
              <a:avLst/>
            </a:prstGeom>
            <a:noFill/>
          </p:spPr>
          <p:txBody>
            <a:bodyPr vert="eaVert" wrap="square" rtlCol="0">
              <a:spAutoFit/>
            </a:bodyPr>
            <a:lstStyle/>
            <a:p>
              <a:pPr algn="dist"/>
              <a:r>
                <a:rPr lang="zh-CN" altLang="en-US" b="1" dirty="0" smtClean="0">
                  <a:latin typeface="楷体" pitchFamily="49" charset="-122"/>
                  <a:ea typeface="楷体" pitchFamily="49" charset="-122"/>
                </a:rPr>
                <a:t>服务优化</a:t>
              </a:r>
            </a:p>
          </p:txBody>
        </p:sp>
        <p:sp>
          <p:nvSpPr>
            <p:cNvPr id="8" name="矩形 7"/>
            <p:cNvSpPr/>
            <p:nvPr/>
          </p:nvSpPr>
          <p:spPr bwMode="auto">
            <a:xfrm>
              <a:off x="2786050" y="5072074"/>
              <a:ext cx="4714908" cy="857256"/>
            </a:xfrm>
            <a:prstGeom prst="rect">
              <a:avLst/>
            </a:prstGeom>
            <a:solidFill>
              <a:srgbClr val="CCCDC9"/>
            </a:solidFill>
            <a:ln w="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b="1" i="0" u="none" strike="noStrike" cap="none" normalizeH="0" baseline="0" dirty="0" smtClean="0">
                  <a:ln>
                    <a:noFill/>
                  </a:ln>
                  <a:solidFill>
                    <a:schemeClr val="tx1"/>
                  </a:solidFill>
                  <a:effectLst/>
                  <a:latin typeface="楷体" pitchFamily="49" charset="-122"/>
                  <a:ea typeface="楷体" pitchFamily="49" charset="-122"/>
                </a:rPr>
                <a:t>组织保障</a:t>
              </a:r>
            </a:p>
          </p:txBody>
        </p:sp>
        <p:cxnSp>
          <p:nvCxnSpPr>
            <p:cNvPr id="9" name="直接连接符 8"/>
            <p:cNvCxnSpPr/>
            <p:nvPr/>
          </p:nvCxnSpPr>
          <p:spPr>
            <a:xfrm rot="5400000">
              <a:off x="5964643" y="4249346"/>
              <a:ext cx="3213916" cy="1588"/>
            </a:xfrm>
            <a:prstGeom prst="line">
              <a:avLst/>
            </a:prstGeom>
            <a:ln>
              <a:solidFill>
                <a:srgbClr val="8692EE"/>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52576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45076" y="3167769"/>
            <a:ext cx="4339650" cy="646331"/>
          </a:xfrm>
          <a:prstGeom prst="rect">
            <a:avLst/>
          </a:prstGeom>
        </p:spPr>
        <p:txBody>
          <a:bodyPr wrap="none">
            <a:spAutoFit/>
          </a:bodyPr>
          <a:lstStyle/>
          <a:p>
            <a:r>
              <a:rPr lang="zh-CN" altLang="en-US" sz="3600" b="1" dirty="0" smtClean="0">
                <a:latin typeface="华文细黑"/>
                <a:ea typeface="华文细黑"/>
                <a:cs typeface="华文细黑"/>
              </a:rPr>
              <a:t>服务治理的组织保障</a:t>
            </a:r>
            <a:endParaRPr lang="zh-CN" altLang="en-US" sz="3600" b="1" dirty="0">
              <a:latin typeface="华文细黑"/>
              <a:ea typeface="华文细黑"/>
              <a:cs typeface="华文细黑"/>
            </a:endParaRPr>
          </a:p>
        </p:txBody>
      </p:sp>
      <p:sp>
        <p:nvSpPr>
          <p:cNvPr id="5" name="文本框 4"/>
          <p:cNvSpPr txBox="1"/>
          <p:nvPr/>
        </p:nvSpPr>
        <p:spPr>
          <a:xfrm>
            <a:off x="2135560" y="2780928"/>
            <a:ext cx="497252" cy="769441"/>
          </a:xfrm>
          <a:prstGeom prst="rect">
            <a:avLst/>
          </a:prstGeom>
        </p:spPr>
        <p:txBody>
          <a:bodyPr wrap="none">
            <a:spAutoFit/>
          </a:bodyPr>
          <a:lstStyle>
            <a:defPPr>
              <a:defRPr lang="zh-CN"/>
            </a:defPPr>
            <a:lvl1pPr>
              <a:defRPr sz="3600" b="1">
                <a:latin typeface="华文细黑"/>
                <a:ea typeface="华文细黑"/>
                <a:cs typeface="华文细黑"/>
              </a:defRPr>
            </a:lvl1pPr>
          </a:lstStyle>
          <a:p>
            <a:r>
              <a:rPr lang="en-US" altLang="zh-CN" sz="4400" i="1" dirty="0">
                <a:solidFill>
                  <a:srgbClr val="797979"/>
                </a:solidFill>
              </a:rPr>
              <a:t>2</a:t>
            </a:r>
            <a:endParaRPr lang="zh-CN" altLang="en-US" sz="4400" i="1" dirty="0">
              <a:solidFill>
                <a:srgbClr val="797979"/>
              </a:solidFill>
            </a:endParaRPr>
          </a:p>
        </p:txBody>
      </p:sp>
      <p:cxnSp>
        <p:nvCxnSpPr>
          <p:cNvPr id="7" name="直线连接符 6"/>
          <p:cNvCxnSpPr/>
          <p:nvPr/>
        </p:nvCxnSpPr>
        <p:spPr>
          <a:xfrm flipH="1">
            <a:off x="2207568" y="2840231"/>
            <a:ext cx="792088" cy="940879"/>
          </a:xfrm>
          <a:prstGeom prst="line">
            <a:avLst/>
          </a:prstGeom>
          <a:ln w="25400">
            <a:solidFill>
              <a:srgbClr val="929292"/>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499379" y="2636912"/>
            <a:ext cx="1620957"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组织架构</a:t>
            </a:r>
            <a:endParaRPr kumimoji="1" lang="zh-CN" altLang="en-US" sz="2800" dirty="0" smtClean="0">
              <a:solidFill>
                <a:schemeClr val="tx2">
                  <a:lumMod val="75000"/>
                </a:schemeClr>
              </a:solidFill>
              <a:latin typeface="华文细黑"/>
              <a:ea typeface="华文细黑"/>
              <a:cs typeface="华文细黑"/>
            </a:endParaRPr>
          </a:p>
        </p:txBody>
      </p:sp>
      <p:sp>
        <p:nvSpPr>
          <p:cNvPr id="8" name="文本框 7"/>
          <p:cNvSpPr txBox="1"/>
          <p:nvPr/>
        </p:nvSpPr>
        <p:spPr>
          <a:xfrm>
            <a:off x="7499379" y="3587733"/>
            <a:ext cx="1620957" cy="523220"/>
          </a:xfrm>
          <a:prstGeom prst="rect">
            <a:avLst/>
          </a:prstGeom>
          <a:noFill/>
        </p:spPr>
        <p:txBody>
          <a:bodyPr wrap="none" rtlCol="0">
            <a:spAutoFit/>
          </a:bodyPr>
          <a:lstStyle/>
          <a:p>
            <a:r>
              <a:rPr kumimoji="1" lang="zh-CN" altLang="en-US" sz="2800" dirty="0" smtClean="0">
                <a:solidFill>
                  <a:schemeClr val="tx2">
                    <a:lumMod val="75000"/>
                  </a:schemeClr>
                </a:solidFill>
                <a:latin typeface="华文细黑"/>
                <a:ea typeface="华文细黑"/>
                <a:cs typeface="华文细黑"/>
              </a:rPr>
              <a:t>职责分工</a:t>
            </a:r>
          </a:p>
        </p:txBody>
      </p:sp>
      <p:cxnSp>
        <p:nvCxnSpPr>
          <p:cNvPr id="9" name="直线连接符 15"/>
          <p:cNvCxnSpPr/>
          <p:nvPr/>
        </p:nvCxnSpPr>
        <p:spPr>
          <a:xfrm>
            <a:off x="7354718" y="1700808"/>
            <a:ext cx="0" cy="4326504"/>
          </a:xfrm>
          <a:prstGeom prst="line">
            <a:avLst/>
          </a:prstGeom>
          <a:ln w="3175"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椭圆 9"/>
          <p:cNvSpPr>
            <a:spLocks noChangeAspect="1"/>
          </p:cNvSpPr>
          <p:nvPr/>
        </p:nvSpPr>
        <p:spPr>
          <a:xfrm>
            <a:off x="7264707" y="2790511"/>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
        <p:nvSpPr>
          <p:cNvPr id="11" name="椭圆 10"/>
          <p:cNvSpPr>
            <a:spLocks noChangeAspect="1"/>
          </p:cNvSpPr>
          <p:nvPr/>
        </p:nvSpPr>
        <p:spPr>
          <a:xfrm>
            <a:off x="7264707" y="3742221"/>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Tree>
    <p:extLst>
      <p:ext uri="{BB962C8B-B14F-4D97-AF65-F5344CB8AC3E}">
        <p14:creationId xmlns:p14="http://schemas.microsoft.com/office/powerpoint/2010/main" val="32305709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服务治理组织架构</a:t>
            </a:r>
            <a:endParaRPr lang="en-US" dirty="0"/>
          </a:p>
        </p:txBody>
      </p:sp>
      <p:sp>
        <p:nvSpPr>
          <p:cNvPr id="68" name="矩形 3"/>
          <p:cNvSpPr/>
          <p:nvPr/>
        </p:nvSpPr>
        <p:spPr bwMode="auto">
          <a:xfrm>
            <a:off x="4951040" y="2500306"/>
            <a:ext cx="1752374" cy="719059"/>
          </a:xfrm>
          <a:prstGeom prst="rect">
            <a:avLst/>
          </a:prstGeom>
          <a:solidFill>
            <a:srgbClr val="7177E5"/>
          </a:solidFill>
          <a:ln w="12700">
            <a:solidFill>
              <a:srgbClr val="FF0000"/>
            </a:solidFill>
            <a:miter lim="800000"/>
            <a:headEnd/>
            <a:tailEnd/>
          </a:ln>
          <a:effectLst>
            <a:outerShdw blurRad="50800" dist="38100" dir="5400000" algn="t" rotWithShape="0">
              <a:prstClr val="black">
                <a:alpha val="40000"/>
              </a:prstClr>
            </a:outerShdw>
          </a:effectLst>
        </p:spPr>
        <p:txBody>
          <a:bodyPr wrap="none" rtlCol="0" anchor="ctr"/>
          <a:lstStyle/>
          <a:p>
            <a:pPr algn="ctr"/>
            <a:endParaRPr lang="zh-CN" altLang="en-US" sz="1600" dirty="0">
              <a:solidFill>
                <a:schemeClr val="bg1"/>
              </a:solidFill>
              <a:latin typeface="微软雅黑" pitchFamily="34" charset="-122"/>
              <a:ea typeface="微软雅黑" pitchFamily="34" charset="-122"/>
            </a:endParaRPr>
          </a:p>
        </p:txBody>
      </p:sp>
      <p:sp>
        <p:nvSpPr>
          <p:cNvPr id="69" name="TextBox 12"/>
          <p:cNvSpPr txBox="1"/>
          <p:nvPr/>
        </p:nvSpPr>
        <p:spPr>
          <a:xfrm>
            <a:off x="5182696" y="2571744"/>
            <a:ext cx="1188552" cy="584776"/>
          </a:xfrm>
          <a:prstGeom prst="rect">
            <a:avLst/>
          </a:prstGeom>
          <a:noFill/>
        </p:spPr>
        <p:txBody>
          <a:bodyPr wrap="square" rtlCol="0">
            <a:spAutoFit/>
          </a:bodyPr>
          <a:lstStyle/>
          <a:p>
            <a:pPr algn="ctr"/>
            <a:r>
              <a:rPr lang="zh-CN" altLang="en-US" sz="1600" b="1" dirty="0" smtClean="0">
                <a:solidFill>
                  <a:schemeClr val="bg1"/>
                </a:solidFill>
                <a:latin typeface="微软雅黑" pitchFamily="34" charset="-122"/>
                <a:ea typeface="微软雅黑" pitchFamily="34" charset="-122"/>
              </a:rPr>
              <a:t>服务治理领导小组</a:t>
            </a:r>
            <a:endParaRPr lang="zh-CN" altLang="en-US" sz="1600" b="1" dirty="0">
              <a:solidFill>
                <a:schemeClr val="bg1"/>
              </a:solidFill>
              <a:latin typeface="微软雅黑" pitchFamily="34" charset="-122"/>
              <a:ea typeface="微软雅黑" pitchFamily="34" charset="-122"/>
            </a:endParaRPr>
          </a:p>
        </p:txBody>
      </p:sp>
      <p:grpSp>
        <p:nvGrpSpPr>
          <p:cNvPr id="70" name="Group 5"/>
          <p:cNvGrpSpPr>
            <a:grpSpLocks/>
          </p:cNvGrpSpPr>
          <p:nvPr/>
        </p:nvGrpSpPr>
        <p:grpSpPr bwMode="auto">
          <a:xfrm>
            <a:off x="5106212" y="2643182"/>
            <a:ext cx="116366" cy="356153"/>
            <a:chOff x="2304" y="1344"/>
            <a:chExt cx="498" cy="1245"/>
          </a:xfrm>
          <a:solidFill>
            <a:schemeClr val="tx1"/>
          </a:solidFill>
        </p:grpSpPr>
        <p:sp>
          <p:nvSpPr>
            <p:cNvPr id="71" name="Freeform 6"/>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sp>
          <p:nvSpPr>
            <p:cNvPr id="72" name="Freeform 7"/>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grpSp>
      <p:grpSp>
        <p:nvGrpSpPr>
          <p:cNvPr id="73" name="Group 5"/>
          <p:cNvGrpSpPr>
            <a:grpSpLocks/>
          </p:cNvGrpSpPr>
          <p:nvPr/>
        </p:nvGrpSpPr>
        <p:grpSpPr bwMode="auto">
          <a:xfrm>
            <a:off x="6347592" y="2643182"/>
            <a:ext cx="116366" cy="356153"/>
            <a:chOff x="2304" y="1344"/>
            <a:chExt cx="498" cy="1245"/>
          </a:xfrm>
          <a:solidFill>
            <a:schemeClr val="tx1"/>
          </a:solidFill>
        </p:grpSpPr>
        <p:sp>
          <p:nvSpPr>
            <p:cNvPr id="74" name="Freeform 6"/>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sp>
          <p:nvSpPr>
            <p:cNvPr id="75" name="Freeform 7"/>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grpSp>
      <p:sp>
        <p:nvSpPr>
          <p:cNvPr id="76" name="矩形 75"/>
          <p:cNvSpPr/>
          <p:nvPr/>
        </p:nvSpPr>
        <p:spPr bwMode="auto">
          <a:xfrm>
            <a:off x="3088764" y="3857630"/>
            <a:ext cx="1629311" cy="785816"/>
          </a:xfrm>
          <a:prstGeom prst="rect">
            <a:avLst/>
          </a:prstGeom>
          <a:solidFill>
            <a:srgbClr val="C1CDF5"/>
          </a:solidFill>
          <a:ln w="12700">
            <a:solidFill>
              <a:srgbClr val="FF0000"/>
            </a:solidFill>
            <a:miter lim="800000"/>
            <a:headEnd/>
            <a:tailEnd/>
          </a:ln>
        </p:spPr>
        <p:txBody>
          <a:bodyPr wrap="none" rtlCol="0" anchor="ctr"/>
          <a:lstStyle/>
          <a:p>
            <a:pPr algn="ctr"/>
            <a:endParaRPr lang="zh-CN" altLang="en-US" sz="1600" b="1" dirty="0">
              <a:latin typeface="微软雅黑" pitchFamily="34" charset="-122"/>
              <a:ea typeface="微软雅黑" pitchFamily="34" charset="-122"/>
            </a:endParaRPr>
          </a:p>
        </p:txBody>
      </p:sp>
      <p:sp>
        <p:nvSpPr>
          <p:cNvPr id="77" name="TextBox 30"/>
          <p:cNvSpPr txBox="1"/>
          <p:nvPr/>
        </p:nvSpPr>
        <p:spPr>
          <a:xfrm>
            <a:off x="3304787" y="4071941"/>
            <a:ext cx="1234967" cy="338553"/>
          </a:xfrm>
          <a:prstGeom prst="rect">
            <a:avLst/>
          </a:prstGeom>
          <a:noFill/>
        </p:spPr>
        <p:txBody>
          <a:bodyPr wrap="square" rtlCol="0">
            <a:spAutoFit/>
          </a:bodyPr>
          <a:lstStyle/>
          <a:p>
            <a:pPr algn="ctr"/>
            <a:r>
              <a:rPr lang="zh-CN" altLang="en-US" sz="1600" b="1" dirty="0" smtClean="0">
                <a:latin typeface="微软雅黑" pitchFamily="34" charset="-122"/>
                <a:ea typeface="微软雅黑" pitchFamily="34" charset="-122"/>
              </a:rPr>
              <a:t>服务治理组</a:t>
            </a:r>
            <a:endParaRPr lang="zh-CN" altLang="en-US" sz="1600" b="1" dirty="0">
              <a:latin typeface="微软雅黑" pitchFamily="34" charset="-122"/>
              <a:ea typeface="微软雅黑" pitchFamily="34" charset="-122"/>
            </a:endParaRPr>
          </a:p>
        </p:txBody>
      </p:sp>
      <p:grpSp>
        <p:nvGrpSpPr>
          <p:cNvPr id="78" name="Group 5"/>
          <p:cNvGrpSpPr>
            <a:grpSpLocks/>
          </p:cNvGrpSpPr>
          <p:nvPr/>
        </p:nvGrpSpPr>
        <p:grpSpPr bwMode="auto">
          <a:xfrm>
            <a:off x="3243936" y="4071942"/>
            <a:ext cx="116366" cy="356151"/>
            <a:chOff x="2304" y="1344"/>
            <a:chExt cx="498" cy="1245"/>
          </a:xfrm>
          <a:solidFill>
            <a:schemeClr val="tx1"/>
          </a:solidFill>
        </p:grpSpPr>
        <p:sp>
          <p:nvSpPr>
            <p:cNvPr id="79" name="Freeform 6"/>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sp>
          <p:nvSpPr>
            <p:cNvPr id="80" name="Freeform 7"/>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grpSp>
      <p:grpSp>
        <p:nvGrpSpPr>
          <p:cNvPr id="81" name="Group 5"/>
          <p:cNvGrpSpPr>
            <a:grpSpLocks/>
          </p:cNvGrpSpPr>
          <p:nvPr/>
        </p:nvGrpSpPr>
        <p:grpSpPr bwMode="auto">
          <a:xfrm>
            <a:off x="4485316" y="4071942"/>
            <a:ext cx="116366" cy="356151"/>
            <a:chOff x="2304" y="1344"/>
            <a:chExt cx="498" cy="1245"/>
          </a:xfrm>
          <a:solidFill>
            <a:schemeClr val="tx1"/>
          </a:solidFill>
        </p:grpSpPr>
        <p:sp>
          <p:nvSpPr>
            <p:cNvPr id="82" name="Freeform 6"/>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sp>
          <p:nvSpPr>
            <p:cNvPr id="83" name="Freeform 7"/>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grpSp>
      <p:grpSp>
        <p:nvGrpSpPr>
          <p:cNvPr id="84" name="组合 83"/>
          <p:cNvGrpSpPr/>
          <p:nvPr/>
        </p:nvGrpSpPr>
        <p:grpSpPr>
          <a:xfrm>
            <a:off x="6774852" y="3838567"/>
            <a:ext cx="1829862" cy="876317"/>
            <a:chOff x="5085829" y="3638635"/>
            <a:chExt cx="1829862" cy="876317"/>
          </a:xfrm>
        </p:grpSpPr>
        <p:sp>
          <p:nvSpPr>
            <p:cNvPr id="85" name="矩形 84"/>
            <p:cNvSpPr/>
            <p:nvPr/>
          </p:nvSpPr>
          <p:spPr bwMode="auto">
            <a:xfrm>
              <a:off x="5286380" y="3638635"/>
              <a:ext cx="1629311" cy="647621"/>
            </a:xfrm>
            <a:prstGeom prst="rect">
              <a:avLst/>
            </a:prstGeom>
            <a:solidFill>
              <a:srgbClr val="C1CDF5"/>
            </a:solidFill>
            <a:ln w="12700">
              <a:solidFill>
                <a:srgbClr val="FF0000"/>
              </a:solidFill>
              <a:miter lim="800000"/>
              <a:headEnd/>
              <a:tailEnd/>
            </a:ln>
          </p:spPr>
          <p:txBody>
            <a:bodyPr wrap="none" rtlCol="0" anchor="ctr"/>
            <a:lstStyle/>
            <a:p>
              <a:pPr algn="ctr"/>
              <a:endParaRPr lang="zh-CN" altLang="en-US" sz="1600" dirty="0">
                <a:latin typeface="微软雅黑" pitchFamily="34" charset="-122"/>
                <a:ea typeface="微软雅黑" pitchFamily="34" charset="-122"/>
              </a:endParaRPr>
            </a:p>
          </p:txBody>
        </p:sp>
        <p:sp>
          <p:nvSpPr>
            <p:cNvPr id="86" name="矩形 85"/>
            <p:cNvSpPr/>
            <p:nvPr/>
          </p:nvSpPr>
          <p:spPr bwMode="auto">
            <a:xfrm>
              <a:off x="5214942" y="3710073"/>
              <a:ext cx="1629311" cy="647621"/>
            </a:xfrm>
            <a:prstGeom prst="rect">
              <a:avLst/>
            </a:prstGeom>
            <a:solidFill>
              <a:srgbClr val="C1CDF5"/>
            </a:solidFill>
            <a:ln w="12700">
              <a:solidFill>
                <a:srgbClr val="FF0000"/>
              </a:solidFill>
              <a:miter lim="800000"/>
              <a:headEnd/>
              <a:tailEnd/>
            </a:ln>
          </p:spPr>
          <p:txBody>
            <a:bodyPr wrap="none" rtlCol="0" anchor="ctr"/>
            <a:lstStyle/>
            <a:p>
              <a:pPr algn="ctr"/>
              <a:endParaRPr lang="zh-CN" altLang="en-US" sz="1600" dirty="0">
                <a:latin typeface="微软雅黑" pitchFamily="34" charset="-122"/>
                <a:ea typeface="微软雅黑" pitchFamily="34" charset="-122"/>
              </a:endParaRPr>
            </a:p>
          </p:txBody>
        </p:sp>
        <p:sp>
          <p:nvSpPr>
            <p:cNvPr id="87" name="矩形 86"/>
            <p:cNvSpPr/>
            <p:nvPr/>
          </p:nvSpPr>
          <p:spPr bwMode="auto">
            <a:xfrm>
              <a:off x="5143504" y="3786190"/>
              <a:ext cx="1629311" cy="647621"/>
            </a:xfrm>
            <a:prstGeom prst="rect">
              <a:avLst/>
            </a:prstGeom>
            <a:solidFill>
              <a:srgbClr val="C1CDF5"/>
            </a:solidFill>
            <a:ln w="12700">
              <a:solidFill>
                <a:srgbClr val="FF0000"/>
              </a:solidFill>
              <a:miter lim="800000"/>
              <a:headEnd/>
              <a:tailEnd/>
            </a:ln>
          </p:spPr>
          <p:txBody>
            <a:bodyPr wrap="none" rtlCol="0" anchor="ctr"/>
            <a:lstStyle/>
            <a:p>
              <a:pPr algn="ctr"/>
              <a:endParaRPr lang="zh-CN" altLang="en-US" sz="1600" dirty="0">
                <a:latin typeface="微软雅黑" pitchFamily="34" charset="-122"/>
                <a:ea typeface="微软雅黑" pitchFamily="34" charset="-122"/>
              </a:endParaRPr>
            </a:p>
          </p:txBody>
        </p:sp>
        <p:grpSp>
          <p:nvGrpSpPr>
            <p:cNvPr id="88" name="组合 53"/>
            <p:cNvGrpSpPr/>
            <p:nvPr/>
          </p:nvGrpSpPr>
          <p:grpSpPr>
            <a:xfrm>
              <a:off x="5085829" y="3867331"/>
              <a:ext cx="1629311" cy="647621"/>
              <a:chOff x="3275856" y="1556792"/>
              <a:chExt cx="1512168" cy="720080"/>
            </a:xfrm>
          </p:grpSpPr>
          <p:sp>
            <p:nvSpPr>
              <p:cNvPr id="89" name="矩形 88"/>
              <p:cNvSpPr/>
              <p:nvPr/>
            </p:nvSpPr>
            <p:spPr bwMode="auto">
              <a:xfrm>
                <a:off x="3275856" y="1556792"/>
                <a:ext cx="1512168" cy="720080"/>
              </a:xfrm>
              <a:prstGeom prst="rect">
                <a:avLst/>
              </a:prstGeom>
              <a:solidFill>
                <a:srgbClr val="C1CDF5"/>
              </a:solidFill>
              <a:ln w="12700">
                <a:solidFill>
                  <a:srgbClr val="FF0000"/>
                </a:solidFill>
                <a:miter lim="800000"/>
                <a:headEnd/>
                <a:tailEnd/>
              </a:ln>
            </p:spPr>
            <p:txBody>
              <a:bodyPr wrap="none" rtlCol="0" anchor="ctr"/>
              <a:lstStyle/>
              <a:p>
                <a:pPr algn="ctr"/>
                <a:endParaRPr lang="zh-CN" altLang="en-US" sz="1600" dirty="0">
                  <a:latin typeface="微软雅黑" pitchFamily="34" charset="-122"/>
                  <a:ea typeface="微软雅黑" pitchFamily="34" charset="-122"/>
                </a:endParaRPr>
              </a:p>
            </p:txBody>
          </p:sp>
          <p:sp>
            <p:nvSpPr>
              <p:cNvPr id="90" name="TextBox 14"/>
              <p:cNvSpPr txBox="1"/>
              <p:nvPr/>
            </p:nvSpPr>
            <p:spPr>
              <a:xfrm>
                <a:off x="3442943" y="1746631"/>
                <a:ext cx="1193432" cy="376433"/>
              </a:xfrm>
              <a:prstGeom prst="rect">
                <a:avLst/>
              </a:prstGeom>
              <a:noFill/>
            </p:spPr>
            <p:txBody>
              <a:bodyPr wrap="square" rtlCol="0">
                <a:spAutoFit/>
              </a:bodyPr>
              <a:lstStyle/>
              <a:p>
                <a:pPr algn="ctr"/>
                <a:r>
                  <a:rPr lang="zh-CN" altLang="en-US" sz="1600" b="1" dirty="0" smtClean="0">
                    <a:latin typeface="微软雅黑" pitchFamily="34" charset="-122"/>
                    <a:ea typeface="微软雅黑" pitchFamily="34" charset="-122"/>
                  </a:rPr>
                  <a:t>关联项目组</a:t>
                </a:r>
                <a:endParaRPr lang="zh-CN" altLang="en-US" sz="1600" b="1" dirty="0">
                  <a:latin typeface="微软雅黑" pitchFamily="34" charset="-122"/>
                  <a:ea typeface="微软雅黑" pitchFamily="34" charset="-122"/>
                </a:endParaRPr>
              </a:p>
            </p:txBody>
          </p:sp>
          <p:grpSp>
            <p:nvGrpSpPr>
              <p:cNvPr id="91" name="Group 5"/>
              <p:cNvGrpSpPr>
                <a:grpSpLocks/>
              </p:cNvGrpSpPr>
              <p:nvPr/>
            </p:nvGrpSpPr>
            <p:grpSpPr bwMode="auto">
              <a:xfrm>
                <a:off x="3419872" y="1794080"/>
                <a:ext cx="108000" cy="395998"/>
                <a:chOff x="2304" y="1344"/>
                <a:chExt cx="498" cy="1245"/>
              </a:xfrm>
              <a:solidFill>
                <a:schemeClr val="tx1"/>
              </a:solidFill>
            </p:grpSpPr>
            <p:sp>
              <p:nvSpPr>
                <p:cNvPr id="95" name="Freeform 6"/>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sp>
              <p:nvSpPr>
                <p:cNvPr id="96" name="Freeform 7"/>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grpSp>
          <p:grpSp>
            <p:nvGrpSpPr>
              <p:cNvPr id="92" name="Group 5"/>
              <p:cNvGrpSpPr>
                <a:grpSpLocks/>
              </p:cNvGrpSpPr>
              <p:nvPr/>
            </p:nvGrpSpPr>
            <p:grpSpPr bwMode="auto">
              <a:xfrm>
                <a:off x="4572000" y="1794082"/>
                <a:ext cx="108000" cy="396000"/>
                <a:chOff x="2304" y="1344"/>
                <a:chExt cx="498" cy="1245"/>
              </a:xfrm>
              <a:solidFill>
                <a:schemeClr val="tx1"/>
              </a:solidFill>
            </p:grpSpPr>
            <p:sp>
              <p:nvSpPr>
                <p:cNvPr id="93" name="Freeform 6"/>
                <p:cNvSpPr>
                  <a:spLocks/>
                </p:cNvSpPr>
                <p:nvPr/>
              </p:nvSpPr>
              <p:spPr bwMode="gray">
                <a:xfrm>
                  <a:off x="2425" y="1344"/>
                  <a:ext cx="233" cy="254"/>
                </a:xfrm>
                <a:custGeom>
                  <a:avLst/>
                  <a:gdLst/>
                  <a:ahLst/>
                  <a:cxnLst>
                    <a:cxn ang="0">
                      <a:pos x="133" y="0"/>
                    </a:cxn>
                    <a:cxn ang="0">
                      <a:pos x="161" y="3"/>
                    </a:cxn>
                    <a:cxn ang="0">
                      <a:pos x="186" y="12"/>
                    </a:cxn>
                    <a:cxn ang="0">
                      <a:pos x="209" y="25"/>
                    </a:cxn>
                    <a:cxn ang="0">
                      <a:pos x="228" y="42"/>
                    </a:cxn>
                    <a:cxn ang="0">
                      <a:pos x="245" y="64"/>
                    </a:cxn>
                    <a:cxn ang="0">
                      <a:pos x="257" y="88"/>
                    </a:cxn>
                    <a:cxn ang="0">
                      <a:pos x="265" y="116"/>
                    </a:cxn>
                    <a:cxn ang="0">
                      <a:pos x="267" y="146"/>
                    </a:cxn>
                    <a:cxn ang="0">
                      <a:pos x="265" y="175"/>
                    </a:cxn>
                    <a:cxn ang="0">
                      <a:pos x="257" y="203"/>
                    </a:cxn>
                    <a:cxn ang="0">
                      <a:pos x="245" y="227"/>
                    </a:cxn>
                    <a:cxn ang="0">
                      <a:pos x="228" y="249"/>
                    </a:cxn>
                    <a:cxn ang="0">
                      <a:pos x="209" y="267"/>
                    </a:cxn>
                    <a:cxn ang="0">
                      <a:pos x="186" y="281"/>
                    </a:cxn>
                    <a:cxn ang="0">
                      <a:pos x="161" y="289"/>
                    </a:cxn>
                    <a:cxn ang="0">
                      <a:pos x="133" y="292"/>
                    </a:cxn>
                    <a:cxn ang="0">
                      <a:pos x="103" y="288"/>
                    </a:cxn>
                    <a:cxn ang="0">
                      <a:pos x="75" y="277"/>
                    </a:cxn>
                    <a:cxn ang="0">
                      <a:pos x="51" y="260"/>
                    </a:cxn>
                    <a:cxn ang="0">
                      <a:pos x="29" y="237"/>
                    </a:cxn>
                    <a:cxn ang="0">
                      <a:pos x="13" y="210"/>
                    </a:cxn>
                    <a:cxn ang="0">
                      <a:pos x="4" y="178"/>
                    </a:cxn>
                    <a:cxn ang="0">
                      <a:pos x="0" y="146"/>
                    </a:cxn>
                    <a:cxn ang="0">
                      <a:pos x="4" y="113"/>
                    </a:cxn>
                    <a:cxn ang="0">
                      <a:pos x="13" y="81"/>
                    </a:cxn>
                    <a:cxn ang="0">
                      <a:pos x="29" y="54"/>
                    </a:cxn>
                    <a:cxn ang="0">
                      <a:pos x="51" y="32"/>
                    </a:cxn>
                    <a:cxn ang="0">
                      <a:pos x="75" y="14"/>
                    </a:cxn>
                    <a:cxn ang="0">
                      <a:pos x="103" y="3"/>
                    </a:cxn>
                    <a:cxn ang="0">
                      <a:pos x="133" y="0"/>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sp>
              <p:nvSpPr>
                <p:cNvPr id="94" name="Freeform 7"/>
                <p:cNvSpPr>
                  <a:spLocks/>
                </p:cNvSpPr>
                <p:nvPr/>
              </p:nvSpPr>
              <p:spPr bwMode="gray">
                <a:xfrm>
                  <a:off x="2304" y="1625"/>
                  <a:ext cx="498" cy="964"/>
                </a:xfrm>
                <a:custGeom>
                  <a:avLst/>
                  <a:gdLst/>
                  <a:ahLst/>
                  <a:cxnLst>
                    <a:cxn ang="0">
                      <a:pos x="72" y="5"/>
                    </a:cxn>
                    <a:cxn ang="0">
                      <a:pos x="30" y="32"/>
                    </a:cxn>
                    <a:cxn ang="0">
                      <a:pos x="4" y="75"/>
                    </a:cxn>
                    <a:cxn ang="0">
                      <a:pos x="0" y="509"/>
                    </a:cxn>
                    <a:cxn ang="0">
                      <a:pos x="1" y="516"/>
                    </a:cxn>
                    <a:cxn ang="0">
                      <a:pos x="9" y="533"/>
                    </a:cxn>
                    <a:cxn ang="0">
                      <a:pos x="26" y="550"/>
                    </a:cxn>
                    <a:cxn ang="0">
                      <a:pos x="56" y="557"/>
                    </a:cxn>
                    <a:cxn ang="0">
                      <a:pos x="84" y="551"/>
                    </a:cxn>
                    <a:cxn ang="0">
                      <a:pos x="100" y="534"/>
                    </a:cxn>
                    <a:cxn ang="0">
                      <a:pos x="106" y="516"/>
                    </a:cxn>
                    <a:cxn ang="0">
                      <a:pos x="108" y="503"/>
                    </a:cxn>
                    <a:cxn ang="0">
                      <a:pos x="108" y="166"/>
                    </a:cxn>
                    <a:cxn ang="0">
                      <a:pos x="135" y="1066"/>
                    </a:cxn>
                    <a:cxn ang="0">
                      <a:pos x="138" y="1073"/>
                    </a:cxn>
                    <a:cxn ang="0">
                      <a:pos x="151" y="1089"/>
                    </a:cxn>
                    <a:cxn ang="0">
                      <a:pos x="174" y="1105"/>
                    </a:cxn>
                    <a:cxn ang="0">
                      <a:pos x="199" y="1111"/>
                    </a:cxn>
                    <a:cxn ang="0">
                      <a:pos x="227" y="1110"/>
                    </a:cxn>
                    <a:cxn ang="0">
                      <a:pos x="255" y="1097"/>
                    </a:cxn>
                    <a:cxn ang="0">
                      <a:pos x="272" y="1080"/>
                    </a:cxn>
                    <a:cxn ang="0">
                      <a:pos x="278" y="1068"/>
                    </a:cxn>
                    <a:cxn ang="0">
                      <a:pos x="279" y="499"/>
                    </a:cxn>
                    <a:cxn ang="0">
                      <a:pos x="302" y="503"/>
                    </a:cxn>
                    <a:cxn ang="0">
                      <a:pos x="302" y="534"/>
                    </a:cxn>
                    <a:cxn ang="0">
                      <a:pos x="304" y="590"/>
                    </a:cxn>
                    <a:cxn ang="0">
                      <a:pos x="304" y="664"/>
                    </a:cxn>
                    <a:cxn ang="0">
                      <a:pos x="304" y="750"/>
                    </a:cxn>
                    <a:cxn ang="0">
                      <a:pos x="304" y="838"/>
                    </a:cxn>
                    <a:cxn ang="0">
                      <a:pos x="305" y="926"/>
                    </a:cxn>
                    <a:cxn ang="0">
                      <a:pos x="305" y="1004"/>
                    </a:cxn>
                    <a:cxn ang="0">
                      <a:pos x="305" y="1066"/>
                    </a:cxn>
                    <a:cxn ang="0">
                      <a:pos x="306" y="1073"/>
                    </a:cxn>
                    <a:cxn ang="0">
                      <a:pos x="315" y="1088"/>
                    </a:cxn>
                    <a:cxn ang="0">
                      <a:pos x="335" y="1103"/>
                    </a:cxn>
                    <a:cxn ang="0">
                      <a:pos x="372" y="1111"/>
                    </a:cxn>
                    <a:cxn ang="0">
                      <a:pos x="408" y="1103"/>
                    </a:cxn>
                    <a:cxn ang="0">
                      <a:pos x="429" y="1089"/>
                    </a:cxn>
                    <a:cxn ang="0">
                      <a:pos x="437" y="1073"/>
                    </a:cxn>
                    <a:cxn ang="0">
                      <a:pos x="438" y="1067"/>
                    </a:cxn>
                    <a:cxn ang="0">
                      <a:pos x="466" y="166"/>
                    </a:cxn>
                    <a:cxn ang="0">
                      <a:pos x="468" y="503"/>
                    </a:cxn>
                    <a:cxn ang="0">
                      <a:pos x="472" y="517"/>
                    </a:cxn>
                    <a:cxn ang="0">
                      <a:pos x="483" y="537"/>
                    </a:cxn>
                    <a:cxn ang="0">
                      <a:pos x="505" y="551"/>
                    </a:cxn>
                    <a:cxn ang="0">
                      <a:pos x="536" y="551"/>
                    </a:cxn>
                    <a:cxn ang="0">
                      <a:pos x="557" y="537"/>
                    </a:cxn>
                    <a:cxn ang="0">
                      <a:pos x="570" y="517"/>
                    </a:cxn>
                    <a:cxn ang="0">
                      <a:pos x="573" y="508"/>
                    </a:cxn>
                    <a:cxn ang="0">
                      <a:pos x="572" y="68"/>
                    </a:cxn>
                    <a:cxn ang="0">
                      <a:pos x="546" y="28"/>
                    </a:cxn>
                    <a:cxn ang="0">
                      <a:pos x="506" y="4"/>
                    </a:cxn>
                    <a:cxn ang="0">
                      <a:pos x="94" y="0"/>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grpFill/>
                <a:ln w="0">
                  <a:noFill/>
                  <a:prstDash val="solid"/>
                  <a:round/>
                  <a:headEnd/>
                  <a:tailEnd/>
                </a:ln>
                <a:effectLst>
                  <a:outerShdw dist="91581" dir="3378596" algn="ctr" rotWithShape="0">
                    <a:srgbClr val="C0C0C0">
                      <a:alpha val="50000"/>
                    </a:srgbClr>
                  </a:outerShdw>
                </a:effectLst>
              </p:spPr>
              <p:txBody>
                <a:bodyPr/>
                <a:lstStyle/>
                <a:p>
                  <a:pPr fontAlgn="auto">
                    <a:spcBef>
                      <a:spcPts val="0"/>
                    </a:spcBef>
                    <a:spcAft>
                      <a:spcPts val="0"/>
                    </a:spcAft>
                    <a:defRPr/>
                  </a:pPr>
                  <a:endParaRPr lang="zh-CN" altLang="en-US" sz="1600" kern="0">
                    <a:solidFill>
                      <a:sysClr val="windowText" lastClr="000000"/>
                    </a:solidFill>
                    <a:latin typeface="微软雅黑" pitchFamily="34" charset="-122"/>
                    <a:ea typeface="微软雅黑" pitchFamily="34" charset="-122"/>
                  </a:endParaRPr>
                </a:p>
              </p:txBody>
            </p:sp>
          </p:grpSp>
        </p:grpSp>
      </p:grpSp>
      <p:cxnSp>
        <p:nvCxnSpPr>
          <p:cNvPr id="97" name="肘形连接符 96"/>
          <p:cNvCxnSpPr>
            <a:stCxn id="68" idx="2"/>
            <a:endCxn id="76" idx="0"/>
          </p:cNvCxnSpPr>
          <p:nvPr/>
        </p:nvCxnSpPr>
        <p:spPr>
          <a:xfrm rot="5400000">
            <a:off x="4546192" y="2576594"/>
            <a:ext cx="638265" cy="1923807"/>
          </a:xfrm>
          <a:prstGeom prst="bentConnector3">
            <a:avLst>
              <a:gd name="adj1" fmla="val 50000"/>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肘形连接符 97"/>
          <p:cNvCxnSpPr>
            <a:stCxn id="68" idx="2"/>
            <a:endCxn id="85" idx="0"/>
          </p:cNvCxnSpPr>
          <p:nvPr/>
        </p:nvCxnSpPr>
        <p:spPr>
          <a:xfrm rot="16200000" flipH="1">
            <a:off x="6499042" y="2547550"/>
            <a:ext cx="619202" cy="1962832"/>
          </a:xfrm>
          <a:prstGeom prst="bentConnector3">
            <a:avLst>
              <a:gd name="adj1" fmla="val 50000"/>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rot="10800000" flipV="1">
            <a:off x="6631976" y="2357430"/>
            <a:ext cx="857256" cy="42862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rot="16200000" flipH="1">
            <a:off x="4524555" y="4607727"/>
            <a:ext cx="857256" cy="78581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rot="16200000" flipH="1">
            <a:off x="7489232" y="4929198"/>
            <a:ext cx="785818" cy="214314"/>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02" name="右箭头 101"/>
          <p:cNvSpPr/>
          <p:nvPr/>
        </p:nvSpPr>
        <p:spPr bwMode="auto">
          <a:xfrm>
            <a:off x="1476276" y="2429479"/>
            <a:ext cx="1000132" cy="500066"/>
          </a:xfrm>
          <a:prstGeom prst="rightArrow">
            <a:avLst/>
          </a:prstGeom>
          <a:solidFill>
            <a:schemeClr val="accent2"/>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400" b="1" i="0" u="none" strike="noStrike" cap="none" normalizeH="0" baseline="0" dirty="0" smtClean="0">
                <a:ln>
                  <a:noFill/>
                </a:ln>
                <a:solidFill>
                  <a:schemeClr val="bg1"/>
                </a:solidFill>
                <a:effectLst/>
                <a:latin typeface="微软雅黑" pitchFamily="34" charset="-122"/>
                <a:ea typeface="微软雅黑" pitchFamily="34" charset="-122"/>
              </a:rPr>
              <a:t>管理层</a:t>
            </a:r>
          </a:p>
        </p:txBody>
      </p:sp>
      <p:sp>
        <p:nvSpPr>
          <p:cNvPr id="103" name="右箭头 102"/>
          <p:cNvSpPr/>
          <p:nvPr/>
        </p:nvSpPr>
        <p:spPr bwMode="auto">
          <a:xfrm>
            <a:off x="1463684" y="3998875"/>
            <a:ext cx="1000132" cy="500066"/>
          </a:xfrm>
          <a:prstGeom prst="rightArrow">
            <a:avLst/>
          </a:prstGeom>
          <a:solidFill>
            <a:schemeClr val="accent2"/>
          </a:solidFill>
          <a:ln w="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400" b="1" i="0" u="none" strike="noStrike" cap="none" normalizeH="0" baseline="0" dirty="0" smtClean="0">
                <a:ln>
                  <a:noFill/>
                </a:ln>
                <a:solidFill>
                  <a:schemeClr val="bg1"/>
                </a:solidFill>
                <a:effectLst/>
                <a:latin typeface="微软雅黑" pitchFamily="34" charset="-122"/>
                <a:ea typeface="微软雅黑" pitchFamily="34" charset="-122"/>
              </a:rPr>
              <a:t>操作层</a:t>
            </a:r>
          </a:p>
        </p:txBody>
      </p:sp>
      <p:sp>
        <p:nvSpPr>
          <p:cNvPr id="104" name="矩形 103"/>
          <p:cNvSpPr/>
          <p:nvPr/>
        </p:nvSpPr>
        <p:spPr bwMode="auto">
          <a:xfrm>
            <a:off x="3131514" y="5357826"/>
            <a:ext cx="6643734" cy="1071570"/>
          </a:xfrm>
          <a:prstGeom prst="rect">
            <a:avLst/>
          </a:prstGeom>
          <a:noFill/>
          <a:ln w="0" cap="flat" cmpd="sng" algn="ctr">
            <a:solidFill>
              <a:srgbClr val="7177E5"/>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graphicFrame>
        <p:nvGraphicFramePr>
          <p:cNvPr id="105" name="表格 104"/>
          <p:cNvGraphicFramePr>
            <a:graphicFrameLocks noGrp="1"/>
          </p:cNvGraphicFramePr>
          <p:nvPr>
            <p:extLst>
              <p:ext uri="{D42A27DB-BD31-4B8C-83A1-F6EECF244321}">
                <p14:modId xmlns:p14="http://schemas.microsoft.com/office/powerpoint/2010/main" val="1166702130"/>
              </p:ext>
            </p:extLst>
          </p:nvPr>
        </p:nvGraphicFramePr>
        <p:xfrm>
          <a:off x="7560670" y="1643050"/>
          <a:ext cx="3071834" cy="1000132"/>
        </p:xfrm>
        <a:graphic>
          <a:graphicData uri="http://schemas.openxmlformats.org/drawingml/2006/table">
            <a:tbl>
              <a:tblPr firstRow="1" bandRow="1">
                <a:tableStyleId>{2A488322-F2BA-4B5B-9748-0D474271808F}</a:tableStyleId>
              </a:tblPr>
              <a:tblGrid>
                <a:gridCol w="1044423"/>
                <a:gridCol w="2027411"/>
              </a:tblGrid>
              <a:tr h="310555">
                <a:tc>
                  <a:txBody>
                    <a:bodyPr/>
                    <a:lstStyle/>
                    <a:p>
                      <a:pPr algn="ctr"/>
                      <a:r>
                        <a:rPr lang="zh-CN" altLang="en-US" sz="1200" dirty="0" smtClean="0">
                          <a:latin typeface="微软雅黑" pitchFamily="34" charset="-122"/>
                          <a:ea typeface="微软雅黑" pitchFamily="34" charset="-122"/>
                        </a:rPr>
                        <a:t>管理层</a:t>
                      </a:r>
                      <a:endParaRPr lang="zh-CN" altLang="en-US" sz="1200" dirty="0">
                        <a:latin typeface="微软雅黑" pitchFamily="34" charset="-122"/>
                        <a:ea typeface="微软雅黑" pitchFamily="34" charset="-122"/>
                      </a:endParaRPr>
                    </a:p>
                  </a:txBody>
                  <a:tcPr anchor="ctr">
                    <a:lnR w="12700" cap="flat" cmpd="sng" algn="ctr">
                      <a:solidFill>
                        <a:schemeClr val="bg1"/>
                      </a:solidFill>
                      <a:prstDash val="solid"/>
                      <a:round/>
                      <a:headEnd type="none" w="med" len="med"/>
                      <a:tailEnd type="none" w="med" len="med"/>
                    </a:lnR>
                  </a:tcPr>
                </a:tc>
                <a:tc>
                  <a:txBody>
                    <a:bodyPr/>
                    <a:lstStyle/>
                    <a:p>
                      <a:pPr algn="ctr"/>
                      <a:r>
                        <a:rPr lang="zh-CN" altLang="en-US" sz="1200" dirty="0" smtClean="0">
                          <a:latin typeface="微软雅黑" pitchFamily="34" charset="-122"/>
                          <a:ea typeface="微软雅黑" pitchFamily="34" charset="-122"/>
                        </a:rPr>
                        <a:t>服务治理领导小组</a:t>
                      </a:r>
                      <a:endParaRPr lang="zh-CN" altLang="en-US" sz="1200" dirty="0">
                        <a:latin typeface="微软雅黑" pitchFamily="34" charset="-122"/>
                        <a:ea typeface="微软雅黑" pitchFamily="34" charset="-122"/>
                      </a:endParaRPr>
                    </a:p>
                  </a:txBody>
                  <a:tcPr anchor="ctr">
                    <a:lnL w="12700" cap="flat" cmpd="sng" algn="ctr">
                      <a:solidFill>
                        <a:schemeClr val="bg1"/>
                      </a:solidFill>
                      <a:prstDash val="solid"/>
                      <a:round/>
                      <a:headEnd type="none" w="med" len="med"/>
                      <a:tailEnd type="none" w="med" len="med"/>
                    </a:lnL>
                  </a:tcPr>
                </a:tc>
              </a:tr>
              <a:tr h="396821">
                <a:tc>
                  <a:txBody>
                    <a:bodyPr/>
                    <a:lstStyle/>
                    <a:p>
                      <a:pPr algn="ctr"/>
                      <a:r>
                        <a:rPr lang="zh-CN" altLang="en-US" sz="1200" smtClean="0">
                          <a:latin typeface="微软雅黑" pitchFamily="34" charset="-122"/>
                          <a:ea typeface="微软雅黑" pitchFamily="34" charset="-122"/>
                        </a:rPr>
                        <a:t>牵头指导</a:t>
                      </a:r>
                      <a:endParaRPr lang="zh-CN" altLang="en-US" sz="1200" dirty="0">
                        <a:latin typeface="微软雅黑" pitchFamily="34" charset="-122"/>
                        <a:ea typeface="微软雅黑" pitchFamily="34" charset="-122"/>
                      </a:endParaRPr>
                    </a:p>
                  </a:txBody>
                  <a:tcPr anchor="ctr">
                    <a:lnR w="12700" cap="flat" cmpd="sng" algn="ctr">
                      <a:solidFill>
                        <a:schemeClr val="bg1"/>
                      </a:solidFill>
                      <a:prstDash val="solid"/>
                      <a:round/>
                      <a:headEnd type="none" w="med" len="med"/>
                      <a:tailEnd type="none" w="med" len="med"/>
                    </a:lnR>
                  </a:tcPr>
                </a:tc>
                <a:tc>
                  <a:txBody>
                    <a:bodyPr/>
                    <a:lstStyle/>
                    <a:p>
                      <a:pPr algn="l"/>
                      <a:r>
                        <a:rPr lang="zh-CN" altLang="en-US" sz="1200" dirty="0" smtClean="0">
                          <a:latin typeface="微软雅黑" pitchFamily="34" charset="-122"/>
                          <a:ea typeface="微软雅黑" pitchFamily="34" charset="-122"/>
                        </a:rPr>
                        <a:t>新一代项目应用架构组组长</a:t>
                      </a:r>
                      <a:endParaRPr lang="zh-CN" altLang="en-US" sz="1200" dirty="0">
                        <a:latin typeface="微软雅黑" pitchFamily="34" charset="-122"/>
                        <a:ea typeface="微软雅黑" pitchFamily="34" charset="-122"/>
                      </a:endParaRPr>
                    </a:p>
                  </a:txBody>
                  <a:tcPr anchor="ctr">
                    <a:lnL w="12700" cap="flat" cmpd="sng" algn="ctr">
                      <a:solidFill>
                        <a:schemeClr val="bg1"/>
                      </a:solidFill>
                      <a:prstDash val="solid"/>
                      <a:round/>
                      <a:headEnd type="none" w="med" len="med"/>
                      <a:tailEnd type="none" w="med" len="med"/>
                    </a:lnL>
                  </a:tcPr>
                </a:tc>
              </a:tr>
              <a:tr h="2927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人员组成</a:t>
                      </a:r>
                      <a:endParaRPr lang="zh-CN" altLang="en-US" sz="1200" dirty="0">
                        <a:latin typeface="微软雅黑" pitchFamily="34" charset="-122"/>
                        <a:ea typeface="微软雅黑" pitchFamily="34" charset="-122"/>
                      </a:endParaRPr>
                    </a:p>
                  </a:txBody>
                  <a:tcPr anchor="ctr">
                    <a:lnR w="12700" cap="flat" cmpd="sng" algn="ctr">
                      <a:solidFill>
                        <a:schemeClr val="bg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新一代项目应用架构组成员</a:t>
                      </a:r>
                      <a:endParaRPr lang="zh-CN" altLang="en-US" sz="1200" dirty="0">
                        <a:latin typeface="微软雅黑" pitchFamily="34" charset="-122"/>
                        <a:ea typeface="微软雅黑" pitchFamily="34" charset="-122"/>
                      </a:endParaRPr>
                    </a:p>
                  </a:txBody>
                  <a:tcPr anchor="ctr">
                    <a:lnL w="12700" cap="flat" cmpd="sng" algn="ctr">
                      <a:solidFill>
                        <a:schemeClr val="bg1"/>
                      </a:solidFill>
                      <a:prstDash val="solid"/>
                      <a:round/>
                      <a:headEnd type="none" w="med" len="med"/>
                      <a:tailEnd type="none" w="med" len="med"/>
                    </a:lnL>
                  </a:tcPr>
                </a:tc>
              </a:tr>
            </a:tbl>
          </a:graphicData>
        </a:graphic>
      </p:graphicFrame>
      <p:graphicFrame>
        <p:nvGraphicFramePr>
          <p:cNvPr id="106" name="表格 105"/>
          <p:cNvGraphicFramePr>
            <a:graphicFrameLocks noGrp="1"/>
          </p:cNvGraphicFramePr>
          <p:nvPr>
            <p:extLst>
              <p:ext uri="{D42A27DB-BD31-4B8C-83A1-F6EECF244321}">
                <p14:modId xmlns:p14="http://schemas.microsoft.com/office/powerpoint/2010/main" val="2329092383"/>
              </p:ext>
            </p:extLst>
          </p:nvPr>
        </p:nvGraphicFramePr>
        <p:xfrm>
          <a:off x="3417266" y="5500702"/>
          <a:ext cx="6072230" cy="857256"/>
        </p:xfrm>
        <a:graphic>
          <a:graphicData uri="http://schemas.openxmlformats.org/drawingml/2006/table">
            <a:tbl>
              <a:tblPr firstRow="1" bandRow="1">
                <a:tableStyleId>{2A488322-F2BA-4B5B-9748-0D474271808F}</a:tableStyleId>
              </a:tblPr>
              <a:tblGrid>
                <a:gridCol w="1275168"/>
                <a:gridCol w="1865641"/>
                <a:gridCol w="2931421"/>
              </a:tblGrid>
              <a:tr h="336779">
                <a:tc>
                  <a:txBody>
                    <a:bodyPr/>
                    <a:lstStyle/>
                    <a:p>
                      <a:pPr algn="ctr"/>
                      <a:r>
                        <a:rPr lang="zh-CN" altLang="en-US" sz="1200" dirty="0" smtClean="0">
                          <a:latin typeface="微软雅黑" pitchFamily="34" charset="-122"/>
                          <a:ea typeface="微软雅黑" pitchFamily="34" charset="-122"/>
                        </a:rPr>
                        <a:t>操作层</a:t>
                      </a:r>
                      <a:endParaRPr lang="zh-CN" altLang="en-US" sz="1200" dirty="0">
                        <a:latin typeface="微软雅黑" pitchFamily="34" charset="-122"/>
                        <a:ea typeface="微软雅黑" pitchFamily="34" charset="-122"/>
                      </a:endParaRPr>
                    </a:p>
                  </a:txBody>
                  <a:tcPr anchor="ctr">
                    <a:lnR w="12700" cap="flat" cmpd="sng" algn="ctr">
                      <a:solidFill>
                        <a:schemeClr val="accent6"/>
                      </a:solidFill>
                      <a:prstDash val="sysDashDot"/>
                      <a:round/>
                      <a:headEnd type="none" w="med" len="med"/>
                      <a:tailEnd type="none" w="med" len="med"/>
                    </a:lnR>
                  </a:tcPr>
                </a:tc>
                <a:tc>
                  <a:txBody>
                    <a:bodyPr/>
                    <a:lstStyle/>
                    <a:p>
                      <a:pPr algn="ctr"/>
                      <a:r>
                        <a:rPr lang="zh-CN" altLang="en-US" sz="1200" dirty="0" smtClean="0">
                          <a:latin typeface="微软雅黑" pitchFamily="34" charset="-122"/>
                          <a:ea typeface="微软雅黑" pitchFamily="34" charset="-122"/>
                        </a:rPr>
                        <a:t>服务治理组</a:t>
                      </a:r>
                      <a:endParaRPr lang="zh-CN" altLang="en-US" sz="1200" dirty="0">
                        <a:latin typeface="微软雅黑" pitchFamily="34" charset="-122"/>
                        <a:ea typeface="微软雅黑" pitchFamily="34" charset="-122"/>
                      </a:endParaRPr>
                    </a:p>
                  </a:txBody>
                  <a:tcPr anchor="ctr">
                    <a:lnL w="12700" cap="flat" cmpd="sng" algn="ctr">
                      <a:solidFill>
                        <a:schemeClr val="accent6"/>
                      </a:solidFill>
                      <a:prstDash val="sysDashDot"/>
                      <a:round/>
                      <a:headEnd type="none" w="med" len="med"/>
                      <a:tailEnd type="none" w="med" len="med"/>
                    </a:lnL>
                    <a:lnR w="12700" cap="flat" cmpd="sng" algn="ctr">
                      <a:solidFill>
                        <a:schemeClr val="accent6"/>
                      </a:solidFill>
                      <a:prstDash val="sysDashDot"/>
                      <a:round/>
                      <a:headEnd type="none" w="med" len="med"/>
                      <a:tailEnd type="none" w="med" len="med"/>
                    </a:lnR>
                  </a:tcPr>
                </a:tc>
                <a:tc>
                  <a:txBody>
                    <a:bodyPr/>
                    <a:lstStyle/>
                    <a:p>
                      <a:pPr algn="ctr"/>
                      <a:r>
                        <a:rPr lang="zh-CN" altLang="en-US" sz="1200" dirty="0" smtClean="0">
                          <a:latin typeface="微软雅黑" pitchFamily="34" charset="-122"/>
                          <a:ea typeface="微软雅黑" pitchFamily="34" charset="-122"/>
                        </a:rPr>
                        <a:t>关联项目组</a:t>
                      </a:r>
                      <a:endParaRPr lang="zh-CN" altLang="en-US" sz="1200" dirty="0">
                        <a:latin typeface="微软雅黑" pitchFamily="34" charset="-122"/>
                        <a:ea typeface="微软雅黑" pitchFamily="34" charset="-122"/>
                      </a:endParaRPr>
                    </a:p>
                  </a:txBody>
                  <a:tcPr anchor="ctr">
                    <a:lnL w="12700" cap="flat" cmpd="sng" algn="ctr">
                      <a:solidFill>
                        <a:schemeClr val="accent6"/>
                      </a:solidFill>
                      <a:prstDash val="sysDashDot"/>
                      <a:round/>
                      <a:headEnd type="none" w="med" len="med"/>
                      <a:tailEnd type="none" w="med" len="med"/>
                    </a:lnL>
                  </a:tcPr>
                </a:tc>
              </a:tr>
              <a:tr h="520477">
                <a:tc>
                  <a:txBody>
                    <a:bodyPr/>
                    <a:lstStyle/>
                    <a:p>
                      <a:pPr algn="ctr"/>
                      <a:r>
                        <a:rPr lang="zh-CN" altLang="en-US" sz="1200" dirty="0" smtClean="0">
                          <a:latin typeface="微软雅黑" pitchFamily="34" charset="-122"/>
                          <a:ea typeface="微软雅黑" pitchFamily="34" charset="-122"/>
                        </a:rPr>
                        <a:t>人员组成</a:t>
                      </a:r>
                      <a:endParaRPr lang="zh-CN" altLang="en-US" sz="1200" dirty="0">
                        <a:latin typeface="微软雅黑" pitchFamily="34" charset="-122"/>
                        <a:ea typeface="微软雅黑" pitchFamily="34" charset="-122"/>
                      </a:endParaRPr>
                    </a:p>
                  </a:txBody>
                  <a:tcPr anchor="ctr">
                    <a:lnR w="12700" cap="flat" cmpd="sng" algn="ctr">
                      <a:solidFill>
                        <a:schemeClr val="accent6"/>
                      </a:solidFill>
                      <a:prstDash val="sysDashDot"/>
                      <a:round/>
                      <a:headEnd type="none" w="med" len="med"/>
                      <a:tailEnd type="none" w="med" len="med"/>
                    </a:lnR>
                  </a:tcPr>
                </a:tc>
                <a:tc>
                  <a:txBody>
                    <a:bodyPr/>
                    <a:lstStyle/>
                    <a:p>
                      <a:pPr algn="l"/>
                      <a:r>
                        <a:rPr lang="en-US" altLang="zh-CN" sz="1200" dirty="0" smtClean="0">
                          <a:latin typeface="微软雅黑" pitchFamily="34" charset="-122"/>
                          <a:ea typeface="微软雅黑" pitchFamily="34" charset="-122"/>
                        </a:rPr>
                        <a:t>ESB</a:t>
                      </a:r>
                      <a:r>
                        <a:rPr lang="zh-CN" altLang="en-US" sz="1200" dirty="0" smtClean="0">
                          <a:latin typeface="微软雅黑" pitchFamily="34" charset="-122"/>
                          <a:ea typeface="微软雅黑" pitchFamily="34" charset="-122"/>
                        </a:rPr>
                        <a:t>项目组服务规范人员</a:t>
                      </a:r>
                      <a:endParaRPr lang="zh-CN" altLang="en-US" sz="1200" dirty="0">
                        <a:latin typeface="微软雅黑" pitchFamily="34" charset="-122"/>
                        <a:ea typeface="微软雅黑" pitchFamily="34" charset="-122"/>
                      </a:endParaRPr>
                    </a:p>
                  </a:txBody>
                  <a:tcPr anchor="ctr">
                    <a:lnL w="12700" cap="flat" cmpd="sng" algn="ctr">
                      <a:solidFill>
                        <a:schemeClr val="accent6"/>
                      </a:solidFill>
                      <a:prstDash val="sysDashDot"/>
                      <a:round/>
                      <a:headEnd type="none" w="med" len="med"/>
                      <a:tailEnd type="none" w="med" len="med"/>
                    </a:lnL>
                    <a:lnR w="12700" cap="flat" cmpd="sng" algn="ctr">
                      <a:solidFill>
                        <a:schemeClr val="accent6"/>
                      </a:solidFill>
                      <a:prstDash val="sysDashDot"/>
                      <a:round/>
                      <a:headEnd type="none" w="med" len="med"/>
                      <a:tailEnd type="none" w="med" len="med"/>
                    </a:lnR>
                  </a:tcPr>
                </a:tc>
                <a:tc>
                  <a:txBody>
                    <a:bodyPr/>
                    <a:lstStyle/>
                    <a:p>
                      <a:pPr algn="l"/>
                      <a:r>
                        <a:rPr lang="en-US" altLang="zh-CN" sz="1200" dirty="0" smtClean="0">
                          <a:latin typeface="微软雅黑" pitchFamily="34" charset="-122"/>
                          <a:ea typeface="微软雅黑" pitchFamily="34" charset="-122"/>
                        </a:rPr>
                        <a:t>ESB</a:t>
                      </a:r>
                      <a:r>
                        <a:rPr lang="zh-CN" altLang="en-US" sz="1200" dirty="0" smtClean="0">
                          <a:latin typeface="微软雅黑" pitchFamily="34" charset="-122"/>
                          <a:ea typeface="微软雅黑" pitchFamily="34" charset="-122"/>
                        </a:rPr>
                        <a:t>项目组开发人员、关联项目组业务分析人员、架构师、开发人员等</a:t>
                      </a:r>
                      <a:endParaRPr lang="zh-CN" altLang="en-US" sz="1200" dirty="0">
                        <a:latin typeface="微软雅黑" pitchFamily="34" charset="-122"/>
                        <a:ea typeface="微软雅黑" pitchFamily="34" charset="-122"/>
                      </a:endParaRPr>
                    </a:p>
                  </a:txBody>
                  <a:tcPr anchor="ctr">
                    <a:lnL w="12700" cap="flat" cmpd="sng" algn="ctr">
                      <a:solidFill>
                        <a:schemeClr val="accent6"/>
                      </a:solidFill>
                      <a:prstDash val="sysDashDot"/>
                      <a:round/>
                      <a:headEnd type="none" w="med" len="med"/>
                      <a:tailEnd type="none" w="med" len="med"/>
                    </a:lnL>
                  </a:tcPr>
                </a:tc>
              </a:tr>
            </a:tbl>
          </a:graphicData>
        </a:graphic>
      </p:graphicFrame>
    </p:spTree>
    <p:extLst>
      <p:ext uri="{BB962C8B-B14F-4D97-AF65-F5344CB8AC3E}">
        <p14:creationId xmlns:p14="http://schemas.microsoft.com/office/powerpoint/2010/main" val="298657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职责分工</a:t>
            </a:r>
            <a:endParaRPr lang="en-US" dirty="0"/>
          </a:p>
        </p:txBody>
      </p:sp>
      <p:graphicFrame>
        <p:nvGraphicFramePr>
          <p:cNvPr id="43" name="表格 42"/>
          <p:cNvGraphicFramePr>
            <a:graphicFrameLocks noGrp="1"/>
          </p:cNvGraphicFramePr>
          <p:nvPr>
            <p:extLst>
              <p:ext uri="{D42A27DB-BD31-4B8C-83A1-F6EECF244321}">
                <p14:modId xmlns:p14="http://schemas.microsoft.com/office/powerpoint/2010/main" val="3441558386"/>
              </p:ext>
            </p:extLst>
          </p:nvPr>
        </p:nvGraphicFramePr>
        <p:xfrm>
          <a:off x="2201883" y="980728"/>
          <a:ext cx="7786743" cy="5232648"/>
        </p:xfrm>
        <a:graphic>
          <a:graphicData uri="http://schemas.openxmlformats.org/drawingml/2006/table">
            <a:tbl>
              <a:tblPr/>
              <a:tblGrid>
                <a:gridCol w="785818"/>
                <a:gridCol w="1143008"/>
                <a:gridCol w="1357322"/>
                <a:gridCol w="1928826"/>
                <a:gridCol w="1285884"/>
                <a:gridCol w="1285885"/>
              </a:tblGrid>
              <a:tr h="429611">
                <a:tc rowSpan="2">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项目阶段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服务</a:t>
                      </a:r>
                      <a:r>
                        <a:rPr lang="zh-CN" altLang="en-US" sz="1100" b="1" i="0" u="none" strike="noStrike" dirty="0" smtClean="0">
                          <a:solidFill>
                            <a:srgbClr val="FFFFFF"/>
                          </a:solidFill>
                          <a:latin typeface="微软雅黑" pitchFamily="34" charset="-122"/>
                          <a:ea typeface="微软雅黑" pitchFamily="34" charset="-122"/>
                        </a:rPr>
                        <a:t>治理</a:t>
                      </a:r>
                      <a:endParaRPr lang="en-US" altLang="zh-CN" sz="1100" b="1" i="0" u="none" strike="noStrike" dirty="0" smtClean="0">
                        <a:solidFill>
                          <a:srgbClr val="FFFFFF"/>
                        </a:solidFill>
                        <a:latin typeface="微软雅黑" pitchFamily="34" charset="-122"/>
                        <a:ea typeface="微软雅黑" pitchFamily="34" charset="-122"/>
                      </a:endParaRPr>
                    </a:p>
                    <a:p>
                      <a:pPr algn="ctr" rtl="0" fontAlgn="ctr"/>
                      <a:r>
                        <a:rPr lang="zh-CN" altLang="en-US" sz="1100" b="1" i="0" u="none" strike="noStrike" dirty="0" smtClean="0">
                          <a:solidFill>
                            <a:srgbClr val="FFFFFF"/>
                          </a:solidFill>
                          <a:latin typeface="微软雅黑" pitchFamily="34" charset="-122"/>
                          <a:ea typeface="微软雅黑" pitchFamily="34" charset="-122"/>
                        </a:rPr>
                        <a:t>领导</a:t>
                      </a:r>
                      <a:r>
                        <a:rPr lang="zh-CN" altLang="en-US" sz="1100" b="1" i="0" u="none" strike="noStrike" dirty="0">
                          <a:solidFill>
                            <a:srgbClr val="FFFFFF"/>
                          </a:solidFill>
                          <a:latin typeface="微软雅黑" pitchFamily="34" charset="-122"/>
                          <a:ea typeface="微软雅黑" pitchFamily="34" charset="-122"/>
                        </a:rPr>
                        <a:t>小组</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gridSpan="2">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服务治理</a:t>
                      </a:r>
                      <a:r>
                        <a:rPr lang="zh-CN" altLang="en-US" sz="1100" b="1" i="0" u="none" strike="noStrike" dirty="0" smtClean="0">
                          <a:solidFill>
                            <a:srgbClr val="FFFFFF"/>
                          </a:solidFill>
                          <a:latin typeface="微软雅黑" pitchFamily="34" charset="-122"/>
                          <a:ea typeface="微软雅黑" pitchFamily="34" charset="-122"/>
                        </a:rPr>
                        <a:t>组</a:t>
                      </a:r>
                      <a:endParaRPr lang="zh-CN" altLang="en-US" sz="1100" b="1" i="0" u="none" strike="noStrike" dirty="0">
                        <a:solidFill>
                          <a:srgbClr val="FFFFFF"/>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hMerge="1">
                  <a:txBody>
                    <a:bodyPr/>
                    <a:lstStyle/>
                    <a:p>
                      <a:endParaRPr lang="zh-CN" altLang="en-US"/>
                    </a:p>
                  </a:txBody>
                  <a:tcPr/>
                </a:tc>
                <a:tc gridSpan="2">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关联项目</a:t>
                      </a:r>
                      <a:r>
                        <a:rPr lang="zh-CN" altLang="en-US" sz="1100" b="1" i="0" u="none" strike="noStrike" dirty="0" smtClean="0">
                          <a:solidFill>
                            <a:srgbClr val="FFFFFF"/>
                          </a:solidFill>
                          <a:latin typeface="微软雅黑" pitchFamily="34" charset="-122"/>
                          <a:ea typeface="微软雅黑" pitchFamily="34" charset="-122"/>
                        </a:rPr>
                        <a:t>组配合</a:t>
                      </a:r>
                      <a:endParaRPr lang="zh-CN" altLang="en-US" sz="1100" b="1" i="0" u="none" strike="noStrike" dirty="0">
                        <a:solidFill>
                          <a:srgbClr val="FFFFFF"/>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hMerge="1">
                  <a:txBody>
                    <a:bodyPr/>
                    <a:lstStyle/>
                    <a:p>
                      <a:endParaRPr lang="zh-CN" altLang="en-US"/>
                    </a:p>
                  </a:txBody>
                  <a:tcPr/>
                </a:tc>
              </a:tr>
              <a:tr h="205970">
                <a:tc vMerge="1">
                  <a:txBody>
                    <a:bodyPr/>
                    <a:lstStyle/>
                    <a:p>
                      <a:endParaRPr lang="zh-CN" altLang="en-US"/>
                    </a:p>
                  </a:txBody>
                  <a:tcPr/>
                </a:tc>
                <a:tc>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工作任务项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工作任务项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177E5"/>
                    </a:solidFill>
                  </a:tcPr>
                </a:tc>
                <a:tc>
                  <a:txBody>
                    <a:bodyPr/>
                    <a:lstStyle/>
                    <a:p>
                      <a:pPr algn="ctr" rtl="0" fontAlgn="ctr"/>
                      <a:r>
                        <a:rPr lang="zh-CN" altLang="en-US" sz="1100" b="1" i="0" u="none" strike="noStrike" dirty="0">
                          <a:solidFill>
                            <a:srgbClr val="FFFFFF"/>
                          </a:solidFill>
                          <a:latin typeface="微软雅黑" pitchFamily="34" charset="-122"/>
                          <a:ea typeface="微软雅黑" pitchFamily="34" charset="-122"/>
                        </a:rPr>
                        <a:t>交付物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a:txBody>
                    <a:bodyPr/>
                    <a:lstStyle/>
                    <a:p>
                      <a:pPr algn="ctr" rtl="0" fontAlgn="ctr"/>
                      <a:r>
                        <a:rPr lang="zh-CN" altLang="en-US" sz="1100" b="1" i="0" u="none" strike="noStrike">
                          <a:solidFill>
                            <a:srgbClr val="FFFFFF"/>
                          </a:solidFill>
                          <a:latin typeface="微软雅黑" pitchFamily="34" charset="-122"/>
                          <a:ea typeface="微软雅黑" pitchFamily="34" charset="-122"/>
                        </a:rPr>
                        <a:t>工作任务项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c>
                  <a:txBody>
                    <a:bodyPr/>
                    <a:lstStyle/>
                    <a:p>
                      <a:pPr algn="ctr" rtl="0" fontAlgn="ctr"/>
                      <a:r>
                        <a:rPr lang="zh-CN" altLang="en-US" sz="1100" b="1" i="0" u="none" strike="noStrike" dirty="0" smtClean="0">
                          <a:solidFill>
                            <a:srgbClr val="FFFFFF"/>
                          </a:solidFill>
                          <a:latin typeface="微软雅黑" pitchFamily="34" charset="-122"/>
                          <a:ea typeface="微软雅黑" pitchFamily="34" charset="-122"/>
                        </a:rPr>
                        <a:t>提交物</a:t>
                      </a:r>
                      <a:endParaRPr lang="zh-CN" altLang="en-US" sz="1100" b="1" i="0" u="none" strike="noStrike" dirty="0">
                        <a:solidFill>
                          <a:srgbClr val="FFFFFF"/>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77E5"/>
                    </a:solidFill>
                  </a:tcPr>
                </a:tc>
              </a:tr>
              <a:tr h="340476">
                <a:tc>
                  <a:txBody>
                    <a:bodyPr/>
                    <a:lstStyle/>
                    <a:p>
                      <a:pPr algn="ctr" rtl="0" fontAlgn="ctr"/>
                      <a:r>
                        <a:rPr lang="zh-CN" altLang="en-US" sz="1100" b="0" i="0" u="none" strike="noStrike" dirty="0">
                          <a:solidFill>
                            <a:srgbClr val="000000"/>
                          </a:solidFill>
                          <a:latin typeface="微软雅黑" pitchFamily="34" charset="-122"/>
                          <a:ea typeface="微软雅黑" pitchFamily="34" charset="-122"/>
                        </a:rPr>
                        <a:t>实施启动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协调和问题决策</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接收申请 </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提出服务治理申请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41630">
                <a:tc rowSpan="2">
                  <a:txBody>
                    <a:bodyPr/>
                    <a:lstStyle/>
                    <a:p>
                      <a:pPr algn="ctr" rtl="0" fontAlgn="ctr"/>
                      <a:r>
                        <a:rPr lang="zh-CN" altLang="en-US" sz="1100" b="0" i="0" u="none" strike="noStrike" dirty="0">
                          <a:solidFill>
                            <a:srgbClr val="000000"/>
                          </a:solidFill>
                          <a:latin typeface="微软雅黑" pitchFamily="34" charset="-122"/>
                          <a:ea typeface="微软雅黑" pitchFamily="34" charset="-122"/>
                        </a:rPr>
                        <a:t>需求阶段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协调和问题决策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 typeface="Arial" pitchFamily="34" charset="0"/>
                        <a:buChar char="•"/>
                        <a:tabLst/>
                        <a:defRPr/>
                      </a:pPr>
                      <a:r>
                        <a:rPr lang="zh-CN" altLang="en-US" sz="1100" b="0" i="0" u="none" strike="noStrike" dirty="0" smtClean="0">
                          <a:solidFill>
                            <a:srgbClr val="000000"/>
                          </a:solidFill>
                          <a:latin typeface="微软雅黑" pitchFamily="34" charset="-122"/>
                          <a:ea typeface="微软雅黑" pitchFamily="34" charset="-122"/>
                        </a:rPr>
                        <a:t>需求理解与分析</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zh-CN" altLang="en-US" sz="1100" b="0" i="0" u="none" strike="noStrike" kern="1200" dirty="0">
                          <a:solidFill>
                            <a:srgbClr val="000000"/>
                          </a:solidFill>
                          <a:latin typeface="微软雅黑" pitchFamily="34" charset="-122"/>
                          <a:ea typeface="微软雅黑" pitchFamily="34" charset="-122"/>
                          <a:cs typeface="+mn-cs"/>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endParaRPr lang="zh-CN" altLang="en-US" sz="1100" b="0" i="0" u="none" strike="noStrike" kern="1200" dirty="0">
                        <a:solidFill>
                          <a:srgbClr val="000000"/>
                        </a:solidFill>
                        <a:latin typeface="微软雅黑" pitchFamily="34" charset="-122"/>
                        <a:ea typeface="微软雅黑" pitchFamily="34" charset="-122"/>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altLang="zh-CN" sz="1100" b="0" i="0" u="none" strike="noStrike" kern="1200" dirty="0" smtClean="0">
                          <a:solidFill>
                            <a:srgbClr val="000000"/>
                          </a:solidFill>
                          <a:latin typeface="微软雅黑" pitchFamily="34" charset="-122"/>
                          <a:ea typeface="微软雅黑" pitchFamily="34" charset="-122"/>
                          <a:cs typeface="+mn-cs"/>
                        </a:rPr>
                        <a:t>《</a:t>
                      </a:r>
                      <a:r>
                        <a:rPr lang="zh-CN" altLang="en-US" sz="1100" b="0" i="0" u="none" strike="noStrike" kern="1200" dirty="0" smtClean="0">
                          <a:solidFill>
                            <a:srgbClr val="000000"/>
                          </a:solidFill>
                          <a:latin typeface="微软雅黑" pitchFamily="34" charset="-122"/>
                          <a:ea typeface="微软雅黑" pitchFamily="34" charset="-122"/>
                          <a:cs typeface="+mn-cs"/>
                        </a:rPr>
                        <a:t>业务需求说明书</a:t>
                      </a:r>
                      <a:r>
                        <a:rPr lang="en-US" altLang="zh-CN" sz="1100" b="0" i="0" u="none" strike="noStrike" kern="1200" dirty="0" smtClean="0">
                          <a:solidFill>
                            <a:srgbClr val="000000"/>
                          </a:solidFill>
                          <a:latin typeface="微软雅黑" pitchFamily="34" charset="-122"/>
                          <a:ea typeface="微软雅黑" pitchFamily="34" charset="-122"/>
                          <a:cs typeface="+mn-cs"/>
                        </a:rPr>
                        <a:t>》</a:t>
                      </a:r>
                      <a:endParaRPr lang="zh-CN" altLang="en-US" sz="1100" b="0" i="0" u="none" strike="noStrike" kern="1200" dirty="0">
                        <a:solidFill>
                          <a:srgbClr val="000000"/>
                        </a:solidFill>
                        <a:latin typeface="微软雅黑" pitchFamily="34" charset="-122"/>
                        <a:ea typeface="微软雅黑" pitchFamily="34" charset="-122"/>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5970">
                <a:tc vMerge="1">
                  <a:txBody>
                    <a:bodyPr/>
                    <a:lstStyle/>
                    <a:p>
                      <a:endParaRPr lang="zh-CN" altLang="en-US"/>
                    </a:p>
                  </a:txBody>
                  <a:tcPr/>
                </a:tc>
                <a:tc vMerge="1">
                  <a:txBody>
                    <a:bodyPr/>
                    <a:lstStyle/>
                    <a:p>
                      <a:endParaRPr lang="zh-CN" altLang="en-US"/>
                    </a:p>
                  </a:txBody>
                  <a:tcPr/>
                </a:tc>
                <a:tc>
                  <a:txBody>
                    <a:bodyPr/>
                    <a:lstStyle/>
                    <a:p>
                      <a:pPr algn="l" rtl="0" fontAlgn="ct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需求分析</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需求规格说明书</a:t>
                      </a:r>
                      <a:r>
                        <a:rPr lang="en-US" altLang="zh-CN" sz="1100" b="0" i="0" u="none" strike="noStrike" dirty="0">
                          <a:solidFill>
                            <a:srgbClr val="000000"/>
                          </a:solidFill>
                          <a:latin typeface="微软雅黑" pitchFamily="34" charset="-122"/>
                          <a:ea typeface="微软雅黑" pitchFamily="34" charset="-122"/>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0476">
                <a:tc rowSpan="4">
                  <a:txBody>
                    <a:bodyPr/>
                    <a:lstStyle/>
                    <a:p>
                      <a:pPr algn="ctr" rtl="0" fontAlgn="ctr"/>
                      <a:r>
                        <a:rPr lang="zh-CN" altLang="en-US" sz="1100" b="0" i="0" u="none" strike="noStrike" dirty="0">
                          <a:solidFill>
                            <a:srgbClr val="000000"/>
                          </a:solidFill>
                          <a:latin typeface="微软雅黑" pitchFamily="34" charset="-122"/>
                          <a:ea typeface="微软雅黑" pitchFamily="34" charset="-122"/>
                        </a:rPr>
                        <a:t>设计阶段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协调和问题决策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100" b="0" i="0" u="none" strike="noStrike" dirty="0" smtClean="0">
                          <a:solidFill>
                            <a:schemeClr val="tx1"/>
                          </a:solidFill>
                          <a:latin typeface="微软雅黑" pitchFamily="34" charset="-122"/>
                          <a:ea typeface="微软雅黑" pitchFamily="34" charset="-122"/>
                        </a:rPr>
                        <a:t>•</a:t>
                      </a:r>
                      <a:r>
                        <a:rPr lang="zh-CN" altLang="en-US" sz="1100" b="0" i="0" u="none" strike="noStrike" dirty="0" smtClean="0">
                          <a:solidFill>
                            <a:schemeClr val="tx1"/>
                          </a:solidFill>
                          <a:latin typeface="微软雅黑" pitchFamily="34" charset="-122"/>
                          <a:ea typeface="微软雅黑" pitchFamily="34" charset="-122"/>
                        </a:rPr>
                        <a:t>功能分解</a:t>
                      </a:r>
                      <a:endParaRPr lang="zh-CN" altLang="en-US" sz="1100" b="0" i="0" u="none" strike="noStrike" dirty="0">
                        <a:solidFill>
                          <a:schemeClr val="tx1"/>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业务功能分解表</a:t>
                      </a: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（过程）</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概要设计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接口文档</a:t>
                      </a: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初稿</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22602">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1100" b="0" i="0" u="none" strike="noStrike" dirty="0">
                          <a:solidFill>
                            <a:schemeClr val="tx1"/>
                          </a:solidFill>
                          <a:latin typeface="微软雅黑" pitchFamily="34" charset="-122"/>
                          <a:ea typeface="微软雅黑" pitchFamily="34" charset="-122"/>
                        </a:rPr>
                        <a:t>•</a:t>
                      </a:r>
                      <a:r>
                        <a:rPr lang="zh-CN" altLang="en-US" sz="1100" b="0" i="0" u="none" strike="noStrike" dirty="0">
                          <a:solidFill>
                            <a:schemeClr val="tx1"/>
                          </a:solidFill>
                          <a:latin typeface="微软雅黑" pitchFamily="34" charset="-122"/>
                          <a:ea typeface="微软雅黑" pitchFamily="34" charset="-122"/>
                        </a:rPr>
                        <a:t>服务识别</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候选服务定义列表</a:t>
                      </a: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（过程） </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服务分析文档</a:t>
                      </a: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（过程）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接口解释</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584009">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1100" b="0" i="0" u="none" strike="noStrike" dirty="0">
                          <a:solidFill>
                            <a:schemeClr val="tx1"/>
                          </a:solidFill>
                          <a:latin typeface="微软雅黑" pitchFamily="34" charset="-122"/>
                          <a:ea typeface="微软雅黑" pitchFamily="34" charset="-122"/>
                        </a:rPr>
                        <a:t>•</a:t>
                      </a:r>
                      <a:r>
                        <a:rPr lang="zh-CN" altLang="en-US" sz="1100" b="0" i="0" u="none" strike="noStrike" dirty="0">
                          <a:solidFill>
                            <a:schemeClr val="tx1"/>
                          </a:solidFill>
                          <a:latin typeface="微软雅黑" pitchFamily="34" charset="-122"/>
                          <a:ea typeface="微软雅黑" pitchFamily="34" charset="-122"/>
                        </a:rPr>
                        <a:t>服务设计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Font typeface="Wingdings" pitchFamily="2" charset="2"/>
                        <a:buChar char="Ø"/>
                      </a:pP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服务接口定义</a:t>
                      </a: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（初稿）</a:t>
                      </a:r>
                      <a:r>
                        <a:rPr lang="zh-CN" altLang="en-US" sz="1100" dirty="0" smtClean="0">
                          <a:latin typeface="微软雅黑" pitchFamily="34" charset="-122"/>
                          <a:ea typeface="微软雅黑" pitchFamily="34" charset="-122"/>
                        </a:rPr>
                        <a:t>（含服务功能描述、输入输出、报文格式、约束条件、安全性内容、服务提供方、调用方）</a:t>
                      </a:r>
                      <a:endParaRPr lang="en-US" altLang="zh-CN" sz="1100" b="0" i="0" u="none" strike="noStrike" dirty="0" smtClean="0">
                        <a:solidFill>
                          <a:srgbClr val="000000"/>
                        </a:solidFill>
                        <a:latin typeface="微软雅黑" pitchFamily="34" charset="-122"/>
                        <a:ea typeface="微软雅黑" pitchFamily="34" charset="-122"/>
                      </a:endParaRPr>
                    </a:p>
                    <a:p>
                      <a:pPr algn="l" fontAlgn="ctr">
                        <a:buFont typeface="Wingdings" pitchFamily="2" charset="2"/>
                        <a:buChar char="Ø"/>
                      </a:pPr>
                      <a:r>
                        <a:rPr lang="zh-CN" altLang="en-US" sz="1100" b="0" i="0" u="none" strike="noStrike" dirty="0" smtClean="0">
                          <a:solidFill>
                            <a:srgbClr val="000000"/>
                          </a:solidFill>
                          <a:latin typeface="微软雅黑" pitchFamily="34" charset="-122"/>
                          <a:ea typeface="微软雅黑" pitchFamily="34" charset="-122"/>
                        </a:rPr>
                        <a:t>服务技术文档（含</a:t>
                      </a:r>
                      <a:r>
                        <a:rPr lang="en-US" altLang="zh-CN" sz="1100" b="0" i="0" u="none" strike="noStrike" dirty="0" smtClean="0">
                          <a:solidFill>
                            <a:srgbClr val="000000"/>
                          </a:solidFill>
                          <a:latin typeface="微软雅黑" pitchFamily="34" charset="-122"/>
                          <a:ea typeface="微软雅黑" pitchFamily="34" charset="-122"/>
                        </a:rPr>
                        <a:t>WSDL</a:t>
                      </a:r>
                      <a:r>
                        <a:rPr lang="zh-CN" altLang="en-US" sz="1100" b="0" i="0" u="none" strike="noStrike" dirty="0" smtClean="0">
                          <a:solidFill>
                            <a:srgbClr val="000000"/>
                          </a:solidFill>
                          <a:latin typeface="微软雅黑" pitchFamily="34" charset="-122"/>
                          <a:ea typeface="微软雅黑" pitchFamily="34" charset="-122"/>
                        </a:rPr>
                        <a:t>、</a:t>
                      </a:r>
                      <a:r>
                        <a:rPr lang="en-US" altLang="zh-CN" sz="1100" b="0" i="0" u="none" strike="noStrike" dirty="0" smtClean="0">
                          <a:solidFill>
                            <a:srgbClr val="000000"/>
                          </a:solidFill>
                          <a:latin typeface="微软雅黑" pitchFamily="34" charset="-122"/>
                          <a:ea typeface="微软雅黑" pitchFamily="34" charset="-122"/>
                        </a:rPr>
                        <a:t>XSD</a:t>
                      </a:r>
                      <a:r>
                        <a:rPr lang="zh-CN" altLang="en-US" sz="1100" b="0" i="0" u="none" strike="noStrike" dirty="0" smtClean="0">
                          <a:solidFill>
                            <a:srgbClr val="000000"/>
                          </a:solidFill>
                          <a:latin typeface="微软雅黑" pitchFamily="34" charset="-122"/>
                          <a:ea typeface="微软雅黑" pitchFamily="34" charset="-122"/>
                        </a:rPr>
                        <a:t>、</a:t>
                      </a:r>
                      <a:r>
                        <a:rPr lang="en-US" altLang="zh-CN" sz="1100" b="0" i="0" u="none" strike="noStrike" dirty="0" err="1" smtClean="0">
                          <a:solidFill>
                            <a:srgbClr val="000000"/>
                          </a:solidFill>
                          <a:latin typeface="微软雅黑" pitchFamily="34" charset="-122"/>
                          <a:ea typeface="微软雅黑" pitchFamily="34" charset="-122"/>
                        </a:rPr>
                        <a:t>Mapfile</a:t>
                      </a:r>
                      <a:r>
                        <a:rPr lang="zh-CN" altLang="en-US" sz="1100" b="0" i="0" u="none" strike="noStrike" dirty="0" smtClean="0">
                          <a:solidFill>
                            <a:srgbClr val="000000"/>
                          </a:solidFill>
                          <a:latin typeface="微软雅黑" pitchFamily="34" charset="-122"/>
                          <a:ea typeface="微软雅黑" pitchFamily="34" charset="-122"/>
                        </a:rPr>
                        <a:t>）</a:t>
                      </a:r>
                      <a:endParaRPr lang="en-US" altLang="zh-CN" sz="1100" b="0" i="0" u="none" strike="noStrike" dirty="0" smtClean="0">
                        <a:solidFill>
                          <a:srgbClr val="000000"/>
                        </a:solidFill>
                        <a:latin typeface="微软雅黑" pitchFamily="34" charset="-122"/>
                        <a:ea typeface="微软雅黑" pitchFamily="34" charset="-122"/>
                      </a:endParaRPr>
                    </a:p>
                    <a:p>
                      <a:pPr algn="l" fontAlgn="ctr">
                        <a:buFont typeface="Wingdings" pitchFamily="2" charset="2"/>
                        <a:buChar char="Ø"/>
                      </a:pP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元数据字典</a:t>
                      </a:r>
                      <a:r>
                        <a:rPr lang="en-US" altLang="zh-CN" sz="1100" b="0" i="0" u="none" strike="noStrike" dirty="0" smtClean="0">
                          <a:solidFill>
                            <a:srgbClr val="000000"/>
                          </a:solidFill>
                          <a:latin typeface="微软雅黑" pitchFamily="34" charset="-122"/>
                          <a:ea typeface="微软雅黑" pitchFamily="34" charset="-122"/>
                        </a:rPr>
                        <a:t>》</a:t>
                      </a:r>
                    </a:p>
                    <a:p>
                      <a:pPr algn="l" fontAlgn="ctr">
                        <a:buFont typeface="Wingdings" pitchFamily="2" charset="2"/>
                        <a:buChar char="Ø"/>
                      </a:pP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标准代码映射文档</a:t>
                      </a:r>
                      <a:r>
                        <a:rPr lang="en-US" altLang="zh-CN" sz="1100" b="0" i="0" u="none" strike="noStrike" dirty="0" smtClean="0">
                          <a:solidFill>
                            <a:srgbClr val="000000"/>
                          </a:solidFill>
                          <a:latin typeface="微软雅黑" pitchFamily="34" charset="-122"/>
                          <a:ea typeface="微软雅黑" pitchFamily="34" charset="-122"/>
                        </a:rPr>
                        <a:t>》</a:t>
                      </a:r>
                    </a:p>
                    <a:p>
                      <a:pPr algn="l" fontAlgn="ctr">
                        <a:buFont typeface="Wingdings" pitchFamily="2" charset="2"/>
                        <a:buChar char="Ø"/>
                      </a:pPr>
                      <a:r>
                        <a:rPr lang="en-US" altLang="zh-CN" sz="1100" dirty="0" smtClean="0">
                          <a:latin typeface="微软雅黑" pitchFamily="34" charset="-122"/>
                          <a:ea typeface="微软雅黑" pitchFamily="34" charset="-122"/>
                        </a:rPr>
                        <a:t>《</a:t>
                      </a:r>
                      <a:r>
                        <a:rPr lang="zh-CN" altLang="en-US" sz="1100" dirty="0" smtClean="0">
                          <a:latin typeface="微软雅黑" pitchFamily="34" charset="-122"/>
                          <a:ea typeface="微软雅黑" pitchFamily="34" charset="-122"/>
                        </a:rPr>
                        <a:t>服务接口依赖关系视图</a:t>
                      </a:r>
                      <a:r>
                        <a:rPr lang="en-US" altLang="zh-CN" sz="1100" dirty="0" smtClean="0">
                          <a:latin typeface="微软雅黑" pitchFamily="34" charset="-122"/>
                          <a:ea typeface="微软雅黑" pitchFamily="34" charset="-122"/>
                        </a:rPr>
                        <a:t>》</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 typeface="Arial" pitchFamily="34" charset="0"/>
                        <a:buChar char="•"/>
                        <a:tabLst/>
                        <a:defRPr/>
                      </a:pPr>
                      <a:r>
                        <a:rPr lang="zh-CN" altLang="en-US" sz="1100" b="0" i="0" u="none" strike="noStrike" dirty="0" smtClean="0">
                          <a:solidFill>
                            <a:srgbClr val="000000"/>
                          </a:solidFill>
                          <a:latin typeface="微软雅黑" pitchFamily="34" charset="-122"/>
                          <a:ea typeface="微软雅黑" pitchFamily="34" charset="-122"/>
                        </a:rPr>
                        <a:t>服务设计配合</a:t>
                      </a:r>
                    </a:p>
                    <a:p>
                      <a:pPr algn="l" rtl="0" fontAlgn="ctr">
                        <a:buFont typeface="Arial" pitchFamily="34" charset="0"/>
                        <a:buChar char="•"/>
                      </a:pP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100" b="0" i="0" u="none" strike="noStrike" dirty="0" smtClean="0">
                          <a:solidFill>
                            <a:srgbClr val="000000"/>
                          </a:solidFill>
                          <a:latin typeface="微软雅黑" pitchFamily="34" charset="-122"/>
                          <a:ea typeface="微软雅黑" pitchFamily="34" charset="-122"/>
                        </a:rPr>
                        <a:t>《SLA</a:t>
                      </a:r>
                      <a:r>
                        <a:rPr lang="zh-CN" altLang="en-US" sz="1100" b="0" i="0" u="none" strike="noStrike" dirty="0" smtClean="0">
                          <a:solidFill>
                            <a:srgbClr val="000000"/>
                          </a:solidFill>
                          <a:latin typeface="微软雅黑" pitchFamily="34" charset="-122"/>
                          <a:ea typeface="微软雅黑" pitchFamily="34" charset="-122"/>
                        </a:rPr>
                        <a:t>文档</a:t>
                      </a:r>
                      <a:r>
                        <a:rPr lang="en-US" altLang="zh-CN" sz="1100" b="0" i="0" u="none" strike="noStrike" dirty="0" smtClean="0">
                          <a:solidFill>
                            <a:srgbClr val="000000"/>
                          </a:solidFill>
                          <a:latin typeface="微软雅黑" pitchFamily="34" charset="-122"/>
                          <a:ea typeface="微软雅黑" pitchFamily="34" charset="-122"/>
                        </a:rPr>
                        <a:t>》</a:t>
                      </a:r>
                    </a:p>
                    <a:p>
                      <a:pPr algn="l" rtl="0" fontAlgn="ct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0476">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1100" b="0" i="0" u="none" strike="noStrike" dirty="0">
                          <a:solidFill>
                            <a:schemeClr val="tx1"/>
                          </a:solidFill>
                          <a:latin typeface="微软雅黑" pitchFamily="34" charset="-122"/>
                          <a:ea typeface="微软雅黑" pitchFamily="34" charset="-122"/>
                        </a:rPr>
                        <a:t>•</a:t>
                      </a:r>
                      <a:r>
                        <a:rPr lang="zh-CN" altLang="en-US" sz="1100" b="0" i="0" u="none" strike="noStrike" dirty="0">
                          <a:solidFill>
                            <a:schemeClr val="tx1"/>
                          </a:solidFill>
                          <a:latin typeface="微软雅黑" pitchFamily="34" charset="-122"/>
                          <a:ea typeface="微软雅黑" pitchFamily="34" charset="-122"/>
                        </a:rPr>
                        <a:t>参与概要设计评审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1100" b="0" i="0" u="none" strike="noStrike" dirty="0">
                          <a:solidFill>
                            <a:schemeClr val="tx1"/>
                          </a:solidFill>
                          <a:latin typeface="微软雅黑" pitchFamily="34" charset="-122"/>
                          <a:ea typeface="微软雅黑" pitchFamily="34" charset="-122"/>
                        </a:rPr>
                        <a:t>《</a:t>
                      </a:r>
                      <a:r>
                        <a:rPr lang="zh-CN" altLang="en-US" sz="1100" b="0" i="0" u="none" strike="noStrike" dirty="0">
                          <a:solidFill>
                            <a:schemeClr val="tx1"/>
                          </a:solidFill>
                          <a:latin typeface="微软雅黑" pitchFamily="34" charset="-122"/>
                          <a:ea typeface="微软雅黑" pitchFamily="34" charset="-122"/>
                        </a:rPr>
                        <a:t>服务接口定义</a:t>
                      </a:r>
                      <a:r>
                        <a:rPr lang="en-US" altLang="zh-CN" sz="1100" b="0" i="0" u="none" strike="noStrike" dirty="0">
                          <a:solidFill>
                            <a:schemeClr val="tx1"/>
                          </a:solidFill>
                          <a:latin typeface="微软雅黑" pitchFamily="34" charset="-122"/>
                          <a:ea typeface="微软雅黑" pitchFamily="34" charset="-122"/>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chemeClr val="tx1"/>
                          </a:solidFill>
                          <a:latin typeface="微软雅黑" pitchFamily="34" charset="-122"/>
                          <a:ea typeface="微软雅黑" pitchFamily="34" charset="-122"/>
                        </a:rPr>
                        <a:t>•</a:t>
                      </a:r>
                      <a:r>
                        <a:rPr lang="zh-CN" altLang="en-US" sz="1100" b="0" i="0" u="none" strike="noStrike" dirty="0">
                          <a:solidFill>
                            <a:schemeClr val="tx1"/>
                          </a:solidFill>
                          <a:latin typeface="微软雅黑" pitchFamily="34" charset="-122"/>
                          <a:ea typeface="微软雅黑" pitchFamily="34" charset="-122"/>
                        </a:rPr>
                        <a:t>概要设计评审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endParaRPr lang="en-US" altLang="zh-CN" sz="1100" b="0" i="0" u="none" strike="noStrike" dirty="0">
                        <a:solidFill>
                          <a:srgbClr val="00206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0476">
                <a:tc>
                  <a:txBody>
                    <a:bodyPr/>
                    <a:lstStyle/>
                    <a:p>
                      <a:pPr algn="ctr" rtl="0" fontAlgn="ctr"/>
                      <a:r>
                        <a:rPr lang="zh-CN" altLang="en-US" sz="1100" b="0" i="0" u="none" strike="noStrike">
                          <a:solidFill>
                            <a:srgbClr val="000000"/>
                          </a:solidFill>
                          <a:latin typeface="微软雅黑" pitchFamily="34" charset="-122"/>
                          <a:ea typeface="微软雅黑" pitchFamily="34" charset="-122"/>
                        </a:rPr>
                        <a:t>开发阶段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协调和问题决策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配合服务</a:t>
                      </a:r>
                      <a:r>
                        <a:rPr lang="zh-CN" altLang="en-US" sz="1100" b="0" i="0" u="none" strike="noStrike" dirty="0">
                          <a:solidFill>
                            <a:srgbClr val="000000"/>
                          </a:solidFill>
                          <a:latin typeface="微软雅黑" pitchFamily="34" charset="-122"/>
                          <a:ea typeface="微软雅黑" pitchFamily="34" charset="-122"/>
                        </a:rPr>
                        <a:t>实现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a:solidFill>
                            <a:srgbClr val="000000"/>
                          </a:solidFill>
                          <a:latin typeface="微软雅黑" pitchFamily="34" charset="-122"/>
                          <a:ea typeface="微软雅黑" pitchFamily="34" charset="-122"/>
                        </a:rPr>
                        <a:t>•</a:t>
                      </a:r>
                      <a:r>
                        <a:rPr lang="zh-CN" altLang="en-US" sz="1100" b="0" i="0" u="none" strike="noStrike">
                          <a:solidFill>
                            <a:srgbClr val="000000"/>
                          </a:solidFill>
                          <a:latin typeface="微软雅黑" pitchFamily="34" charset="-122"/>
                          <a:ea typeface="微软雅黑" pitchFamily="34" charset="-122"/>
                        </a:rPr>
                        <a:t>服务实现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0476">
                <a:tc>
                  <a:txBody>
                    <a:bodyPr/>
                    <a:lstStyle/>
                    <a:p>
                      <a:pPr algn="ctr" rtl="0" fontAlgn="ctr"/>
                      <a:r>
                        <a:rPr lang="zh-CN" altLang="en-US" sz="1100" b="0" i="0" u="none" strike="noStrike">
                          <a:solidFill>
                            <a:srgbClr val="000000"/>
                          </a:solidFill>
                          <a:latin typeface="微软雅黑" pitchFamily="34" charset="-122"/>
                          <a:ea typeface="微软雅黑" pitchFamily="34" charset="-122"/>
                        </a:rPr>
                        <a:t>测试阶段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协调和问题决策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a:solidFill>
                            <a:srgbClr val="000000"/>
                          </a:solidFill>
                          <a:latin typeface="微软雅黑" pitchFamily="34" charset="-122"/>
                          <a:ea typeface="微软雅黑" pitchFamily="34" charset="-122"/>
                        </a:rPr>
                        <a:t>•</a:t>
                      </a:r>
                      <a:r>
                        <a:rPr lang="zh-CN" altLang="en-US" sz="1100" b="0" i="0" u="none" strike="noStrike">
                          <a:solidFill>
                            <a:srgbClr val="000000"/>
                          </a:solidFill>
                          <a:latin typeface="微软雅黑" pitchFamily="34" charset="-122"/>
                          <a:ea typeface="微软雅黑" pitchFamily="34" charset="-122"/>
                        </a:rPr>
                        <a:t>配合服务测试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a:solidFill>
                            <a:srgbClr val="000000"/>
                          </a:solidFill>
                          <a:latin typeface="微软雅黑" pitchFamily="34" charset="-122"/>
                          <a:ea typeface="微软雅黑" pitchFamily="34" charset="-122"/>
                        </a:rPr>
                        <a:t>•</a:t>
                      </a:r>
                      <a:r>
                        <a:rPr lang="zh-CN" altLang="en-US" sz="1100" b="0" i="0" u="none" strike="noStrike">
                          <a:solidFill>
                            <a:srgbClr val="000000"/>
                          </a:solidFill>
                          <a:latin typeface="微软雅黑" pitchFamily="34" charset="-122"/>
                          <a:ea typeface="微软雅黑" pitchFamily="34" charset="-122"/>
                        </a:rPr>
                        <a:t>服务测试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0476">
                <a:tc>
                  <a:txBody>
                    <a:bodyPr/>
                    <a:lstStyle/>
                    <a:p>
                      <a:pPr algn="ctr" rtl="0" fontAlgn="ctr"/>
                      <a:r>
                        <a:rPr lang="zh-CN" altLang="en-US" sz="1100" b="0" i="0" u="none" strike="noStrike">
                          <a:solidFill>
                            <a:srgbClr val="000000"/>
                          </a:solidFill>
                          <a:latin typeface="微软雅黑" pitchFamily="34" charset="-122"/>
                          <a:ea typeface="微软雅黑" pitchFamily="34" charset="-122"/>
                        </a:rPr>
                        <a:t>投产阶段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a:solidFill>
                            <a:srgbClr val="000000"/>
                          </a:solidFill>
                          <a:latin typeface="微软雅黑" pitchFamily="34" charset="-122"/>
                          <a:ea typeface="微软雅黑" pitchFamily="34" charset="-122"/>
                        </a:rPr>
                        <a:t>协调和问题决策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smtClean="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配合服务投产 </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altLang="zh-CN" sz="1100" b="0" i="0" u="none" strike="noStrike" dirty="0">
                          <a:solidFill>
                            <a:srgbClr val="000000"/>
                          </a:solidFill>
                          <a:latin typeface="微软雅黑" pitchFamily="34" charset="-122"/>
                          <a:ea typeface="微软雅黑" pitchFamily="34" charset="-122"/>
                        </a:rPr>
                        <a:t>•</a:t>
                      </a:r>
                      <a:r>
                        <a:rPr lang="zh-CN" altLang="en-US" sz="1100" b="0" i="0" u="none" strike="noStrike" dirty="0" smtClean="0">
                          <a:solidFill>
                            <a:srgbClr val="000000"/>
                          </a:solidFill>
                          <a:latin typeface="微软雅黑" pitchFamily="34" charset="-122"/>
                          <a:ea typeface="微软雅黑" pitchFamily="34" charset="-122"/>
                        </a:rPr>
                        <a:t>服务投产</a:t>
                      </a:r>
                      <a:endParaRPr lang="zh-CN" altLang="en-US" sz="1100" b="0" i="0" u="none" strike="noStrike" dirty="0">
                        <a:solidFill>
                          <a:srgbClr val="000000"/>
                        </a:solidFill>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1100" b="0" i="0" u="none" strike="noStrike" dirty="0">
                          <a:solidFill>
                            <a:srgbClr val="000000"/>
                          </a:solidFill>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448588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61100" y="3167769"/>
            <a:ext cx="2031325" cy="646331"/>
          </a:xfrm>
          <a:prstGeom prst="rect">
            <a:avLst/>
          </a:prstGeom>
        </p:spPr>
        <p:txBody>
          <a:bodyPr wrap="none">
            <a:spAutoFit/>
          </a:bodyPr>
          <a:lstStyle/>
          <a:p>
            <a:r>
              <a:rPr lang="zh-CN" altLang="en-US" sz="3600" b="1" dirty="0" smtClean="0">
                <a:latin typeface="华文细黑"/>
                <a:ea typeface="华文细黑"/>
                <a:cs typeface="华文细黑"/>
              </a:rPr>
              <a:t>服务定义</a:t>
            </a:r>
            <a:endParaRPr lang="zh-CN" altLang="en-US" sz="3600" b="1" dirty="0">
              <a:latin typeface="华文细黑"/>
              <a:ea typeface="华文细黑"/>
              <a:cs typeface="华文细黑"/>
            </a:endParaRPr>
          </a:p>
        </p:txBody>
      </p:sp>
      <p:sp>
        <p:nvSpPr>
          <p:cNvPr id="5" name="文本框 4"/>
          <p:cNvSpPr txBox="1"/>
          <p:nvPr/>
        </p:nvSpPr>
        <p:spPr>
          <a:xfrm>
            <a:off x="2351584" y="2780928"/>
            <a:ext cx="497252" cy="769441"/>
          </a:xfrm>
          <a:prstGeom prst="rect">
            <a:avLst/>
          </a:prstGeom>
        </p:spPr>
        <p:txBody>
          <a:bodyPr wrap="none">
            <a:spAutoFit/>
          </a:bodyPr>
          <a:lstStyle>
            <a:defPPr>
              <a:defRPr lang="zh-CN"/>
            </a:defPPr>
            <a:lvl1pPr>
              <a:defRPr sz="3600" b="1">
                <a:latin typeface="华文细黑"/>
                <a:ea typeface="华文细黑"/>
                <a:cs typeface="华文细黑"/>
              </a:defRPr>
            </a:lvl1pPr>
          </a:lstStyle>
          <a:p>
            <a:r>
              <a:rPr lang="en-US" altLang="zh-CN" sz="4400" i="1" dirty="0">
                <a:solidFill>
                  <a:srgbClr val="797979"/>
                </a:solidFill>
              </a:rPr>
              <a:t>3</a:t>
            </a:r>
            <a:endParaRPr lang="zh-CN" altLang="en-US" sz="4400" i="1" dirty="0">
              <a:solidFill>
                <a:srgbClr val="797979"/>
              </a:solidFill>
            </a:endParaRPr>
          </a:p>
        </p:txBody>
      </p:sp>
      <p:cxnSp>
        <p:nvCxnSpPr>
          <p:cNvPr id="7" name="直线连接符 6"/>
          <p:cNvCxnSpPr/>
          <p:nvPr/>
        </p:nvCxnSpPr>
        <p:spPr>
          <a:xfrm flipH="1">
            <a:off x="2423592" y="2840231"/>
            <a:ext cx="792088" cy="940879"/>
          </a:xfrm>
          <a:prstGeom prst="line">
            <a:avLst/>
          </a:prstGeom>
          <a:ln w="25400">
            <a:solidFill>
              <a:srgbClr val="929292"/>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283355" y="2636912"/>
            <a:ext cx="902811"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流程</a:t>
            </a:r>
            <a:endParaRPr kumimoji="1" lang="zh-CN" altLang="en-US" sz="2800" dirty="0" smtClean="0">
              <a:solidFill>
                <a:schemeClr val="tx2">
                  <a:lumMod val="75000"/>
                </a:schemeClr>
              </a:solidFill>
              <a:latin typeface="华文细黑"/>
              <a:ea typeface="华文细黑"/>
              <a:cs typeface="华文细黑"/>
            </a:endParaRPr>
          </a:p>
        </p:txBody>
      </p:sp>
      <p:sp>
        <p:nvSpPr>
          <p:cNvPr id="8" name="文本框 7"/>
          <p:cNvSpPr txBox="1"/>
          <p:nvPr/>
        </p:nvSpPr>
        <p:spPr>
          <a:xfrm>
            <a:off x="7283355" y="3587733"/>
            <a:ext cx="1620957"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指导</a:t>
            </a:r>
            <a:r>
              <a:rPr kumimoji="1" lang="zh-CN" altLang="en-US" sz="2800" dirty="0" smtClean="0">
                <a:solidFill>
                  <a:schemeClr val="tx2">
                    <a:lumMod val="75000"/>
                  </a:schemeClr>
                </a:solidFill>
                <a:latin typeface="华文细黑"/>
                <a:ea typeface="华文细黑"/>
                <a:cs typeface="华文细黑"/>
              </a:rPr>
              <a:t>原则</a:t>
            </a:r>
          </a:p>
        </p:txBody>
      </p:sp>
      <p:cxnSp>
        <p:nvCxnSpPr>
          <p:cNvPr id="9" name="直线连接符 15"/>
          <p:cNvCxnSpPr/>
          <p:nvPr/>
        </p:nvCxnSpPr>
        <p:spPr>
          <a:xfrm>
            <a:off x="7138694" y="1700808"/>
            <a:ext cx="0" cy="4326504"/>
          </a:xfrm>
          <a:prstGeom prst="line">
            <a:avLst/>
          </a:prstGeom>
          <a:ln w="3175"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椭圆 9"/>
          <p:cNvSpPr>
            <a:spLocks noChangeAspect="1"/>
          </p:cNvSpPr>
          <p:nvPr/>
        </p:nvSpPr>
        <p:spPr>
          <a:xfrm>
            <a:off x="7048683" y="2790511"/>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
        <p:nvSpPr>
          <p:cNvPr id="11" name="椭圆 10"/>
          <p:cNvSpPr>
            <a:spLocks noChangeAspect="1"/>
          </p:cNvSpPr>
          <p:nvPr/>
        </p:nvSpPr>
        <p:spPr>
          <a:xfrm>
            <a:off x="7048683" y="3742221"/>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
        <p:nvSpPr>
          <p:cNvPr id="12" name="文本框 11"/>
          <p:cNvSpPr txBox="1"/>
          <p:nvPr/>
        </p:nvSpPr>
        <p:spPr>
          <a:xfrm>
            <a:off x="7283355" y="4538554"/>
            <a:ext cx="902811" cy="523220"/>
          </a:xfrm>
          <a:prstGeom prst="rect">
            <a:avLst/>
          </a:prstGeom>
          <a:noFill/>
        </p:spPr>
        <p:txBody>
          <a:bodyPr wrap="none" rtlCol="0">
            <a:spAutoFit/>
          </a:bodyPr>
          <a:lstStyle/>
          <a:p>
            <a:r>
              <a:rPr kumimoji="1" lang="zh-CN" altLang="en-US" sz="2800" dirty="0">
                <a:solidFill>
                  <a:schemeClr val="tx2">
                    <a:lumMod val="75000"/>
                  </a:schemeClr>
                </a:solidFill>
                <a:latin typeface="华文细黑"/>
                <a:ea typeface="华文细黑"/>
                <a:cs typeface="华文细黑"/>
              </a:rPr>
              <a:t>示例</a:t>
            </a:r>
            <a:endParaRPr kumimoji="1" lang="zh-CN" altLang="en-US" sz="2800" dirty="0" smtClean="0">
              <a:solidFill>
                <a:schemeClr val="tx2">
                  <a:lumMod val="75000"/>
                </a:schemeClr>
              </a:solidFill>
              <a:latin typeface="华文细黑"/>
              <a:ea typeface="华文细黑"/>
              <a:cs typeface="华文细黑"/>
            </a:endParaRPr>
          </a:p>
        </p:txBody>
      </p:sp>
      <p:sp>
        <p:nvSpPr>
          <p:cNvPr id="13" name="椭圆 12"/>
          <p:cNvSpPr>
            <a:spLocks noChangeAspect="1"/>
          </p:cNvSpPr>
          <p:nvPr/>
        </p:nvSpPr>
        <p:spPr>
          <a:xfrm>
            <a:off x="7048683" y="4693042"/>
            <a:ext cx="180023" cy="180023"/>
          </a:xfrm>
          <a:prstGeom prst="ellipse">
            <a:avLst/>
          </a:prstGeom>
          <a:solidFill>
            <a:srgbClr val="4BACC6"/>
          </a:solidFill>
          <a:ln>
            <a:solidFill>
              <a:srgbClr val="4BACC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sz="2000" dirty="0" smtClean="0">
              <a:solidFill>
                <a:schemeClr val="tx1">
                  <a:lumMod val="75000"/>
                </a:schemeClr>
              </a:solidFill>
              <a:latin typeface="Microsoft YaHei" charset="0"/>
              <a:ea typeface="Microsoft YaHei" charset="0"/>
              <a:cs typeface="Microsoft YaHei" charset="0"/>
            </a:endParaRPr>
          </a:p>
        </p:txBody>
      </p:sp>
    </p:spTree>
    <p:extLst>
      <p:ext uri="{BB962C8B-B14F-4D97-AF65-F5344CB8AC3E}">
        <p14:creationId xmlns:p14="http://schemas.microsoft.com/office/powerpoint/2010/main" val="35208128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服务定义流程</a:t>
            </a:r>
            <a:endParaRPr lang="en-US" dirty="0"/>
          </a:p>
        </p:txBody>
      </p:sp>
      <p:sp>
        <p:nvSpPr>
          <p:cNvPr id="28" name="矩形 27"/>
          <p:cNvSpPr/>
          <p:nvPr/>
        </p:nvSpPr>
        <p:spPr bwMode="auto">
          <a:xfrm>
            <a:off x="2084904" y="1554454"/>
            <a:ext cx="2520160" cy="4071966"/>
          </a:xfrm>
          <a:prstGeom prst="rect">
            <a:avLst/>
          </a:prstGeom>
          <a:solidFill>
            <a:schemeClr val="bg1">
              <a:alpha val="0"/>
            </a:schemeClr>
          </a:solidFill>
          <a:ln w="12700">
            <a:solidFill>
              <a:schemeClr val="accent1"/>
            </a:solidFill>
            <a:prstDash val="dash"/>
            <a:miter lim="800000"/>
            <a:headEnd/>
            <a:tailEnd/>
          </a:ln>
        </p:spPr>
        <p:txBody>
          <a:bodyPr wrap="none" rtlCol="0" anchor="ctr"/>
          <a:lstStyle/>
          <a:p>
            <a:pPr algn="ctr"/>
            <a:endParaRPr lang="zh-CN" altLang="en-US" sz="1200" dirty="0">
              <a:solidFill>
                <a:schemeClr val="bg1"/>
              </a:solidFill>
              <a:latin typeface="华文楷体" pitchFamily="2" charset="-122"/>
              <a:ea typeface="华文楷体" pitchFamily="2" charset="-122"/>
            </a:endParaRPr>
          </a:p>
        </p:txBody>
      </p:sp>
      <p:sp>
        <p:nvSpPr>
          <p:cNvPr id="29" name="矩形 28"/>
          <p:cNvSpPr/>
          <p:nvPr/>
        </p:nvSpPr>
        <p:spPr bwMode="auto">
          <a:xfrm>
            <a:off x="7371316" y="1554454"/>
            <a:ext cx="2469100" cy="4071966"/>
          </a:xfrm>
          <a:prstGeom prst="rect">
            <a:avLst/>
          </a:prstGeom>
          <a:solidFill>
            <a:schemeClr val="bg1">
              <a:alpha val="0"/>
            </a:schemeClr>
          </a:solidFill>
          <a:ln w="12700">
            <a:solidFill>
              <a:schemeClr val="accent1"/>
            </a:solidFill>
            <a:prstDash val="dash"/>
            <a:miter lim="800000"/>
            <a:headEnd/>
            <a:tailEnd/>
          </a:ln>
        </p:spPr>
        <p:txBody>
          <a:bodyPr wrap="none" rtlCol="0" anchor="ctr"/>
          <a:lstStyle/>
          <a:p>
            <a:pPr algn="ctr"/>
            <a:endParaRPr lang="zh-CN" altLang="en-US" sz="1200">
              <a:solidFill>
                <a:schemeClr val="bg1"/>
              </a:solidFill>
              <a:latin typeface="华文楷体" pitchFamily="2" charset="-122"/>
              <a:ea typeface="华文楷体" pitchFamily="2" charset="-122"/>
            </a:endParaRPr>
          </a:p>
        </p:txBody>
      </p:sp>
      <p:sp>
        <p:nvSpPr>
          <p:cNvPr id="30" name="矩形 29"/>
          <p:cNvSpPr/>
          <p:nvPr/>
        </p:nvSpPr>
        <p:spPr bwMode="auto">
          <a:xfrm>
            <a:off x="4738370" y="1554454"/>
            <a:ext cx="2520160" cy="4071966"/>
          </a:xfrm>
          <a:prstGeom prst="rect">
            <a:avLst/>
          </a:prstGeom>
          <a:solidFill>
            <a:schemeClr val="bg1">
              <a:alpha val="0"/>
            </a:schemeClr>
          </a:solidFill>
          <a:ln w="12700">
            <a:solidFill>
              <a:schemeClr val="accent1"/>
            </a:solidFill>
            <a:prstDash val="dash"/>
            <a:miter lim="800000"/>
            <a:headEnd/>
            <a:tailEnd/>
          </a:ln>
        </p:spPr>
        <p:txBody>
          <a:bodyPr wrap="none" rtlCol="0" anchor="ctr"/>
          <a:lstStyle/>
          <a:p>
            <a:pPr algn="ctr"/>
            <a:endParaRPr lang="zh-CN" altLang="en-US" sz="1200" dirty="0">
              <a:solidFill>
                <a:schemeClr val="bg1"/>
              </a:solidFill>
              <a:latin typeface="华文楷体" pitchFamily="2" charset="-122"/>
              <a:ea typeface="华文楷体" pitchFamily="2" charset="-122"/>
            </a:endParaRPr>
          </a:p>
        </p:txBody>
      </p:sp>
      <p:sp>
        <p:nvSpPr>
          <p:cNvPr id="31" name="AutoShape 103"/>
          <p:cNvSpPr>
            <a:spLocks noChangeArrowheads="1"/>
          </p:cNvSpPr>
          <p:nvPr/>
        </p:nvSpPr>
        <p:spPr bwMode="auto">
          <a:xfrm>
            <a:off x="5170418" y="3906208"/>
            <a:ext cx="1772270" cy="534438"/>
          </a:xfrm>
          <a:prstGeom prst="roundRect">
            <a:avLst>
              <a:gd name="adj" fmla="val 5690"/>
            </a:avLst>
          </a:prstGeom>
          <a:solidFill>
            <a:srgbClr val="0070C0"/>
          </a:solidFill>
          <a:ln w="9525">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lnRef>
          <a:fillRef idx="1">
            <a:schemeClr val="lt1"/>
          </a:fillRef>
          <a:effectRef idx="0">
            <a:schemeClr val="dk1"/>
          </a:effectRef>
          <a:fontRef idx="minor">
            <a:schemeClr val="dk1"/>
          </a:fontRef>
        </p:style>
        <p:txBody>
          <a:bodyPr lIns="64008" tIns="32004" rIns="64008" bIns="32004" anchor="ctr"/>
          <a:lstStyle/>
          <a:p>
            <a:pPr algn="ctr">
              <a:defRPr/>
            </a:pPr>
            <a:r>
              <a:rPr lang="zh-CN" altLang="en-US" sz="1600" b="1" dirty="0" smtClean="0">
                <a:solidFill>
                  <a:schemeClr val="bg1"/>
                </a:solidFill>
                <a:latin typeface="微软雅黑" pitchFamily="34" charset="-122"/>
                <a:ea typeface="微软雅黑" pitchFamily="34" charset="-122"/>
                <a:cs typeface="Times New Roman" pitchFamily="18" charset="0"/>
              </a:rPr>
              <a:t>服务识别</a:t>
            </a:r>
            <a:endParaRPr lang="zh-CN" altLang="en-US" sz="1600" b="1" dirty="0">
              <a:solidFill>
                <a:schemeClr val="bg1"/>
              </a:solidFill>
              <a:latin typeface="微软雅黑" pitchFamily="34" charset="-122"/>
              <a:ea typeface="微软雅黑" pitchFamily="34" charset="-122"/>
            </a:endParaRPr>
          </a:p>
        </p:txBody>
      </p:sp>
      <p:sp>
        <p:nvSpPr>
          <p:cNvPr id="32" name="AutoShape 103"/>
          <p:cNvSpPr>
            <a:spLocks noChangeArrowheads="1"/>
          </p:cNvSpPr>
          <p:nvPr/>
        </p:nvSpPr>
        <p:spPr bwMode="auto">
          <a:xfrm>
            <a:off x="7762586" y="3906208"/>
            <a:ext cx="1823308" cy="534438"/>
          </a:xfrm>
          <a:prstGeom prst="roundRect">
            <a:avLst>
              <a:gd name="adj" fmla="val 5690"/>
            </a:avLst>
          </a:prstGeom>
          <a:solidFill>
            <a:srgbClr val="0070C0"/>
          </a:solidFill>
          <a:ln w="9525">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lnRef>
          <a:fillRef idx="1">
            <a:schemeClr val="lt1"/>
          </a:fillRef>
          <a:effectRef idx="0">
            <a:schemeClr val="dk1"/>
          </a:effectRef>
          <a:fontRef idx="minor">
            <a:schemeClr val="dk1"/>
          </a:fontRef>
        </p:style>
        <p:txBody>
          <a:bodyPr lIns="64008" tIns="32004" rIns="64008" bIns="32004" anchor="ctr"/>
          <a:lstStyle/>
          <a:p>
            <a:pPr algn="ctr">
              <a:defRPr/>
            </a:pPr>
            <a:r>
              <a:rPr lang="zh-CN" altLang="en-US" sz="1600" b="1" dirty="0" smtClean="0">
                <a:solidFill>
                  <a:schemeClr val="bg1"/>
                </a:solidFill>
                <a:latin typeface="微软雅黑" pitchFamily="34" charset="-122"/>
                <a:ea typeface="微软雅黑" pitchFamily="34" charset="-122"/>
                <a:cs typeface="Times New Roman" pitchFamily="18" charset="0"/>
              </a:rPr>
              <a:t>服务设计</a:t>
            </a:r>
            <a:endParaRPr lang="zh-CN" altLang="en-US" sz="1600" b="1" dirty="0">
              <a:solidFill>
                <a:schemeClr val="bg1"/>
              </a:solidFill>
              <a:latin typeface="微软雅黑" pitchFamily="34" charset="-122"/>
              <a:ea typeface="微软雅黑" pitchFamily="34" charset="-122"/>
            </a:endParaRPr>
          </a:p>
        </p:txBody>
      </p:sp>
      <p:sp>
        <p:nvSpPr>
          <p:cNvPr id="33" name="AutoShape 103"/>
          <p:cNvSpPr>
            <a:spLocks noChangeArrowheads="1"/>
          </p:cNvSpPr>
          <p:nvPr/>
        </p:nvSpPr>
        <p:spPr bwMode="auto">
          <a:xfrm>
            <a:off x="2553740" y="3911908"/>
            <a:ext cx="1580066" cy="534438"/>
          </a:xfrm>
          <a:prstGeom prst="roundRect">
            <a:avLst>
              <a:gd name="adj" fmla="val 5690"/>
            </a:avLst>
          </a:prstGeom>
          <a:solidFill>
            <a:srgbClr val="0070C0"/>
          </a:solidFill>
          <a:ln w="9525">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lnRef>
          <a:fillRef idx="1">
            <a:schemeClr val="lt1"/>
          </a:fillRef>
          <a:effectRef idx="0">
            <a:schemeClr val="dk1"/>
          </a:effectRef>
          <a:fontRef idx="minor">
            <a:schemeClr val="dk1"/>
          </a:fontRef>
        </p:style>
        <p:txBody>
          <a:bodyPr lIns="64008" tIns="32004" rIns="64008" bIns="32004" anchor="ctr"/>
          <a:lstStyle/>
          <a:p>
            <a:pPr algn="ctr">
              <a:defRPr/>
            </a:pPr>
            <a:r>
              <a:rPr lang="zh-CN" altLang="en-US" sz="1600" b="1" dirty="0" smtClean="0">
                <a:solidFill>
                  <a:schemeClr val="bg1"/>
                </a:solidFill>
                <a:latin typeface="微软雅黑" pitchFamily="34" charset="-122"/>
                <a:ea typeface="微软雅黑" pitchFamily="34" charset="-122"/>
              </a:rPr>
              <a:t>功能分解</a:t>
            </a:r>
            <a:endParaRPr lang="zh-CN" altLang="en-US" sz="1600" b="1" dirty="0">
              <a:solidFill>
                <a:schemeClr val="bg1"/>
              </a:solidFill>
              <a:latin typeface="微软雅黑" pitchFamily="34" charset="-122"/>
              <a:ea typeface="微软雅黑" pitchFamily="34" charset="-122"/>
            </a:endParaRPr>
          </a:p>
        </p:txBody>
      </p:sp>
      <p:sp>
        <p:nvSpPr>
          <p:cNvPr id="34" name="AutoShape 87"/>
          <p:cNvSpPr>
            <a:spLocks noChangeArrowheads="1"/>
          </p:cNvSpPr>
          <p:nvPr/>
        </p:nvSpPr>
        <p:spPr bwMode="auto">
          <a:xfrm>
            <a:off x="5360222" y="2911776"/>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服务库</a:t>
            </a:r>
            <a:endParaRPr lang="en-US" altLang="zh-CN" sz="1200" dirty="0">
              <a:latin typeface="微软雅黑" pitchFamily="34" charset="-122"/>
              <a:ea typeface="微软雅黑" pitchFamily="34" charset="-122"/>
            </a:endParaRPr>
          </a:p>
        </p:txBody>
      </p:sp>
      <p:sp>
        <p:nvSpPr>
          <p:cNvPr id="35" name="AutoShape 87"/>
          <p:cNvSpPr>
            <a:spLocks noChangeArrowheads="1"/>
          </p:cNvSpPr>
          <p:nvPr/>
        </p:nvSpPr>
        <p:spPr bwMode="auto">
          <a:xfrm>
            <a:off x="5371052" y="3340404"/>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服务模型</a:t>
            </a:r>
            <a:endParaRPr lang="en-US" altLang="zh-CN" sz="1200" dirty="0">
              <a:latin typeface="微软雅黑" pitchFamily="34" charset="-122"/>
              <a:ea typeface="微软雅黑" pitchFamily="34" charset="-122"/>
            </a:endParaRPr>
          </a:p>
        </p:txBody>
      </p:sp>
      <p:cxnSp>
        <p:nvCxnSpPr>
          <p:cNvPr id="36" name="直接箭头连接符 35"/>
          <p:cNvCxnSpPr>
            <a:stCxn id="33" idx="3"/>
            <a:endCxn id="31" idx="1"/>
          </p:cNvCxnSpPr>
          <p:nvPr/>
        </p:nvCxnSpPr>
        <p:spPr>
          <a:xfrm flipV="1">
            <a:off x="4133806" y="4173427"/>
            <a:ext cx="1036612" cy="5700"/>
          </a:xfrm>
          <a:prstGeom prst="straightConnector1">
            <a:avLst/>
          </a:prstGeom>
          <a:ln w="381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31" idx="3"/>
            <a:endCxn id="32" idx="1"/>
          </p:cNvCxnSpPr>
          <p:nvPr/>
        </p:nvCxnSpPr>
        <p:spPr>
          <a:xfrm>
            <a:off x="6942688" y="4173427"/>
            <a:ext cx="819898" cy="1588"/>
          </a:xfrm>
          <a:prstGeom prst="straightConnector1">
            <a:avLst/>
          </a:prstGeom>
          <a:ln w="381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8" name="AutoShape 87"/>
          <p:cNvSpPr>
            <a:spLocks noChangeArrowheads="1"/>
          </p:cNvSpPr>
          <p:nvPr/>
        </p:nvSpPr>
        <p:spPr bwMode="auto">
          <a:xfrm>
            <a:off x="5347112" y="2480346"/>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业务系统接口</a:t>
            </a:r>
            <a:endParaRPr lang="en-US" altLang="zh-CN" sz="1200" dirty="0">
              <a:latin typeface="微软雅黑" pitchFamily="34" charset="-122"/>
              <a:ea typeface="微软雅黑" pitchFamily="34" charset="-122"/>
            </a:endParaRPr>
          </a:p>
        </p:txBody>
      </p:sp>
      <p:sp>
        <p:nvSpPr>
          <p:cNvPr id="39" name="AutoShape 87"/>
          <p:cNvSpPr>
            <a:spLocks noChangeArrowheads="1"/>
          </p:cNvSpPr>
          <p:nvPr/>
        </p:nvSpPr>
        <p:spPr bwMode="auto">
          <a:xfrm>
            <a:off x="7849722" y="2830696"/>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服务库</a:t>
            </a:r>
            <a:endParaRPr lang="en-US" altLang="zh-CN" sz="1200" dirty="0">
              <a:latin typeface="微软雅黑" pitchFamily="34" charset="-122"/>
              <a:ea typeface="微软雅黑" pitchFamily="34" charset="-122"/>
            </a:endParaRPr>
          </a:p>
        </p:txBody>
      </p:sp>
      <p:sp>
        <p:nvSpPr>
          <p:cNvPr id="40" name="AutoShape 87"/>
          <p:cNvSpPr>
            <a:spLocks noChangeArrowheads="1"/>
          </p:cNvSpPr>
          <p:nvPr/>
        </p:nvSpPr>
        <p:spPr bwMode="auto">
          <a:xfrm>
            <a:off x="7860552" y="3266164"/>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服务模型</a:t>
            </a:r>
            <a:endParaRPr lang="en-US" altLang="zh-CN" sz="1200" dirty="0">
              <a:latin typeface="微软雅黑" pitchFamily="34" charset="-122"/>
              <a:ea typeface="微软雅黑" pitchFamily="34" charset="-122"/>
            </a:endParaRPr>
          </a:p>
        </p:txBody>
      </p:sp>
      <p:sp>
        <p:nvSpPr>
          <p:cNvPr id="41" name="AutoShape 87"/>
          <p:cNvSpPr>
            <a:spLocks noChangeArrowheads="1"/>
          </p:cNvSpPr>
          <p:nvPr/>
        </p:nvSpPr>
        <p:spPr bwMode="auto">
          <a:xfrm>
            <a:off x="2693646" y="2483148"/>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需求规格说明书</a:t>
            </a:r>
            <a:endParaRPr lang="en-US" altLang="zh-CN" sz="1200" dirty="0">
              <a:latin typeface="微软雅黑" pitchFamily="34" charset="-122"/>
              <a:ea typeface="微软雅黑" pitchFamily="34" charset="-122"/>
            </a:endParaRPr>
          </a:p>
        </p:txBody>
      </p:sp>
      <p:sp>
        <p:nvSpPr>
          <p:cNvPr id="42" name="AutoShape 87"/>
          <p:cNvSpPr>
            <a:spLocks noChangeArrowheads="1"/>
          </p:cNvSpPr>
          <p:nvPr/>
        </p:nvSpPr>
        <p:spPr bwMode="auto">
          <a:xfrm>
            <a:off x="2696616" y="2911776"/>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smtClean="0">
                <a:latin typeface="微软雅黑" pitchFamily="34" charset="-122"/>
                <a:ea typeface="微软雅黑" pitchFamily="34" charset="-122"/>
              </a:rPr>
              <a:t>行业知识</a:t>
            </a:r>
            <a:endParaRPr lang="en-US" altLang="zh-CN" sz="1200" dirty="0">
              <a:latin typeface="微软雅黑" pitchFamily="34" charset="-122"/>
              <a:ea typeface="微软雅黑" pitchFamily="34" charset="-122"/>
            </a:endParaRPr>
          </a:p>
        </p:txBody>
      </p:sp>
      <p:sp>
        <p:nvSpPr>
          <p:cNvPr id="43" name="AutoShape 87"/>
          <p:cNvSpPr>
            <a:spLocks noChangeArrowheads="1"/>
          </p:cNvSpPr>
          <p:nvPr/>
        </p:nvSpPr>
        <p:spPr bwMode="auto">
          <a:xfrm>
            <a:off x="2696616" y="3340404"/>
            <a:ext cx="1368152" cy="359992"/>
          </a:xfrm>
          <a:prstGeom prst="roundRect">
            <a:avLst>
              <a:gd name="adj" fmla="val 5690"/>
            </a:avLst>
          </a:prstGeom>
          <a:solidFill>
            <a:schemeClr val="bg1"/>
          </a:solidFill>
          <a:ln w="9525">
            <a:solidFill>
              <a:srgbClr val="FF0000"/>
            </a:solidFill>
            <a:round/>
            <a:headEnd/>
            <a:tailEnd/>
          </a:ln>
          <a:effectLst>
            <a:outerShdw dist="35921" dir="2700000" algn="ctr" rotWithShape="0">
              <a:srgbClr val="808080"/>
            </a:outerShdw>
          </a:effectLst>
        </p:spPr>
        <p:txBody>
          <a:bodyPr lIns="64008" tIns="32004" rIns="64008" bIns="32004" anchor="ctr"/>
          <a:lstStyle/>
          <a:p>
            <a:pPr algn="ctr">
              <a:defRPr/>
            </a:pPr>
            <a:r>
              <a:rPr lang="zh-CN" altLang="en-US" sz="1200" dirty="0">
                <a:latin typeface="微软雅黑" pitchFamily="34" charset="-122"/>
                <a:ea typeface="微软雅黑" pitchFamily="34" charset="-122"/>
              </a:rPr>
              <a:t>服务库</a:t>
            </a:r>
            <a:endParaRPr lang="en-US" altLang="zh-CN" sz="1200" dirty="0">
              <a:latin typeface="微软雅黑" pitchFamily="34" charset="-122"/>
              <a:ea typeface="微软雅黑" pitchFamily="34" charset="-122"/>
            </a:endParaRPr>
          </a:p>
        </p:txBody>
      </p:sp>
      <p:sp>
        <p:nvSpPr>
          <p:cNvPr id="44" name="矩形 43"/>
          <p:cNvSpPr/>
          <p:nvPr/>
        </p:nvSpPr>
        <p:spPr>
          <a:xfrm>
            <a:off x="2339426" y="4626288"/>
            <a:ext cx="2071702" cy="646331"/>
          </a:xfrm>
          <a:prstGeom prst="rect">
            <a:avLst/>
          </a:prstGeom>
        </p:spPr>
        <p:txBody>
          <a:bodyPr wrap="square">
            <a:spAutoFit/>
          </a:bodyPr>
          <a:lstStyle/>
          <a:p>
            <a:r>
              <a:rPr lang="zh-CN" altLang="en-US" sz="1200" dirty="0" smtClean="0">
                <a:latin typeface="微软雅黑" pitchFamily="34" charset="-122"/>
                <a:ea typeface="微软雅黑" pitchFamily="34" charset="-122"/>
              </a:rPr>
              <a:t>根据</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需求规格说明书</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将业务功能分解到最小业务功能单元</a:t>
            </a:r>
            <a:endParaRPr lang="zh-CN" altLang="en-US" sz="1200" dirty="0"/>
          </a:p>
        </p:txBody>
      </p:sp>
      <p:sp>
        <p:nvSpPr>
          <p:cNvPr id="45" name="矩形 44"/>
          <p:cNvSpPr/>
          <p:nvPr/>
        </p:nvSpPr>
        <p:spPr>
          <a:xfrm>
            <a:off x="4911194" y="4622899"/>
            <a:ext cx="2214578" cy="646331"/>
          </a:xfrm>
          <a:prstGeom prst="rect">
            <a:avLst/>
          </a:prstGeom>
        </p:spPr>
        <p:txBody>
          <a:bodyPr wrap="square">
            <a:spAutoFit/>
          </a:bodyPr>
          <a:lstStyle/>
          <a:p>
            <a:r>
              <a:rPr lang="zh-CN" altLang="en-US" sz="1200" dirty="0" smtClean="0">
                <a:latin typeface="微软雅黑" pitchFamily="34" charset="-122"/>
                <a:ea typeface="微软雅黑" pitchFamily="34" charset="-122"/>
              </a:rPr>
              <a:t>结合</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接口文档</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进行服务识别，识别过程参考</a:t>
            </a:r>
            <a:r>
              <a:rPr lang="en-US" altLang="zh-CN" sz="1200" dirty="0" smtClean="0">
                <a:latin typeface="微软雅黑" pitchFamily="34" charset="-122"/>
                <a:ea typeface="微软雅黑" pitchFamily="34" charset="-122"/>
              </a:rPr>
              <a:t>《</a:t>
            </a:r>
            <a:r>
              <a:rPr lang="zh-CN" altLang="en-US" sz="1200" dirty="0">
                <a:latin typeface="微软雅黑" pitchFamily="34" charset="-122"/>
                <a:ea typeface="微软雅黑" pitchFamily="34" charset="-122"/>
              </a:rPr>
              <a:t>服务库</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和</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服务模型</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并确定服务。</a:t>
            </a:r>
            <a:endParaRPr lang="zh-CN" altLang="en-US" sz="1200" dirty="0"/>
          </a:p>
        </p:txBody>
      </p:sp>
      <p:sp>
        <p:nvSpPr>
          <p:cNvPr id="46" name="矩形 45"/>
          <p:cNvSpPr/>
          <p:nvPr/>
        </p:nvSpPr>
        <p:spPr>
          <a:xfrm>
            <a:off x="7554400" y="4626288"/>
            <a:ext cx="2071702" cy="461665"/>
          </a:xfrm>
          <a:prstGeom prst="rect">
            <a:avLst/>
          </a:prstGeom>
        </p:spPr>
        <p:txBody>
          <a:bodyPr wrap="square">
            <a:spAutoFit/>
          </a:bodyPr>
          <a:lstStyle/>
          <a:p>
            <a:r>
              <a:rPr lang="zh-CN" altLang="en-US" sz="1200" dirty="0" smtClean="0">
                <a:latin typeface="微软雅黑" pitchFamily="34" charset="-122"/>
                <a:ea typeface="微软雅黑" pitchFamily="34" charset="-122"/>
              </a:rPr>
              <a:t>编写</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服务接口定义</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，并公布服务给关联项目组。</a:t>
            </a:r>
            <a:endParaRPr lang="zh-CN" altLang="en-US" sz="1200" dirty="0"/>
          </a:p>
        </p:txBody>
      </p:sp>
    </p:spTree>
    <p:extLst>
      <p:ext uri="{BB962C8B-B14F-4D97-AF65-F5344CB8AC3E}">
        <p14:creationId xmlns:p14="http://schemas.microsoft.com/office/powerpoint/2010/main" val="40135549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功能分解</a:t>
            </a:r>
            <a:endParaRPr lang="en-US" dirty="0"/>
          </a:p>
        </p:txBody>
      </p:sp>
      <p:grpSp>
        <p:nvGrpSpPr>
          <p:cNvPr id="25" name="组合 14"/>
          <p:cNvGrpSpPr/>
          <p:nvPr/>
        </p:nvGrpSpPr>
        <p:grpSpPr>
          <a:xfrm>
            <a:off x="2813438" y="1230515"/>
            <a:ext cx="7675050" cy="2769989"/>
            <a:chOff x="1319241" y="1660250"/>
            <a:chExt cx="7324725" cy="2599689"/>
          </a:xfrm>
        </p:grpSpPr>
        <p:sp>
          <p:nvSpPr>
            <p:cNvPr id="26" name="AutoShape 4"/>
            <p:cNvSpPr>
              <a:spLocks noChangeArrowheads="1"/>
            </p:cNvSpPr>
            <p:nvPr/>
          </p:nvSpPr>
          <p:spPr bwMode="gray">
            <a:xfrm>
              <a:off x="1319241" y="1712193"/>
              <a:ext cx="7324725" cy="2480701"/>
            </a:xfrm>
            <a:prstGeom prst="roundRect">
              <a:avLst>
                <a:gd name="adj" fmla="val 16667"/>
              </a:avLst>
            </a:prstGeom>
            <a:noFill/>
            <a:ln w="25400" algn="ctr">
              <a:solidFill>
                <a:schemeClr val="accent1"/>
              </a:solidFill>
              <a:round/>
              <a:headEnd/>
              <a:tailEnd/>
            </a:ln>
            <a:effectLst/>
          </p:spPr>
          <p:txBody>
            <a:bodyPr wrap="none" anchor="ctr"/>
            <a:lstStyle/>
            <a:p>
              <a:pPr algn="ctr" eaLnBrk="0" hangingPunct="0">
                <a:defRPr/>
              </a:pPr>
              <a:endParaRPr lang="en-US" altLang="ko-KR" sz="1600" dirty="0">
                <a:latin typeface="微软雅黑" pitchFamily="34" charset="-122"/>
                <a:ea typeface="微软雅黑" pitchFamily="34" charset="-122"/>
              </a:endParaRPr>
            </a:p>
          </p:txBody>
        </p:sp>
        <p:sp>
          <p:nvSpPr>
            <p:cNvPr id="27" name="TextBox 13"/>
            <p:cNvSpPr txBox="1"/>
            <p:nvPr/>
          </p:nvSpPr>
          <p:spPr>
            <a:xfrm>
              <a:off x="1455595" y="1660250"/>
              <a:ext cx="7185477" cy="2599689"/>
            </a:xfrm>
            <a:prstGeom prst="rect">
              <a:avLst/>
            </a:prstGeom>
            <a:noFill/>
          </p:spPr>
          <p:txBody>
            <a:bodyPr wrap="square" rtlCol="0">
              <a:spAutoFit/>
            </a:bodyPr>
            <a:lstStyle/>
            <a:p>
              <a:pPr>
                <a:lnSpc>
                  <a:spcPct val="150000"/>
                </a:lnSpc>
              </a:pPr>
              <a:r>
                <a:rPr lang="zh-CN" altLang="en-US" sz="1200" dirty="0" smtClean="0">
                  <a:latin typeface="微软雅黑" pitchFamily="34" charset="-122"/>
                  <a:ea typeface="微软雅黑" pitchFamily="34" charset="-122"/>
                </a:rPr>
                <a:t>输入文档：</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需求规格说明书</a:t>
              </a:r>
              <a:r>
                <a:rPr lang="en-US" altLang="zh-CN" sz="1200" dirty="0" smtClean="0">
                  <a:latin typeface="微软雅黑" pitchFamily="34" charset="-122"/>
                  <a:ea typeface="微软雅黑" pitchFamily="34" charset="-122"/>
                </a:rPr>
                <a:t>》</a:t>
              </a:r>
            </a:p>
            <a:p>
              <a:pPr>
                <a:lnSpc>
                  <a:spcPct val="150000"/>
                </a:lnSpc>
              </a:pPr>
              <a:r>
                <a:rPr lang="zh-CN" altLang="en-US" sz="1200" dirty="0" smtClean="0">
                  <a:latin typeface="微软雅黑" pitchFamily="34" charset="-122"/>
                  <a:ea typeface="微软雅黑" pitchFamily="34" charset="-122"/>
                </a:rPr>
                <a:t>分解方法：自上而下地功能分解方法，即从业功能向下分解，直到最小业务单元。</a:t>
              </a:r>
              <a:endParaRPr lang="en-US" altLang="zh-CN" sz="1200" dirty="0" smtClean="0">
                <a:latin typeface="微软雅黑" pitchFamily="34" charset="-122"/>
                <a:ea typeface="微软雅黑" pitchFamily="34" charset="-122"/>
              </a:endParaRPr>
            </a:p>
            <a:p>
              <a:pPr marL="900113" indent="-900113">
                <a:lnSpc>
                  <a:spcPct val="150000"/>
                </a:lnSpc>
              </a:pPr>
              <a:r>
                <a:rPr lang="zh-CN" altLang="en-US" sz="1200" dirty="0" smtClean="0">
                  <a:latin typeface="微软雅黑" pitchFamily="34" charset="-122"/>
                  <a:ea typeface="微软雅黑" pitchFamily="34" charset="-122"/>
                </a:rPr>
                <a:t>功能分解步骤：根据</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需求规格说明书</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，进行业务功能分解，将业务功能分解到最小业务单元，获得</a:t>
              </a:r>
              <a:r>
                <a:rPr lang="en-US" altLang="zh-CN" sz="1200" dirty="0" smtClean="0">
                  <a:solidFill>
                    <a:prstClr val="black"/>
                  </a:solidFill>
                  <a:latin typeface="微软雅黑" pitchFamily="34" charset="-122"/>
                  <a:ea typeface="微软雅黑" pitchFamily="34" charset="-122"/>
                </a:rPr>
                <a:t>《</a:t>
              </a:r>
              <a:r>
                <a:rPr lang="zh-CN" altLang="en-US" sz="1200" dirty="0" smtClean="0">
                  <a:solidFill>
                    <a:prstClr val="black"/>
                  </a:solidFill>
                  <a:latin typeface="微软雅黑" pitchFamily="34" charset="-122"/>
                  <a:ea typeface="微软雅黑" pitchFamily="34" charset="-122"/>
                </a:rPr>
                <a:t>业务功能分解表</a:t>
              </a:r>
              <a:r>
                <a:rPr lang="en-US" altLang="zh-CN" sz="1200" dirty="0" smtClean="0">
                  <a:solidFill>
                    <a:prstClr val="black"/>
                  </a:solidFill>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a:t>
              </a:r>
              <a:endParaRPr lang="en-US" altLang="zh-CN" sz="1200" dirty="0" smtClean="0">
                <a:latin typeface="微软雅黑" pitchFamily="34" charset="-122"/>
                <a:ea typeface="微软雅黑" pitchFamily="34" charset="-122"/>
              </a:endParaRPr>
            </a:p>
            <a:p>
              <a:pPr lvl="2" indent="457200">
                <a:lnSpc>
                  <a:spcPct val="140000"/>
                </a:lnSpc>
                <a:buFont typeface="+mj-lt"/>
                <a:buAutoNum type="arabicPeriod"/>
              </a:pPr>
              <a:r>
                <a:rPr lang="zh-CN" altLang="en-US" sz="1200" dirty="0" smtClean="0">
                  <a:latin typeface="微软雅黑" pitchFamily="34" charset="-122"/>
                  <a:ea typeface="微软雅黑" pitchFamily="34" charset="-122"/>
                </a:rPr>
                <a:t>确定第一级业务活动，即业务功能。</a:t>
              </a:r>
            </a:p>
            <a:p>
              <a:pPr lvl="2" indent="457200">
                <a:lnSpc>
                  <a:spcPct val="140000"/>
                </a:lnSpc>
                <a:buFont typeface="+mj-lt"/>
                <a:buAutoNum type="arabicPeriod"/>
              </a:pPr>
              <a:r>
                <a:rPr lang="zh-CN" altLang="en-US" sz="1200" dirty="0" smtClean="0">
                  <a:latin typeface="微软雅黑" pitchFamily="34" charset="-122"/>
                  <a:ea typeface="微软雅黑" pitchFamily="34" charset="-122"/>
                </a:rPr>
                <a:t>明确第二级业务活动，即实现上一级业务功能需要哪些动作。</a:t>
              </a:r>
              <a:endParaRPr lang="en-US" altLang="zh-CN" sz="1200" dirty="0" smtClean="0">
                <a:latin typeface="微软雅黑" pitchFamily="34" charset="-122"/>
                <a:ea typeface="微软雅黑" pitchFamily="34" charset="-122"/>
              </a:endParaRPr>
            </a:p>
            <a:p>
              <a:pPr lvl="2" indent="457200">
                <a:lnSpc>
                  <a:spcPct val="140000"/>
                </a:lnSpc>
                <a:buFont typeface="+mj-lt"/>
                <a:buAutoNum type="arabicPeriod"/>
              </a:pPr>
              <a:r>
                <a:rPr lang="zh-CN" altLang="en-US" sz="1200" dirty="0" smtClean="0">
                  <a:latin typeface="微软雅黑" pitchFamily="34" charset="-122"/>
                  <a:ea typeface="微软雅黑" pitchFamily="34" charset="-122"/>
                </a:rPr>
                <a:t>依次向下分解，直到最小业务单元。</a:t>
              </a:r>
              <a:endParaRPr lang="en-US" altLang="zh-CN" sz="1200" dirty="0" smtClean="0">
                <a:latin typeface="微软雅黑" pitchFamily="34" charset="-122"/>
                <a:ea typeface="微软雅黑" pitchFamily="34" charset="-122"/>
              </a:endParaRPr>
            </a:p>
            <a:p>
              <a:pPr marL="893763" lvl="2" indent="450850">
                <a:lnSpc>
                  <a:spcPct val="140000"/>
                </a:lnSpc>
                <a:buFont typeface="+mj-lt"/>
                <a:buAutoNum type="arabicPeriod"/>
              </a:pPr>
              <a:r>
                <a:rPr lang="zh-CN" altLang="en-US" sz="1200" dirty="0" smtClean="0">
                  <a:latin typeface="微软雅黑" pitchFamily="34" charset="-122"/>
                  <a:ea typeface="微软雅黑" pitchFamily="34" charset="-122"/>
                </a:rPr>
                <a:t>对于明确可以使用</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服务库</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已有服务的业务功能，可以不再分解。</a:t>
              </a:r>
              <a:endParaRPr lang="en-US" altLang="zh-CN" sz="1200" dirty="0" smtClean="0">
                <a:latin typeface="微软雅黑" pitchFamily="34" charset="-122"/>
                <a:ea typeface="微软雅黑" pitchFamily="34" charset="-122"/>
              </a:endParaRPr>
            </a:p>
            <a:p>
              <a:pPr marL="893763" lvl="2" indent="450850">
                <a:lnSpc>
                  <a:spcPct val="140000"/>
                </a:lnSpc>
                <a:buFont typeface="+mj-lt"/>
                <a:buAutoNum type="arabicPeriod"/>
              </a:pPr>
              <a:r>
                <a:rPr lang="zh-CN" altLang="en-US" sz="1200" dirty="0" smtClean="0">
                  <a:latin typeface="微软雅黑" pitchFamily="34" charset="-122"/>
                  <a:ea typeface="微软雅黑" pitchFamily="34" charset="-122"/>
                </a:rPr>
                <a:t>功能分解完成后，确定每个节点的对应提供方系统。若难以确定，可提交应用架构组决策。</a:t>
              </a:r>
              <a:endParaRPr lang="en-US" altLang="zh-CN" sz="1200" dirty="0" smtClean="0">
                <a:latin typeface="微软雅黑" pitchFamily="34" charset="-122"/>
                <a:ea typeface="微软雅黑" pitchFamily="34" charset="-122"/>
              </a:endParaRPr>
            </a:p>
            <a:p>
              <a:pPr marL="0" lvl="2">
                <a:lnSpc>
                  <a:spcPct val="150000"/>
                </a:lnSpc>
              </a:pPr>
              <a:r>
                <a:rPr lang="zh-CN" altLang="en-US" sz="1200" dirty="0" smtClean="0">
                  <a:latin typeface="微软雅黑" pitchFamily="34" charset="-122"/>
                  <a:ea typeface="微软雅黑" pitchFamily="34" charset="-122"/>
                </a:rPr>
                <a:t>输出文档： </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业务功能分解表</a:t>
              </a:r>
              <a:r>
                <a:rPr lang="en-US" altLang="zh-CN" sz="1200" dirty="0" smtClean="0">
                  <a:latin typeface="微软雅黑" pitchFamily="34" charset="-122"/>
                  <a:ea typeface="微软雅黑" pitchFamily="34" charset="-122"/>
                </a:rPr>
                <a:t>》</a:t>
              </a:r>
              <a:r>
                <a:rPr lang="zh-CN" altLang="en-US" sz="1200" dirty="0" smtClean="0">
                  <a:latin typeface="微软雅黑" pitchFamily="34" charset="-122"/>
                  <a:ea typeface="微软雅黑" pitchFamily="34" charset="-122"/>
                </a:rPr>
                <a:t>（过程）</a:t>
              </a:r>
              <a:endParaRPr lang="en-US" altLang="zh-CN" sz="1200" dirty="0" smtClean="0">
                <a:latin typeface="微软雅黑" pitchFamily="34" charset="-122"/>
                <a:ea typeface="微软雅黑" pitchFamily="34" charset="-122"/>
              </a:endParaRPr>
            </a:p>
          </p:txBody>
        </p:sp>
      </p:grpSp>
      <p:graphicFrame>
        <p:nvGraphicFramePr>
          <p:cNvPr id="28" name="表格 27"/>
          <p:cNvGraphicFramePr>
            <a:graphicFrameLocks noGrp="1"/>
          </p:cNvGraphicFramePr>
          <p:nvPr>
            <p:extLst>
              <p:ext uri="{D42A27DB-BD31-4B8C-83A1-F6EECF244321}">
                <p14:modId xmlns:p14="http://schemas.microsoft.com/office/powerpoint/2010/main" val="917068558"/>
              </p:ext>
            </p:extLst>
          </p:nvPr>
        </p:nvGraphicFramePr>
        <p:xfrm>
          <a:off x="5956710" y="4071942"/>
          <a:ext cx="4071965" cy="2263428"/>
        </p:xfrm>
        <a:graphic>
          <a:graphicData uri="http://schemas.openxmlformats.org/drawingml/2006/table">
            <a:tbl>
              <a:tblPr>
                <a:tableStyleId>{93296810-A885-4BE3-A3E7-6D5BEEA58F35}</a:tableStyleId>
              </a:tblPr>
              <a:tblGrid>
                <a:gridCol w="940535"/>
                <a:gridCol w="1183966"/>
                <a:gridCol w="973732"/>
                <a:gridCol w="973732"/>
              </a:tblGrid>
              <a:tr h="702352">
                <a:tc>
                  <a:txBody>
                    <a:bodyPr/>
                    <a:lstStyle/>
                    <a:p>
                      <a:pPr algn="ctr" fontAlgn="ctr"/>
                      <a:r>
                        <a:rPr lang="zh-CN" altLang="en-US" sz="1200" b="1" u="none" strike="noStrike" dirty="0">
                          <a:solidFill>
                            <a:schemeClr val="bg1"/>
                          </a:solidFill>
                          <a:latin typeface="微软雅黑" pitchFamily="34" charset="-122"/>
                          <a:ea typeface="微软雅黑" pitchFamily="34" charset="-122"/>
                        </a:rPr>
                        <a:t>功能单元</a:t>
                      </a:r>
                      <a:endParaRPr lang="zh-CN" altLang="en-US" sz="12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c>
                  <a:txBody>
                    <a:bodyPr/>
                    <a:lstStyle/>
                    <a:p>
                      <a:pPr algn="ctr" fontAlgn="ctr"/>
                      <a:r>
                        <a:rPr lang="zh-CN" altLang="en-US" sz="1200" b="1" u="none" strike="noStrike" dirty="0">
                          <a:solidFill>
                            <a:schemeClr val="bg1"/>
                          </a:solidFill>
                          <a:latin typeface="微软雅黑" pitchFamily="34" charset="-122"/>
                          <a:ea typeface="微软雅黑" pitchFamily="34" charset="-122"/>
                        </a:rPr>
                        <a:t>业务含义</a:t>
                      </a:r>
                      <a:endParaRPr lang="zh-CN" altLang="en-US" sz="12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c>
                  <a:txBody>
                    <a:bodyPr/>
                    <a:lstStyle/>
                    <a:p>
                      <a:pPr algn="ctr" fontAlgn="ctr"/>
                      <a:r>
                        <a:rPr lang="zh-CN" altLang="en-US" sz="1200" b="1" u="none" strike="noStrike" dirty="0" smtClean="0">
                          <a:solidFill>
                            <a:schemeClr val="bg1"/>
                          </a:solidFill>
                          <a:latin typeface="微软雅黑" pitchFamily="34" charset="-122"/>
                          <a:ea typeface="微软雅黑" pitchFamily="34" charset="-122"/>
                        </a:rPr>
                        <a:t>分解节点</a:t>
                      </a:r>
                      <a:endParaRPr lang="zh-CN" altLang="en-US" sz="12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c>
                  <a:txBody>
                    <a:bodyPr/>
                    <a:lstStyle/>
                    <a:p>
                      <a:pPr algn="ctr" fontAlgn="ctr"/>
                      <a:r>
                        <a:rPr lang="zh-CN" altLang="en-US" sz="1200" b="1" i="0" u="none" strike="noStrike" dirty="0" smtClean="0">
                          <a:solidFill>
                            <a:schemeClr val="bg1"/>
                          </a:solidFill>
                          <a:latin typeface="微软雅黑" pitchFamily="34" charset="-122"/>
                          <a:ea typeface="微软雅黑" pitchFamily="34" charset="-122"/>
                        </a:rPr>
                        <a:t>提供方系统</a:t>
                      </a:r>
                      <a:endParaRPr lang="zh-CN" altLang="en-US" sz="12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r>
              <a:tr h="358843">
                <a:tc>
                  <a:txBody>
                    <a:bodyPr/>
                    <a:lstStyle/>
                    <a:p>
                      <a:pPr algn="ctr" fontAlgn="ctr"/>
                      <a:r>
                        <a:rPr lang="en-US" sz="1200" b="0" i="0" u="none" strike="noStrike" dirty="0" smtClean="0">
                          <a:solidFill>
                            <a:srgbClr val="000000"/>
                          </a:solidFill>
                          <a:latin typeface="微软雅黑" pitchFamily="34" charset="-122"/>
                          <a:ea typeface="微软雅黑" pitchFamily="34" charset="-122"/>
                        </a:rPr>
                        <a:t>A</a:t>
                      </a:r>
                      <a:endParaRPr lang="en-US" sz="12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chemeClr val="dk1"/>
                          </a:solidFill>
                          <a:latin typeface="微软雅黑" pitchFamily="34" charset="-122"/>
                          <a:ea typeface="微软雅黑" pitchFamily="34" charset="-122"/>
                        </a:rPr>
                        <a:t>网银转账</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smtClean="0">
                          <a:solidFill>
                            <a:srgbClr val="000000"/>
                          </a:solidFill>
                          <a:latin typeface="微软雅黑" pitchFamily="34" charset="-122"/>
                          <a:ea typeface="微软雅黑" pitchFamily="34" charset="-122"/>
                        </a:rPr>
                        <a:t>1</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网银</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358843">
                <a:tc>
                  <a:txBody>
                    <a:bodyPr/>
                    <a:lstStyle/>
                    <a:p>
                      <a:pPr algn="ctr" fontAlgn="ctr"/>
                      <a:r>
                        <a:rPr lang="en-US" sz="1200" b="0" i="0" u="none" strike="noStrike" dirty="0">
                          <a:solidFill>
                            <a:srgbClr val="000000"/>
                          </a:solidFill>
                          <a:latin typeface="微软雅黑" pitchFamily="34" charset="-122"/>
                          <a:ea typeface="微软雅黑" pitchFamily="34" charset="-122"/>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200" b="0" u="none" strike="noStrike" dirty="0">
                          <a:latin typeface="微软雅黑" pitchFamily="34" charset="-122"/>
                          <a:ea typeface="微软雅黑" pitchFamily="34" charset="-122"/>
                        </a:rPr>
                        <a:t>获取动态密码</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u="none" strike="noStrike" dirty="0" smtClean="0">
                          <a:latin typeface="微软雅黑" pitchFamily="34" charset="-122"/>
                          <a:ea typeface="微软雅黑" pitchFamily="34" charset="-122"/>
                        </a:rPr>
                        <a:t>2</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通知平台</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9645">
                <a:tc>
                  <a:txBody>
                    <a:bodyPr/>
                    <a:lstStyle/>
                    <a:p>
                      <a:pPr algn="ctr" fontAlgn="ctr"/>
                      <a:r>
                        <a:rPr lang="en-US" sz="1200" b="0" u="none" strike="noStrike" dirty="0" smtClean="0">
                          <a:latin typeface="微软雅黑" pitchFamily="34" charset="-122"/>
                          <a:ea typeface="微软雅黑" pitchFamily="34" charset="-122"/>
                        </a:rPr>
                        <a:t>C</a:t>
                      </a:r>
                      <a:endParaRPr lang="en-US" sz="12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200" b="0" i="0" u="none" strike="noStrike" dirty="0" smtClean="0">
                          <a:solidFill>
                            <a:srgbClr val="000000"/>
                          </a:solidFill>
                          <a:latin typeface="微软雅黑" pitchFamily="34" charset="-122"/>
                          <a:ea typeface="微软雅黑" pitchFamily="34" charset="-122"/>
                        </a:rPr>
                        <a:t>核心记账</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altLang="zh-CN" sz="1200" b="0" i="0" u="none" strike="noStrike" dirty="0" smtClean="0">
                          <a:solidFill>
                            <a:srgbClr val="000000"/>
                          </a:solidFill>
                          <a:latin typeface="微软雅黑" pitchFamily="34" charset="-122"/>
                          <a:ea typeface="微软雅黑" pitchFamily="34" charset="-122"/>
                        </a:rPr>
                        <a:t>2</a:t>
                      </a:r>
                      <a:r>
                        <a:rPr lang="zh-CN" altLang="en-US" sz="1200" b="0" i="0" u="none" strike="noStrike" dirty="0" smtClean="0">
                          <a:solidFill>
                            <a:srgbClr val="000000"/>
                          </a:solidFill>
                          <a:latin typeface="微软雅黑" pitchFamily="34" charset="-122"/>
                          <a:ea typeface="微软雅黑" pitchFamily="34" charset="-122"/>
                        </a:rPr>
                        <a:t>、</a:t>
                      </a:r>
                      <a:r>
                        <a:rPr lang="en-US" altLang="zh-CN" sz="1200" b="0" i="0" u="none" strike="noStrike" dirty="0" smtClean="0">
                          <a:solidFill>
                            <a:srgbClr val="000000"/>
                          </a:solidFill>
                          <a:latin typeface="微软雅黑" pitchFamily="34" charset="-122"/>
                          <a:ea typeface="微软雅黑" pitchFamily="34" charset="-122"/>
                        </a:rPr>
                        <a:t> (4)</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核心</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358843">
                <a:tc>
                  <a:txBody>
                    <a:bodyPr/>
                    <a:lstStyle/>
                    <a:p>
                      <a:pPr algn="ctr" fontAlgn="ctr"/>
                      <a:r>
                        <a:rPr lang="en-US" sz="1200" b="0" u="none" strike="noStrike" dirty="0" smtClean="0">
                          <a:latin typeface="微软雅黑" pitchFamily="34" charset="-122"/>
                          <a:ea typeface="微软雅黑" pitchFamily="34" charset="-122"/>
                        </a:rPr>
                        <a:t>D</a:t>
                      </a:r>
                      <a:endParaRPr lang="en-US" sz="12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200" b="0" i="0" u="none" strike="noStrike" dirty="0" smtClean="0">
                          <a:solidFill>
                            <a:srgbClr val="000000"/>
                          </a:solidFill>
                          <a:latin typeface="微软雅黑" pitchFamily="34" charset="-122"/>
                          <a:ea typeface="微软雅黑" pitchFamily="34" charset="-122"/>
                        </a:rPr>
                        <a:t>校验支付条件</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u="none" strike="noStrike" dirty="0" smtClean="0">
                          <a:latin typeface="微软雅黑" pitchFamily="34" charset="-122"/>
                          <a:ea typeface="微软雅黑" pitchFamily="34" charset="-122"/>
                        </a:rPr>
                        <a:t>3</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核心</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04902">
                <a:tc>
                  <a:txBody>
                    <a:bodyPr/>
                    <a:lstStyle/>
                    <a:p>
                      <a:pPr algn="ctr" fontAlgn="ctr"/>
                      <a:r>
                        <a:rPr lang="en-US" sz="1200" b="0" u="none" strike="noStrike" dirty="0" smtClean="0">
                          <a:latin typeface="微软雅黑" pitchFamily="34" charset="-122"/>
                          <a:ea typeface="微软雅黑" pitchFamily="34" charset="-122"/>
                        </a:rPr>
                        <a:t>E</a:t>
                      </a:r>
                      <a:endParaRPr lang="en-US" sz="12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200" b="0" u="none" strike="noStrike" dirty="0" smtClean="0">
                          <a:latin typeface="微软雅黑" pitchFamily="34" charset="-122"/>
                          <a:ea typeface="微软雅黑" pitchFamily="34" charset="-122"/>
                        </a:rPr>
                        <a:t>记账</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200" b="0" u="none" strike="noStrike" dirty="0" smtClean="0">
                          <a:latin typeface="微软雅黑" pitchFamily="34" charset="-122"/>
                          <a:ea typeface="微软雅黑" pitchFamily="34" charset="-122"/>
                        </a:rPr>
                        <a:t>3</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核心</a:t>
                      </a:r>
                      <a:endParaRPr lang="zh-CN" altLang="en-US" sz="12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29" name="组合 28"/>
          <p:cNvGrpSpPr/>
          <p:nvPr/>
        </p:nvGrpSpPr>
        <p:grpSpPr>
          <a:xfrm>
            <a:off x="2813438" y="4000504"/>
            <a:ext cx="7572428" cy="2428892"/>
            <a:chOff x="1216436" y="4000504"/>
            <a:chExt cx="7358114" cy="2428892"/>
          </a:xfrm>
        </p:grpSpPr>
        <p:sp>
          <p:nvSpPr>
            <p:cNvPr id="30" name="圆角矩形 29"/>
            <p:cNvSpPr/>
            <p:nvPr/>
          </p:nvSpPr>
          <p:spPr bwMode="auto">
            <a:xfrm>
              <a:off x="1216436" y="4000504"/>
              <a:ext cx="7358114" cy="2428892"/>
            </a:xfrm>
            <a:prstGeom prst="roundRect">
              <a:avLst/>
            </a:prstGeom>
            <a:noFill/>
            <a:ln w="0"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31" name="圆角矩形 30"/>
            <p:cNvSpPr/>
            <p:nvPr/>
          </p:nvSpPr>
          <p:spPr bwMode="auto">
            <a:xfrm>
              <a:off x="2627784" y="5000636"/>
              <a:ext cx="1143008" cy="357190"/>
            </a:xfrm>
            <a:prstGeom prst="roundRect">
              <a:avLst/>
            </a:prstGeom>
            <a:solidFill>
              <a:srgbClr val="4D8AD3"/>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en-US" altLang="zh-CN" sz="1200" b="1" i="0" u="none" strike="noStrike" cap="none" normalizeH="0" baseline="0" dirty="0" smtClean="0">
                  <a:ln>
                    <a:noFill/>
                  </a:ln>
                  <a:solidFill>
                    <a:schemeClr val="bg1"/>
                  </a:solidFill>
                  <a:effectLst/>
                  <a:latin typeface="宋体" pitchFamily="2" charset="-122"/>
                  <a:ea typeface="宋体" pitchFamily="2" charset="-122"/>
                </a:rPr>
                <a:t>C</a:t>
              </a:r>
              <a:endParaRPr kumimoji="0" lang="zh-CN" altLang="en-US" sz="1200" b="1" i="0" u="none" strike="noStrike" cap="none" normalizeH="0" baseline="0" dirty="0" smtClean="0">
                <a:ln>
                  <a:noFill/>
                </a:ln>
                <a:solidFill>
                  <a:schemeClr val="bg1"/>
                </a:solidFill>
                <a:effectLst/>
                <a:latin typeface="宋体" pitchFamily="2" charset="-122"/>
                <a:ea typeface="宋体" pitchFamily="2" charset="-122"/>
              </a:endParaRPr>
            </a:p>
          </p:txBody>
        </p:sp>
        <p:sp>
          <p:nvSpPr>
            <p:cNvPr id="32" name="圆角矩形 31"/>
            <p:cNvSpPr/>
            <p:nvPr/>
          </p:nvSpPr>
          <p:spPr bwMode="auto">
            <a:xfrm>
              <a:off x="1500166" y="5000636"/>
              <a:ext cx="857256" cy="357190"/>
            </a:xfrm>
            <a:prstGeom prst="roundRect">
              <a:avLst/>
            </a:prstGeom>
            <a:solidFill>
              <a:srgbClr val="8692EE"/>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lang="en-US" altLang="zh-CN" sz="1200" b="1" dirty="0" smtClean="0">
                  <a:latin typeface="宋体" pitchFamily="2" charset="-122"/>
                  <a:ea typeface="宋体" pitchFamily="2" charset="-122"/>
                </a:rPr>
                <a:t>B</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sp>
          <p:nvSpPr>
            <p:cNvPr id="33" name="圆角矩形 32"/>
            <p:cNvSpPr/>
            <p:nvPr/>
          </p:nvSpPr>
          <p:spPr bwMode="auto">
            <a:xfrm>
              <a:off x="2339752" y="5857892"/>
              <a:ext cx="857256" cy="357190"/>
            </a:xfrm>
            <a:prstGeom prst="roundRect">
              <a:avLst/>
            </a:prstGeom>
            <a:solidFill>
              <a:srgbClr val="8692EE"/>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lang="en-US" altLang="zh-CN" sz="1200" b="1" dirty="0" smtClean="0">
                  <a:latin typeface="宋体" pitchFamily="2" charset="-122"/>
                  <a:ea typeface="宋体" pitchFamily="2" charset="-122"/>
                </a:rPr>
                <a:t>D</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sp>
          <p:nvSpPr>
            <p:cNvPr id="34" name="圆角矩形 33"/>
            <p:cNvSpPr/>
            <p:nvPr/>
          </p:nvSpPr>
          <p:spPr bwMode="auto">
            <a:xfrm>
              <a:off x="3275856" y="5857892"/>
              <a:ext cx="857256" cy="357190"/>
            </a:xfrm>
            <a:prstGeom prst="roundRect">
              <a:avLst/>
            </a:prstGeom>
            <a:solidFill>
              <a:srgbClr val="8692EE"/>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en-US" altLang="zh-CN" sz="1200" b="1" i="0" u="none" strike="noStrike" cap="none" normalizeH="0" baseline="0" dirty="0" smtClean="0">
                  <a:ln>
                    <a:noFill/>
                  </a:ln>
                  <a:solidFill>
                    <a:schemeClr val="tx1"/>
                  </a:solidFill>
                  <a:effectLst/>
                  <a:latin typeface="宋体" pitchFamily="2" charset="-122"/>
                  <a:ea typeface="宋体" pitchFamily="2" charset="-122"/>
                </a:rPr>
                <a:t>E</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cxnSp>
          <p:nvCxnSpPr>
            <p:cNvPr id="35" name="形状 30"/>
            <p:cNvCxnSpPr>
              <a:stCxn id="31" idx="2"/>
              <a:endCxn id="34" idx="0"/>
            </p:cNvCxnSpPr>
            <p:nvPr/>
          </p:nvCxnSpPr>
          <p:spPr>
            <a:xfrm rot="16200000" flipH="1">
              <a:off x="3201853" y="5355261"/>
              <a:ext cx="500066" cy="50519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肘形连接符 35"/>
            <p:cNvCxnSpPr>
              <a:stCxn id="31" idx="2"/>
              <a:endCxn id="33" idx="0"/>
            </p:cNvCxnSpPr>
            <p:nvPr/>
          </p:nvCxnSpPr>
          <p:spPr>
            <a:xfrm rot="5400000">
              <a:off x="2733801" y="5392405"/>
              <a:ext cx="500066" cy="43090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圆角矩形 36"/>
            <p:cNvSpPr/>
            <p:nvPr/>
          </p:nvSpPr>
          <p:spPr bwMode="auto">
            <a:xfrm>
              <a:off x="1500166" y="4143380"/>
              <a:ext cx="857256" cy="357190"/>
            </a:xfrm>
            <a:prstGeom prst="roundRect">
              <a:avLst/>
            </a:prstGeom>
            <a:solidFill>
              <a:srgbClr val="2A40E2"/>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lang="en-US" altLang="zh-CN" sz="1200" b="1" dirty="0" smtClean="0">
                  <a:latin typeface="宋体" pitchFamily="2" charset="-122"/>
                  <a:ea typeface="宋体" pitchFamily="2" charset="-122"/>
                </a:rPr>
                <a:t>A</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cxnSp>
          <p:nvCxnSpPr>
            <p:cNvPr id="38" name="直接箭头连接符 37"/>
            <p:cNvCxnSpPr>
              <a:stCxn id="37" idx="2"/>
              <a:endCxn id="32" idx="0"/>
            </p:cNvCxnSpPr>
            <p:nvPr/>
          </p:nvCxnSpPr>
          <p:spPr>
            <a:xfrm rot="5400000">
              <a:off x="1678761" y="4750603"/>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肘形连接符 38"/>
            <p:cNvCxnSpPr>
              <a:stCxn id="37" idx="2"/>
              <a:endCxn id="31" idx="0"/>
            </p:cNvCxnSpPr>
            <p:nvPr/>
          </p:nvCxnSpPr>
          <p:spPr>
            <a:xfrm rot="16200000" flipH="1">
              <a:off x="2314008" y="4115356"/>
              <a:ext cx="500066" cy="127049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215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服务识别</a:t>
            </a:r>
            <a:endParaRPr lang="en-US" dirty="0"/>
          </a:p>
        </p:txBody>
      </p:sp>
      <p:sp>
        <p:nvSpPr>
          <p:cNvPr id="11" name="矩形 10"/>
          <p:cNvSpPr/>
          <p:nvPr/>
        </p:nvSpPr>
        <p:spPr bwMode="auto">
          <a:xfrm>
            <a:off x="2627458" y="5214950"/>
            <a:ext cx="1285884" cy="214314"/>
          </a:xfrm>
          <a:prstGeom prst="rect">
            <a:avLst/>
          </a:prstGeom>
          <a:solidFill>
            <a:schemeClr val="bg1"/>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b="1" i="0" u="none" strike="noStrike" cap="none" normalizeH="0" baseline="0" dirty="0" smtClean="0">
                <a:ln>
                  <a:noFill/>
                </a:ln>
                <a:solidFill>
                  <a:schemeClr val="tx1"/>
                </a:solidFill>
                <a:effectLst/>
                <a:latin typeface="宋体" pitchFamily="2" charset="-122"/>
                <a:ea typeface="宋体" pitchFamily="2" charset="-122"/>
              </a:rPr>
              <a:t>服务分析文档</a:t>
            </a:r>
          </a:p>
        </p:txBody>
      </p:sp>
      <p:grpSp>
        <p:nvGrpSpPr>
          <p:cNvPr id="12" name="组合 14"/>
          <p:cNvGrpSpPr/>
          <p:nvPr/>
        </p:nvGrpSpPr>
        <p:grpSpPr>
          <a:xfrm>
            <a:off x="2698896" y="1285860"/>
            <a:ext cx="7429552" cy="2834622"/>
            <a:chOff x="1214414" y="1645146"/>
            <a:chExt cx="7429552" cy="2800364"/>
          </a:xfrm>
        </p:grpSpPr>
        <p:sp>
          <p:nvSpPr>
            <p:cNvPr id="13" name="AutoShape 4"/>
            <p:cNvSpPr>
              <a:spLocks noChangeArrowheads="1"/>
            </p:cNvSpPr>
            <p:nvPr/>
          </p:nvSpPr>
          <p:spPr bwMode="gray">
            <a:xfrm>
              <a:off x="1214414" y="1645146"/>
              <a:ext cx="7324725" cy="2681836"/>
            </a:xfrm>
            <a:prstGeom prst="roundRect">
              <a:avLst>
                <a:gd name="adj" fmla="val 16667"/>
              </a:avLst>
            </a:prstGeom>
            <a:noFill/>
            <a:ln w="25400" algn="ctr">
              <a:solidFill>
                <a:schemeClr val="accent1"/>
              </a:solidFill>
              <a:round/>
              <a:headEnd/>
              <a:tailEnd/>
            </a:ln>
            <a:effectLst/>
          </p:spPr>
          <p:txBody>
            <a:bodyPr wrap="none" anchor="ctr"/>
            <a:lstStyle/>
            <a:p>
              <a:pPr algn="ctr" eaLnBrk="0" hangingPunct="0">
                <a:defRPr/>
              </a:pPr>
              <a:endParaRPr lang="en-US" altLang="ko-KR" sz="1600" dirty="0">
                <a:latin typeface="Verdana" pitchFamily="34" charset="0"/>
                <a:ea typeface="Gulim" pitchFamily="34" charset="-127"/>
              </a:endParaRPr>
            </a:p>
          </p:txBody>
        </p:sp>
        <p:sp>
          <p:nvSpPr>
            <p:cNvPr id="14" name="TextBox 13"/>
            <p:cNvSpPr txBox="1"/>
            <p:nvPr/>
          </p:nvSpPr>
          <p:spPr>
            <a:xfrm>
              <a:off x="1428728" y="1645146"/>
              <a:ext cx="7215238" cy="2800364"/>
            </a:xfrm>
            <a:prstGeom prst="rect">
              <a:avLst/>
            </a:prstGeom>
            <a:noFill/>
          </p:spPr>
          <p:txBody>
            <a:bodyPr wrap="square" rtlCol="0">
              <a:spAutoFit/>
            </a:bodyPr>
            <a:lstStyle/>
            <a:p>
              <a:pPr marL="900113" lvl="1" indent="-900113">
                <a:lnSpc>
                  <a:spcPct val="120000"/>
                </a:lnSpc>
              </a:pPr>
              <a:r>
                <a:rPr lang="zh-CN" altLang="en-US" sz="1100" dirty="0" smtClean="0">
                  <a:latin typeface="微软雅黑" pitchFamily="34" charset="-122"/>
                  <a:ea typeface="微软雅黑" pitchFamily="34" charset="-122"/>
                </a:rPr>
                <a:t>输入文档：</a:t>
              </a:r>
              <a:r>
                <a:rPr lang="en-US" altLang="zh-CN" sz="1100" dirty="0" smtClean="0">
                  <a:solidFill>
                    <a:prstClr val="black"/>
                  </a:solidFill>
                  <a:latin typeface="微软雅黑" pitchFamily="34" charset="-122"/>
                  <a:ea typeface="微软雅黑" pitchFamily="34" charset="-122"/>
                </a:rPr>
                <a:t> 《</a:t>
              </a:r>
              <a:r>
                <a:rPr lang="zh-CN" altLang="en-US" sz="1100" dirty="0" smtClean="0">
                  <a:solidFill>
                    <a:prstClr val="black"/>
                  </a:solidFill>
                  <a:latin typeface="微软雅黑" pitchFamily="34" charset="-122"/>
                  <a:ea typeface="微软雅黑" pitchFamily="34" charset="-122"/>
                </a:rPr>
                <a:t>业务功能分解表</a:t>
              </a:r>
              <a:r>
                <a:rPr lang="en-US" altLang="zh-CN" sz="1100" dirty="0" smtClean="0">
                  <a:solidFill>
                    <a:prstClr val="black"/>
                  </a:solidFill>
                  <a:latin typeface="微软雅黑" pitchFamily="34" charset="-122"/>
                  <a:ea typeface="微软雅黑" pitchFamily="34" charset="-122"/>
                </a:rPr>
                <a:t>》 </a:t>
              </a:r>
              <a:r>
                <a:rPr lang="zh-CN" altLang="en-US" sz="1100" dirty="0" smtClean="0">
                  <a:solidFill>
                    <a:prstClr val="black"/>
                  </a:solidFill>
                  <a:latin typeface="微软雅黑" pitchFamily="34" charset="-122"/>
                  <a:ea typeface="微软雅黑" pitchFamily="34" charset="-122"/>
                </a:rPr>
                <a:t>、</a:t>
              </a:r>
              <a:r>
                <a:rPr lang="en-US" altLang="zh-CN" sz="1100" dirty="0" smtClean="0">
                  <a:latin typeface="微软雅黑" pitchFamily="34" charset="-122"/>
                  <a:ea typeface="微软雅黑" pitchFamily="34" charset="-122"/>
                </a:rPr>
                <a:t>《</a:t>
              </a:r>
              <a:r>
                <a:rPr lang="zh-CN" altLang="en-US" sz="1100" dirty="0" smtClean="0">
                  <a:latin typeface="微软雅黑" pitchFamily="34" charset="-122"/>
                  <a:ea typeface="微软雅黑" pitchFamily="34" charset="-122"/>
                </a:rPr>
                <a:t>接口文档</a:t>
              </a:r>
              <a:r>
                <a:rPr lang="en-US" altLang="zh-CN" sz="1100" dirty="0" smtClean="0">
                  <a:latin typeface="微软雅黑" pitchFamily="34" charset="-122"/>
                  <a:ea typeface="微软雅黑" pitchFamily="34" charset="-122"/>
                </a:rPr>
                <a:t>》</a:t>
              </a:r>
            </a:p>
            <a:p>
              <a:pPr marL="900113" lvl="1" indent="-900113">
                <a:lnSpc>
                  <a:spcPct val="120000"/>
                </a:lnSpc>
              </a:pPr>
              <a:r>
                <a:rPr lang="zh-CN" altLang="en-US" sz="1100" dirty="0" smtClean="0">
                  <a:latin typeface="微软雅黑" pitchFamily="34" charset="-122"/>
                  <a:ea typeface="微软雅黑" pitchFamily="34" charset="-122"/>
                </a:rPr>
                <a:t>服务识别步骤：</a:t>
              </a:r>
              <a:endParaRPr lang="en-US" altLang="zh-CN" sz="1100" dirty="0" smtClean="0">
                <a:latin typeface="微软雅黑" pitchFamily="34" charset="-122"/>
                <a:ea typeface="微软雅黑" pitchFamily="34" charset="-122"/>
              </a:endParaRPr>
            </a:p>
            <a:p>
              <a:pPr marL="900113" lvl="1" indent="-449263">
                <a:lnSpc>
                  <a:spcPct val="120000"/>
                </a:lnSpc>
                <a:buFont typeface="+mj-lt"/>
                <a:buAutoNum type="arabicPeriod"/>
              </a:pPr>
              <a:r>
                <a:rPr lang="zh-CN" altLang="en-US" sz="1100" dirty="0" smtClean="0">
                  <a:solidFill>
                    <a:prstClr val="black"/>
                  </a:solidFill>
                  <a:latin typeface="微软雅黑" pitchFamily="34" charset="-122"/>
                  <a:ea typeface="微软雅黑" pitchFamily="34" charset="-122"/>
                </a:rPr>
                <a:t>用自下而上的方法筛选</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业务功能分解表</a:t>
              </a:r>
              <a:r>
                <a:rPr lang="en-US" altLang="zh-CN" sz="1100" dirty="0" smtClean="0">
                  <a:solidFill>
                    <a:prstClr val="black"/>
                  </a:solidFill>
                  <a:latin typeface="微软雅黑" pitchFamily="34" charset="-122"/>
                  <a:ea typeface="微软雅黑" pitchFamily="34" charset="-122"/>
                </a:rPr>
                <a:t>》 </a:t>
              </a:r>
              <a:r>
                <a:rPr lang="zh-CN" altLang="en-US" sz="1100" dirty="0" smtClean="0">
                  <a:solidFill>
                    <a:prstClr val="black"/>
                  </a:solidFill>
                  <a:latin typeface="微软雅黑" pitchFamily="34" charset="-122"/>
                  <a:ea typeface="微软雅黑" pitchFamily="34" charset="-122"/>
                </a:rPr>
                <a:t>，获得</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候选服务定义列表</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（初稿）</a:t>
              </a:r>
              <a:endParaRPr lang="en-US" altLang="zh-CN" sz="1100" dirty="0" smtClean="0">
                <a:solidFill>
                  <a:prstClr val="black"/>
                </a:solidFill>
                <a:latin typeface="微软雅黑" pitchFamily="34" charset="-122"/>
                <a:ea typeface="微软雅黑" pitchFamily="34" charset="-122"/>
              </a:endParaRPr>
            </a:p>
            <a:p>
              <a:pPr marL="900113" lvl="1" indent="-449263">
                <a:lnSpc>
                  <a:spcPct val="120000"/>
                </a:lnSpc>
                <a:buFont typeface="+mj-lt"/>
                <a:buAutoNum type="arabicPeriod"/>
              </a:pPr>
              <a:r>
                <a:rPr lang="zh-CN" altLang="en-US" sz="1100" dirty="0" smtClean="0">
                  <a:solidFill>
                    <a:prstClr val="black"/>
                  </a:solidFill>
                  <a:latin typeface="微软雅黑" pitchFamily="34" charset="-122"/>
                  <a:ea typeface="微软雅黑" pitchFamily="34" charset="-122"/>
                </a:rPr>
                <a:t>结合</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接口文档</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，对</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候选服务列表</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（初稿）进行完备性检查，获得</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候选服务列表</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（过程）</a:t>
              </a:r>
              <a:endParaRPr lang="en-US" altLang="zh-CN" sz="1100" dirty="0" smtClean="0">
                <a:solidFill>
                  <a:prstClr val="black"/>
                </a:solidFill>
                <a:latin typeface="微软雅黑" pitchFamily="34" charset="-122"/>
                <a:ea typeface="微软雅黑" pitchFamily="34" charset="-122"/>
              </a:endParaRPr>
            </a:p>
            <a:p>
              <a:pPr marL="900113" lvl="1" indent="-449263">
                <a:lnSpc>
                  <a:spcPct val="120000"/>
                </a:lnSpc>
                <a:buFont typeface="+mj-lt"/>
                <a:buAutoNum type="arabicPeriod"/>
              </a:pPr>
              <a:r>
                <a:rPr lang="zh-CN" altLang="en-US" sz="1100" dirty="0" smtClean="0">
                  <a:solidFill>
                    <a:prstClr val="black"/>
                  </a:solidFill>
                  <a:latin typeface="微软雅黑" pitchFamily="34" charset="-122"/>
                  <a:ea typeface="微软雅黑" pitchFamily="34" charset="-122"/>
                </a:rPr>
                <a:t>查找</a:t>
              </a:r>
              <a:r>
                <a:rPr lang="en-US" altLang="zh-CN" sz="1100" dirty="0" smtClean="0">
                  <a:solidFill>
                    <a:prstClr val="black"/>
                  </a:solidFill>
                  <a:latin typeface="微软雅黑" pitchFamily="34" charset="-122"/>
                  <a:ea typeface="微软雅黑" pitchFamily="34" charset="-122"/>
                </a:rPr>
                <a:t>《</a:t>
              </a:r>
              <a:r>
                <a:rPr lang="zh-CN" altLang="en-US" sz="1100" dirty="0">
                  <a:solidFill>
                    <a:prstClr val="black"/>
                  </a:solidFill>
                  <a:latin typeface="微软雅黑" pitchFamily="34" charset="-122"/>
                  <a:ea typeface="微软雅黑" pitchFamily="34" charset="-122"/>
                </a:rPr>
                <a:t>服务库</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a:t>
              </a:r>
              <a:endParaRPr lang="en-US" altLang="zh-CN" sz="1100" dirty="0" smtClean="0">
                <a:solidFill>
                  <a:prstClr val="black"/>
                </a:solidFill>
                <a:latin typeface="微软雅黑" pitchFamily="34" charset="-122"/>
                <a:ea typeface="微软雅黑" pitchFamily="34" charset="-122"/>
              </a:endParaRPr>
            </a:p>
            <a:p>
              <a:pPr marL="1357313" lvl="2" indent="263525" defTabSz="1163638">
                <a:lnSpc>
                  <a:spcPct val="120000"/>
                </a:lnSpc>
                <a:buFont typeface="+mj-lt"/>
                <a:buAutoNum type="alphaLcParenR"/>
              </a:pPr>
              <a:r>
                <a:rPr lang="zh-CN" altLang="en-US" sz="1100" dirty="0" smtClean="0">
                  <a:solidFill>
                    <a:prstClr val="black"/>
                  </a:solidFill>
                  <a:latin typeface="微软雅黑" pitchFamily="34" charset="-122"/>
                  <a:ea typeface="微软雅黑" pitchFamily="34" charset="-122"/>
                </a:rPr>
                <a:t>对已公布的服务考虑复用</a:t>
              </a:r>
              <a:endParaRPr lang="en-US" altLang="zh-CN" sz="1100" dirty="0" smtClean="0">
                <a:solidFill>
                  <a:prstClr val="black"/>
                </a:solidFill>
                <a:latin typeface="微软雅黑" pitchFamily="34" charset="-122"/>
                <a:ea typeface="微软雅黑" pitchFamily="34" charset="-122"/>
              </a:endParaRPr>
            </a:p>
            <a:p>
              <a:pPr marL="1357313" lvl="2" indent="263525" defTabSz="1163638">
                <a:lnSpc>
                  <a:spcPct val="120000"/>
                </a:lnSpc>
                <a:buFont typeface="+mj-lt"/>
                <a:buAutoNum type="alphaLcParenR"/>
              </a:pPr>
              <a:r>
                <a:rPr lang="zh-CN" altLang="en-US" sz="1100" dirty="0" smtClean="0">
                  <a:solidFill>
                    <a:prstClr val="black"/>
                  </a:solidFill>
                  <a:latin typeface="微软雅黑" pitchFamily="34" charset="-122"/>
                  <a:ea typeface="微软雅黑" pitchFamily="34" charset="-122"/>
                </a:rPr>
                <a:t>通过组合现有服务满足业务需求。</a:t>
              </a:r>
            </a:p>
            <a:p>
              <a:pPr marL="1357313" lvl="2" indent="263525" defTabSz="1163638">
                <a:lnSpc>
                  <a:spcPct val="120000"/>
                </a:lnSpc>
                <a:buFont typeface="+mj-lt"/>
                <a:buAutoNum type="alphaLcParenR"/>
              </a:pPr>
              <a:r>
                <a:rPr lang="zh-CN" altLang="en-US" sz="1100" dirty="0" smtClean="0">
                  <a:solidFill>
                    <a:prstClr val="black"/>
                  </a:solidFill>
                  <a:latin typeface="微软雅黑" pitchFamily="34" charset="-122"/>
                  <a:ea typeface="微软雅黑" pitchFamily="34" charset="-122"/>
                </a:rPr>
                <a:t>新增服务操作或修改原服务操作满足业务需求。</a:t>
              </a:r>
            </a:p>
            <a:p>
              <a:pPr marL="900113" lvl="1" indent="-449263">
                <a:lnSpc>
                  <a:spcPct val="120000"/>
                </a:lnSpc>
                <a:buFont typeface="+mj-lt"/>
                <a:buAutoNum type="arabicPeriod"/>
              </a:pPr>
              <a:r>
                <a:rPr lang="zh-CN" altLang="en-US" sz="1100" dirty="0" smtClean="0">
                  <a:solidFill>
                    <a:prstClr val="black"/>
                  </a:solidFill>
                  <a:latin typeface="微软雅黑" pitchFamily="34" charset="-122"/>
                  <a:ea typeface="微软雅黑" pitchFamily="34" charset="-122"/>
                </a:rPr>
                <a:t>参考</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服务模型</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新增服务</a:t>
              </a:r>
              <a:endParaRPr lang="en-US" altLang="zh-CN" sz="1100" dirty="0" smtClean="0">
                <a:solidFill>
                  <a:prstClr val="black"/>
                </a:solidFill>
                <a:latin typeface="微软雅黑" pitchFamily="34" charset="-122"/>
                <a:ea typeface="微软雅黑" pitchFamily="34" charset="-122"/>
              </a:endParaRPr>
            </a:p>
            <a:p>
              <a:pPr marL="900113" lvl="1" indent="-449263">
                <a:lnSpc>
                  <a:spcPct val="120000"/>
                </a:lnSpc>
                <a:spcBef>
                  <a:spcPct val="20000"/>
                </a:spcBef>
                <a:buClr>
                  <a:schemeClr val="tx2"/>
                </a:buClr>
                <a:buFont typeface="+mj-lt"/>
                <a:buAutoNum type="arabicPeriod"/>
              </a:pPr>
              <a:r>
                <a:rPr lang="zh-CN" altLang="en-US" sz="1100" dirty="0" smtClean="0">
                  <a:solidFill>
                    <a:prstClr val="black"/>
                  </a:solidFill>
                  <a:latin typeface="微软雅黑" pitchFamily="34" charset="-122"/>
                  <a:ea typeface="微软雅黑" pitchFamily="34" charset="-122"/>
                </a:rPr>
                <a:t>根据已确定的服务，确定组合服务</a:t>
              </a:r>
              <a:endParaRPr lang="en-US" altLang="zh-CN" sz="1100" dirty="0" smtClean="0">
                <a:solidFill>
                  <a:prstClr val="black"/>
                </a:solidFill>
                <a:latin typeface="微软雅黑" pitchFamily="34" charset="-122"/>
                <a:ea typeface="微软雅黑" pitchFamily="34" charset="-122"/>
              </a:endParaRPr>
            </a:p>
            <a:p>
              <a:pPr marL="900113" lvl="1" indent="-449263">
                <a:lnSpc>
                  <a:spcPct val="120000"/>
                </a:lnSpc>
                <a:spcBef>
                  <a:spcPct val="20000"/>
                </a:spcBef>
                <a:buClr>
                  <a:schemeClr val="tx2"/>
                </a:buClr>
                <a:buFont typeface="+mj-lt"/>
                <a:buAutoNum type="arabicPeriod"/>
              </a:pPr>
              <a:r>
                <a:rPr lang="zh-CN" altLang="en-US" sz="1100" dirty="0" smtClean="0">
                  <a:solidFill>
                    <a:prstClr val="black"/>
                  </a:solidFill>
                  <a:latin typeface="微软雅黑" pitchFamily="34" charset="-122"/>
                  <a:ea typeface="微软雅黑" pitchFamily="34" charset="-122"/>
                </a:rPr>
                <a:t>再次核对业务需求与服务内容，明确其所在的服务目录，确定最终的服务及操作。将确定后的服务登记到</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服务分析文档</a:t>
              </a:r>
              <a:r>
                <a:rPr lang="en-US" altLang="zh-CN" sz="1100" dirty="0" smtClean="0">
                  <a:solidFill>
                    <a:prstClr val="black"/>
                  </a:solidFill>
                  <a:latin typeface="微软雅黑" pitchFamily="34" charset="-122"/>
                  <a:ea typeface="微软雅黑" pitchFamily="34" charset="-122"/>
                </a:rPr>
                <a:t>》</a:t>
              </a:r>
              <a:r>
                <a:rPr lang="zh-CN" altLang="en-US" sz="1100" dirty="0" smtClean="0">
                  <a:solidFill>
                    <a:prstClr val="black"/>
                  </a:solidFill>
                  <a:latin typeface="微软雅黑" pitchFamily="34" charset="-122"/>
                  <a:ea typeface="微软雅黑" pitchFamily="34" charset="-122"/>
                </a:rPr>
                <a:t>。</a:t>
              </a:r>
              <a:endParaRPr lang="en-US" altLang="zh-CN" sz="1100" dirty="0" smtClean="0">
                <a:solidFill>
                  <a:prstClr val="black"/>
                </a:solidFill>
                <a:latin typeface="微软雅黑" pitchFamily="34" charset="-122"/>
                <a:ea typeface="微软雅黑" pitchFamily="34" charset="-122"/>
              </a:endParaRPr>
            </a:p>
            <a:p>
              <a:pPr marL="0" lvl="1">
                <a:lnSpc>
                  <a:spcPct val="120000"/>
                </a:lnSpc>
                <a:spcBef>
                  <a:spcPct val="20000"/>
                </a:spcBef>
                <a:buClr>
                  <a:schemeClr val="tx2"/>
                </a:buClr>
              </a:pPr>
              <a:r>
                <a:rPr lang="zh-CN" altLang="en-US" sz="1100" dirty="0" smtClean="0">
                  <a:latin typeface="微软雅黑" pitchFamily="34" charset="-122"/>
                  <a:ea typeface="微软雅黑" pitchFamily="34" charset="-122"/>
                </a:rPr>
                <a:t>输出文档： </a:t>
              </a:r>
              <a:r>
                <a:rPr lang="en-US" altLang="zh-CN" sz="1100" dirty="0" smtClean="0">
                  <a:latin typeface="微软雅黑" pitchFamily="34" charset="-122"/>
                  <a:ea typeface="微软雅黑" pitchFamily="34" charset="-122"/>
                </a:rPr>
                <a:t>《</a:t>
              </a:r>
              <a:r>
                <a:rPr lang="zh-CN" altLang="en-US" sz="1100" dirty="0" smtClean="0">
                  <a:latin typeface="微软雅黑" pitchFamily="34" charset="-122"/>
                  <a:ea typeface="微软雅黑" pitchFamily="34" charset="-122"/>
                </a:rPr>
                <a:t>候选服务定义列表</a:t>
              </a:r>
              <a:r>
                <a:rPr lang="en-US" altLang="zh-CN" sz="1100" dirty="0" smtClean="0">
                  <a:latin typeface="微软雅黑" pitchFamily="34" charset="-122"/>
                  <a:ea typeface="微软雅黑" pitchFamily="34" charset="-122"/>
                </a:rPr>
                <a:t>》</a:t>
              </a:r>
              <a:r>
                <a:rPr lang="zh-CN" altLang="en-US" sz="1100" dirty="0" smtClean="0">
                  <a:latin typeface="微软雅黑" pitchFamily="34" charset="-122"/>
                  <a:ea typeface="微软雅黑" pitchFamily="34" charset="-122"/>
                </a:rPr>
                <a:t>（过程） 、</a:t>
              </a:r>
              <a:r>
                <a:rPr lang="en-US" altLang="zh-CN" sz="1100" dirty="0" smtClean="0">
                  <a:latin typeface="微软雅黑" pitchFamily="34" charset="-122"/>
                  <a:ea typeface="微软雅黑" pitchFamily="34" charset="-122"/>
                </a:rPr>
                <a:t>《</a:t>
              </a:r>
              <a:r>
                <a:rPr lang="zh-CN" altLang="en-US" sz="1100" dirty="0" smtClean="0">
                  <a:latin typeface="微软雅黑" pitchFamily="34" charset="-122"/>
                  <a:ea typeface="微软雅黑" pitchFamily="34" charset="-122"/>
                </a:rPr>
                <a:t>服务分析文档</a:t>
              </a:r>
              <a:r>
                <a:rPr lang="en-US" altLang="zh-CN" sz="1100" dirty="0" smtClean="0">
                  <a:latin typeface="微软雅黑" pitchFamily="34" charset="-122"/>
                  <a:ea typeface="微软雅黑" pitchFamily="34" charset="-122"/>
                </a:rPr>
                <a:t>》</a:t>
              </a:r>
              <a:r>
                <a:rPr lang="zh-CN" altLang="en-US" sz="1100" dirty="0" smtClean="0">
                  <a:latin typeface="微软雅黑" pitchFamily="34" charset="-122"/>
                  <a:ea typeface="微软雅黑" pitchFamily="34" charset="-122"/>
                </a:rPr>
                <a:t>（过程）</a:t>
              </a:r>
              <a:endParaRPr lang="en-US" altLang="zh-CN" sz="1100" dirty="0" smtClean="0">
                <a:latin typeface="微软雅黑" pitchFamily="34" charset="-122"/>
                <a:ea typeface="微软雅黑" pitchFamily="34" charset="-122"/>
              </a:endParaRPr>
            </a:p>
          </p:txBody>
        </p:sp>
      </p:grpSp>
      <p:sp>
        <p:nvSpPr>
          <p:cNvPr id="15" name="圆角矩形 14"/>
          <p:cNvSpPr/>
          <p:nvPr/>
        </p:nvSpPr>
        <p:spPr bwMode="auto">
          <a:xfrm>
            <a:off x="2698896" y="4071942"/>
            <a:ext cx="7358114" cy="2428892"/>
          </a:xfrm>
          <a:prstGeom prst="roundRect">
            <a:avLst/>
          </a:prstGeom>
          <a:noFill/>
          <a:ln w="0"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grpSp>
        <p:nvGrpSpPr>
          <p:cNvPr id="16" name="组合 15"/>
          <p:cNvGrpSpPr/>
          <p:nvPr/>
        </p:nvGrpSpPr>
        <p:grpSpPr>
          <a:xfrm>
            <a:off x="3056086" y="4131561"/>
            <a:ext cx="2428892" cy="1226265"/>
            <a:chOff x="1500166" y="4085074"/>
            <a:chExt cx="2632946" cy="1226265"/>
          </a:xfrm>
        </p:grpSpPr>
        <p:sp>
          <p:nvSpPr>
            <p:cNvPr id="17" name="圆角矩形 16"/>
            <p:cNvSpPr/>
            <p:nvPr/>
          </p:nvSpPr>
          <p:spPr bwMode="auto">
            <a:xfrm>
              <a:off x="2627784" y="4592494"/>
              <a:ext cx="1143008" cy="211425"/>
            </a:xfrm>
            <a:prstGeom prst="roundRect">
              <a:avLst/>
            </a:prstGeom>
            <a:solidFill>
              <a:srgbClr val="4D8AD3"/>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en-US" altLang="zh-CN" sz="1200" b="1" i="0" u="none" strike="noStrike" cap="none" normalizeH="0" baseline="0" dirty="0" smtClean="0">
                  <a:ln>
                    <a:noFill/>
                  </a:ln>
                  <a:solidFill>
                    <a:schemeClr val="bg1"/>
                  </a:solidFill>
                  <a:effectLst/>
                  <a:latin typeface="宋体" pitchFamily="2" charset="-122"/>
                  <a:ea typeface="宋体" pitchFamily="2" charset="-122"/>
                </a:rPr>
                <a:t>C</a:t>
              </a:r>
              <a:endParaRPr kumimoji="0" lang="zh-CN" altLang="en-US" sz="1200" b="1" i="0" u="none" strike="noStrike" cap="none" normalizeH="0" baseline="0" dirty="0" smtClean="0">
                <a:ln>
                  <a:noFill/>
                </a:ln>
                <a:solidFill>
                  <a:schemeClr val="bg1"/>
                </a:solidFill>
                <a:effectLst/>
                <a:latin typeface="宋体" pitchFamily="2" charset="-122"/>
                <a:ea typeface="宋体" pitchFamily="2" charset="-122"/>
              </a:endParaRPr>
            </a:p>
          </p:txBody>
        </p:sp>
        <p:sp>
          <p:nvSpPr>
            <p:cNvPr id="18" name="圆角矩形 17"/>
            <p:cNvSpPr/>
            <p:nvPr/>
          </p:nvSpPr>
          <p:spPr bwMode="auto">
            <a:xfrm>
              <a:off x="1500166" y="4592494"/>
              <a:ext cx="857256" cy="211425"/>
            </a:xfrm>
            <a:prstGeom prst="roundRect">
              <a:avLst/>
            </a:prstGeom>
            <a:solidFill>
              <a:srgbClr val="8692EE"/>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lang="en-US" altLang="zh-CN" sz="1200" b="1" dirty="0" smtClean="0">
                  <a:latin typeface="宋体" pitchFamily="2" charset="-122"/>
                  <a:ea typeface="宋体" pitchFamily="2" charset="-122"/>
                </a:rPr>
                <a:t>B</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sp>
          <p:nvSpPr>
            <p:cNvPr id="19" name="圆角矩形 18"/>
            <p:cNvSpPr/>
            <p:nvPr/>
          </p:nvSpPr>
          <p:spPr bwMode="auto">
            <a:xfrm>
              <a:off x="2339752" y="5099914"/>
              <a:ext cx="857256" cy="211425"/>
            </a:xfrm>
            <a:prstGeom prst="roundRect">
              <a:avLst/>
            </a:prstGeom>
            <a:solidFill>
              <a:srgbClr val="8692EE"/>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lang="en-US" altLang="zh-CN" sz="1200" b="1" dirty="0" smtClean="0">
                  <a:latin typeface="宋体" pitchFamily="2" charset="-122"/>
                  <a:ea typeface="宋体" pitchFamily="2" charset="-122"/>
                </a:rPr>
                <a:t>D</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sp>
          <p:nvSpPr>
            <p:cNvPr id="20" name="圆角矩形 19"/>
            <p:cNvSpPr/>
            <p:nvPr/>
          </p:nvSpPr>
          <p:spPr bwMode="auto">
            <a:xfrm>
              <a:off x="3275856" y="5099914"/>
              <a:ext cx="857256" cy="211425"/>
            </a:xfrm>
            <a:prstGeom prst="roundRect">
              <a:avLst/>
            </a:prstGeom>
            <a:solidFill>
              <a:srgbClr val="8692EE"/>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en-US" altLang="zh-CN" sz="1200" b="1" i="0" u="none" strike="noStrike" cap="none" normalizeH="0" baseline="0" dirty="0" smtClean="0">
                  <a:ln>
                    <a:noFill/>
                  </a:ln>
                  <a:solidFill>
                    <a:schemeClr val="tx1"/>
                  </a:solidFill>
                  <a:effectLst/>
                  <a:latin typeface="宋体" pitchFamily="2" charset="-122"/>
                  <a:ea typeface="宋体" pitchFamily="2" charset="-122"/>
                </a:rPr>
                <a:t>E</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cxnSp>
          <p:nvCxnSpPr>
            <p:cNvPr id="21" name="形状 30"/>
            <p:cNvCxnSpPr>
              <a:stCxn id="17" idx="2"/>
              <a:endCxn id="20" idx="0"/>
            </p:cNvCxnSpPr>
            <p:nvPr/>
          </p:nvCxnSpPr>
          <p:spPr>
            <a:xfrm rot="16200000" flipH="1">
              <a:off x="3303889" y="4699318"/>
              <a:ext cx="295995" cy="50519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肘形连接符 21"/>
            <p:cNvCxnSpPr>
              <a:stCxn id="17" idx="2"/>
              <a:endCxn id="19" idx="0"/>
            </p:cNvCxnSpPr>
            <p:nvPr/>
          </p:nvCxnSpPr>
          <p:spPr>
            <a:xfrm rot="5400000">
              <a:off x="2835837" y="4736462"/>
              <a:ext cx="295995" cy="43090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bwMode="auto">
            <a:xfrm>
              <a:off x="1500166" y="4085074"/>
              <a:ext cx="857256" cy="211425"/>
            </a:xfrm>
            <a:prstGeom prst="roundRect">
              <a:avLst/>
            </a:prstGeom>
            <a:solidFill>
              <a:srgbClr val="2A40E2"/>
            </a:solidFill>
            <a:ln w="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lang="en-US" altLang="zh-CN" sz="1200" b="1" dirty="0" smtClean="0">
                  <a:latin typeface="宋体" pitchFamily="2" charset="-122"/>
                  <a:ea typeface="宋体" pitchFamily="2" charset="-122"/>
                </a:rPr>
                <a:t>A</a:t>
              </a:r>
              <a:endParaRPr kumimoji="0" lang="zh-CN" altLang="en-US" sz="1200" b="1" i="0" u="none" strike="noStrike" cap="none" normalizeH="0" baseline="0" dirty="0" smtClean="0">
                <a:ln>
                  <a:noFill/>
                </a:ln>
                <a:solidFill>
                  <a:schemeClr val="tx1"/>
                </a:solidFill>
                <a:effectLst/>
                <a:latin typeface="宋体" pitchFamily="2" charset="-122"/>
                <a:ea typeface="宋体" pitchFamily="2" charset="-122"/>
              </a:endParaRPr>
            </a:p>
          </p:txBody>
        </p:sp>
        <p:cxnSp>
          <p:nvCxnSpPr>
            <p:cNvPr id="24" name="直接箭头连接符 23"/>
            <p:cNvCxnSpPr>
              <a:stCxn id="23" idx="2"/>
              <a:endCxn id="18" idx="0"/>
            </p:cNvCxnSpPr>
            <p:nvPr/>
          </p:nvCxnSpPr>
          <p:spPr>
            <a:xfrm rot="5400000">
              <a:off x="1780797" y="4444172"/>
              <a:ext cx="29599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肘形连接符 24"/>
            <p:cNvCxnSpPr>
              <a:stCxn id="23" idx="2"/>
              <a:endCxn id="17" idx="0"/>
            </p:cNvCxnSpPr>
            <p:nvPr/>
          </p:nvCxnSpPr>
          <p:spPr>
            <a:xfrm rot="16200000" flipH="1">
              <a:off x="2416044" y="3809249"/>
              <a:ext cx="295995" cy="127049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grpSp>
      <p:graphicFrame>
        <p:nvGraphicFramePr>
          <p:cNvPr id="26" name="表格 25"/>
          <p:cNvGraphicFramePr>
            <a:graphicFrameLocks noGrp="1"/>
          </p:cNvGraphicFramePr>
          <p:nvPr>
            <p:extLst>
              <p:ext uri="{D42A27DB-BD31-4B8C-83A1-F6EECF244321}">
                <p14:modId xmlns:p14="http://schemas.microsoft.com/office/powerpoint/2010/main" val="890960957"/>
              </p:ext>
            </p:extLst>
          </p:nvPr>
        </p:nvGraphicFramePr>
        <p:xfrm>
          <a:off x="5627855" y="4143380"/>
          <a:ext cx="4000527" cy="1251416"/>
        </p:xfrm>
        <a:graphic>
          <a:graphicData uri="http://schemas.openxmlformats.org/drawingml/2006/table">
            <a:tbl>
              <a:tblPr>
                <a:tableStyleId>{93296810-A885-4BE3-A3E7-6D5BEEA58F35}</a:tableStyleId>
              </a:tblPr>
              <a:tblGrid>
                <a:gridCol w="615465"/>
                <a:gridCol w="1471766"/>
                <a:gridCol w="956648"/>
                <a:gridCol w="956648"/>
              </a:tblGrid>
              <a:tr h="354194">
                <a:tc>
                  <a:txBody>
                    <a:bodyPr/>
                    <a:lstStyle/>
                    <a:p>
                      <a:pPr algn="ctr" fontAlgn="ctr"/>
                      <a:r>
                        <a:rPr lang="zh-CN" altLang="en-US" sz="1100" b="1" u="none" strike="noStrike" dirty="0">
                          <a:solidFill>
                            <a:schemeClr val="bg1"/>
                          </a:solidFill>
                          <a:latin typeface="微软雅黑" pitchFamily="34" charset="-122"/>
                          <a:ea typeface="微软雅黑" pitchFamily="34" charset="-122"/>
                        </a:rPr>
                        <a:t>功能单元</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c>
                  <a:txBody>
                    <a:bodyPr/>
                    <a:lstStyle/>
                    <a:p>
                      <a:pPr algn="ctr" fontAlgn="ctr"/>
                      <a:r>
                        <a:rPr lang="zh-CN" altLang="en-US" sz="1100" b="1" u="none" strike="noStrike" dirty="0">
                          <a:solidFill>
                            <a:schemeClr val="bg1"/>
                          </a:solidFill>
                          <a:latin typeface="微软雅黑" pitchFamily="34" charset="-122"/>
                          <a:ea typeface="微软雅黑" pitchFamily="34" charset="-122"/>
                        </a:rPr>
                        <a:t>业务含义</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c>
                  <a:txBody>
                    <a:bodyPr/>
                    <a:lstStyle/>
                    <a:p>
                      <a:pPr algn="ctr" fontAlgn="ctr"/>
                      <a:r>
                        <a:rPr lang="zh-CN" altLang="en-US" sz="1100" b="1" i="0" u="none" strike="noStrike" dirty="0" smtClean="0">
                          <a:solidFill>
                            <a:schemeClr val="bg1"/>
                          </a:solidFill>
                          <a:latin typeface="微软雅黑" pitchFamily="34" charset="-122"/>
                          <a:ea typeface="微软雅黑" pitchFamily="34" charset="-122"/>
                        </a:rPr>
                        <a:t>是候选服务？</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c>
                  <a:txBody>
                    <a:bodyPr/>
                    <a:lstStyle/>
                    <a:p>
                      <a:pPr algn="ctr" fontAlgn="ctr"/>
                      <a:r>
                        <a:rPr lang="zh-CN" altLang="en-US" sz="1100" b="1" i="0" u="none" strike="noStrike" dirty="0" smtClean="0">
                          <a:solidFill>
                            <a:schemeClr val="bg1"/>
                          </a:solidFill>
                          <a:latin typeface="微软雅黑" pitchFamily="34" charset="-122"/>
                          <a:ea typeface="微软雅黑" pitchFamily="34" charset="-122"/>
                        </a:rPr>
                        <a:t>服务复用或新增</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40E2"/>
                    </a:solidFill>
                  </a:tcPr>
                </a:tc>
              </a:tr>
              <a:tr h="180964">
                <a:tc>
                  <a:txBody>
                    <a:bodyPr/>
                    <a:lstStyle/>
                    <a:p>
                      <a:pPr algn="ctr" fontAlgn="ctr"/>
                      <a:r>
                        <a:rPr lang="en-US" sz="1100" b="0" i="0" u="none" strike="noStrike" dirty="0" smtClean="0">
                          <a:solidFill>
                            <a:srgbClr val="000000"/>
                          </a:solidFill>
                          <a:latin typeface="微软雅黑" pitchFamily="34" charset="-122"/>
                          <a:ea typeface="微软雅黑" pitchFamily="34" charset="-122"/>
                        </a:rPr>
                        <a:t>A</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100" b="0" i="0" u="none" strike="noStrike" dirty="0" smtClean="0">
                          <a:solidFill>
                            <a:schemeClr val="dk1"/>
                          </a:solidFill>
                          <a:latin typeface="微软雅黑" pitchFamily="34" charset="-122"/>
                          <a:ea typeface="微软雅黑" pitchFamily="34" charset="-122"/>
                        </a:rPr>
                        <a:t>网银转账</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964">
                <a:tc>
                  <a:txBody>
                    <a:bodyPr/>
                    <a:lstStyle/>
                    <a:p>
                      <a:pPr algn="ctr" fontAlgn="ctr"/>
                      <a:r>
                        <a:rPr lang="en-US" sz="1100" b="0" i="0" u="none" strike="noStrike" dirty="0">
                          <a:solidFill>
                            <a:srgbClr val="000000"/>
                          </a:solidFill>
                          <a:latin typeface="微软雅黑" pitchFamily="34" charset="-122"/>
                          <a:ea typeface="微软雅黑" pitchFamily="34" charset="-122"/>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100" b="0" u="none" strike="noStrike" dirty="0">
                          <a:latin typeface="微软雅黑" pitchFamily="34" charset="-122"/>
                          <a:ea typeface="微软雅黑" pitchFamily="34" charset="-122"/>
                        </a:rPr>
                        <a:t>获取动态密码</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是</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100" b="0" i="0" u="none" strike="noStrike" dirty="0" smtClean="0">
                          <a:solidFill>
                            <a:srgbClr val="000000"/>
                          </a:solidFill>
                          <a:latin typeface="微软雅黑" pitchFamily="34" charset="-122"/>
                          <a:ea typeface="微软雅黑" pitchFamily="34" charset="-122"/>
                        </a:rPr>
                        <a:t>3</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58680">
                <a:tc>
                  <a:txBody>
                    <a:bodyPr/>
                    <a:lstStyle/>
                    <a:p>
                      <a:pPr algn="ctr" fontAlgn="ctr"/>
                      <a:r>
                        <a:rPr lang="en-US" sz="1100" b="0" u="none" strike="noStrike" dirty="0" smtClean="0">
                          <a:latin typeface="微软雅黑" pitchFamily="34" charset="-122"/>
                          <a:ea typeface="微软雅黑" pitchFamily="34" charset="-122"/>
                        </a:rPr>
                        <a:t>C</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核心记账</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是</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altLang="zh-CN" sz="1100" b="0" i="0" u="none" strike="noStrike" dirty="0" smtClean="0">
                          <a:solidFill>
                            <a:srgbClr val="000000"/>
                          </a:solidFill>
                          <a:latin typeface="微软雅黑" pitchFamily="34" charset="-122"/>
                          <a:ea typeface="微软雅黑" pitchFamily="34" charset="-122"/>
                        </a:rPr>
                        <a:t>2</a:t>
                      </a:r>
                      <a:r>
                        <a:rPr lang="zh-CN" altLang="en-US" sz="1100" b="0" i="0" u="none" strike="noStrike" dirty="0" smtClean="0">
                          <a:solidFill>
                            <a:srgbClr val="000000"/>
                          </a:solidFill>
                          <a:latin typeface="微软雅黑" pitchFamily="34" charset="-122"/>
                          <a:ea typeface="微软雅黑" pitchFamily="34" charset="-122"/>
                        </a:rPr>
                        <a:t>（</a:t>
                      </a:r>
                      <a:r>
                        <a:rPr lang="en-US" altLang="zh-CN" sz="1100" b="0" i="0" u="none" strike="noStrike" dirty="0" smtClean="0">
                          <a:solidFill>
                            <a:srgbClr val="000000"/>
                          </a:solidFill>
                          <a:latin typeface="微软雅黑" pitchFamily="34" charset="-122"/>
                          <a:ea typeface="微软雅黑" pitchFamily="34" charset="-122"/>
                        </a:rPr>
                        <a:t>c</a:t>
                      </a:r>
                      <a:r>
                        <a:rPr lang="zh-CN" altLang="en-US" sz="1100" b="0" i="0" u="none" strike="noStrike" dirty="0" smtClean="0">
                          <a:solidFill>
                            <a:srgbClr val="000000"/>
                          </a:solidFill>
                          <a:latin typeface="微软雅黑" pitchFamily="34" charset="-122"/>
                          <a:ea typeface="微软雅黑" pitchFamily="34" charset="-122"/>
                        </a:rPr>
                        <a:t>）</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964">
                <a:tc>
                  <a:txBody>
                    <a:bodyPr/>
                    <a:lstStyle/>
                    <a:p>
                      <a:pPr algn="ctr" fontAlgn="ctr"/>
                      <a:r>
                        <a:rPr lang="en-US" sz="1100" b="0" u="none" strike="noStrike" dirty="0" smtClean="0">
                          <a:latin typeface="微软雅黑" pitchFamily="34" charset="-122"/>
                          <a:ea typeface="微软雅黑" pitchFamily="34" charset="-122"/>
                        </a:rPr>
                        <a:t>D</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校验支付条件</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58680">
                <a:tc>
                  <a:txBody>
                    <a:bodyPr/>
                    <a:lstStyle/>
                    <a:p>
                      <a:pPr algn="ctr" fontAlgn="ctr"/>
                      <a:r>
                        <a:rPr lang="en-US" sz="1100" b="0" u="none" strike="noStrike" dirty="0" smtClean="0">
                          <a:latin typeface="微软雅黑" pitchFamily="34" charset="-122"/>
                          <a:ea typeface="微软雅黑" pitchFamily="34" charset="-122"/>
                        </a:rPr>
                        <a:t>E</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100" b="0" u="none" strike="noStrike" dirty="0" smtClean="0">
                          <a:latin typeface="微软雅黑" pitchFamily="34" charset="-122"/>
                          <a:ea typeface="微软雅黑" pitchFamily="34" charset="-122"/>
                        </a:rPr>
                        <a:t>记账</a:t>
                      </a: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1075486635"/>
              </p:ext>
            </p:extLst>
          </p:nvPr>
        </p:nvGraphicFramePr>
        <p:xfrm>
          <a:off x="2913210" y="5482744"/>
          <a:ext cx="6929485" cy="946652"/>
        </p:xfrm>
        <a:graphic>
          <a:graphicData uri="http://schemas.openxmlformats.org/drawingml/2006/table">
            <a:tbl>
              <a:tblPr/>
              <a:tblGrid>
                <a:gridCol w="420233"/>
                <a:gridCol w="772619"/>
                <a:gridCol w="852038"/>
                <a:gridCol w="902236"/>
                <a:gridCol w="1672530"/>
                <a:gridCol w="869936"/>
                <a:gridCol w="1439893"/>
              </a:tblGrid>
              <a:tr h="265341">
                <a:tc>
                  <a:txBody>
                    <a:bodyPr/>
                    <a:lstStyle/>
                    <a:p>
                      <a:pPr algn="ctr" fontAlgn="ctr"/>
                      <a:r>
                        <a:rPr lang="zh-CN" altLang="en-US" sz="900" b="1" i="0" u="none" strike="noStrike" dirty="0">
                          <a:latin typeface="微软雅黑" pitchFamily="34" charset="-122"/>
                          <a:ea typeface="微软雅黑" pitchFamily="34" charset="-122"/>
                        </a:rPr>
                        <a:t>交易码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900" b="1" i="0" u="none" strike="noStrike" dirty="0">
                          <a:latin typeface="微软雅黑" pitchFamily="34" charset="-122"/>
                          <a:ea typeface="微软雅黑" pitchFamily="34" charset="-122"/>
                        </a:rPr>
                        <a:t>接口名称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900" b="1" i="0" u="none" strike="noStrike" dirty="0" smtClean="0">
                          <a:latin typeface="微软雅黑" pitchFamily="34" charset="-122"/>
                          <a:ea typeface="微软雅黑" pitchFamily="34" charset="-122"/>
                        </a:rPr>
                        <a:t>可选</a:t>
                      </a:r>
                      <a:r>
                        <a:rPr lang="en-US" altLang="zh-CN" sz="900" b="1" i="0" u="none" strike="noStrike" dirty="0">
                          <a:latin typeface="微软雅黑" pitchFamily="34" charset="-122"/>
                          <a:ea typeface="微软雅黑" pitchFamily="34" charset="-122"/>
                        </a:rPr>
                        <a:t/>
                      </a:r>
                      <a:br>
                        <a:rPr lang="en-US" altLang="zh-CN" sz="900" b="1" i="0" u="none" strike="noStrike" dirty="0">
                          <a:latin typeface="微软雅黑" pitchFamily="34" charset="-122"/>
                          <a:ea typeface="微软雅黑" pitchFamily="34" charset="-122"/>
                        </a:rPr>
                      </a:br>
                      <a:r>
                        <a:rPr lang="zh-CN" altLang="en-US" sz="900" b="1" i="0" u="none" strike="noStrike" dirty="0">
                          <a:latin typeface="微软雅黑" pitchFamily="34" charset="-122"/>
                          <a:ea typeface="微软雅黑" pitchFamily="34" charset="-122"/>
                        </a:rPr>
                        <a:t>服务代码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900" b="1" i="0" u="none" strike="noStrike" dirty="0" smtClean="0">
                          <a:latin typeface="微软雅黑" pitchFamily="34" charset="-122"/>
                          <a:ea typeface="微软雅黑" pitchFamily="34" charset="-122"/>
                        </a:rPr>
                        <a:t>可选操作</a:t>
                      </a:r>
                      <a:endParaRPr lang="zh-CN" altLang="en-US" sz="900" b="1" i="0" u="none" strike="noStrike" dirty="0">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900" b="1" i="0" u="none" strike="noStrike">
                          <a:latin typeface="微软雅黑" pitchFamily="34" charset="-122"/>
                          <a:ea typeface="微软雅黑" pitchFamily="34" charset="-122"/>
                        </a:rPr>
                        <a:t>分析结果</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900" b="1" i="0" u="none" strike="noStrike">
                          <a:latin typeface="微软雅黑" pitchFamily="34" charset="-122"/>
                          <a:ea typeface="微软雅黑" pitchFamily="34" charset="-122"/>
                        </a:rPr>
                        <a:t>最终生成服务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FF"/>
                    </a:solidFill>
                  </a:tcPr>
                </a:tc>
                <a:tc>
                  <a:txBody>
                    <a:bodyPr/>
                    <a:lstStyle/>
                    <a:p>
                      <a:pPr algn="ctr" fontAlgn="ctr"/>
                      <a:r>
                        <a:rPr lang="zh-CN" altLang="en-US" sz="900" b="1" i="0" u="none" strike="noStrike">
                          <a:latin typeface="微软雅黑" pitchFamily="34" charset="-122"/>
                          <a:ea typeface="微软雅黑" pitchFamily="34" charset="-122"/>
                        </a:rPr>
                        <a:t>最终生成</a:t>
                      </a:r>
                      <a:br>
                        <a:rPr lang="zh-CN" altLang="en-US" sz="900" b="1" i="0" u="none" strike="noStrike">
                          <a:latin typeface="微软雅黑" pitchFamily="34" charset="-122"/>
                          <a:ea typeface="微软雅黑" pitchFamily="34" charset="-122"/>
                        </a:rPr>
                      </a:br>
                      <a:r>
                        <a:rPr lang="zh-CN" altLang="en-US" sz="900" b="1" i="0" u="none" strike="noStrike">
                          <a:latin typeface="微软雅黑" pitchFamily="34" charset="-122"/>
                          <a:ea typeface="微软雅黑" pitchFamily="34" charset="-122"/>
                        </a:rPr>
                        <a:t>服务操作</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FF"/>
                    </a:solidFill>
                  </a:tcPr>
                </a:tc>
              </a:tr>
              <a:tr h="398012">
                <a:tc>
                  <a:txBody>
                    <a:bodyPr/>
                    <a:lstStyle/>
                    <a:p>
                      <a:pPr algn="ctr" fontAlgn="ctr"/>
                      <a:r>
                        <a:rPr lang="zh-CN" altLang="en-US" sz="900" b="0" i="0" u="none" strike="noStrike">
                          <a:latin typeface="微软雅黑" pitchFamily="34" charset="-122"/>
                          <a:ea typeface="微软雅黑"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900" b="0" i="0" u="none" strike="noStrike" dirty="0" smtClean="0">
                          <a:latin typeface="微软雅黑" pitchFamily="34" charset="-122"/>
                          <a:ea typeface="微软雅黑" pitchFamily="34" charset="-122"/>
                        </a:rPr>
                        <a:t>获取动态密码</a:t>
                      </a:r>
                      <a:endParaRPr lang="zh-CN" altLang="en-US" sz="900" b="0" i="0" u="none" strike="noStrike" dirty="0">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dirty="0" smtClean="0">
                          <a:latin typeface="微软雅黑" pitchFamily="34" charset="-122"/>
                          <a:ea typeface="微软雅黑" pitchFamily="34" charset="-122"/>
                        </a:rPr>
                        <a:t>无</a:t>
                      </a:r>
                      <a:endParaRPr lang="en-US" altLang="zh-CN" sz="900" b="0" i="0" u="none" strike="noStrike" dirty="0">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dirty="0" smtClean="0">
                          <a:latin typeface="微软雅黑" pitchFamily="34" charset="-122"/>
                          <a:ea typeface="微软雅黑" pitchFamily="34" charset="-122"/>
                        </a:rPr>
                        <a:t>无</a:t>
                      </a:r>
                      <a:endParaRPr lang="zh-CN" altLang="en-US" sz="900" b="0" i="0" u="none" strike="noStrike" dirty="0">
                        <a:latin typeface="微软雅黑" pitchFamily="34" charset="-122"/>
                        <a:ea typeface="微软雅黑"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900" b="0" i="0" u="none" strike="noStrike" dirty="0">
                          <a:latin typeface="微软雅黑" pitchFamily="34" charset="-122"/>
                          <a:ea typeface="微软雅黑" pitchFamily="34" charset="-122"/>
                        </a:rPr>
                        <a:t>根据客户账号、手机号码信息，将动态密码发送至客户手机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dirty="0">
                          <a:latin typeface="微软雅黑" pitchFamily="34" charset="-122"/>
                          <a:ea typeface="微软雅黑" pitchFamily="34" charset="-122"/>
                        </a:rPr>
                        <a:t>帐户密码服务</a:t>
                      </a:r>
                      <a:br>
                        <a:rPr lang="zh-CN" altLang="en-US" sz="900" b="0" i="0" u="none" strike="noStrike" dirty="0">
                          <a:latin typeface="微软雅黑" pitchFamily="34" charset="-122"/>
                          <a:ea typeface="微软雅黑" pitchFamily="34" charset="-122"/>
                        </a:rPr>
                      </a:br>
                      <a:r>
                        <a:rPr lang="en-US" altLang="zh-CN" sz="900" b="0" i="0" u="none" strike="noStrike" dirty="0">
                          <a:latin typeface="微软雅黑" pitchFamily="34" charset="-122"/>
                          <a:ea typeface="微软雅黑" pitchFamily="34" charset="-122"/>
                        </a:rPr>
                        <a:t>(S120020002)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900" b="0" i="0" u="none" strike="noStrike" dirty="0" err="1">
                          <a:latin typeface="微软雅黑" pitchFamily="34" charset="-122"/>
                          <a:ea typeface="微软雅黑" pitchFamily="34" charset="-122"/>
                        </a:rPr>
                        <a:t>GainDynmcPwd</a:t>
                      </a:r>
                      <a:r>
                        <a:rPr lang="zh-CN" altLang="en-US" sz="900" b="0" i="0" u="none" strike="noStrike" dirty="0">
                          <a:latin typeface="微软雅黑" pitchFamily="34" charset="-122"/>
                          <a:ea typeface="微软雅黑" pitchFamily="34" charset="-122"/>
                        </a:rPr>
                        <a:t>获取动态密码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265341">
                <a:tc>
                  <a:txBody>
                    <a:bodyPr/>
                    <a:lstStyle/>
                    <a:p>
                      <a:pPr algn="ctr" fontAlgn="ctr"/>
                      <a:r>
                        <a:rPr lang="en-US" sz="900" b="0" i="0" u="none" strike="noStrike">
                          <a:latin typeface="微软雅黑" pitchFamily="34" charset="-122"/>
                          <a:ea typeface="微软雅黑" pitchFamily="34" charset="-122"/>
                        </a:rPr>
                        <a:t>EW99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zh-CN" altLang="en-US" sz="900" b="0" i="0" u="none" strike="noStrike" dirty="0">
                          <a:latin typeface="微软雅黑" pitchFamily="34" charset="-122"/>
                          <a:ea typeface="微软雅黑" pitchFamily="34" charset="-122"/>
                        </a:rPr>
                        <a:t>同行活期转帐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latin typeface="微软雅黑" pitchFamily="34" charset="-122"/>
                          <a:ea typeface="微软雅黑" pitchFamily="34" charset="-122"/>
                        </a:rPr>
                        <a:t>同行活期转帐</a:t>
                      </a:r>
                      <a:br>
                        <a:rPr lang="zh-CN" altLang="en-US" sz="900" b="0" i="0" u="none" strike="noStrike">
                          <a:latin typeface="微软雅黑" pitchFamily="34" charset="-122"/>
                          <a:ea typeface="微软雅黑" pitchFamily="34" charset="-122"/>
                        </a:rPr>
                      </a:br>
                      <a:r>
                        <a:rPr lang="en-US" altLang="zh-CN" sz="900" b="0" i="0" u="none" strike="noStrike">
                          <a:latin typeface="微软雅黑" pitchFamily="34" charset="-122"/>
                          <a:ea typeface="微软雅黑" pitchFamily="34" charset="-122"/>
                        </a:rPr>
                        <a:t>(</a:t>
                      </a:r>
                      <a:r>
                        <a:rPr lang="en-US" sz="900" b="0" i="0" u="none" strike="noStrike">
                          <a:latin typeface="微软雅黑" pitchFamily="34" charset="-122"/>
                          <a:ea typeface="微软雅黑" pitchFamily="34" charset="-122"/>
                        </a:rPr>
                        <a:t>S010010001)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dirty="0">
                          <a:latin typeface="微软雅黑" pitchFamily="34" charset="-122"/>
                          <a:ea typeface="微软雅黑" pitchFamily="34" charset="-122"/>
                        </a:rPr>
                        <a:t>个人账户同行活期转账</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900" b="0" i="0" u="none" strike="noStrike">
                          <a:latin typeface="微软雅黑" pitchFamily="34" charset="-122"/>
                          <a:ea typeface="微软雅黑" pitchFamily="34" charset="-122"/>
                        </a:rPr>
                        <a:t>对私业务，将客户存款转至同行另一个账户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latin typeface="微软雅黑" pitchFamily="34" charset="-122"/>
                          <a:ea typeface="微软雅黑" pitchFamily="34" charset="-122"/>
                        </a:rPr>
                        <a:t>同行活期转帐</a:t>
                      </a:r>
                      <a:br>
                        <a:rPr lang="zh-CN" altLang="en-US" sz="900" b="0" i="0" u="none" strike="noStrike">
                          <a:latin typeface="微软雅黑" pitchFamily="34" charset="-122"/>
                          <a:ea typeface="微软雅黑" pitchFamily="34" charset="-122"/>
                        </a:rPr>
                      </a:br>
                      <a:r>
                        <a:rPr lang="en-US" altLang="zh-CN" sz="900" b="0" i="0" u="none" strike="noStrike">
                          <a:latin typeface="微软雅黑" pitchFamily="34" charset="-122"/>
                          <a:ea typeface="微软雅黑" pitchFamily="34" charset="-122"/>
                        </a:rPr>
                        <a:t>(</a:t>
                      </a:r>
                      <a:r>
                        <a:rPr lang="en-US" sz="900" b="0" i="0" u="none" strike="noStrike">
                          <a:latin typeface="微软雅黑" pitchFamily="34" charset="-122"/>
                          <a:ea typeface="微软雅黑" pitchFamily="34" charset="-122"/>
                        </a:rPr>
                        <a:t>S010010001)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err="1">
                          <a:latin typeface="微软雅黑" pitchFamily="34" charset="-122"/>
                          <a:ea typeface="微软雅黑" pitchFamily="34" charset="-122"/>
                        </a:rPr>
                        <a:t>SameBankCrnTrfAcct</a:t>
                      </a:r>
                      <a:r>
                        <a:rPr lang="zh-CN" altLang="en-US" sz="900" b="0" i="0" u="none" strike="noStrike" dirty="0">
                          <a:latin typeface="微软雅黑" pitchFamily="34" charset="-122"/>
                          <a:ea typeface="微软雅黑" pitchFamily="34" charset="-122"/>
                        </a:rPr>
                        <a:t>同行活期转帐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6613835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候选服务筛选方法</a:t>
            </a:r>
            <a:r>
              <a:rPr lang="en-US" altLang="zh-CN" dirty="0" smtClean="0"/>
              <a:t>——</a:t>
            </a:r>
            <a:r>
              <a:rPr lang="zh-CN" altLang="en-US" dirty="0" smtClean="0"/>
              <a:t>自上而下</a:t>
            </a:r>
            <a:endParaRPr lang="en-US" dirty="0"/>
          </a:p>
        </p:txBody>
      </p:sp>
      <p:sp>
        <p:nvSpPr>
          <p:cNvPr id="4" name="TextBox 9"/>
          <p:cNvSpPr txBox="1"/>
          <p:nvPr/>
        </p:nvSpPr>
        <p:spPr>
          <a:xfrm>
            <a:off x="1991544" y="1017238"/>
            <a:ext cx="8572560" cy="3213187"/>
          </a:xfrm>
          <a:prstGeom prst="rect">
            <a:avLst/>
          </a:prstGeom>
          <a:noFill/>
          <a:ln w="12700">
            <a:solidFill>
              <a:schemeClr val="tx1"/>
            </a:solidFill>
            <a:prstDash val="dash"/>
          </a:ln>
        </p:spPr>
        <p:txBody>
          <a:bodyPr wrap="square" rtlCol="0">
            <a:spAutoFit/>
          </a:bodyPr>
          <a:lstStyle/>
          <a:p>
            <a:pPr marL="542925" indent="-457200" algn="just">
              <a:lnSpc>
                <a:spcPct val="130000"/>
              </a:lnSpc>
              <a:tabLst>
                <a:tab pos="542925" algn="l"/>
                <a:tab pos="1347788" algn="l"/>
              </a:tabLst>
            </a:pPr>
            <a:r>
              <a:rPr lang="zh-CN" altLang="en-US" sz="1200" dirty="0" smtClean="0">
                <a:latin typeface="微软雅黑" pitchFamily="34" charset="-122"/>
                <a:ea typeface="微软雅黑" pitchFamily="34" charset="-122"/>
              </a:rPr>
              <a:t>考察</a:t>
            </a:r>
            <a:r>
              <a:rPr lang="en-US" altLang="zh-CN" sz="1200" dirty="0" smtClean="0">
                <a:solidFill>
                  <a:prstClr val="black"/>
                </a:solidFill>
                <a:latin typeface="微软雅黑" pitchFamily="34" charset="-122"/>
                <a:ea typeface="微软雅黑" pitchFamily="34" charset="-122"/>
              </a:rPr>
              <a:t>《</a:t>
            </a:r>
            <a:r>
              <a:rPr lang="zh-CN" altLang="en-US" sz="1200" dirty="0" smtClean="0">
                <a:solidFill>
                  <a:prstClr val="black"/>
                </a:solidFill>
                <a:latin typeface="微软雅黑" pitchFamily="34" charset="-122"/>
                <a:ea typeface="微软雅黑" pitchFamily="34" charset="-122"/>
              </a:rPr>
              <a:t>业务功能分解表</a:t>
            </a:r>
            <a:r>
              <a:rPr lang="en-US" altLang="zh-CN" sz="1200" dirty="0" smtClean="0">
                <a:solidFill>
                  <a:prstClr val="black"/>
                </a:solidFill>
                <a:latin typeface="微软雅黑" pitchFamily="34" charset="-122"/>
                <a:ea typeface="微软雅黑" pitchFamily="34" charset="-122"/>
              </a:rPr>
              <a:t>》</a:t>
            </a:r>
            <a:r>
              <a:rPr lang="zh-CN" altLang="en-US" sz="1200" dirty="0" smtClean="0">
                <a:solidFill>
                  <a:prstClr val="black"/>
                </a:solidFill>
                <a:latin typeface="微软雅黑" pitchFamily="34" charset="-122"/>
                <a:ea typeface="微软雅黑" pitchFamily="34" charset="-122"/>
              </a:rPr>
              <a:t>：</a:t>
            </a:r>
            <a:endParaRPr lang="en-US" altLang="zh-CN" sz="1200" dirty="0" smtClean="0">
              <a:solidFill>
                <a:prstClr val="black"/>
              </a:solidFill>
              <a:latin typeface="微软雅黑" pitchFamily="34" charset="-122"/>
              <a:ea typeface="微软雅黑" pitchFamily="34" charset="-122"/>
            </a:endParaRPr>
          </a:p>
          <a:p>
            <a:pPr marL="542925" indent="-457200" algn="just">
              <a:lnSpc>
                <a:spcPct val="130000"/>
              </a:lnSpc>
              <a:tabLst>
                <a:tab pos="542925" algn="l"/>
                <a:tab pos="1347788" algn="l"/>
              </a:tabLst>
            </a:pPr>
            <a:r>
              <a:rPr lang="zh-CN" altLang="en-US" sz="1200" b="1" dirty="0" smtClean="0">
                <a:latin typeface="微软雅黑" pitchFamily="34" charset="-122"/>
                <a:ea typeface="微软雅黑" pitchFamily="34" charset="-122"/>
              </a:rPr>
              <a:t>子节点考察方法</a:t>
            </a:r>
            <a:r>
              <a:rPr lang="en-US" altLang="zh-CN" sz="1200" b="1" dirty="0" smtClean="0">
                <a:latin typeface="微软雅黑" pitchFamily="34" charset="-122"/>
                <a:ea typeface="微软雅黑" pitchFamily="34" charset="-122"/>
              </a:rPr>
              <a:t>:</a:t>
            </a:r>
          </a:p>
          <a:p>
            <a:pPr marL="442913" indent="-442913" algn="just">
              <a:lnSpc>
                <a:spcPct val="130000"/>
              </a:lnSpc>
              <a:buFont typeface="Wingdings" pitchFamily="2" charset="2"/>
              <a:buChar char="ü"/>
              <a:tabLst>
                <a:tab pos="1347788" algn="l"/>
              </a:tabLst>
            </a:pPr>
            <a:r>
              <a:rPr lang="en-US" altLang="zh-CN" sz="1200" dirty="0" smtClean="0">
                <a:latin typeface="微软雅黑" pitchFamily="34" charset="-122"/>
                <a:ea typeface="微软雅黑" pitchFamily="34" charset="-122"/>
              </a:rPr>
              <a:t>1</a:t>
            </a:r>
            <a:r>
              <a:rPr lang="zh-CN" altLang="en-US" sz="1200" dirty="0" smtClean="0">
                <a:latin typeface="微软雅黑" pitchFamily="34" charset="-122"/>
                <a:ea typeface="微软雅黑" pitchFamily="34" charset="-122"/>
              </a:rPr>
              <a:t>、考察所有的子节点，若其有复用价值，列为候选服务。</a:t>
            </a:r>
            <a:endParaRPr lang="en-US" altLang="zh-CN" sz="1200" dirty="0" smtClean="0">
              <a:latin typeface="微软雅黑" pitchFamily="34" charset="-122"/>
              <a:ea typeface="微软雅黑" pitchFamily="34" charset="-122"/>
            </a:endParaRPr>
          </a:p>
          <a:p>
            <a:pPr marL="442913" indent="-442913" algn="just">
              <a:lnSpc>
                <a:spcPct val="130000"/>
              </a:lnSpc>
              <a:buFont typeface="Wingdings" pitchFamily="2" charset="2"/>
              <a:buChar char="ü"/>
              <a:tabLst>
                <a:tab pos="1347788" algn="l"/>
              </a:tabLst>
            </a:pPr>
            <a:r>
              <a:rPr lang="en-US" altLang="zh-CN" sz="1200" dirty="0" smtClean="0">
                <a:latin typeface="微软雅黑" pitchFamily="34" charset="-122"/>
                <a:ea typeface="微软雅黑" pitchFamily="34" charset="-122"/>
              </a:rPr>
              <a:t>2</a:t>
            </a:r>
            <a:r>
              <a:rPr lang="zh-CN" altLang="en-US" sz="1200" dirty="0" smtClean="0">
                <a:latin typeface="微软雅黑" pitchFamily="34" charset="-122"/>
                <a:ea typeface="微软雅黑" pitchFamily="34" charset="-122"/>
              </a:rPr>
              <a:t>、若子节点和父节点非同源，将子节点必须列为候选服务。</a:t>
            </a:r>
            <a:endParaRPr lang="en-US" altLang="zh-CN" sz="1200" dirty="0" smtClean="0">
              <a:latin typeface="微软雅黑" pitchFamily="34" charset="-122"/>
              <a:ea typeface="微软雅黑" pitchFamily="34" charset="-122"/>
            </a:endParaRPr>
          </a:p>
          <a:p>
            <a:pPr marL="442913" indent="-442913" algn="just">
              <a:lnSpc>
                <a:spcPct val="130000"/>
              </a:lnSpc>
              <a:buFont typeface="Wingdings" pitchFamily="2" charset="2"/>
              <a:buChar char="ü"/>
              <a:tabLst>
                <a:tab pos="1347788" algn="l"/>
              </a:tabLst>
            </a:pPr>
            <a:r>
              <a:rPr lang="en-US" altLang="zh-CN" sz="1200" dirty="0" smtClean="0">
                <a:latin typeface="微软雅黑" pitchFamily="34" charset="-122"/>
                <a:ea typeface="微软雅黑" pitchFamily="34" charset="-122"/>
              </a:rPr>
              <a:t>3</a:t>
            </a:r>
            <a:r>
              <a:rPr lang="zh-CN" altLang="en-US" sz="1200" dirty="0" smtClean="0">
                <a:latin typeface="微软雅黑" pitchFamily="34" charset="-122"/>
                <a:ea typeface="微软雅黑" pitchFamily="34" charset="-122"/>
              </a:rPr>
              <a:t>、若子节点和父节点同源、且不独立与用户交互，其功能可由父节点通过一次交互实现，暂不列为候选服务</a:t>
            </a:r>
            <a:endParaRPr lang="en-US" altLang="zh-CN" sz="1200" dirty="0" smtClean="0">
              <a:latin typeface="微软雅黑" pitchFamily="34" charset="-122"/>
              <a:ea typeface="微软雅黑" pitchFamily="34" charset="-122"/>
            </a:endParaRPr>
          </a:p>
          <a:p>
            <a:pPr marL="542925" indent="-457200" algn="just">
              <a:lnSpc>
                <a:spcPct val="130000"/>
              </a:lnSpc>
              <a:tabLst>
                <a:tab pos="542925" algn="l"/>
                <a:tab pos="1347788" algn="l"/>
              </a:tabLst>
            </a:pPr>
            <a:r>
              <a:rPr lang="zh-CN" altLang="en-US" sz="1200" b="1" dirty="0" smtClean="0">
                <a:solidFill>
                  <a:prstClr val="black"/>
                </a:solidFill>
                <a:latin typeface="微软雅黑" pitchFamily="34" charset="-122"/>
                <a:ea typeface="微软雅黑" pitchFamily="34" charset="-122"/>
              </a:rPr>
              <a:t>父节点考察方法</a:t>
            </a:r>
            <a:r>
              <a:rPr lang="en-US" altLang="zh-CN" sz="1200" b="1" dirty="0" smtClean="0">
                <a:solidFill>
                  <a:prstClr val="black"/>
                </a:solidFill>
                <a:latin typeface="微软雅黑" pitchFamily="34" charset="-122"/>
                <a:ea typeface="微软雅黑" pitchFamily="34" charset="-122"/>
              </a:rPr>
              <a:t>:</a:t>
            </a:r>
          </a:p>
          <a:p>
            <a:pPr marL="442913" indent="-442913" algn="just">
              <a:lnSpc>
                <a:spcPct val="130000"/>
              </a:lnSpc>
              <a:buFont typeface="Wingdings" pitchFamily="2" charset="2"/>
              <a:buChar char="ü"/>
              <a:tabLst>
                <a:tab pos="1347788" algn="l"/>
              </a:tabLst>
            </a:pPr>
            <a:r>
              <a:rPr lang="en-US" altLang="zh-CN" sz="1200" dirty="0" smtClean="0">
                <a:latin typeface="微软雅黑" pitchFamily="34" charset="-122"/>
                <a:ea typeface="微软雅黑" pitchFamily="34" charset="-122"/>
              </a:rPr>
              <a:t>4</a:t>
            </a:r>
            <a:r>
              <a:rPr lang="zh-CN" altLang="en-US" sz="1200" dirty="0" smtClean="0">
                <a:latin typeface="微软雅黑" pitchFamily="34" charset="-122"/>
                <a:ea typeface="微软雅黑" pitchFamily="34" charset="-122"/>
              </a:rPr>
              <a:t>、父节点发布为服务的必要条件，是父节点一次交互可实现子节点的全部功能。如果可以，考察其与子节点是否同源：</a:t>
            </a:r>
            <a:endParaRPr lang="en-US" altLang="zh-CN" sz="1200" dirty="0" smtClean="0">
              <a:latin typeface="微软雅黑" pitchFamily="34" charset="-122"/>
              <a:ea typeface="微软雅黑" pitchFamily="34" charset="-122"/>
            </a:endParaRPr>
          </a:p>
          <a:p>
            <a:pPr marL="714375" lvl="1" indent="-171450" algn="just">
              <a:lnSpc>
                <a:spcPct val="130000"/>
              </a:lnSpc>
              <a:buFont typeface="Wingdings" pitchFamily="2" charset="2"/>
              <a:buChar char="Ø"/>
              <a:tabLst>
                <a:tab pos="442913" algn="l"/>
                <a:tab pos="1347788" algn="l"/>
              </a:tabLst>
            </a:pPr>
            <a:r>
              <a:rPr lang="en-US" altLang="zh-CN" sz="1200" dirty="0" smtClean="0">
                <a:latin typeface="微软雅黑" pitchFamily="34" charset="-122"/>
                <a:ea typeface="微软雅黑" pitchFamily="34" charset="-122"/>
              </a:rPr>
              <a:t>5</a:t>
            </a:r>
            <a:r>
              <a:rPr lang="zh-CN" altLang="en-US" sz="1200" smtClean="0">
                <a:latin typeface="微软雅黑" pitchFamily="34" charset="-122"/>
                <a:ea typeface="微软雅黑" pitchFamily="34" charset="-122"/>
              </a:rPr>
              <a:t>、若非</a:t>
            </a:r>
            <a:r>
              <a:rPr lang="zh-CN" altLang="en-US" sz="1200" dirty="0" smtClean="0">
                <a:latin typeface="微软雅黑" pitchFamily="34" charset="-122"/>
                <a:ea typeface="微软雅黑" pitchFamily="34" charset="-122"/>
              </a:rPr>
              <a:t>同源，列为候选服务。</a:t>
            </a:r>
            <a:endParaRPr lang="en-US" altLang="zh-CN" sz="1200" dirty="0" smtClean="0">
              <a:latin typeface="微软雅黑" pitchFamily="34" charset="-122"/>
              <a:ea typeface="微软雅黑" pitchFamily="34" charset="-122"/>
            </a:endParaRPr>
          </a:p>
          <a:p>
            <a:pPr marL="714375" lvl="1" indent="-171450" algn="just">
              <a:lnSpc>
                <a:spcPct val="130000"/>
              </a:lnSpc>
              <a:buFont typeface="Wingdings" pitchFamily="2" charset="2"/>
              <a:buChar char="Ø"/>
              <a:tabLst>
                <a:tab pos="442913" algn="l"/>
                <a:tab pos="1347788" algn="l"/>
              </a:tabLst>
            </a:pPr>
            <a:r>
              <a:rPr lang="zh-CN" altLang="en-US" sz="1200" dirty="0" smtClean="0">
                <a:latin typeface="微软雅黑" pitchFamily="34" charset="-122"/>
                <a:ea typeface="微软雅黑" pitchFamily="34" charset="-122"/>
              </a:rPr>
              <a:t>若同源：</a:t>
            </a:r>
            <a:endParaRPr lang="en-US" altLang="zh-CN" sz="1200" dirty="0" smtClean="0">
              <a:latin typeface="微软雅黑" pitchFamily="34" charset="-122"/>
              <a:ea typeface="微软雅黑" pitchFamily="34" charset="-122"/>
            </a:endParaRPr>
          </a:p>
          <a:p>
            <a:pPr marL="900113" lvl="2" indent="-185738" algn="just">
              <a:lnSpc>
                <a:spcPct val="130000"/>
              </a:lnSpc>
              <a:buFont typeface="Arial" pitchFamily="34" charset="0"/>
              <a:buChar char="•"/>
              <a:tabLst>
                <a:tab pos="442913" algn="l"/>
                <a:tab pos="1347788" algn="l"/>
              </a:tabLst>
            </a:pPr>
            <a:r>
              <a:rPr lang="en-US" altLang="zh-CN" sz="1200" dirty="0" smtClean="0">
                <a:latin typeface="微软雅黑" pitchFamily="34" charset="-122"/>
                <a:ea typeface="微软雅黑" pitchFamily="34" charset="-122"/>
              </a:rPr>
              <a:t>6</a:t>
            </a:r>
            <a:r>
              <a:rPr lang="zh-CN" altLang="en-US" sz="1200" dirty="0" smtClean="0">
                <a:latin typeface="微软雅黑" pitchFamily="34" charset="-122"/>
                <a:ea typeface="微软雅黑" pitchFamily="34" charset="-122"/>
              </a:rPr>
              <a:t>、若全部子节点不与用户发生交互，将父节点列为候选服务；</a:t>
            </a:r>
            <a:endParaRPr lang="en-US" altLang="zh-CN" sz="1200" dirty="0" smtClean="0">
              <a:latin typeface="微软雅黑" pitchFamily="34" charset="-122"/>
              <a:ea typeface="微软雅黑" pitchFamily="34" charset="-122"/>
            </a:endParaRPr>
          </a:p>
          <a:p>
            <a:pPr marL="900113" lvl="2" indent="-185738" algn="just">
              <a:lnSpc>
                <a:spcPct val="130000"/>
              </a:lnSpc>
              <a:buFont typeface="Arial" pitchFamily="34" charset="0"/>
              <a:buChar char="•"/>
              <a:tabLst>
                <a:tab pos="442913" algn="l"/>
                <a:tab pos="1347788" algn="l"/>
              </a:tabLst>
            </a:pPr>
            <a:r>
              <a:rPr lang="en-US" altLang="zh-CN" sz="1200" dirty="0" smtClean="0">
                <a:latin typeface="微软雅黑" pitchFamily="34" charset="-122"/>
                <a:ea typeface="微软雅黑" pitchFamily="34" charset="-122"/>
              </a:rPr>
              <a:t>7</a:t>
            </a:r>
            <a:r>
              <a:rPr lang="zh-CN" altLang="en-US" sz="1200" dirty="0" smtClean="0">
                <a:latin typeface="微软雅黑" pitchFamily="34" charset="-122"/>
                <a:ea typeface="微软雅黑" pitchFamily="34" charset="-122"/>
              </a:rPr>
              <a:t>、若部分子节点不与用户发生交互，将父节点列为候选服务；</a:t>
            </a:r>
            <a:endParaRPr lang="en-US" altLang="zh-CN" sz="1200" dirty="0" smtClean="0">
              <a:latin typeface="微软雅黑" pitchFamily="34" charset="-122"/>
              <a:ea typeface="微软雅黑" pitchFamily="34" charset="-122"/>
            </a:endParaRPr>
          </a:p>
          <a:p>
            <a:pPr marL="900113" lvl="2" indent="-185738" algn="just">
              <a:lnSpc>
                <a:spcPct val="130000"/>
              </a:lnSpc>
              <a:buFont typeface="Arial" pitchFamily="34" charset="0"/>
              <a:buChar char="•"/>
              <a:tabLst>
                <a:tab pos="442913" algn="l"/>
                <a:tab pos="1347788" algn="l"/>
              </a:tabLst>
            </a:pPr>
            <a:r>
              <a:rPr lang="en-US" altLang="zh-CN" sz="1200" dirty="0" smtClean="0">
                <a:latin typeface="微软雅黑" pitchFamily="34" charset="-122"/>
                <a:ea typeface="微软雅黑" pitchFamily="34" charset="-122"/>
              </a:rPr>
              <a:t>8</a:t>
            </a:r>
            <a:r>
              <a:rPr lang="zh-CN" altLang="en-US" sz="1200" dirty="0" smtClean="0">
                <a:latin typeface="微软雅黑" pitchFamily="34" charset="-122"/>
                <a:ea typeface="微软雅黑" pitchFamily="34" charset="-122"/>
              </a:rPr>
              <a:t>、即使子节点全部与用户交互，而父节点一次交互能实现子节点的所有功能，将父节点列为候选服务。</a:t>
            </a:r>
            <a:endParaRPr lang="en-US" altLang="zh-CN" sz="1200" dirty="0" smtClean="0">
              <a:latin typeface="微软雅黑" pitchFamily="34" charset="-122"/>
              <a:ea typeface="微软雅黑" pitchFamily="34" charset="-122"/>
            </a:endParaRPr>
          </a:p>
          <a:p>
            <a:pPr marL="542925" indent="-457200" algn="just">
              <a:lnSpc>
                <a:spcPct val="130000"/>
              </a:lnSpc>
              <a:tabLst>
                <a:tab pos="542925" algn="l"/>
                <a:tab pos="1347788" algn="l"/>
              </a:tabLst>
            </a:pPr>
            <a:r>
              <a:rPr lang="zh-CN" altLang="en-US" sz="1200" i="1" dirty="0" smtClean="0">
                <a:latin typeface="微软雅黑" pitchFamily="34" charset="-122"/>
                <a:ea typeface="微软雅黑" pitchFamily="34" charset="-122"/>
              </a:rPr>
              <a:t>备注：</a:t>
            </a:r>
            <a:r>
              <a:rPr lang="en-US" altLang="zh-CN" sz="1200" i="1" dirty="0" smtClean="0">
                <a:latin typeface="微软雅黑" pitchFamily="34" charset="-122"/>
                <a:ea typeface="微软雅黑" pitchFamily="34" charset="-122"/>
              </a:rPr>
              <a:t>a</a:t>
            </a:r>
            <a:r>
              <a:rPr lang="zh-CN" altLang="en-US" sz="1200" i="1" dirty="0" smtClean="0">
                <a:latin typeface="微软雅黑" pitchFamily="34" charset="-122"/>
                <a:ea typeface="微软雅黑" pitchFamily="34" charset="-122"/>
              </a:rPr>
              <a:t>）同源：即指同一个服务提供方。</a:t>
            </a:r>
            <a:r>
              <a:rPr lang="en-US" altLang="zh-CN" sz="1200" i="1" dirty="0" smtClean="0">
                <a:latin typeface="微软雅黑" pitchFamily="34" charset="-122"/>
                <a:ea typeface="微软雅黑" pitchFamily="34" charset="-122"/>
              </a:rPr>
              <a:t>c</a:t>
            </a:r>
            <a:r>
              <a:rPr lang="zh-CN" altLang="en-US" sz="1200" i="1" dirty="0" smtClean="0">
                <a:latin typeface="微软雅黑" pitchFamily="34" charset="-122"/>
                <a:ea typeface="微软雅黑" pitchFamily="34" charset="-122"/>
              </a:rPr>
              <a:t>）人工流程不做为候选服务。</a:t>
            </a:r>
            <a:endParaRPr lang="en-US" altLang="zh-CN" sz="1200" i="1" dirty="0" smtClean="0">
              <a:latin typeface="微软雅黑" pitchFamily="34" charset="-122"/>
              <a:ea typeface="微软雅黑"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337961307"/>
              </p:ext>
            </p:extLst>
          </p:nvPr>
        </p:nvGraphicFramePr>
        <p:xfrm>
          <a:off x="4259321" y="4589139"/>
          <a:ext cx="1875627" cy="1643073"/>
        </p:xfrm>
        <a:graphic>
          <a:graphicData uri="http://schemas.openxmlformats.org/drawingml/2006/table">
            <a:tbl>
              <a:tblPr>
                <a:tableStyleId>{E8B1032C-EA38-4F05-BA0D-38AFFFC7BED3}</a:tableStyleId>
              </a:tblPr>
              <a:tblGrid>
                <a:gridCol w="397505"/>
                <a:gridCol w="984536"/>
                <a:gridCol w="493586"/>
              </a:tblGrid>
              <a:tr h="285751">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候选服务</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a:solidFill>
                            <a:schemeClr val="bg1"/>
                          </a:solidFill>
                          <a:latin typeface="微软雅黑" pitchFamily="34" charset="-122"/>
                          <a:ea typeface="微软雅黑" pitchFamily="34" charset="-122"/>
                        </a:rPr>
                        <a:t>业务含义</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服务识别</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r>
              <a:tr h="298136">
                <a:tc>
                  <a:txBody>
                    <a:bodyPr/>
                    <a:lstStyle/>
                    <a:p>
                      <a:pPr algn="ctr" fontAlgn="ctr"/>
                      <a:r>
                        <a:rPr lang="en-US" sz="1100" u="none" strike="noStrike" dirty="0">
                          <a:latin typeface="微软雅黑" pitchFamily="34" charset="-122"/>
                          <a:ea typeface="微软雅黑" pitchFamily="34" charset="-122"/>
                        </a:rPr>
                        <a:t>A</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综合签约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90488" indent="-90488" algn="l" defTabSz="914400" rtl="0" eaLnBrk="1" fontAlgn="ctr" latinLnBrk="0" hangingPunct="1">
                        <a:buFont typeface="Arial" pitchFamily="34" charset="0"/>
                        <a:buNone/>
                      </a:pPr>
                      <a:r>
                        <a:rPr lang="en-US" altLang="zh-CN" sz="1100" b="0" i="0" u="none" strike="noStrike" dirty="0" smtClean="0">
                          <a:solidFill>
                            <a:srgbClr val="000000"/>
                          </a:solidFill>
                          <a:latin typeface="微软雅黑" pitchFamily="34" charset="-122"/>
                          <a:ea typeface="微软雅黑" pitchFamily="34" charset="-122"/>
                        </a:rPr>
                        <a:t>4</a:t>
                      </a:r>
                      <a:r>
                        <a:rPr lang="zh-CN" altLang="en-US" sz="1100" b="0" i="0" u="none" strike="noStrike" dirty="0" smtClean="0">
                          <a:solidFill>
                            <a:srgbClr val="000000"/>
                          </a:solidFill>
                          <a:latin typeface="微软雅黑" pitchFamily="34" charset="-122"/>
                          <a:ea typeface="微软雅黑" pitchFamily="34" charset="-122"/>
                        </a:rPr>
                        <a:t>、</a:t>
                      </a:r>
                      <a:r>
                        <a:rPr lang="en-US" altLang="zh-CN" sz="1100" b="0" i="0" u="none" strike="noStrike" dirty="0" smtClean="0">
                          <a:solidFill>
                            <a:srgbClr val="000000"/>
                          </a:solidFill>
                          <a:latin typeface="微软雅黑" pitchFamily="34" charset="-122"/>
                          <a:ea typeface="微软雅黑" pitchFamily="34" charset="-122"/>
                        </a:rPr>
                        <a:t>5</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357190">
                <a:tc>
                  <a:txBody>
                    <a:bodyPr/>
                    <a:lstStyle/>
                    <a:p>
                      <a:pPr algn="ctr" fontAlgn="ctr"/>
                      <a:r>
                        <a:rPr lang="en-US" sz="1100" u="none" strike="noStrike" dirty="0">
                          <a:latin typeface="微软雅黑" pitchFamily="34" charset="-122"/>
                          <a:ea typeface="微软雅黑" pitchFamily="34" charset="-122"/>
                        </a:rPr>
                        <a:t>B</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黄金签约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dirty="0" smtClean="0">
                          <a:latin typeface="微软雅黑" pitchFamily="34" charset="-122"/>
                          <a:ea typeface="微软雅黑" pitchFamily="34" charset="-122"/>
                        </a:rPr>
                        <a:t>1</a:t>
                      </a:r>
                      <a:r>
                        <a:rPr lang="zh-CN" altLang="en-US" sz="1100" dirty="0" smtClean="0">
                          <a:latin typeface="微软雅黑" pitchFamily="34" charset="-122"/>
                          <a:ea typeface="微软雅黑" pitchFamily="34" charset="-122"/>
                        </a:rPr>
                        <a:t>、</a:t>
                      </a:r>
                      <a:r>
                        <a:rPr lang="en-US" altLang="zh-CN" sz="1100" dirty="0" smtClean="0">
                          <a:latin typeface="微软雅黑" pitchFamily="34" charset="-122"/>
                          <a:ea typeface="微软雅黑" pitchFamily="34" charset="-122"/>
                        </a:rPr>
                        <a:t>2</a:t>
                      </a:r>
                      <a:endParaRPr lang="zh-CN" altLang="en-US" sz="1100" dirty="0">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30883">
                <a:tc>
                  <a:txBody>
                    <a:bodyPr/>
                    <a:lstStyle/>
                    <a:p>
                      <a:pPr algn="ctr" fontAlgn="ctr"/>
                      <a:r>
                        <a:rPr lang="en-US" sz="1100" u="none" strike="noStrike" dirty="0">
                          <a:latin typeface="微软雅黑" pitchFamily="34" charset="-122"/>
                          <a:ea typeface="微软雅黑" pitchFamily="34" charset="-122"/>
                        </a:rPr>
                        <a:t>C</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理财签约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smtClean="0">
                          <a:latin typeface="微软雅黑" pitchFamily="34" charset="-122"/>
                          <a:ea typeface="微软雅黑" pitchFamily="34" charset="-122"/>
                        </a:rPr>
                        <a:t>1</a:t>
                      </a:r>
                      <a:r>
                        <a:rPr lang="zh-CN" altLang="en-US" sz="1100" smtClean="0">
                          <a:latin typeface="微软雅黑" pitchFamily="34" charset="-122"/>
                          <a:ea typeface="微软雅黑" pitchFamily="34" charset="-122"/>
                        </a:rPr>
                        <a:t>、</a:t>
                      </a:r>
                      <a:r>
                        <a:rPr lang="en-US" altLang="zh-CN" sz="1100" smtClean="0">
                          <a:latin typeface="微软雅黑" pitchFamily="34" charset="-122"/>
                          <a:ea typeface="微软雅黑" pitchFamily="34" charset="-122"/>
                        </a:rPr>
                        <a:t>2</a:t>
                      </a:r>
                      <a:endParaRPr lang="zh-CN" altLang="en-US" sz="1100" dirty="0">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2059">
                <a:tc>
                  <a:txBody>
                    <a:bodyPr/>
                    <a:lstStyle/>
                    <a:p>
                      <a:pPr algn="ctr" fontAlgn="ctr"/>
                      <a:r>
                        <a:rPr lang="en-US" sz="1100" u="none" strike="noStrike" dirty="0">
                          <a:latin typeface="微软雅黑" pitchFamily="34" charset="-122"/>
                          <a:ea typeface="微软雅黑" pitchFamily="34" charset="-122"/>
                        </a:rPr>
                        <a:t>D</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外汇买卖签约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dirty="0" smtClean="0">
                          <a:latin typeface="微软雅黑" pitchFamily="34" charset="-122"/>
                          <a:ea typeface="微软雅黑" pitchFamily="34" charset="-122"/>
                        </a:rPr>
                        <a:t>1</a:t>
                      </a:r>
                      <a:r>
                        <a:rPr lang="zh-CN" altLang="en-US" sz="1100" dirty="0" smtClean="0">
                          <a:latin typeface="微软雅黑" pitchFamily="34" charset="-122"/>
                          <a:ea typeface="微软雅黑" pitchFamily="34" charset="-122"/>
                        </a:rPr>
                        <a:t>、</a:t>
                      </a:r>
                      <a:r>
                        <a:rPr lang="en-US" altLang="zh-CN" sz="1100" dirty="0" smtClean="0">
                          <a:latin typeface="微软雅黑" pitchFamily="34" charset="-122"/>
                          <a:ea typeface="微软雅黑" pitchFamily="34" charset="-122"/>
                        </a:rPr>
                        <a:t>2</a:t>
                      </a:r>
                      <a:endParaRPr lang="zh-CN" altLang="en-US" sz="1100" dirty="0">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946783207"/>
              </p:ext>
            </p:extLst>
          </p:nvPr>
        </p:nvGraphicFramePr>
        <p:xfrm>
          <a:off x="6278964" y="4586792"/>
          <a:ext cx="2232248" cy="1619919"/>
        </p:xfrm>
        <a:graphic>
          <a:graphicData uri="http://schemas.openxmlformats.org/drawingml/2006/table">
            <a:tbl>
              <a:tblPr>
                <a:tableStyleId>{E8B1032C-EA38-4F05-BA0D-38AFFFC7BED3}</a:tableStyleId>
              </a:tblPr>
              <a:tblGrid>
                <a:gridCol w="391392"/>
                <a:gridCol w="1457581"/>
                <a:gridCol w="383275"/>
              </a:tblGrid>
              <a:tr h="288098">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候选服务</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a:solidFill>
                            <a:schemeClr val="bg1"/>
                          </a:solidFill>
                          <a:latin typeface="微软雅黑" pitchFamily="34" charset="-122"/>
                          <a:ea typeface="微软雅黑" pitchFamily="34" charset="-122"/>
                        </a:rPr>
                        <a:t>业务含义</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服务识别</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r>
              <a:tr h="300483">
                <a:tc>
                  <a:txBody>
                    <a:bodyPr/>
                    <a:lstStyle/>
                    <a:p>
                      <a:pPr algn="ctr" fontAlgn="ctr"/>
                      <a:r>
                        <a:rPr lang="en-US" sz="1100" u="none" strike="noStrike" dirty="0">
                          <a:latin typeface="微软雅黑" pitchFamily="34" charset="-122"/>
                          <a:ea typeface="微软雅黑" pitchFamily="34" charset="-122"/>
                        </a:rPr>
                        <a:t>A</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客户信息查询</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90488" indent="-90488" algn="l" defTabSz="914400" rtl="0" eaLnBrk="1" fontAlgn="ctr" latinLnBrk="0" hangingPunct="1">
                        <a:buFont typeface="Arial" pitchFamily="34" charset="0"/>
                        <a:buNone/>
                      </a:pPr>
                      <a:r>
                        <a:rPr lang="en-US" altLang="zh-CN" sz="1100" b="0" i="0" u="none" strike="noStrike" kern="1200" smtClean="0">
                          <a:solidFill>
                            <a:srgbClr val="000000"/>
                          </a:solidFill>
                          <a:latin typeface="微软雅黑" pitchFamily="34" charset="-122"/>
                          <a:ea typeface="微软雅黑" pitchFamily="34" charset="-122"/>
                          <a:cs typeface="+mn-cs"/>
                        </a:rPr>
                        <a:t>4</a:t>
                      </a:r>
                      <a:r>
                        <a:rPr lang="zh-CN" altLang="en-US" sz="1100" b="0" i="0" u="none" strike="noStrike" kern="1200" smtClean="0">
                          <a:solidFill>
                            <a:srgbClr val="000000"/>
                          </a:solidFill>
                          <a:latin typeface="微软雅黑" pitchFamily="34" charset="-122"/>
                          <a:ea typeface="微软雅黑" pitchFamily="34" charset="-122"/>
                          <a:cs typeface="+mn-cs"/>
                        </a:rPr>
                        <a:t>、</a:t>
                      </a:r>
                      <a:r>
                        <a:rPr lang="en-US" altLang="zh-CN" sz="1100" b="0" i="0" u="none" strike="noStrike" kern="1200" smtClean="0">
                          <a:solidFill>
                            <a:srgbClr val="000000"/>
                          </a:solidFill>
                          <a:latin typeface="微软雅黑" pitchFamily="34" charset="-122"/>
                          <a:ea typeface="微软雅黑" pitchFamily="34" charset="-122"/>
                          <a:cs typeface="+mn-cs"/>
                        </a:rPr>
                        <a:t>8</a:t>
                      </a:r>
                      <a:endParaRPr lang="zh-CN" altLang="en-US" sz="1100" b="0" i="0" u="none" strike="noStrike" kern="1200" dirty="0">
                        <a:solidFill>
                          <a:srgbClr val="000000"/>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357190">
                <a:tc>
                  <a:txBody>
                    <a:bodyPr/>
                    <a:lstStyle/>
                    <a:p>
                      <a:pPr algn="ctr" fontAlgn="ctr"/>
                      <a:r>
                        <a:rPr lang="en-US" sz="1100" u="none" strike="noStrike" dirty="0">
                          <a:latin typeface="微软雅黑" pitchFamily="34" charset="-122"/>
                          <a:ea typeface="微软雅黑" pitchFamily="34" charset="-122"/>
                        </a:rPr>
                        <a:t>B</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按客户号查询客户信息</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0488" indent="-90488" algn="l" defTabSz="914400" rtl="0" eaLnBrk="1" latinLnBrk="0" hangingPunct="1">
                        <a:buFontTx/>
                        <a:buNone/>
                      </a:pPr>
                      <a:r>
                        <a:rPr lang="en-US" altLang="zh-CN" sz="1100" kern="1200" dirty="0" smtClean="0">
                          <a:solidFill>
                            <a:schemeClr val="tx1"/>
                          </a:solidFill>
                          <a:latin typeface="微软雅黑" pitchFamily="34" charset="-122"/>
                          <a:ea typeface="微软雅黑" pitchFamily="34" charset="-122"/>
                          <a:cs typeface="+mn-cs"/>
                        </a:rPr>
                        <a:t>1</a:t>
                      </a:r>
                      <a:r>
                        <a:rPr lang="zh-CN" altLang="en-US" sz="1100" kern="1200" dirty="0" smtClean="0">
                          <a:solidFill>
                            <a:schemeClr val="tx1"/>
                          </a:solidFill>
                          <a:latin typeface="微软雅黑" pitchFamily="34" charset="-122"/>
                          <a:ea typeface="微软雅黑" pitchFamily="34" charset="-122"/>
                          <a:cs typeface="+mn-cs"/>
                        </a:rPr>
                        <a:t>、</a:t>
                      </a:r>
                      <a:r>
                        <a:rPr lang="en-US" altLang="zh-CN" sz="1100" kern="1200" dirty="0" smtClean="0">
                          <a:solidFill>
                            <a:schemeClr val="tx1"/>
                          </a:solidFill>
                          <a:latin typeface="微软雅黑" pitchFamily="34" charset="-122"/>
                          <a:ea typeface="微软雅黑" pitchFamily="34" charset="-122"/>
                          <a:cs typeface="+mn-cs"/>
                        </a:rPr>
                        <a:t>3</a:t>
                      </a:r>
                      <a:endParaRPr lang="zh-CN" altLang="en-US" sz="1100" kern="1200" dirty="0">
                        <a:solidFill>
                          <a:schemeClr val="tx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5752">
                <a:tc>
                  <a:txBody>
                    <a:bodyPr/>
                    <a:lstStyle/>
                    <a:p>
                      <a:pPr algn="ctr" fontAlgn="ctr"/>
                      <a:r>
                        <a:rPr lang="en-US" sz="1100" u="none" strike="noStrike" dirty="0">
                          <a:latin typeface="微软雅黑" pitchFamily="34" charset="-122"/>
                          <a:ea typeface="微软雅黑" pitchFamily="34" charset="-122"/>
                        </a:rPr>
                        <a:t>C</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按账号查询客户信息</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0488" indent="-90488" algn="l" defTabSz="914400" rtl="0" eaLnBrk="1" latinLnBrk="0" hangingPunct="1">
                        <a:buFontTx/>
                        <a:buNone/>
                      </a:pPr>
                      <a:r>
                        <a:rPr lang="en-US" altLang="zh-CN" sz="1100" kern="1200" dirty="0" smtClean="0">
                          <a:solidFill>
                            <a:schemeClr val="tx1"/>
                          </a:solidFill>
                          <a:latin typeface="微软雅黑" pitchFamily="34" charset="-122"/>
                          <a:ea typeface="微软雅黑" pitchFamily="34" charset="-122"/>
                          <a:cs typeface="+mn-cs"/>
                        </a:rPr>
                        <a:t>1</a:t>
                      </a:r>
                      <a:r>
                        <a:rPr lang="zh-CN" altLang="en-US" sz="1100" kern="1200" dirty="0" smtClean="0">
                          <a:solidFill>
                            <a:schemeClr val="tx1"/>
                          </a:solidFill>
                          <a:latin typeface="微软雅黑" pitchFamily="34" charset="-122"/>
                          <a:ea typeface="微软雅黑" pitchFamily="34" charset="-122"/>
                          <a:cs typeface="+mn-cs"/>
                        </a:rPr>
                        <a:t>、</a:t>
                      </a:r>
                      <a:r>
                        <a:rPr lang="en-US" altLang="zh-CN" sz="1100" kern="1200" dirty="0" smtClean="0">
                          <a:solidFill>
                            <a:schemeClr val="tx1"/>
                          </a:solidFill>
                          <a:latin typeface="微软雅黑" pitchFamily="34" charset="-122"/>
                          <a:ea typeface="微软雅黑" pitchFamily="34" charset="-122"/>
                          <a:cs typeface="+mn-cs"/>
                        </a:rPr>
                        <a:t>3</a:t>
                      </a:r>
                      <a:endParaRPr lang="zh-CN" altLang="en-US" sz="1100" kern="1200" dirty="0">
                        <a:solidFill>
                          <a:schemeClr val="tx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31689">
                <a:tc>
                  <a:txBody>
                    <a:bodyPr/>
                    <a:lstStyle/>
                    <a:p>
                      <a:pPr algn="ctr" fontAlgn="ctr"/>
                      <a:r>
                        <a:rPr lang="en-US" sz="1100" u="none" strike="noStrike" dirty="0">
                          <a:latin typeface="微软雅黑" pitchFamily="34" charset="-122"/>
                          <a:ea typeface="微软雅黑" pitchFamily="34" charset="-122"/>
                        </a:rPr>
                        <a:t>D</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按证件号查询客户信息</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0488" indent="-90488" algn="l" defTabSz="914400" rtl="0" eaLnBrk="1" latinLnBrk="0" hangingPunct="1">
                        <a:buFontTx/>
                        <a:buNone/>
                      </a:pPr>
                      <a:r>
                        <a:rPr lang="en-US" altLang="zh-CN" sz="1100" kern="1200" dirty="0" smtClean="0">
                          <a:solidFill>
                            <a:schemeClr val="tx1"/>
                          </a:solidFill>
                          <a:latin typeface="微软雅黑" pitchFamily="34" charset="-122"/>
                          <a:ea typeface="微软雅黑" pitchFamily="34" charset="-122"/>
                          <a:cs typeface="+mn-cs"/>
                        </a:rPr>
                        <a:t>1</a:t>
                      </a:r>
                      <a:r>
                        <a:rPr lang="zh-CN" altLang="en-US" sz="1100" kern="1200" dirty="0" smtClean="0">
                          <a:solidFill>
                            <a:schemeClr val="tx1"/>
                          </a:solidFill>
                          <a:latin typeface="微软雅黑" pitchFamily="34" charset="-122"/>
                          <a:ea typeface="微软雅黑" pitchFamily="34" charset="-122"/>
                          <a:cs typeface="+mn-cs"/>
                        </a:rPr>
                        <a:t>、</a:t>
                      </a:r>
                      <a:r>
                        <a:rPr lang="en-US" altLang="zh-CN" sz="1100" kern="1200" dirty="0" smtClean="0">
                          <a:solidFill>
                            <a:schemeClr val="tx1"/>
                          </a:solidFill>
                          <a:latin typeface="微软雅黑" pitchFamily="34" charset="-122"/>
                          <a:ea typeface="微软雅黑" pitchFamily="34" charset="-122"/>
                          <a:cs typeface="+mn-cs"/>
                        </a:rPr>
                        <a:t>3</a:t>
                      </a:r>
                      <a:endParaRPr lang="zh-CN" altLang="en-US" sz="1100" kern="1200" dirty="0">
                        <a:solidFill>
                          <a:schemeClr val="tx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4208760385"/>
              </p:ext>
            </p:extLst>
          </p:nvPr>
        </p:nvGraphicFramePr>
        <p:xfrm>
          <a:off x="1777230" y="4571200"/>
          <a:ext cx="2428892" cy="1661013"/>
        </p:xfrm>
        <a:graphic>
          <a:graphicData uri="http://schemas.openxmlformats.org/drawingml/2006/table">
            <a:tbl>
              <a:tblPr firstRow="1" lastCol="1" bandCol="1">
                <a:tableStyleId>{93296810-A885-4BE3-A3E7-6D5BEEA58F35}</a:tableStyleId>
              </a:tblPr>
              <a:tblGrid>
                <a:gridCol w="285752"/>
                <a:gridCol w="1500198"/>
                <a:gridCol w="642942"/>
              </a:tblGrid>
              <a:tr h="344376">
                <a:tc>
                  <a:txBody>
                    <a:bodyPr/>
                    <a:lstStyle/>
                    <a:p>
                      <a:pPr algn="ctr" fontAlgn="ctr"/>
                      <a:r>
                        <a:rPr lang="zh-CN" altLang="en-US" sz="1050" b="1" i="0" u="none" strike="noStrike" dirty="0" smtClean="0">
                          <a:solidFill>
                            <a:schemeClr val="bg1"/>
                          </a:solidFill>
                          <a:latin typeface="微软雅黑" pitchFamily="34" charset="-122"/>
                          <a:ea typeface="微软雅黑" pitchFamily="34" charset="-122"/>
                        </a:rPr>
                        <a:t>候选服务</a:t>
                      </a:r>
                      <a:endParaRPr lang="zh-CN" altLang="en-US" sz="105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050" b="1" u="none" strike="noStrike" dirty="0">
                          <a:solidFill>
                            <a:schemeClr val="bg1"/>
                          </a:solidFill>
                          <a:latin typeface="微软雅黑" pitchFamily="34" charset="-122"/>
                          <a:ea typeface="微软雅黑" pitchFamily="34" charset="-122"/>
                        </a:rPr>
                        <a:t>业务含义</a:t>
                      </a:r>
                      <a:endParaRPr lang="zh-CN" altLang="en-US" sz="105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050" b="1" i="0" u="none" strike="noStrike" dirty="0" smtClean="0">
                          <a:solidFill>
                            <a:schemeClr val="bg1"/>
                          </a:solidFill>
                          <a:latin typeface="微软雅黑" pitchFamily="34" charset="-122"/>
                          <a:ea typeface="微软雅黑" pitchFamily="34" charset="-122"/>
                        </a:rPr>
                        <a:t>服务识别</a:t>
                      </a:r>
                      <a:endParaRPr lang="zh-CN" altLang="en-US" sz="105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r>
              <a:tr h="284868">
                <a:tc>
                  <a:txBody>
                    <a:bodyPr/>
                    <a:lstStyle/>
                    <a:p>
                      <a:pPr algn="ctr" fontAlgn="ctr"/>
                      <a:r>
                        <a:rPr lang="en-US" sz="1050" b="0" u="none" strike="noStrike" dirty="0" smtClean="0">
                          <a:solidFill>
                            <a:schemeClr val="tx1"/>
                          </a:solidFill>
                          <a:latin typeface="微软雅黑" pitchFamily="34" charset="-122"/>
                          <a:ea typeface="微软雅黑" pitchFamily="34" charset="-122"/>
                        </a:rPr>
                        <a:t>A</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050" b="0" i="0" u="none" strike="noStrike" dirty="0">
                          <a:solidFill>
                            <a:schemeClr val="tx1"/>
                          </a:solidFill>
                          <a:latin typeface="微软雅黑" pitchFamily="34" charset="-122"/>
                          <a:ea typeface="微软雅黑" pitchFamily="34" charset="-122"/>
                        </a:rPr>
                        <a:t>实物贵金属现货购买</a:t>
                      </a: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90488" indent="-90488" algn="l" defTabSz="914400" rtl="0" eaLnBrk="1" fontAlgn="ctr" latinLnBrk="0" hangingPunct="1">
                        <a:buFont typeface="Arial" pitchFamily="34" charset="0"/>
                        <a:buNone/>
                      </a:pPr>
                      <a:r>
                        <a:rPr lang="en-US" altLang="zh-CN" sz="1050" b="0" i="0" u="none" strike="noStrike" kern="1200" dirty="0" smtClean="0">
                          <a:solidFill>
                            <a:schemeClr val="tx1"/>
                          </a:solidFill>
                          <a:latin typeface="微软雅黑" pitchFamily="34" charset="-122"/>
                          <a:ea typeface="微软雅黑" pitchFamily="34" charset="-122"/>
                          <a:cs typeface="+mn-cs"/>
                        </a:rPr>
                        <a:t>4</a:t>
                      </a:r>
                      <a:r>
                        <a:rPr lang="zh-CN" altLang="en-US" sz="1050" b="0" i="0" u="none" strike="noStrike" kern="1200" dirty="0" smtClean="0">
                          <a:solidFill>
                            <a:schemeClr val="tx1"/>
                          </a:solidFill>
                          <a:latin typeface="微软雅黑" pitchFamily="34" charset="-122"/>
                          <a:ea typeface="微软雅黑" pitchFamily="34" charset="-122"/>
                          <a:cs typeface="+mn-cs"/>
                        </a:rPr>
                        <a:t>、</a:t>
                      </a:r>
                      <a:r>
                        <a:rPr lang="en-US" altLang="zh-CN" sz="1050" b="0" i="0" u="none" strike="noStrike" kern="1200" dirty="0" smtClean="0">
                          <a:solidFill>
                            <a:schemeClr val="tx1"/>
                          </a:solidFill>
                          <a:latin typeface="微软雅黑" pitchFamily="34" charset="-122"/>
                          <a:ea typeface="微软雅黑" pitchFamily="34" charset="-122"/>
                          <a:cs typeface="+mn-cs"/>
                        </a:rPr>
                        <a:t>5</a:t>
                      </a:r>
                      <a:r>
                        <a:rPr lang="zh-CN" altLang="en-US" sz="1050" b="0" i="0" u="none" strike="noStrike" kern="1200" dirty="0" smtClean="0">
                          <a:solidFill>
                            <a:schemeClr val="tx1"/>
                          </a:solidFill>
                          <a:latin typeface="微软雅黑" pitchFamily="34" charset="-122"/>
                          <a:ea typeface="微软雅黑" pitchFamily="34" charset="-122"/>
                          <a:cs typeface="+mn-cs"/>
                        </a:rPr>
                        <a:t>、</a:t>
                      </a:r>
                      <a:r>
                        <a:rPr lang="en-US" altLang="zh-CN" sz="1050" b="0" i="0" u="none" strike="noStrike" kern="1200" dirty="0" smtClean="0">
                          <a:solidFill>
                            <a:schemeClr val="tx1"/>
                          </a:solidFill>
                          <a:latin typeface="微软雅黑" pitchFamily="34" charset="-122"/>
                          <a:ea typeface="微软雅黑" pitchFamily="34" charset="-122"/>
                          <a:cs typeface="+mn-cs"/>
                        </a:rPr>
                        <a:t>7</a:t>
                      </a: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77165">
                <a:tc>
                  <a:txBody>
                    <a:bodyPr/>
                    <a:lstStyle/>
                    <a:p>
                      <a:pPr algn="ctr" fontAlgn="ctr"/>
                      <a:r>
                        <a:rPr lang="en-US" sz="1050" b="0" u="none" strike="noStrike" dirty="0">
                          <a:solidFill>
                            <a:schemeClr val="tx1"/>
                          </a:solidFill>
                          <a:latin typeface="微软雅黑" pitchFamily="34" charset="-122"/>
                          <a:ea typeface="微软雅黑" pitchFamily="34" charset="-122"/>
                        </a:rPr>
                        <a:t>B</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itchFamily="34" charset="-122"/>
                          <a:ea typeface="微软雅黑" pitchFamily="34" charset="-122"/>
                        </a:rPr>
                        <a:t>库存</a:t>
                      </a:r>
                      <a:r>
                        <a:rPr lang="zh-CN" altLang="en-US" sz="1050" b="0" i="0" u="none" strike="noStrike" dirty="0" smtClean="0">
                          <a:solidFill>
                            <a:schemeClr val="tx1"/>
                          </a:solidFill>
                          <a:latin typeface="微软雅黑" pitchFamily="34" charset="-122"/>
                          <a:ea typeface="微软雅黑" pitchFamily="34" charset="-122"/>
                        </a:rPr>
                        <a:t>校验</a:t>
                      </a:r>
                      <a:endParaRPr lang="zh-CN" altLang="en-US" sz="1050" b="0" i="0" u="none" strike="noStrike"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0488" marR="0" indent="-90488"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050" b="0" kern="1200" dirty="0" smtClean="0">
                          <a:solidFill>
                            <a:schemeClr val="tx1"/>
                          </a:solidFill>
                          <a:latin typeface="微软雅黑" pitchFamily="34" charset="-122"/>
                          <a:ea typeface="微软雅黑" pitchFamily="34" charset="-122"/>
                          <a:cs typeface="+mn-cs"/>
                        </a:rPr>
                        <a:t>3</a:t>
                      </a:r>
                      <a:r>
                        <a:rPr lang="zh-CN" altLang="en-US" sz="1050" b="0" i="0" u="none" strike="noStrike" kern="1200" dirty="0" smtClean="0">
                          <a:solidFill>
                            <a:schemeClr val="tx1"/>
                          </a:solidFill>
                          <a:latin typeface="微软雅黑" pitchFamily="34" charset="-122"/>
                          <a:ea typeface="微软雅黑" pitchFamily="34" charset="-122"/>
                          <a:cs typeface="+mn-cs"/>
                        </a:rPr>
                        <a:t>、</a:t>
                      </a:r>
                      <a:r>
                        <a:rPr lang="en-US" altLang="zh-CN" sz="1050" b="0" i="0" u="none" strike="noStrike" kern="1200" dirty="0" smtClean="0">
                          <a:solidFill>
                            <a:schemeClr val="tx1"/>
                          </a:solidFill>
                          <a:latin typeface="微软雅黑" pitchFamily="34" charset="-122"/>
                          <a:ea typeface="微软雅黑" pitchFamily="34" charset="-122"/>
                          <a:cs typeface="+mn-cs"/>
                        </a:rPr>
                        <a:t>7</a:t>
                      </a:r>
                      <a:endParaRPr lang="zh-CN" altLang="en-US" sz="1050" b="0" kern="1200" dirty="0">
                        <a:solidFill>
                          <a:schemeClr val="tx1"/>
                        </a:solidFill>
                        <a:latin typeface="微软雅黑" pitchFamily="34" charset="-122"/>
                        <a:ea typeface="微软雅黑" pitchFamily="34" charset="-122"/>
                        <a:cs typeface="+mn-cs"/>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4868">
                <a:tc>
                  <a:txBody>
                    <a:bodyPr/>
                    <a:lstStyle/>
                    <a:p>
                      <a:pPr algn="ctr" fontAlgn="ctr"/>
                      <a:r>
                        <a:rPr lang="en-US" sz="1050" b="0" u="none" strike="noStrike" dirty="0">
                          <a:solidFill>
                            <a:schemeClr val="tx1"/>
                          </a:solidFill>
                          <a:latin typeface="微软雅黑" pitchFamily="34" charset="-122"/>
                          <a:ea typeface="微软雅黑" pitchFamily="34" charset="-122"/>
                        </a:rPr>
                        <a:t>C</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smtClean="0">
                          <a:solidFill>
                            <a:schemeClr val="tx1"/>
                          </a:solidFill>
                          <a:latin typeface="微软雅黑" pitchFamily="34" charset="-122"/>
                          <a:ea typeface="微软雅黑" pitchFamily="34" charset="-122"/>
                        </a:rPr>
                        <a:t>客户账户信息查询</a:t>
                      </a:r>
                      <a:endParaRPr lang="zh-CN" altLang="en-US" sz="1050" b="0" i="0" u="none" strike="noStrike"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0488" marR="0" lvl="0" indent="-90488"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altLang="zh-CN" sz="105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cs typeface="+mn-cs"/>
                        </a:rPr>
                        <a:t>2</a:t>
                      </a:r>
                      <a:r>
                        <a:rPr kumimoji="0" lang="zh-CN" altLang="en-US" sz="105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cs typeface="+mn-cs"/>
                        </a:rPr>
                        <a:t>，核心</a:t>
                      </a:r>
                      <a:endParaRPr kumimoji="0" lang="en-US" altLang="zh-CN" sz="105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cs typeface="+mn-cs"/>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4868">
                <a:tc>
                  <a:txBody>
                    <a:bodyPr/>
                    <a:lstStyle/>
                    <a:p>
                      <a:pPr algn="ctr" fontAlgn="ctr"/>
                      <a:r>
                        <a:rPr lang="en-US" sz="1050" b="0" u="none" strike="noStrike" dirty="0">
                          <a:solidFill>
                            <a:schemeClr val="tx1"/>
                          </a:solidFill>
                          <a:latin typeface="微软雅黑" pitchFamily="34" charset="-122"/>
                          <a:ea typeface="微软雅黑" pitchFamily="34" charset="-122"/>
                        </a:rPr>
                        <a:t>D</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smtClean="0">
                          <a:solidFill>
                            <a:srgbClr val="000000"/>
                          </a:solidFill>
                          <a:latin typeface="微软雅黑" pitchFamily="34" charset="-122"/>
                          <a:ea typeface="微软雅黑" pitchFamily="34" charset="-122"/>
                        </a:rPr>
                        <a:t>代客代理实时记账处理</a:t>
                      </a:r>
                      <a:endParaRPr lang="zh-CN" altLang="en-US" sz="1050" b="0" i="0" u="none" strike="noStrike" dirty="0">
                        <a:solidFill>
                          <a:srgbClr val="000000"/>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050" b="0" dirty="0" smtClean="0">
                          <a:solidFill>
                            <a:schemeClr val="tx1"/>
                          </a:solidFill>
                          <a:latin typeface="微软雅黑" pitchFamily="34" charset="-122"/>
                          <a:ea typeface="微软雅黑" pitchFamily="34" charset="-122"/>
                        </a:rPr>
                        <a:t>2</a:t>
                      </a:r>
                      <a:r>
                        <a:rPr lang="zh-CN" altLang="en-US" sz="1050" b="0" dirty="0" smtClean="0">
                          <a:solidFill>
                            <a:schemeClr val="tx1"/>
                          </a:solidFill>
                          <a:latin typeface="微软雅黑" pitchFamily="34" charset="-122"/>
                          <a:ea typeface="微软雅黑" pitchFamily="34" charset="-122"/>
                        </a:rPr>
                        <a:t>，核心</a:t>
                      </a:r>
                      <a:endParaRPr lang="zh-CN" altLang="en-US" sz="1050" b="0"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4868">
                <a:tc>
                  <a:txBody>
                    <a:bodyPr/>
                    <a:lstStyle/>
                    <a:p>
                      <a:pPr algn="ctr" fontAlgn="ctr"/>
                      <a:r>
                        <a:rPr lang="en-US" sz="1050" b="0" i="0" u="none" strike="noStrike" dirty="0" smtClean="0">
                          <a:solidFill>
                            <a:schemeClr val="tx1"/>
                          </a:solidFill>
                          <a:latin typeface="微软雅黑" pitchFamily="34" charset="-122"/>
                          <a:ea typeface="微软雅黑" pitchFamily="34" charset="-122"/>
                        </a:rPr>
                        <a:t>E</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smtClean="0">
                          <a:solidFill>
                            <a:schemeClr val="tx1"/>
                          </a:solidFill>
                          <a:latin typeface="微软雅黑" pitchFamily="34" charset="-122"/>
                          <a:ea typeface="微软雅黑" pitchFamily="34" charset="-122"/>
                        </a:rPr>
                        <a:t>代客代理平台登记</a:t>
                      </a:r>
                      <a:endParaRPr lang="zh-CN" altLang="en-US" sz="1050" b="0" i="0" u="none" strike="noStrike"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b="0" dirty="0" smtClean="0">
                          <a:solidFill>
                            <a:schemeClr val="tx1"/>
                          </a:solidFill>
                          <a:latin typeface="微软雅黑" pitchFamily="34" charset="-122"/>
                          <a:ea typeface="微软雅黑" pitchFamily="34" charset="-122"/>
                        </a:rPr>
                        <a:t>3</a:t>
                      </a:r>
                      <a:r>
                        <a:rPr lang="zh-CN" altLang="en-US" sz="1050" b="0" i="0" u="none" strike="noStrike" kern="1200" dirty="0" smtClean="0">
                          <a:solidFill>
                            <a:schemeClr val="tx1"/>
                          </a:solidFill>
                          <a:latin typeface="微软雅黑" pitchFamily="34" charset="-122"/>
                          <a:ea typeface="微软雅黑" pitchFamily="34" charset="-122"/>
                          <a:cs typeface="+mn-cs"/>
                        </a:rPr>
                        <a:t>、</a:t>
                      </a:r>
                      <a:r>
                        <a:rPr lang="en-US" altLang="zh-CN" sz="1050" b="0" i="0" u="none" strike="noStrike" kern="1200" dirty="0" smtClean="0">
                          <a:solidFill>
                            <a:schemeClr val="tx1"/>
                          </a:solidFill>
                          <a:latin typeface="微软雅黑" pitchFamily="34" charset="-122"/>
                          <a:ea typeface="微软雅黑" pitchFamily="34" charset="-122"/>
                          <a:cs typeface="+mn-cs"/>
                        </a:rPr>
                        <a:t>7</a:t>
                      </a: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8" name="矩形 7"/>
          <p:cNvSpPr/>
          <p:nvPr/>
        </p:nvSpPr>
        <p:spPr bwMode="auto">
          <a:xfrm>
            <a:off x="1777230" y="4231948"/>
            <a:ext cx="2071702" cy="285752"/>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例</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1</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A(B</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C</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D</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E</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9" name="矩形 8"/>
          <p:cNvSpPr/>
          <p:nvPr/>
        </p:nvSpPr>
        <p:spPr bwMode="auto">
          <a:xfrm>
            <a:off x="6278964" y="4226754"/>
            <a:ext cx="1944216" cy="288032"/>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rPr>
              <a:t>例</a:t>
            </a:r>
            <a:r>
              <a:rPr lang="en-US" altLang="zh-CN" sz="1000" b="1" smtClean="0">
                <a:latin typeface="微软雅黑" pitchFamily="34" charset="-122"/>
                <a:ea typeface="微软雅黑" pitchFamily="34" charset="-122"/>
              </a:rPr>
              <a:t>3</a:t>
            </a:r>
            <a:r>
              <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smtClean="0">
                <a:ln>
                  <a:noFill/>
                </a:ln>
                <a:solidFill>
                  <a:schemeClr val="tx1"/>
                </a:solidFill>
                <a:effectLst/>
                <a:latin typeface="微软雅黑" pitchFamily="34" charset="-122"/>
                <a:ea typeface="微软雅黑" pitchFamily="34" charset="-122"/>
              </a:rPr>
              <a:t>A(B</a:t>
            </a:r>
            <a:r>
              <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smtClean="0">
                <a:ln>
                  <a:noFill/>
                </a:ln>
                <a:solidFill>
                  <a:schemeClr val="tx1"/>
                </a:solidFill>
                <a:effectLst/>
                <a:latin typeface="微软雅黑" pitchFamily="34" charset="-122"/>
                <a:ea typeface="微软雅黑" pitchFamily="34" charset="-122"/>
              </a:rPr>
              <a:t>C</a:t>
            </a:r>
            <a:r>
              <a:rPr lang="zh-CN" altLang="en-US" sz="1000" b="1" smtClean="0">
                <a:latin typeface="微软雅黑" pitchFamily="34" charset="-122"/>
                <a:ea typeface="微软雅黑" pitchFamily="34" charset="-122"/>
              </a:rPr>
              <a:t>、</a:t>
            </a:r>
            <a:r>
              <a:rPr lang="en-US" altLang="zh-CN" sz="1000" b="1" smtClean="0">
                <a:latin typeface="微软雅黑" pitchFamily="34" charset="-122"/>
                <a:ea typeface="微软雅黑" pitchFamily="34" charset="-122"/>
              </a:rPr>
              <a:t>D</a:t>
            </a:r>
            <a:r>
              <a:rPr kumimoji="0" lang="en-US" altLang="zh-CN" sz="1000" b="1" i="0" u="none" strike="noStrike" cap="none" normalizeH="0" baseline="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endParaRPr>
          </a:p>
        </p:txBody>
      </p:sp>
      <p:sp>
        <p:nvSpPr>
          <p:cNvPr id="10" name="矩形 9"/>
          <p:cNvSpPr/>
          <p:nvPr/>
        </p:nvSpPr>
        <p:spPr bwMode="auto">
          <a:xfrm>
            <a:off x="8655228" y="4226754"/>
            <a:ext cx="1908876" cy="290946"/>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例</a:t>
            </a:r>
            <a:r>
              <a:rPr lang="en-US" altLang="zh-CN" sz="1000" b="1" dirty="0" smtClean="0">
                <a:latin typeface="微软雅黑" pitchFamily="34" charset="-122"/>
                <a:ea typeface="微软雅黑" pitchFamily="34" charset="-122"/>
              </a:rPr>
              <a:t>4</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B</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C</a:t>
            </a:r>
            <a:r>
              <a:rPr lang="zh-CN" altLang="en-US" sz="1000" b="1" dirty="0" smtClean="0">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D</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E</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2044300862"/>
              </p:ext>
            </p:extLst>
          </p:nvPr>
        </p:nvGraphicFramePr>
        <p:xfrm>
          <a:off x="8635278" y="4575965"/>
          <a:ext cx="1928825" cy="1609590"/>
        </p:xfrm>
        <a:graphic>
          <a:graphicData uri="http://schemas.openxmlformats.org/drawingml/2006/table">
            <a:tbl>
              <a:tblPr>
                <a:tableStyleId>{93296810-A885-4BE3-A3E7-6D5BEEA58F35}</a:tableStyleId>
              </a:tblPr>
              <a:tblGrid>
                <a:gridCol w="364907"/>
                <a:gridCol w="1100999"/>
                <a:gridCol w="462919"/>
              </a:tblGrid>
              <a:tr h="401525">
                <a:tc>
                  <a:txBody>
                    <a:bodyPr/>
                    <a:lstStyle/>
                    <a:p>
                      <a:pPr algn="ctr" fontAlgn="ctr"/>
                      <a:r>
                        <a:rPr lang="zh-CN" altLang="en-US" sz="1100" b="1" u="none" strike="noStrike" kern="1200" dirty="0" smtClean="0">
                          <a:solidFill>
                            <a:schemeClr val="bg1"/>
                          </a:solidFill>
                          <a:latin typeface="微软雅黑" pitchFamily="34" charset="-122"/>
                          <a:ea typeface="微软雅黑" pitchFamily="34" charset="-122"/>
                          <a:cs typeface="+mn-cs"/>
                        </a:rPr>
                        <a:t>候选服务</a:t>
                      </a:r>
                      <a:endParaRPr lang="zh-CN" altLang="en-US" sz="1100" b="1" u="none" strike="noStrike" kern="1200" dirty="0">
                        <a:solidFill>
                          <a:schemeClr val="bg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599D9"/>
                    </a:solidFill>
                  </a:tcPr>
                </a:tc>
                <a:tc>
                  <a:txBody>
                    <a:bodyPr/>
                    <a:lstStyle/>
                    <a:p>
                      <a:pPr algn="ctr" fontAlgn="ctr"/>
                      <a:r>
                        <a:rPr lang="zh-CN" altLang="en-US" sz="1100" b="1" u="none" strike="noStrike" kern="1200" dirty="0">
                          <a:solidFill>
                            <a:schemeClr val="bg1"/>
                          </a:solidFill>
                          <a:latin typeface="微软雅黑" pitchFamily="34" charset="-122"/>
                          <a:ea typeface="微软雅黑" pitchFamily="34" charset="-122"/>
                          <a:cs typeface="+mn-cs"/>
                        </a:rPr>
                        <a:t>业务含义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599D9"/>
                    </a:solidFill>
                  </a:tcPr>
                </a:tc>
                <a:tc>
                  <a:txBody>
                    <a:bodyPr/>
                    <a:lstStyle/>
                    <a:p>
                      <a:pPr algn="ctr" fontAlgn="ctr"/>
                      <a:r>
                        <a:rPr lang="zh-CN" altLang="en-US" sz="1100" b="1" u="none" strike="noStrike" kern="1200" dirty="0" smtClean="0">
                          <a:solidFill>
                            <a:schemeClr val="bg1"/>
                          </a:solidFill>
                          <a:latin typeface="微软雅黑" pitchFamily="34" charset="-122"/>
                          <a:ea typeface="微软雅黑" pitchFamily="34" charset="-122"/>
                          <a:cs typeface="+mn-cs"/>
                        </a:rPr>
                        <a:t>服务识别</a:t>
                      </a:r>
                      <a:endParaRPr lang="zh-CN" altLang="en-US" sz="1100" b="1" u="none" strike="noStrike" kern="1200" dirty="0">
                        <a:solidFill>
                          <a:schemeClr val="bg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599D9"/>
                    </a:solidFill>
                  </a:tcPr>
                </a:tc>
              </a:tr>
              <a:tr h="252406">
                <a:tc>
                  <a:txBody>
                    <a:bodyPr/>
                    <a:lstStyle/>
                    <a:p>
                      <a:pPr algn="ctr" fontAlgn="ctr"/>
                      <a:r>
                        <a:rPr lang="en-US" sz="1050" b="0" i="0" u="none" strike="noStrike" dirty="0" smtClean="0">
                          <a:solidFill>
                            <a:srgbClr val="000000"/>
                          </a:solidFill>
                          <a:latin typeface="微软雅黑" pitchFamily="34" charset="-122"/>
                          <a:ea typeface="微软雅黑" pitchFamily="34" charset="-122"/>
                        </a:rPr>
                        <a:t>A</a:t>
                      </a:r>
                      <a:endParaRPr lang="en-US" sz="105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smtClean="0">
                          <a:solidFill>
                            <a:schemeClr val="dk1"/>
                          </a:solidFill>
                          <a:latin typeface="微软雅黑" pitchFamily="34" charset="-122"/>
                          <a:ea typeface="微软雅黑" pitchFamily="34" charset="-122"/>
                        </a:rPr>
                        <a:t>网银转账  </a:t>
                      </a:r>
                      <a:r>
                        <a:rPr lang="en-US" altLang="zh-CN" sz="1600" b="1" i="0" u="none" strike="noStrike" dirty="0" smtClean="0">
                          <a:solidFill>
                            <a:srgbClr val="FF0000"/>
                          </a:solidFill>
                          <a:latin typeface="微软雅黑" pitchFamily="34" charset="-122"/>
                          <a:ea typeface="微软雅黑" pitchFamily="34" charset="-122"/>
                        </a:rPr>
                        <a:t>×</a:t>
                      </a:r>
                      <a:endParaRPr lang="zh-CN" altLang="en-US" sz="1600" b="1" i="0" u="none" strike="noStrike" dirty="0">
                        <a:solidFill>
                          <a:srgbClr val="FF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latin typeface="微软雅黑" pitchFamily="34" charset="-122"/>
                          <a:ea typeface="微软雅黑" pitchFamily="34" charset="-122"/>
                        </a:rPr>
                        <a:t>4</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86977">
                <a:tc>
                  <a:txBody>
                    <a:bodyPr/>
                    <a:lstStyle/>
                    <a:p>
                      <a:pPr algn="ctr" fontAlgn="ctr"/>
                      <a:r>
                        <a:rPr lang="en-US" sz="1050" b="0" i="0" u="none" strike="noStrike" dirty="0">
                          <a:solidFill>
                            <a:srgbClr val="000000"/>
                          </a:solidFill>
                          <a:latin typeface="微软雅黑" pitchFamily="34" charset="-122"/>
                          <a:ea typeface="微软雅黑" pitchFamily="34" charset="-122"/>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050" b="0" u="none" strike="noStrike" dirty="0">
                          <a:latin typeface="微软雅黑" pitchFamily="34" charset="-122"/>
                          <a:ea typeface="微软雅黑" pitchFamily="34" charset="-122"/>
                        </a:rPr>
                        <a:t>获取动态密码</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050" b="0" i="0" u="none" strike="noStrike" dirty="0" smtClean="0">
                          <a:solidFill>
                            <a:srgbClr val="000000"/>
                          </a:solidFill>
                          <a:latin typeface="微软雅黑" pitchFamily="34" charset="-122"/>
                          <a:ea typeface="微软雅黑" pitchFamily="34" charset="-122"/>
                        </a:rPr>
                        <a:t>1</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05145">
                <a:tc>
                  <a:txBody>
                    <a:bodyPr/>
                    <a:lstStyle/>
                    <a:p>
                      <a:pPr algn="ctr" fontAlgn="ctr"/>
                      <a:r>
                        <a:rPr lang="en-US" sz="1050" b="0" u="none" strike="noStrike" dirty="0" smtClean="0">
                          <a:latin typeface="微软雅黑" pitchFamily="34" charset="-122"/>
                          <a:ea typeface="微软雅黑" pitchFamily="34" charset="-122"/>
                        </a:rPr>
                        <a:t>C</a:t>
                      </a:r>
                      <a:endParaRPr lang="en-US" sz="105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050" b="0" i="0" u="none" strike="noStrike" dirty="0" smtClean="0">
                          <a:solidFill>
                            <a:srgbClr val="000000"/>
                          </a:solidFill>
                          <a:latin typeface="微软雅黑" pitchFamily="34" charset="-122"/>
                          <a:ea typeface="微软雅黑" pitchFamily="34" charset="-122"/>
                        </a:rPr>
                        <a:t>核心记账</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altLang="zh-CN" sz="1050" b="0" i="0" u="none" strike="noStrike" dirty="0" smtClean="0">
                          <a:solidFill>
                            <a:srgbClr val="000000"/>
                          </a:solidFill>
                          <a:latin typeface="微软雅黑" pitchFamily="34" charset="-122"/>
                          <a:ea typeface="微软雅黑" pitchFamily="34" charset="-122"/>
                        </a:rPr>
                        <a:t>6</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05145">
                <a:tc>
                  <a:txBody>
                    <a:bodyPr/>
                    <a:lstStyle/>
                    <a:p>
                      <a:pPr algn="ctr" fontAlgn="ctr"/>
                      <a:r>
                        <a:rPr lang="en-US" sz="1050" b="0" u="none" strike="noStrike" dirty="0" smtClean="0">
                          <a:latin typeface="微软雅黑" pitchFamily="34" charset="-122"/>
                          <a:ea typeface="微软雅黑" pitchFamily="34" charset="-122"/>
                        </a:rPr>
                        <a:t>D</a:t>
                      </a:r>
                      <a:endParaRPr lang="en-US" sz="105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050" b="0" i="0" u="none" strike="noStrike" dirty="0" smtClean="0">
                          <a:solidFill>
                            <a:srgbClr val="000000"/>
                          </a:solidFill>
                          <a:latin typeface="微软雅黑" pitchFamily="34" charset="-122"/>
                          <a:ea typeface="微软雅黑" pitchFamily="34" charset="-122"/>
                        </a:rPr>
                        <a:t>校验支付条件</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050" b="0" i="0" u="none" strike="noStrike" dirty="0" smtClean="0">
                          <a:solidFill>
                            <a:srgbClr val="000000"/>
                          </a:solidFill>
                          <a:latin typeface="微软雅黑" pitchFamily="34" charset="-122"/>
                          <a:ea typeface="微软雅黑" pitchFamily="34" charset="-122"/>
                        </a:rPr>
                        <a:t>3</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7433">
                <a:tc>
                  <a:txBody>
                    <a:bodyPr/>
                    <a:lstStyle/>
                    <a:p>
                      <a:pPr algn="ctr" fontAlgn="ctr"/>
                      <a:r>
                        <a:rPr lang="en-US" sz="1050" b="0" u="none" strike="noStrike" dirty="0" smtClean="0">
                          <a:latin typeface="微软雅黑" pitchFamily="34" charset="-122"/>
                          <a:ea typeface="微软雅黑" pitchFamily="34" charset="-122"/>
                        </a:rPr>
                        <a:t>E</a:t>
                      </a:r>
                      <a:endParaRPr lang="en-US" sz="105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050" b="0" u="none" strike="noStrike" dirty="0" smtClean="0">
                          <a:latin typeface="微软雅黑" pitchFamily="34" charset="-122"/>
                          <a:ea typeface="微软雅黑" pitchFamily="34" charset="-122"/>
                        </a:rPr>
                        <a:t>记账</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CN" sz="1050" b="0" i="0" u="none" strike="noStrike" dirty="0" smtClean="0">
                          <a:solidFill>
                            <a:srgbClr val="000000"/>
                          </a:solidFill>
                          <a:latin typeface="微软雅黑" pitchFamily="34" charset="-122"/>
                          <a:ea typeface="微软雅黑" pitchFamily="34" charset="-122"/>
                        </a:rPr>
                        <a:t>3</a:t>
                      </a:r>
                      <a:endParaRPr lang="zh-CN" altLang="en-US" sz="1050" b="0" i="0" u="none" strike="noStrike" dirty="0">
                        <a:solidFill>
                          <a:srgbClr val="000000"/>
                        </a:solidFill>
                        <a:latin typeface="微软雅黑" pitchFamily="34" charset="-122"/>
                        <a:ea typeface="微软雅黑" pitchFamily="34" charset="-122"/>
                      </a:endParaRPr>
                    </a:p>
                  </a:txBody>
                  <a:tcPr marL="36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2" name="TextBox 24"/>
          <p:cNvSpPr txBox="1"/>
          <p:nvPr/>
        </p:nvSpPr>
        <p:spPr>
          <a:xfrm>
            <a:off x="3073734" y="4934186"/>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3" name="TextBox 25"/>
          <p:cNvSpPr txBox="1"/>
          <p:nvPr/>
        </p:nvSpPr>
        <p:spPr>
          <a:xfrm>
            <a:off x="5134816" y="4933154"/>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4" name="TextBox 26"/>
          <p:cNvSpPr txBox="1"/>
          <p:nvPr/>
        </p:nvSpPr>
        <p:spPr>
          <a:xfrm>
            <a:off x="3073734" y="5434252"/>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5" name="TextBox 27"/>
          <p:cNvSpPr txBox="1"/>
          <p:nvPr/>
        </p:nvSpPr>
        <p:spPr>
          <a:xfrm>
            <a:off x="3073734" y="5648566"/>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6" name="TextBox 28"/>
          <p:cNvSpPr txBox="1"/>
          <p:nvPr/>
        </p:nvSpPr>
        <p:spPr>
          <a:xfrm>
            <a:off x="5145436" y="5291376"/>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7" name="TextBox 29"/>
          <p:cNvSpPr txBox="1"/>
          <p:nvPr/>
        </p:nvSpPr>
        <p:spPr>
          <a:xfrm>
            <a:off x="5145436" y="5577128"/>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8" name="TextBox 30"/>
          <p:cNvSpPr txBox="1"/>
          <p:nvPr/>
        </p:nvSpPr>
        <p:spPr>
          <a:xfrm>
            <a:off x="5288312" y="5934318"/>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19" name="TextBox 32"/>
          <p:cNvSpPr txBox="1"/>
          <p:nvPr/>
        </p:nvSpPr>
        <p:spPr>
          <a:xfrm>
            <a:off x="7645766" y="5005624"/>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20" name="TextBox 33"/>
          <p:cNvSpPr txBox="1"/>
          <p:nvPr/>
        </p:nvSpPr>
        <p:spPr>
          <a:xfrm>
            <a:off x="9717468" y="5219938"/>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21" name="TextBox 35"/>
          <p:cNvSpPr txBox="1"/>
          <p:nvPr/>
        </p:nvSpPr>
        <p:spPr>
          <a:xfrm>
            <a:off x="9574592" y="5505690"/>
            <a:ext cx="346570" cy="369332"/>
          </a:xfrm>
          <a:prstGeom prst="rect">
            <a:avLst/>
          </a:prstGeom>
          <a:noFill/>
        </p:spPr>
        <p:txBody>
          <a:bodyPr wrap="square" rtlCol="0">
            <a:spAutoFit/>
          </a:bodyPr>
          <a:lstStyle/>
          <a:p>
            <a:r>
              <a:rPr lang="zh-CN" altLang="en-US" b="1" dirty="0" smtClean="0">
                <a:solidFill>
                  <a:srgbClr val="FF0000"/>
                </a:solidFill>
                <a:latin typeface="微软雅黑" pitchFamily="34" charset="-122"/>
                <a:ea typeface="微软雅黑" pitchFamily="34" charset="-122"/>
              </a:rPr>
              <a:t>√</a:t>
            </a:r>
          </a:p>
        </p:txBody>
      </p:sp>
      <p:sp>
        <p:nvSpPr>
          <p:cNvPr id="22" name="矩形 21"/>
          <p:cNvSpPr/>
          <p:nvPr/>
        </p:nvSpPr>
        <p:spPr bwMode="auto">
          <a:xfrm>
            <a:off x="4277560" y="4231948"/>
            <a:ext cx="1857388" cy="285752"/>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例</a:t>
            </a:r>
            <a:r>
              <a:rPr lang="en-US" altLang="zh-CN" sz="1000" b="1" dirty="0" smtClean="0">
                <a:latin typeface="微软雅黑" pitchFamily="34" charset="-122"/>
                <a:ea typeface="微软雅黑" pitchFamily="34" charset="-122"/>
              </a:rPr>
              <a:t>2</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A(B</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C</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D</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endParaRPr>
          </a:p>
        </p:txBody>
      </p:sp>
    </p:spTree>
    <p:extLst>
      <p:ext uri="{BB962C8B-B14F-4D97-AF65-F5344CB8AC3E}">
        <p14:creationId xmlns:p14="http://schemas.microsoft.com/office/powerpoint/2010/main" val="38911952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组合服务的确定方法</a:t>
            </a:r>
            <a:endParaRPr lang="en-US" dirty="0"/>
          </a:p>
        </p:txBody>
      </p:sp>
      <p:sp>
        <p:nvSpPr>
          <p:cNvPr id="4" name="TextBox 5"/>
          <p:cNvSpPr txBox="1"/>
          <p:nvPr/>
        </p:nvSpPr>
        <p:spPr>
          <a:xfrm>
            <a:off x="2285984" y="1124744"/>
            <a:ext cx="8286808" cy="2942344"/>
          </a:xfrm>
          <a:prstGeom prst="rect">
            <a:avLst/>
          </a:prstGeom>
          <a:noFill/>
          <a:ln w="12700">
            <a:solidFill>
              <a:schemeClr val="tx1"/>
            </a:solidFill>
            <a:prstDash val="dash"/>
          </a:ln>
        </p:spPr>
        <p:txBody>
          <a:bodyPr wrap="square" rtlCol="0">
            <a:spAutoFit/>
          </a:bodyPr>
          <a:lstStyle/>
          <a:p>
            <a:pPr marL="542925" indent="-457200" algn="just">
              <a:lnSpc>
                <a:spcPct val="130000"/>
              </a:lnSpc>
              <a:spcAft>
                <a:spcPts val="600"/>
              </a:spcAft>
              <a:tabLst>
                <a:tab pos="542925" algn="l"/>
                <a:tab pos="1347788" algn="l"/>
              </a:tabLst>
            </a:pPr>
            <a:r>
              <a:rPr lang="zh-CN" altLang="en-US" sz="1400" dirty="0" smtClean="0">
                <a:latin typeface="微软雅黑" pitchFamily="34" charset="-122"/>
                <a:ea typeface="微软雅黑" pitchFamily="34" charset="-122"/>
              </a:rPr>
              <a:t>对于筛选出的候选服务，进一步考察：</a:t>
            </a:r>
            <a:endParaRPr lang="en-US" altLang="zh-CN" sz="1400" dirty="0" smtClean="0">
              <a:latin typeface="微软雅黑" pitchFamily="34" charset="-122"/>
              <a:ea typeface="微软雅黑" pitchFamily="34" charset="-122"/>
            </a:endParaRPr>
          </a:p>
          <a:p>
            <a:pPr marL="428625" indent="-342900" algn="just">
              <a:lnSpc>
                <a:spcPct val="150000"/>
              </a:lnSpc>
              <a:buFont typeface="Wingdings" pitchFamily="2" charset="2"/>
              <a:buChar char="Ø"/>
              <a:tabLst>
                <a:tab pos="365125" algn="l"/>
                <a:tab pos="1347788" algn="l"/>
              </a:tabLst>
            </a:pPr>
            <a:r>
              <a:rPr lang="zh-CN" altLang="en-US" sz="1200" dirty="0" smtClean="0">
                <a:latin typeface="微软雅黑" pitchFamily="34" charset="-122"/>
                <a:ea typeface="微软雅黑" pitchFamily="34" charset="-122"/>
              </a:rPr>
              <a:t>兄弟节点是否合并为一个服务的必要条件，是兄弟节点合并后，有明确的业务含义，且一次交互可满足兄弟节点的全部功能。如果可以，考察其与原兄弟节点是否同源：</a:t>
            </a:r>
            <a:endParaRPr lang="en-US" altLang="zh-CN" sz="1200" dirty="0" smtClean="0">
              <a:latin typeface="微软雅黑" pitchFamily="34" charset="-122"/>
              <a:ea typeface="微软雅黑" pitchFamily="34" charset="-122"/>
            </a:endParaRPr>
          </a:p>
          <a:p>
            <a:pPr marL="625475" indent="-260350" algn="just">
              <a:lnSpc>
                <a:spcPct val="150000"/>
              </a:lnSpc>
              <a:buFont typeface="+mj-lt"/>
              <a:buAutoNum type="arabicPeriod"/>
              <a:tabLst>
                <a:tab pos="542925" algn="l"/>
                <a:tab pos="1347788" algn="l"/>
              </a:tabLst>
            </a:pPr>
            <a:r>
              <a:rPr lang="zh-CN" altLang="en-US" sz="1200" dirty="0" smtClean="0">
                <a:latin typeface="微软雅黑" pitchFamily="34" charset="-122"/>
                <a:ea typeface="微软雅黑" pitchFamily="34" charset="-122"/>
              </a:rPr>
              <a:t>若同源：由服务提供方提供包括原有多个叶子节点功能的粗颗粒度服务。</a:t>
            </a:r>
            <a:endParaRPr lang="en-US" altLang="zh-CN" sz="1200" dirty="0" smtClean="0">
              <a:latin typeface="微软雅黑" pitchFamily="34" charset="-122"/>
              <a:ea typeface="微软雅黑" pitchFamily="34" charset="-122"/>
            </a:endParaRPr>
          </a:p>
          <a:p>
            <a:pPr marL="625475" indent="-260350" algn="just">
              <a:lnSpc>
                <a:spcPct val="150000"/>
              </a:lnSpc>
              <a:buFont typeface="+mj-lt"/>
              <a:buAutoNum type="arabicPeriod"/>
              <a:tabLst>
                <a:tab pos="542925" algn="l"/>
                <a:tab pos="1347788" algn="l"/>
              </a:tabLst>
            </a:pPr>
            <a:r>
              <a:rPr lang="zh-CN" altLang="en-US" sz="1200" dirty="0" smtClean="0">
                <a:latin typeface="微软雅黑" pitchFamily="34" charset="-122"/>
                <a:ea typeface="微软雅黑" pitchFamily="34" charset="-122"/>
              </a:rPr>
              <a:t>若非同源：若合并后的服务承担其中一个兄弟节点的业务功能，该服务是</a:t>
            </a:r>
            <a:r>
              <a:rPr lang="zh-CN" altLang="en-US" sz="1200" dirty="0" smtClean="0">
                <a:solidFill>
                  <a:srgbClr val="FF0000"/>
                </a:solidFill>
                <a:latin typeface="微软雅黑" pitchFamily="34" charset="-122"/>
                <a:ea typeface="微软雅黑" pitchFamily="34" charset="-122"/>
              </a:rPr>
              <a:t>复杂服务</a:t>
            </a:r>
            <a:r>
              <a:rPr lang="zh-CN" altLang="en-US" sz="1200" dirty="0" smtClean="0">
                <a:latin typeface="微软雅黑" pitchFamily="34" charset="-122"/>
                <a:ea typeface="微软雅黑" pitchFamily="34" charset="-122"/>
              </a:rPr>
              <a:t>；若合并后的服务不承担任何一个兄弟节点的业务功能，该服务是组合级候选服务</a:t>
            </a:r>
            <a:endParaRPr lang="en-US" altLang="zh-CN" sz="1200" dirty="0" smtClean="0">
              <a:latin typeface="微软雅黑" pitchFamily="34" charset="-122"/>
              <a:ea typeface="微软雅黑" pitchFamily="34" charset="-122"/>
            </a:endParaRPr>
          </a:p>
          <a:p>
            <a:pPr marL="428625" indent="-342900" algn="just">
              <a:lnSpc>
                <a:spcPct val="150000"/>
              </a:lnSpc>
              <a:buFont typeface="Wingdings" pitchFamily="2" charset="2"/>
              <a:buChar char="Ø"/>
              <a:tabLst>
                <a:tab pos="365125" algn="l"/>
                <a:tab pos="1347788" algn="l"/>
              </a:tabLst>
            </a:pPr>
            <a:r>
              <a:rPr lang="zh-CN" altLang="en-US" sz="1200" dirty="0" smtClean="0">
                <a:latin typeface="微软雅黑" pitchFamily="34" charset="-122"/>
                <a:ea typeface="微软雅黑" pitchFamily="34" charset="-122"/>
              </a:rPr>
              <a:t>对于已经列入候选服务的父节点，考察其与子节点是否同源：</a:t>
            </a:r>
            <a:endParaRPr lang="en-US" altLang="zh-CN" sz="1200" dirty="0" smtClean="0">
              <a:latin typeface="微软雅黑" pitchFamily="34" charset="-122"/>
              <a:ea typeface="微软雅黑" pitchFamily="34" charset="-122"/>
            </a:endParaRPr>
          </a:p>
          <a:p>
            <a:pPr marL="625475" indent="-260350" algn="just">
              <a:lnSpc>
                <a:spcPct val="150000"/>
              </a:lnSpc>
              <a:buFont typeface="+mj-lt"/>
              <a:buAutoNum type="arabicPeriod" startAt="3"/>
              <a:tabLst>
                <a:tab pos="542925" algn="l"/>
                <a:tab pos="1347788" algn="l"/>
              </a:tabLst>
            </a:pPr>
            <a:r>
              <a:rPr lang="zh-CN" altLang="en-US" sz="1200" dirty="0" smtClean="0">
                <a:latin typeface="微软雅黑" pitchFamily="34" charset="-122"/>
                <a:ea typeface="微软雅黑" pitchFamily="34" charset="-122"/>
              </a:rPr>
              <a:t>若全部同源：父节点是服务提供方提供的、包括子节点全部功能的粗颗粒度服务</a:t>
            </a:r>
            <a:endParaRPr lang="en-US" altLang="zh-CN" sz="1200" dirty="0" smtClean="0">
              <a:latin typeface="微软雅黑" pitchFamily="34" charset="-122"/>
              <a:ea typeface="微软雅黑" pitchFamily="34" charset="-122"/>
            </a:endParaRPr>
          </a:p>
          <a:p>
            <a:pPr marL="625475" indent="-260350" algn="just">
              <a:lnSpc>
                <a:spcPct val="150000"/>
              </a:lnSpc>
              <a:buFont typeface="+mj-lt"/>
              <a:buAutoNum type="arabicPeriod" startAt="3"/>
              <a:tabLst>
                <a:tab pos="542925" algn="l"/>
                <a:tab pos="1347788" algn="l"/>
              </a:tabLst>
            </a:pPr>
            <a:r>
              <a:rPr lang="zh-CN" altLang="en-US" sz="1200" dirty="0" smtClean="0">
                <a:latin typeface="微软雅黑" pitchFamily="34" charset="-122"/>
                <a:ea typeface="微软雅黑" pitchFamily="34" charset="-122"/>
              </a:rPr>
              <a:t>若全部非同源：父节点是组合级候选服务</a:t>
            </a:r>
            <a:endParaRPr lang="en-US" altLang="zh-CN" sz="1200" dirty="0" smtClean="0">
              <a:latin typeface="微软雅黑" pitchFamily="34" charset="-122"/>
              <a:ea typeface="微软雅黑" pitchFamily="34" charset="-122"/>
            </a:endParaRPr>
          </a:p>
          <a:p>
            <a:pPr marL="625475" indent="-260350" algn="just">
              <a:lnSpc>
                <a:spcPct val="150000"/>
              </a:lnSpc>
              <a:buFont typeface="+mj-lt"/>
              <a:buAutoNum type="arabicPeriod" startAt="3"/>
              <a:tabLst>
                <a:tab pos="542925" algn="l"/>
                <a:tab pos="1347788" algn="l"/>
              </a:tabLst>
            </a:pPr>
            <a:r>
              <a:rPr lang="zh-CN" altLang="en-US" sz="1200" dirty="0" smtClean="0">
                <a:latin typeface="微软雅黑" pitchFamily="34" charset="-122"/>
                <a:ea typeface="微软雅黑" pitchFamily="34" charset="-122"/>
              </a:rPr>
              <a:t>若部分非同源：即父节点承担同源子节点（本系统）的业务功能，父节点是</a:t>
            </a:r>
            <a:r>
              <a:rPr lang="zh-CN" altLang="en-US" sz="1200" dirty="0" smtClean="0">
                <a:solidFill>
                  <a:srgbClr val="FF0000"/>
                </a:solidFill>
                <a:latin typeface="微软雅黑" pitchFamily="34" charset="-122"/>
                <a:ea typeface="微软雅黑" pitchFamily="34" charset="-122"/>
              </a:rPr>
              <a:t>复杂服务</a:t>
            </a:r>
            <a:r>
              <a:rPr lang="zh-CN" altLang="en-US" sz="1200" dirty="0" smtClean="0">
                <a:latin typeface="微软雅黑" pitchFamily="34" charset="-122"/>
                <a:ea typeface="微软雅黑" pitchFamily="34" charset="-122"/>
              </a:rPr>
              <a:t>。</a:t>
            </a:r>
            <a:endParaRPr lang="en-US" altLang="zh-CN" sz="1200" dirty="0" smtClean="0">
              <a:latin typeface="微软雅黑" pitchFamily="34" charset="-122"/>
              <a:ea typeface="微软雅黑"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184683716"/>
              </p:ext>
            </p:extLst>
          </p:nvPr>
        </p:nvGraphicFramePr>
        <p:xfrm>
          <a:off x="2000232" y="4612462"/>
          <a:ext cx="2214578" cy="1587806"/>
        </p:xfrm>
        <a:graphic>
          <a:graphicData uri="http://schemas.openxmlformats.org/drawingml/2006/table">
            <a:tbl>
              <a:tblPr firstRow="1" lastCol="1" bandCol="1">
                <a:tableStyleId>{93296810-A885-4BE3-A3E7-6D5BEEA58F35}</a:tableStyleId>
              </a:tblPr>
              <a:tblGrid>
                <a:gridCol w="381824"/>
                <a:gridCol w="1450930"/>
                <a:gridCol w="381824"/>
              </a:tblGrid>
              <a:tr h="344376">
                <a:tc>
                  <a:txBody>
                    <a:bodyPr/>
                    <a:lstStyle/>
                    <a:p>
                      <a:pPr algn="ctr" fontAlgn="ctr"/>
                      <a:r>
                        <a:rPr lang="zh-CN" altLang="en-US" sz="1050" b="1" i="0" u="none" strike="noStrike" dirty="0" smtClean="0">
                          <a:solidFill>
                            <a:schemeClr val="bg1"/>
                          </a:solidFill>
                          <a:latin typeface="微软雅黑" pitchFamily="34" charset="-122"/>
                          <a:ea typeface="微软雅黑" pitchFamily="34" charset="-122"/>
                        </a:rPr>
                        <a:t>候选服务</a:t>
                      </a:r>
                      <a:endParaRPr lang="zh-CN" altLang="en-US" sz="105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050" b="1" u="none" strike="noStrike" dirty="0">
                          <a:solidFill>
                            <a:schemeClr val="bg1"/>
                          </a:solidFill>
                          <a:latin typeface="微软雅黑" pitchFamily="34" charset="-122"/>
                          <a:ea typeface="微软雅黑" pitchFamily="34" charset="-122"/>
                        </a:rPr>
                        <a:t>业务含义</a:t>
                      </a:r>
                      <a:endParaRPr lang="zh-CN" altLang="en-US" sz="105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050" b="1" i="0" u="none" strike="noStrike" dirty="0" smtClean="0">
                          <a:solidFill>
                            <a:schemeClr val="bg1"/>
                          </a:solidFill>
                          <a:latin typeface="微软雅黑" pitchFamily="34" charset="-122"/>
                          <a:ea typeface="微软雅黑" pitchFamily="34" charset="-122"/>
                        </a:rPr>
                        <a:t>服务识别</a:t>
                      </a:r>
                      <a:endParaRPr lang="zh-CN" altLang="en-US" sz="105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r>
              <a:tr h="284868">
                <a:tc>
                  <a:txBody>
                    <a:bodyPr/>
                    <a:lstStyle/>
                    <a:p>
                      <a:pPr algn="ctr" fontAlgn="ctr"/>
                      <a:r>
                        <a:rPr lang="en-US" sz="1050" b="0" u="none" strike="noStrike" dirty="0" smtClean="0">
                          <a:solidFill>
                            <a:schemeClr val="tx1"/>
                          </a:solidFill>
                          <a:latin typeface="微软雅黑" pitchFamily="34" charset="-122"/>
                          <a:ea typeface="微软雅黑" pitchFamily="34" charset="-122"/>
                        </a:rPr>
                        <a:t>A</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050" b="0" i="0" u="none" strike="noStrike" dirty="0">
                          <a:solidFill>
                            <a:schemeClr val="tx1"/>
                          </a:solidFill>
                          <a:latin typeface="微软雅黑" pitchFamily="34" charset="-122"/>
                          <a:ea typeface="微软雅黑" pitchFamily="34" charset="-122"/>
                        </a:rPr>
                        <a:t>实物贵金属现货购买</a:t>
                      </a: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90488" indent="-90488" algn="ctr" defTabSz="914400" rtl="0" eaLnBrk="1" fontAlgn="ctr" latinLnBrk="0" hangingPunct="1">
                        <a:buFont typeface="Arial" pitchFamily="34" charset="0"/>
                        <a:buNone/>
                      </a:pPr>
                      <a:r>
                        <a:rPr lang="en-US" altLang="zh-CN" sz="1050" b="0" i="0" u="none" strike="noStrike" kern="1200" dirty="0" smtClean="0">
                          <a:solidFill>
                            <a:schemeClr val="tx1"/>
                          </a:solidFill>
                          <a:latin typeface="微软雅黑" pitchFamily="34" charset="-122"/>
                          <a:ea typeface="微软雅黑" pitchFamily="34" charset="-122"/>
                          <a:cs typeface="+mn-cs"/>
                        </a:rPr>
                        <a:t>5</a:t>
                      </a: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77165">
                <a:tc>
                  <a:txBody>
                    <a:bodyPr/>
                    <a:lstStyle/>
                    <a:p>
                      <a:pPr algn="ctr" fontAlgn="ctr"/>
                      <a:r>
                        <a:rPr lang="en-US" sz="1050" b="0" u="none" strike="noStrike" dirty="0">
                          <a:solidFill>
                            <a:schemeClr val="tx1"/>
                          </a:solidFill>
                          <a:latin typeface="微软雅黑" pitchFamily="34" charset="-122"/>
                          <a:ea typeface="微软雅黑" pitchFamily="34" charset="-122"/>
                        </a:rPr>
                        <a:t>B</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a:solidFill>
                            <a:schemeClr val="tx1"/>
                          </a:solidFill>
                          <a:latin typeface="微软雅黑" pitchFamily="34" charset="-122"/>
                          <a:ea typeface="微软雅黑" pitchFamily="34" charset="-122"/>
                        </a:rPr>
                        <a:t>库存</a:t>
                      </a:r>
                      <a:r>
                        <a:rPr lang="zh-CN" altLang="en-US" sz="1050" b="0" i="0" u="none" strike="noStrike" dirty="0" smtClean="0">
                          <a:solidFill>
                            <a:schemeClr val="tx1"/>
                          </a:solidFill>
                          <a:latin typeface="微软雅黑" pitchFamily="34" charset="-122"/>
                          <a:ea typeface="微软雅黑" pitchFamily="34" charset="-122"/>
                        </a:rPr>
                        <a:t>校验</a:t>
                      </a:r>
                      <a:endParaRPr lang="zh-CN" altLang="en-US" sz="1050" b="0" i="0" u="none" strike="noStrike"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0488" marR="0" indent="-90488" algn="l" defTabSz="914400" rtl="0" eaLnBrk="1" fontAlgn="auto" latinLnBrk="0" hangingPunct="1">
                        <a:lnSpc>
                          <a:spcPct val="100000"/>
                        </a:lnSpc>
                        <a:spcBef>
                          <a:spcPts val="0"/>
                        </a:spcBef>
                        <a:spcAft>
                          <a:spcPts val="0"/>
                        </a:spcAft>
                        <a:buClrTx/>
                        <a:buSzTx/>
                        <a:buFont typeface="Arial" pitchFamily="34" charset="0"/>
                        <a:buNone/>
                        <a:tabLst/>
                        <a:defRPr/>
                      </a:pPr>
                      <a:endParaRPr lang="zh-CN" altLang="en-US" sz="1050" b="0" kern="1200" dirty="0">
                        <a:solidFill>
                          <a:schemeClr val="tx1"/>
                        </a:solidFill>
                        <a:latin typeface="微软雅黑" pitchFamily="34" charset="-122"/>
                        <a:ea typeface="微软雅黑" pitchFamily="34" charset="-122"/>
                        <a:cs typeface="+mn-cs"/>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11661">
                <a:tc>
                  <a:txBody>
                    <a:bodyPr/>
                    <a:lstStyle/>
                    <a:p>
                      <a:pPr algn="ctr" fontAlgn="ctr"/>
                      <a:r>
                        <a:rPr lang="en-US" sz="1050" b="0" u="none" strike="noStrike" dirty="0">
                          <a:solidFill>
                            <a:schemeClr val="tx1"/>
                          </a:solidFill>
                          <a:latin typeface="微软雅黑" pitchFamily="34" charset="-122"/>
                          <a:ea typeface="微软雅黑" pitchFamily="34" charset="-122"/>
                        </a:rPr>
                        <a:t>C</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smtClean="0">
                          <a:solidFill>
                            <a:schemeClr val="tx1"/>
                          </a:solidFill>
                          <a:latin typeface="微软雅黑" pitchFamily="34" charset="-122"/>
                          <a:ea typeface="微软雅黑" pitchFamily="34" charset="-122"/>
                        </a:rPr>
                        <a:t>客户账户信息查询</a:t>
                      </a:r>
                      <a:endParaRPr lang="zh-CN" altLang="en-US" sz="1050" b="0" i="0" u="none" strike="noStrike"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0488" marR="0" lvl="0" indent="-90488"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altLang="zh-CN" sz="105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cs typeface="+mn-cs"/>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4868">
                <a:tc>
                  <a:txBody>
                    <a:bodyPr/>
                    <a:lstStyle/>
                    <a:p>
                      <a:pPr algn="ctr" fontAlgn="ctr"/>
                      <a:r>
                        <a:rPr lang="en-US" sz="1050" b="0" u="none" strike="noStrike" dirty="0">
                          <a:solidFill>
                            <a:schemeClr val="tx1"/>
                          </a:solidFill>
                          <a:latin typeface="微软雅黑" pitchFamily="34" charset="-122"/>
                          <a:ea typeface="微软雅黑" pitchFamily="34" charset="-122"/>
                        </a:rPr>
                        <a:t>D</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smtClean="0">
                          <a:solidFill>
                            <a:srgbClr val="000000"/>
                          </a:solidFill>
                          <a:latin typeface="微软雅黑" pitchFamily="34" charset="-122"/>
                          <a:ea typeface="微软雅黑" pitchFamily="34" charset="-122"/>
                        </a:rPr>
                        <a:t>代客代理实时记账处理</a:t>
                      </a:r>
                      <a:endParaRPr lang="zh-CN" altLang="en-US" sz="1050" b="0" i="0" u="none" strike="noStrike" dirty="0">
                        <a:solidFill>
                          <a:srgbClr val="000000"/>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050" b="0"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4868">
                <a:tc>
                  <a:txBody>
                    <a:bodyPr/>
                    <a:lstStyle/>
                    <a:p>
                      <a:pPr algn="ctr" fontAlgn="ctr"/>
                      <a:r>
                        <a:rPr lang="en-US" sz="1050" b="0" i="0" u="none" strike="noStrike" dirty="0" smtClean="0">
                          <a:solidFill>
                            <a:schemeClr val="tx1"/>
                          </a:solidFill>
                          <a:latin typeface="微软雅黑" pitchFamily="34" charset="-122"/>
                          <a:ea typeface="微软雅黑" pitchFamily="34" charset="-122"/>
                        </a:rPr>
                        <a:t>E</a:t>
                      </a:r>
                      <a:endParaRPr lang="en-US" sz="1050" b="0" i="0" u="none" strike="noStrike" dirty="0">
                        <a:solidFill>
                          <a:schemeClr val="tx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050" b="0" i="0" u="none" strike="noStrike" dirty="0" smtClean="0">
                          <a:solidFill>
                            <a:schemeClr val="tx1"/>
                          </a:solidFill>
                          <a:latin typeface="微软雅黑" pitchFamily="34" charset="-122"/>
                          <a:ea typeface="微软雅黑" pitchFamily="34" charset="-122"/>
                        </a:rPr>
                        <a:t>代客代理平台登记</a:t>
                      </a:r>
                      <a:endParaRPr lang="zh-CN" altLang="en-US" sz="1050" b="0" i="0" u="none" strike="noStrike" dirty="0">
                        <a:solidFill>
                          <a:schemeClr val="tx1"/>
                        </a:solidFill>
                        <a:latin typeface="微软雅黑" pitchFamily="34" charset="-122"/>
                        <a:ea typeface="微软雅黑" pitchFamily="34" charset="-122"/>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050" b="0" i="0" u="none" strike="noStrike" kern="1200" dirty="0" smtClean="0">
                        <a:solidFill>
                          <a:schemeClr val="tx1"/>
                        </a:solidFill>
                        <a:latin typeface="微软雅黑" pitchFamily="34" charset="-122"/>
                        <a:ea typeface="微软雅黑" pitchFamily="34" charset="-122"/>
                        <a:cs typeface="+mn-cs"/>
                      </a:endParaRPr>
                    </a:p>
                  </a:txBody>
                  <a:tcPr marL="720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6" name="矩形 5"/>
          <p:cNvSpPr/>
          <p:nvPr/>
        </p:nvSpPr>
        <p:spPr bwMode="auto">
          <a:xfrm>
            <a:off x="2000232" y="4273210"/>
            <a:ext cx="2071702" cy="285752"/>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例</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1</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A(B</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C</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D</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E</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4069832068"/>
              </p:ext>
            </p:extLst>
          </p:nvPr>
        </p:nvGraphicFramePr>
        <p:xfrm>
          <a:off x="4357686" y="4630400"/>
          <a:ext cx="1785950" cy="1571635"/>
        </p:xfrm>
        <a:graphic>
          <a:graphicData uri="http://schemas.openxmlformats.org/drawingml/2006/table">
            <a:tbl>
              <a:tblPr>
                <a:tableStyleId>{E8B1032C-EA38-4F05-BA0D-38AFFFC7BED3}</a:tableStyleId>
              </a:tblPr>
              <a:tblGrid>
                <a:gridCol w="397505"/>
                <a:gridCol w="984536"/>
                <a:gridCol w="403909"/>
              </a:tblGrid>
              <a:tr h="354146">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候选服务</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a:solidFill>
                            <a:schemeClr val="bg1"/>
                          </a:solidFill>
                          <a:latin typeface="微软雅黑" pitchFamily="34" charset="-122"/>
                          <a:ea typeface="微软雅黑" pitchFamily="34" charset="-122"/>
                        </a:rPr>
                        <a:t>业务含义</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服务识别</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r>
              <a:tr h="279586">
                <a:tc>
                  <a:txBody>
                    <a:bodyPr/>
                    <a:lstStyle/>
                    <a:p>
                      <a:pPr algn="ctr" fontAlgn="ctr"/>
                      <a:r>
                        <a:rPr lang="en-US" sz="1100" u="none" strike="noStrike" dirty="0">
                          <a:latin typeface="微软雅黑" pitchFamily="34" charset="-122"/>
                          <a:ea typeface="微软雅黑" pitchFamily="34" charset="-122"/>
                        </a:rPr>
                        <a:t>A</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综合签约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90488" indent="-90488" algn="ctr" defTabSz="914400" rtl="0" eaLnBrk="1" fontAlgn="ctr" latinLnBrk="0" hangingPunct="1">
                        <a:buFont typeface="Arial" pitchFamily="34" charset="0"/>
                        <a:buNone/>
                      </a:pPr>
                      <a:r>
                        <a:rPr lang="en-US" altLang="zh-CN" sz="1100" b="0" i="0" u="none" strike="noStrike" dirty="0" smtClean="0">
                          <a:solidFill>
                            <a:srgbClr val="000000"/>
                          </a:solidFill>
                          <a:latin typeface="微软雅黑" pitchFamily="34" charset="-122"/>
                          <a:ea typeface="微软雅黑" pitchFamily="34" charset="-122"/>
                        </a:rPr>
                        <a:t>4</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334965">
                <a:tc>
                  <a:txBody>
                    <a:bodyPr/>
                    <a:lstStyle/>
                    <a:p>
                      <a:pPr algn="ctr" fontAlgn="ctr"/>
                      <a:r>
                        <a:rPr lang="en-US" sz="1100" u="none" strike="noStrike" dirty="0">
                          <a:latin typeface="微软雅黑" pitchFamily="34" charset="-122"/>
                          <a:ea typeface="微软雅黑" pitchFamily="34" charset="-122"/>
                        </a:rPr>
                        <a:t>B</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黄金签约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100" dirty="0">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0296">
                <a:tc>
                  <a:txBody>
                    <a:bodyPr/>
                    <a:lstStyle/>
                    <a:p>
                      <a:pPr algn="ctr" fontAlgn="ctr"/>
                      <a:r>
                        <a:rPr lang="en-US" sz="1100" u="none" strike="noStrike" dirty="0">
                          <a:latin typeface="微软雅黑" pitchFamily="34" charset="-122"/>
                          <a:ea typeface="微软雅黑" pitchFamily="34" charset="-122"/>
                        </a:rPr>
                        <a:t>C</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理财签约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100" dirty="0">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2642">
                <a:tc>
                  <a:txBody>
                    <a:bodyPr/>
                    <a:lstStyle/>
                    <a:p>
                      <a:pPr algn="ctr" fontAlgn="ctr"/>
                      <a:r>
                        <a:rPr lang="en-US" sz="1100" u="none" strike="noStrike" dirty="0">
                          <a:latin typeface="微软雅黑" pitchFamily="34" charset="-122"/>
                          <a:ea typeface="微软雅黑" pitchFamily="34" charset="-122"/>
                        </a:rPr>
                        <a:t>D</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外汇买卖签约</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100" dirty="0">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8" name="矩形 7"/>
          <p:cNvSpPr/>
          <p:nvPr/>
        </p:nvSpPr>
        <p:spPr bwMode="auto">
          <a:xfrm>
            <a:off x="4357686" y="4273210"/>
            <a:ext cx="1785950" cy="285752"/>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例</a:t>
            </a:r>
            <a:r>
              <a:rPr lang="en-US" altLang="zh-CN" sz="1000" b="1" dirty="0" smtClean="0">
                <a:latin typeface="微软雅黑" pitchFamily="34" charset="-122"/>
                <a:ea typeface="微软雅黑" pitchFamily="34" charset="-122"/>
              </a:rPr>
              <a:t>2</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A(B</a:t>
            </a:r>
            <a:r>
              <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C</a:t>
            </a:r>
            <a:r>
              <a:rPr lang="zh-CN" altLang="en-US" sz="1000" b="1" dirty="0" smtClean="0">
                <a:latin typeface="微软雅黑" pitchFamily="34" charset="-122"/>
                <a:ea typeface="微软雅黑" pitchFamily="34" charset="-122"/>
              </a:rPr>
              <a:t>、</a:t>
            </a:r>
            <a:r>
              <a:rPr lang="en-US" altLang="zh-CN" sz="1000" b="1" dirty="0" smtClean="0">
                <a:latin typeface="微软雅黑" pitchFamily="34" charset="-122"/>
                <a:ea typeface="微软雅黑" pitchFamily="34" charset="-122"/>
              </a:rPr>
              <a:t>D</a:t>
            </a:r>
            <a:r>
              <a:rPr kumimoji="0" lang="en-US" altLang="zh-CN" sz="1000" b="1" i="0" u="none" strike="noStrike" cap="none" normalizeH="0" baseline="0" dirty="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dirty="0" smtClean="0">
              <a:ln>
                <a:noFill/>
              </a:ln>
              <a:solidFill>
                <a:schemeClr val="tx1"/>
              </a:solidFill>
              <a:effectLst/>
              <a:latin typeface="微软雅黑" pitchFamily="34" charset="-122"/>
              <a:ea typeface="微软雅黑"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2834073301"/>
              </p:ext>
            </p:extLst>
          </p:nvPr>
        </p:nvGraphicFramePr>
        <p:xfrm>
          <a:off x="6268842" y="4628054"/>
          <a:ext cx="2232248" cy="1573981"/>
        </p:xfrm>
        <a:graphic>
          <a:graphicData uri="http://schemas.openxmlformats.org/drawingml/2006/table">
            <a:tbl>
              <a:tblPr>
                <a:tableStyleId>{E8B1032C-EA38-4F05-BA0D-38AFFFC7BED3}</a:tableStyleId>
              </a:tblPr>
              <a:tblGrid>
                <a:gridCol w="391392"/>
                <a:gridCol w="1457581"/>
                <a:gridCol w="383275"/>
              </a:tblGrid>
              <a:tr h="361199">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候选服务</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a:solidFill>
                            <a:schemeClr val="bg1"/>
                          </a:solidFill>
                          <a:latin typeface="微软雅黑" pitchFamily="34" charset="-122"/>
                          <a:ea typeface="微软雅黑" pitchFamily="34" charset="-122"/>
                        </a:rPr>
                        <a:t>业务含义</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c>
                  <a:txBody>
                    <a:bodyPr/>
                    <a:lstStyle/>
                    <a:p>
                      <a:pPr algn="ctr" fontAlgn="ctr"/>
                      <a:r>
                        <a:rPr lang="zh-CN" altLang="en-US" sz="1100" b="1" u="none" strike="noStrike" dirty="0" smtClean="0">
                          <a:solidFill>
                            <a:schemeClr val="bg1"/>
                          </a:solidFill>
                          <a:latin typeface="微软雅黑" pitchFamily="34" charset="-122"/>
                          <a:ea typeface="微软雅黑" pitchFamily="34" charset="-122"/>
                        </a:rPr>
                        <a:t>服务识别</a:t>
                      </a:r>
                      <a:endParaRPr lang="zh-CN" altLang="en-US" sz="1100" b="1" i="0" u="none" strike="noStrike" dirty="0">
                        <a:solidFill>
                          <a:schemeClr val="bg1"/>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692EE"/>
                    </a:solidFill>
                  </a:tcPr>
                </a:tc>
              </a:tr>
              <a:tr h="314769">
                <a:tc>
                  <a:txBody>
                    <a:bodyPr/>
                    <a:lstStyle/>
                    <a:p>
                      <a:pPr algn="ctr" fontAlgn="ctr"/>
                      <a:r>
                        <a:rPr lang="en-US" sz="1100" u="none" strike="noStrike" dirty="0">
                          <a:latin typeface="微软雅黑" pitchFamily="34" charset="-122"/>
                          <a:ea typeface="微软雅黑" pitchFamily="34" charset="-122"/>
                        </a:rPr>
                        <a:t>A</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客户信息查询</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90488" indent="-90488" algn="ctr" defTabSz="914400" rtl="0" eaLnBrk="1" fontAlgn="ctr" latinLnBrk="0" hangingPunct="1">
                        <a:buFont typeface="Arial" pitchFamily="34" charset="0"/>
                        <a:buNone/>
                      </a:pPr>
                      <a:r>
                        <a:rPr lang="en-US" altLang="zh-CN" sz="1100" b="0" i="0" u="none" strike="noStrike" kern="1200" dirty="0" smtClean="0">
                          <a:solidFill>
                            <a:srgbClr val="000000"/>
                          </a:solidFill>
                          <a:latin typeface="微软雅黑" pitchFamily="34" charset="-122"/>
                          <a:ea typeface="微软雅黑" pitchFamily="34" charset="-122"/>
                          <a:cs typeface="+mn-cs"/>
                        </a:rPr>
                        <a:t>3</a:t>
                      </a:r>
                      <a:endParaRPr lang="zh-CN" altLang="en-US" sz="1100" b="0" i="0" u="none" strike="noStrike" kern="1200" dirty="0">
                        <a:solidFill>
                          <a:srgbClr val="000000"/>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374172">
                <a:tc>
                  <a:txBody>
                    <a:bodyPr/>
                    <a:lstStyle/>
                    <a:p>
                      <a:pPr algn="ctr" fontAlgn="ctr"/>
                      <a:r>
                        <a:rPr lang="en-US" sz="1100" u="none" strike="noStrike" dirty="0">
                          <a:latin typeface="微软雅黑" pitchFamily="34" charset="-122"/>
                          <a:ea typeface="微软雅黑" pitchFamily="34" charset="-122"/>
                        </a:rPr>
                        <a:t>B</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按客户号查询客户信息</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90488" indent="-90488" algn="l" defTabSz="914400" rtl="0" eaLnBrk="1" latinLnBrk="0" hangingPunct="1">
                        <a:buFontTx/>
                        <a:buNone/>
                      </a:pPr>
                      <a:endParaRPr lang="zh-CN" altLang="en-US" sz="1100" kern="1200" dirty="0">
                        <a:solidFill>
                          <a:schemeClr val="tx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9338">
                <a:tc>
                  <a:txBody>
                    <a:bodyPr/>
                    <a:lstStyle/>
                    <a:p>
                      <a:pPr algn="ctr" fontAlgn="ctr"/>
                      <a:r>
                        <a:rPr lang="en-US" sz="1100" u="none" strike="noStrike" dirty="0">
                          <a:latin typeface="微软雅黑" pitchFamily="34" charset="-122"/>
                          <a:ea typeface="微软雅黑" pitchFamily="34" charset="-122"/>
                        </a:rPr>
                        <a:t>C</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按账号查询客户信息</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0488" indent="-90488" algn="l" defTabSz="914400" rtl="0" eaLnBrk="1" latinLnBrk="0" hangingPunct="1">
                        <a:buFontTx/>
                        <a:buNone/>
                      </a:pPr>
                      <a:endParaRPr lang="zh-CN" altLang="en-US" sz="1100" kern="1200" dirty="0">
                        <a:solidFill>
                          <a:schemeClr val="tx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24503">
                <a:tc>
                  <a:txBody>
                    <a:bodyPr/>
                    <a:lstStyle/>
                    <a:p>
                      <a:pPr algn="ctr" fontAlgn="ctr"/>
                      <a:r>
                        <a:rPr lang="en-US" sz="1100" u="none" strike="noStrike" dirty="0">
                          <a:latin typeface="微软雅黑" pitchFamily="34" charset="-122"/>
                          <a:ea typeface="微软雅黑" pitchFamily="34" charset="-122"/>
                        </a:rPr>
                        <a:t>D</a:t>
                      </a:r>
                      <a:endParaRPr 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按证件号查询客户信息</a:t>
                      </a:r>
                      <a:endParaRPr lang="zh-CN" altLang="en-US" sz="1100" b="0" i="0" u="none" strike="noStrike" dirty="0">
                        <a:solidFill>
                          <a:srgbClr val="000000"/>
                        </a:solidFill>
                        <a:latin typeface="微软雅黑" pitchFamily="34" charset="-122"/>
                        <a:ea typeface="微软雅黑"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0488" indent="-90488" algn="l" defTabSz="914400" rtl="0" eaLnBrk="1" latinLnBrk="0" hangingPunct="1">
                        <a:buFontTx/>
                        <a:buNone/>
                      </a:pPr>
                      <a:endParaRPr lang="zh-CN" altLang="en-US" sz="1100" kern="1200" dirty="0">
                        <a:solidFill>
                          <a:schemeClr val="tx1"/>
                        </a:solidFill>
                        <a:latin typeface="微软雅黑" pitchFamily="34" charset="-122"/>
                        <a:ea typeface="微软雅黑"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0" name="矩形 9"/>
          <p:cNvSpPr/>
          <p:nvPr/>
        </p:nvSpPr>
        <p:spPr bwMode="auto">
          <a:xfrm>
            <a:off x="6268842" y="4268016"/>
            <a:ext cx="1944216" cy="288032"/>
          </a:xfrm>
          <a:prstGeom prst="rect">
            <a:avLst/>
          </a:prstGeom>
          <a:solidFill>
            <a:schemeClr val="bg1"/>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rPr>
              <a:t>例</a:t>
            </a:r>
            <a:r>
              <a:rPr lang="en-US" altLang="zh-CN" sz="1000" b="1" smtClean="0">
                <a:latin typeface="微软雅黑" pitchFamily="34" charset="-122"/>
                <a:ea typeface="微软雅黑" pitchFamily="34" charset="-122"/>
              </a:rPr>
              <a:t>3</a:t>
            </a:r>
            <a:r>
              <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smtClean="0">
                <a:ln>
                  <a:noFill/>
                </a:ln>
                <a:solidFill>
                  <a:schemeClr val="tx1"/>
                </a:solidFill>
                <a:effectLst/>
                <a:latin typeface="微软雅黑" pitchFamily="34" charset="-122"/>
                <a:ea typeface="微软雅黑" pitchFamily="34" charset="-122"/>
              </a:rPr>
              <a:t>A(B</a:t>
            </a:r>
            <a:r>
              <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rPr>
              <a:t>、</a:t>
            </a:r>
            <a:r>
              <a:rPr kumimoji="0" lang="en-US" altLang="zh-CN" sz="1000" b="1" i="0" u="none" strike="noStrike" cap="none" normalizeH="0" baseline="0" smtClean="0">
                <a:ln>
                  <a:noFill/>
                </a:ln>
                <a:solidFill>
                  <a:schemeClr val="tx1"/>
                </a:solidFill>
                <a:effectLst/>
                <a:latin typeface="微软雅黑" pitchFamily="34" charset="-122"/>
                <a:ea typeface="微软雅黑" pitchFamily="34" charset="-122"/>
              </a:rPr>
              <a:t>C</a:t>
            </a:r>
            <a:r>
              <a:rPr lang="zh-CN" altLang="en-US" sz="1000" b="1" smtClean="0">
                <a:latin typeface="微软雅黑" pitchFamily="34" charset="-122"/>
                <a:ea typeface="微软雅黑" pitchFamily="34" charset="-122"/>
              </a:rPr>
              <a:t>、</a:t>
            </a:r>
            <a:r>
              <a:rPr lang="en-US" altLang="zh-CN" sz="1000" b="1" smtClean="0">
                <a:latin typeface="微软雅黑" pitchFamily="34" charset="-122"/>
                <a:ea typeface="微软雅黑" pitchFamily="34" charset="-122"/>
              </a:rPr>
              <a:t>D</a:t>
            </a:r>
            <a:r>
              <a:rPr kumimoji="0" lang="en-US" altLang="zh-CN" sz="1000" b="1" i="0" u="none" strike="noStrike" cap="none" normalizeH="0" baseline="0" smtClean="0">
                <a:ln>
                  <a:noFill/>
                </a:ln>
                <a:solidFill>
                  <a:schemeClr val="tx1"/>
                </a:solidFill>
                <a:effectLst/>
                <a:latin typeface="微软雅黑" pitchFamily="34" charset="-122"/>
                <a:ea typeface="微软雅黑" pitchFamily="34" charset="-122"/>
              </a:rPr>
              <a:t>)</a:t>
            </a:r>
            <a:endParaRPr kumimoji="0" lang="zh-CN" altLang="en-US" sz="1000" b="1" i="0" u="none" strike="noStrike" cap="none" normalizeH="0" baseline="0" smtClean="0">
              <a:ln>
                <a:noFill/>
              </a:ln>
              <a:solidFill>
                <a:schemeClr val="tx1"/>
              </a:solidFill>
              <a:effectLst/>
              <a:latin typeface="微软雅黑" pitchFamily="34" charset="-122"/>
              <a:ea typeface="微软雅黑" pitchFamily="34" charset="-122"/>
            </a:endParaRPr>
          </a:p>
        </p:txBody>
      </p:sp>
    </p:spTree>
    <p:extLst>
      <p:ext uri="{BB962C8B-B14F-4D97-AF65-F5344CB8AC3E}">
        <p14:creationId xmlns:p14="http://schemas.microsoft.com/office/powerpoint/2010/main" val="6949003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服务定义指导原则</a:t>
            </a:r>
            <a:endParaRPr lang="en-US" dirty="0"/>
          </a:p>
        </p:txBody>
      </p:sp>
      <p:sp>
        <p:nvSpPr>
          <p:cNvPr id="11" name="TextBox 6"/>
          <p:cNvSpPr txBox="1"/>
          <p:nvPr/>
        </p:nvSpPr>
        <p:spPr>
          <a:xfrm>
            <a:off x="855808" y="1082250"/>
            <a:ext cx="4160071" cy="1400383"/>
          </a:xfrm>
          <a:prstGeom prst="rect">
            <a:avLst/>
          </a:prstGeom>
          <a:noFill/>
          <a:ln w="12700">
            <a:solidFill>
              <a:schemeClr val="tx1"/>
            </a:solidFill>
            <a:prstDash val="dash"/>
          </a:ln>
        </p:spPr>
        <p:txBody>
          <a:bodyPr wrap="square" rtlCol="0">
            <a:spAutoFit/>
          </a:bodyPr>
          <a:lstStyle/>
          <a:p>
            <a:pPr>
              <a:lnSpc>
                <a:spcPct val="150000"/>
              </a:lnSpc>
              <a:spcBef>
                <a:spcPts val="600"/>
              </a:spcBef>
              <a:spcAft>
                <a:spcPts val="600"/>
              </a:spcAft>
            </a:pPr>
            <a:r>
              <a:rPr lang="zh-CN" altLang="en-US" b="1" dirty="0" smtClean="0">
                <a:solidFill>
                  <a:srgbClr val="0070C0"/>
                </a:solidFill>
                <a:latin typeface="微软雅黑" pitchFamily="34" charset="-122"/>
                <a:ea typeface="微软雅黑" pitchFamily="34" charset="-122"/>
              </a:rPr>
              <a:t>业务功能分解原则：</a:t>
            </a:r>
            <a:endParaRPr lang="en-US" altLang="zh-CN" b="1" dirty="0" smtClean="0">
              <a:solidFill>
                <a:srgbClr val="0070C0"/>
              </a:solidFill>
              <a:latin typeface="微软雅黑" pitchFamily="34" charset="-122"/>
              <a:ea typeface="微软雅黑" pitchFamily="34" charset="-122"/>
            </a:endParaRPr>
          </a:p>
          <a:p>
            <a:pPr>
              <a:lnSpc>
                <a:spcPct val="15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业务功能必须根据功能分解步骤分解到最小业务单元。</a:t>
            </a:r>
            <a:endParaRPr lang="en-US" altLang="zh-CN" sz="1600" dirty="0" smtClean="0">
              <a:latin typeface="微软雅黑" pitchFamily="34" charset="-122"/>
              <a:ea typeface="微软雅黑" pitchFamily="34" charset="-122"/>
            </a:endParaRPr>
          </a:p>
        </p:txBody>
      </p:sp>
      <p:sp>
        <p:nvSpPr>
          <p:cNvPr id="12" name="矩形 11"/>
          <p:cNvSpPr/>
          <p:nvPr/>
        </p:nvSpPr>
        <p:spPr>
          <a:xfrm>
            <a:off x="855808" y="2484970"/>
            <a:ext cx="4160071" cy="4078039"/>
          </a:xfrm>
          <a:prstGeom prst="rect">
            <a:avLst/>
          </a:prstGeom>
          <a:ln>
            <a:solidFill>
              <a:schemeClr val="tx1"/>
            </a:solidFill>
            <a:prstDash val="dash"/>
          </a:ln>
        </p:spPr>
        <p:txBody>
          <a:bodyPr wrap="square">
            <a:spAutoFit/>
          </a:bodyPr>
          <a:lstStyle/>
          <a:p>
            <a:pPr>
              <a:lnSpc>
                <a:spcPct val="150000"/>
              </a:lnSpc>
              <a:spcBef>
                <a:spcPts val="600"/>
              </a:spcBef>
              <a:spcAft>
                <a:spcPts val="600"/>
              </a:spcAft>
            </a:pPr>
            <a:r>
              <a:rPr lang="zh-CN" altLang="en-US" b="1" dirty="0" smtClean="0">
                <a:solidFill>
                  <a:srgbClr val="0070C0"/>
                </a:solidFill>
                <a:latin typeface="微软雅黑" pitchFamily="34" charset="-122"/>
                <a:ea typeface="微软雅黑" pitchFamily="34" charset="-122"/>
              </a:rPr>
              <a:t>服务复用原则：</a:t>
            </a:r>
            <a:endParaRPr lang="en-US" altLang="zh-CN" b="1" dirty="0" smtClean="0">
              <a:solidFill>
                <a:srgbClr val="0070C0"/>
              </a:solidFill>
              <a:latin typeface="微软雅黑" pitchFamily="34" charset="-122"/>
              <a:ea typeface="微软雅黑" pitchFamily="34" charset="-122"/>
            </a:endParaRPr>
          </a:p>
          <a:p>
            <a:pPr>
              <a:lnSpc>
                <a:spcPct val="15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当候选服务与已发布服务的功能边界相同或相似时，优先复用已发布服务。</a:t>
            </a:r>
            <a:endParaRPr lang="en-US" altLang="zh-CN" sz="1600" dirty="0" smtClean="0">
              <a:latin typeface="微软雅黑" pitchFamily="34" charset="-122"/>
              <a:ea typeface="微软雅黑" pitchFamily="34" charset="-122"/>
            </a:endParaRPr>
          </a:p>
          <a:p>
            <a:pPr>
              <a:lnSpc>
                <a:spcPct val="15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服务复用前需要进行详细评估，复用前提是不对已有调用方产生大的影响。</a:t>
            </a:r>
            <a:endParaRPr lang="en-US" altLang="zh-CN" sz="1600" dirty="0" smtClean="0">
              <a:latin typeface="微软雅黑" pitchFamily="34" charset="-122"/>
              <a:ea typeface="微软雅黑" pitchFamily="34" charset="-122"/>
            </a:endParaRPr>
          </a:p>
          <a:p>
            <a:pPr marL="182563" indent="-182563">
              <a:lnSpc>
                <a:spcPct val="15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对于增加少量字段能满足业务需求的服务，通过修改原服务接口实现，不发布新服务。</a:t>
            </a:r>
            <a:endParaRPr lang="en-US" altLang="zh-CN" sz="1600" dirty="0" smtClean="0">
              <a:latin typeface="微软雅黑" pitchFamily="34" charset="-122"/>
              <a:ea typeface="微软雅黑" pitchFamily="34" charset="-122"/>
            </a:endParaRPr>
          </a:p>
          <a:p>
            <a:pPr>
              <a:lnSpc>
                <a:spcPct val="15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复用的方式包括直接调用或通过服务组合实现。</a:t>
            </a:r>
            <a:endParaRPr lang="en-US" altLang="zh-CN" sz="1600" dirty="0" smtClean="0">
              <a:latin typeface="微软雅黑" pitchFamily="34" charset="-122"/>
              <a:ea typeface="微软雅黑" pitchFamily="34" charset="-122"/>
            </a:endParaRPr>
          </a:p>
        </p:txBody>
      </p:sp>
      <p:sp>
        <p:nvSpPr>
          <p:cNvPr id="13" name="矩形 12"/>
          <p:cNvSpPr/>
          <p:nvPr/>
        </p:nvSpPr>
        <p:spPr>
          <a:xfrm>
            <a:off x="5663952" y="1082250"/>
            <a:ext cx="5688632" cy="2785378"/>
          </a:xfrm>
          <a:prstGeom prst="rect">
            <a:avLst/>
          </a:prstGeom>
          <a:ln>
            <a:solidFill>
              <a:schemeClr val="tx1"/>
            </a:solidFill>
            <a:prstDash val="dash"/>
          </a:ln>
        </p:spPr>
        <p:txBody>
          <a:bodyPr wrap="square">
            <a:spAutoFit/>
          </a:bodyPr>
          <a:lstStyle/>
          <a:p>
            <a:pPr>
              <a:lnSpc>
                <a:spcPct val="150000"/>
              </a:lnSpc>
              <a:spcBef>
                <a:spcPts val="600"/>
              </a:spcBef>
              <a:spcAft>
                <a:spcPts val="600"/>
              </a:spcAft>
            </a:pPr>
            <a:r>
              <a:rPr lang="zh-CN" altLang="en-US" b="1" dirty="0" smtClean="0">
                <a:solidFill>
                  <a:srgbClr val="0070C0"/>
                </a:solidFill>
                <a:latin typeface="微软雅黑" pitchFamily="34" charset="-122"/>
                <a:ea typeface="微软雅黑" pitchFamily="34" charset="-122"/>
              </a:rPr>
              <a:t>服务组合原则</a:t>
            </a:r>
            <a:endParaRPr lang="en-US" altLang="zh-CN" b="1" dirty="0" smtClean="0">
              <a:solidFill>
                <a:srgbClr val="0070C0"/>
              </a:solidFill>
              <a:latin typeface="微软雅黑" pitchFamily="34" charset="-122"/>
              <a:ea typeface="微软雅黑" pitchFamily="34" charset="-122"/>
            </a:endParaRPr>
          </a:p>
          <a:p>
            <a:pPr marL="179388" indent="-179388">
              <a:lnSpc>
                <a:spcPct val="20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当服务功能由一个以上的服务提供方实现时，可采用服务组合实现，组合服务提供方本地不存在业务处理逻辑。</a:t>
            </a:r>
            <a:endParaRPr lang="en-US" altLang="zh-CN" sz="1600" dirty="0" smtClean="0">
              <a:latin typeface="微软雅黑" pitchFamily="34" charset="-122"/>
              <a:ea typeface="微软雅黑" pitchFamily="34" charset="-122"/>
            </a:endParaRPr>
          </a:p>
          <a:p>
            <a:pPr marL="179388" indent="-179388">
              <a:lnSpc>
                <a:spcPct val="200000"/>
              </a:lnSpc>
              <a:spcBef>
                <a:spcPts val="600"/>
              </a:spcBef>
              <a:spcAft>
                <a:spcPts val="600"/>
              </a:spcAft>
              <a:buFont typeface="Wingdings" pitchFamily="2" charset="2"/>
              <a:buChar char="Ø"/>
            </a:pPr>
            <a:r>
              <a:rPr lang="zh-CN" altLang="en-US" sz="1600" dirty="0" smtClean="0">
                <a:latin typeface="微软雅黑" pitchFamily="34" charset="-122"/>
                <a:ea typeface="微软雅黑" pitchFamily="34" charset="-122"/>
              </a:rPr>
              <a:t>在同一个服务提供方内部，如果已经存在多个服务，需结合实际情况，可以采用粗颗粒服务实施，也可以采用组合服务。</a:t>
            </a:r>
            <a:endParaRPr lang="en-US" altLang="zh-CN" sz="1600" dirty="0" smtClean="0">
              <a:latin typeface="微软雅黑" pitchFamily="34" charset="-122"/>
              <a:ea typeface="微软雅黑" pitchFamily="34" charset="-122"/>
            </a:endParaRPr>
          </a:p>
        </p:txBody>
      </p:sp>
      <p:sp>
        <p:nvSpPr>
          <p:cNvPr id="14" name="矩形 13"/>
          <p:cNvSpPr/>
          <p:nvPr/>
        </p:nvSpPr>
        <p:spPr>
          <a:xfrm>
            <a:off x="5663952" y="3867628"/>
            <a:ext cx="5688632" cy="1492716"/>
          </a:xfrm>
          <a:prstGeom prst="rect">
            <a:avLst/>
          </a:prstGeom>
          <a:ln>
            <a:solidFill>
              <a:schemeClr val="tx1"/>
            </a:solidFill>
            <a:prstDash val="dash"/>
          </a:ln>
        </p:spPr>
        <p:txBody>
          <a:bodyPr wrap="square">
            <a:spAutoFit/>
          </a:bodyPr>
          <a:lstStyle/>
          <a:p>
            <a:pPr marL="0" lvl="1">
              <a:lnSpc>
                <a:spcPct val="150000"/>
              </a:lnSpc>
            </a:pPr>
            <a:r>
              <a:rPr lang="zh-CN" altLang="en-US" b="1" dirty="0" smtClean="0">
                <a:solidFill>
                  <a:srgbClr val="0070C0"/>
                </a:solidFill>
                <a:latin typeface="微软雅黑" pitchFamily="34" charset="-122"/>
                <a:ea typeface="微软雅黑" pitchFamily="34" charset="-122"/>
              </a:rPr>
              <a:t>存量系统服务化改造原则</a:t>
            </a:r>
          </a:p>
          <a:p>
            <a:pPr marL="0" lvl="1" indent="457200" algn="just">
              <a:lnSpc>
                <a:spcPct val="200000"/>
              </a:lnSpc>
            </a:pPr>
            <a:r>
              <a:rPr lang="zh-CN" altLang="en-US" sz="1600" dirty="0" smtClean="0">
                <a:latin typeface="微软雅黑" pitchFamily="34" charset="-122"/>
                <a:ea typeface="微软雅黑" pitchFamily="34" charset="-122"/>
              </a:rPr>
              <a:t>在存量系统的服务化改造过渡期内，如果原有服务设计不合理（如粒度过粗或过细），原则上需要进行服务化改造。</a:t>
            </a:r>
            <a:endParaRPr lang="en-US" altLang="zh-CN" sz="1600" dirty="0" smtClean="0">
              <a:latin typeface="微软雅黑" pitchFamily="34" charset="-122"/>
              <a:ea typeface="微软雅黑" pitchFamily="34" charset="-122"/>
            </a:endParaRPr>
          </a:p>
        </p:txBody>
      </p:sp>
    </p:spTree>
    <p:extLst>
      <p:ext uri="{BB962C8B-B14F-4D97-AF65-F5344CB8AC3E}">
        <p14:creationId xmlns:p14="http://schemas.microsoft.com/office/powerpoint/2010/main" val="20148729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7" name="标题 4"/>
          <p:cNvSpPr txBox="1">
            <a:spLocks/>
          </p:cNvSpPr>
          <p:nvPr/>
        </p:nvSpPr>
        <p:spPr>
          <a:xfrm>
            <a:off x="2095472" y="936104"/>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业务需求</a:t>
            </a:r>
            <a:endParaRPr lang="zh-CN" altLang="en-US" sz="2400" dirty="0">
              <a:solidFill>
                <a:srgbClr val="00246C"/>
              </a:solidFill>
              <a:latin typeface="微软雅黑" pitchFamily="34" charset="-122"/>
              <a:ea typeface="微软雅黑" pitchFamily="34" charset="-122"/>
              <a:cs typeface="+mj-cs"/>
            </a:endParaRPr>
          </a:p>
        </p:txBody>
      </p:sp>
      <p:sp>
        <p:nvSpPr>
          <p:cNvPr id="8" name="矩形 7"/>
          <p:cNvSpPr/>
          <p:nvPr/>
        </p:nvSpPr>
        <p:spPr>
          <a:xfrm>
            <a:off x="2265708" y="1548002"/>
            <a:ext cx="7286676" cy="1061829"/>
          </a:xfrm>
          <a:prstGeom prst="rect">
            <a:avLst/>
          </a:prstGeom>
          <a:ln>
            <a:solidFill>
              <a:schemeClr val="tx1"/>
            </a:solidFill>
            <a:prstDash val="dash"/>
          </a:ln>
        </p:spPr>
        <p:txBody>
          <a:bodyPr wrap="square">
            <a:spAutoFit/>
          </a:bodyPr>
          <a:lstStyle/>
          <a:p>
            <a:pPr marL="0" lvl="1" indent="432000">
              <a:lnSpc>
                <a:spcPct val="150000"/>
              </a:lnSpc>
            </a:pPr>
            <a:r>
              <a:rPr lang="zh-CN" altLang="en-US" sz="1400" dirty="0" smtClean="0">
                <a:latin typeface="微软雅黑" pitchFamily="34" charset="-122"/>
                <a:ea typeface="微软雅黑" pitchFamily="34" charset="-122"/>
              </a:rPr>
              <a:t>该功能需支持经销、代销实物贵金属的现货销售。实物贵金属现货出售分为：对公和对私的现货购买。付款方式对私有现金、借记卡和活期一本通三种模式，对公为支票凭证转账。产品价格会根据客户交易的数量及客户类型等信息进行打折优惠活动。</a:t>
            </a:r>
            <a:endParaRPr lang="en-US" altLang="zh-CN" sz="1400" dirty="0" smtClean="0">
              <a:solidFill>
                <a:srgbClr val="FF0000"/>
              </a:solidFill>
              <a:latin typeface="微软雅黑" pitchFamily="34" charset="-122"/>
              <a:ea typeface="微软雅黑" pitchFamily="34" charset="-122"/>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43408" y="2708920"/>
            <a:ext cx="7308976" cy="3743440"/>
          </a:xfrm>
          <a:prstGeom prst="rect">
            <a:avLst/>
          </a:prstGeom>
        </p:spPr>
      </p:pic>
      <p:sp>
        <p:nvSpPr>
          <p:cNvPr id="10" name="TextBox 8"/>
          <p:cNvSpPr txBox="1"/>
          <p:nvPr/>
        </p:nvSpPr>
        <p:spPr>
          <a:xfrm rot="20826188">
            <a:off x="5401643" y="4755476"/>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0080337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4" name="矩形 3"/>
          <p:cNvSpPr/>
          <p:nvPr/>
        </p:nvSpPr>
        <p:spPr>
          <a:xfrm>
            <a:off x="2270268" y="1556794"/>
            <a:ext cx="7858180" cy="307777"/>
          </a:xfrm>
          <a:prstGeom prst="rect">
            <a:avLst/>
          </a:prstGeom>
        </p:spPr>
        <p:txBody>
          <a:bodyPr wrap="square">
            <a:spAutoFit/>
          </a:bodyPr>
          <a:lstStyle/>
          <a:p>
            <a:pPr indent="360000"/>
            <a:r>
              <a:rPr lang="zh-CN" altLang="en-US" sz="1400" dirty="0" smtClean="0">
                <a:latin typeface="微软雅黑" pitchFamily="34" charset="-122"/>
                <a:ea typeface="微软雅黑" pitchFamily="34" charset="-122"/>
              </a:rPr>
              <a:t>根据</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需求规格说明书</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，进行业务功能分解，获得</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业务功能分解表</a:t>
            </a:r>
            <a:r>
              <a:rPr lang="en-US" altLang="zh-CN" sz="1400" dirty="0" smtClean="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p:txBody>
      </p:sp>
      <p:sp>
        <p:nvSpPr>
          <p:cNvPr id="5" name="标题 4"/>
          <p:cNvSpPr txBox="1">
            <a:spLocks/>
          </p:cNvSpPr>
          <p:nvPr/>
        </p:nvSpPr>
        <p:spPr>
          <a:xfrm>
            <a:off x="2457222" y="936104"/>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功能分解</a:t>
            </a:r>
            <a:endParaRPr lang="zh-CN" altLang="en-US" sz="2400" dirty="0">
              <a:solidFill>
                <a:srgbClr val="00246C"/>
              </a:solidFill>
              <a:latin typeface="微软雅黑" pitchFamily="34" charset="-122"/>
              <a:ea typeface="微软雅黑" pitchFamily="34" charset="-122"/>
              <a:cs typeface="+mj-cs"/>
            </a:endParaRPr>
          </a:p>
        </p:txBody>
      </p:sp>
      <p:graphicFrame>
        <p:nvGraphicFramePr>
          <p:cNvPr id="6" name="表格 5"/>
          <p:cNvGraphicFramePr>
            <a:graphicFrameLocks noGrp="1"/>
          </p:cNvGraphicFramePr>
          <p:nvPr>
            <p:extLst>
              <p:ext uri="{D42A27DB-BD31-4B8C-83A1-F6EECF244321}">
                <p14:modId xmlns:p14="http://schemas.microsoft.com/office/powerpoint/2010/main" val="2482926821"/>
              </p:ext>
            </p:extLst>
          </p:nvPr>
        </p:nvGraphicFramePr>
        <p:xfrm>
          <a:off x="2745254" y="1988840"/>
          <a:ext cx="4112436" cy="3847935"/>
        </p:xfrm>
        <a:graphic>
          <a:graphicData uri="http://schemas.openxmlformats.org/drawingml/2006/table">
            <a:tbl>
              <a:tblPr/>
              <a:tblGrid>
                <a:gridCol w="525146"/>
                <a:gridCol w="785818"/>
                <a:gridCol w="785818"/>
                <a:gridCol w="2015654"/>
              </a:tblGrid>
              <a:tr h="25652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序号</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二级序号</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三级序号</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业务功能</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r>
              <a:tr h="25652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smtClean="0">
                          <a:solidFill>
                            <a:srgbClr val="000000"/>
                          </a:solidFill>
                          <a:latin typeface="微软雅黑" pitchFamily="34" charset="-122"/>
                          <a:ea typeface="微软雅黑" pitchFamily="34" charset="-122"/>
                        </a:rPr>
                        <a:t>1</a:t>
                      </a: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实物贵金属现货交易</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客户现货购买申请</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现金客户信息录入</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销售产品清单查询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产品详细信息查询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1.3.3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产品优惠信息查询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实物贵金属现货购买</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库存校验</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客户账户信息查询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chemeClr val="tx1"/>
                          </a:solidFill>
                          <a:latin typeface="微软雅黑" pitchFamily="34" charset="-122"/>
                          <a:ea typeface="微软雅黑" pitchFamily="34" charset="-122"/>
                        </a:rPr>
                        <a:t>1.4.3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smtClean="0">
                          <a:solidFill>
                            <a:srgbClr val="000000"/>
                          </a:solidFill>
                          <a:latin typeface="微软雅黑" pitchFamily="34" charset="-122"/>
                          <a:ea typeface="微软雅黑" pitchFamily="34" charset="-122"/>
                        </a:rPr>
                        <a:t>代客代理实时记账处理</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6529">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smtClean="0">
                          <a:solidFill>
                            <a:schemeClr val="tx1"/>
                          </a:solidFill>
                          <a:latin typeface="微软雅黑" pitchFamily="34" charset="-122"/>
                          <a:ea typeface="微软雅黑" pitchFamily="34" charset="-122"/>
                        </a:rPr>
                        <a:t>1.4.4</a:t>
                      </a:r>
                      <a:endParaRPr lang="en-US" altLang="zh-CN" sz="1200" b="0" i="0" u="none" strike="noStrike" dirty="0">
                        <a:solidFill>
                          <a:schemeClr val="tx1"/>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代客代理平台登记</a:t>
                      </a:r>
                      <a:endParaRPr lang="zh-CN" altLang="en-US" sz="1200" b="0" i="0" u="none" strike="noStrike" dirty="0">
                        <a:solidFill>
                          <a:schemeClr val="tx1"/>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线形标注 2 6"/>
          <p:cNvSpPr/>
          <p:nvPr/>
        </p:nvSpPr>
        <p:spPr bwMode="auto">
          <a:xfrm>
            <a:off x="8145854" y="2564904"/>
            <a:ext cx="1656184" cy="936104"/>
          </a:xfrm>
          <a:prstGeom prst="borderCallout2">
            <a:avLst>
              <a:gd name="adj1" fmla="val 18750"/>
              <a:gd name="adj2" fmla="val -8333"/>
              <a:gd name="adj3" fmla="val 18750"/>
              <a:gd name="adj4" fmla="val -16667"/>
              <a:gd name="adj5" fmla="val 176201"/>
              <a:gd name="adj6" fmla="val -143511"/>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50000"/>
              </a:spcBef>
              <a:spcAft>
                <a:spcPct val="0"/>
              </a:spcAft>
              <a:buClr>
                <a:schemeClr val="tx1"/>
              </a:buClr>
            </a:pPr>
            <a:r>
              <a:rPr lang="zh-CN" altLang="en-US" sz="1400" dirty="0" smtClean="0">
                <a:latin typeface="微软雅黑" pitchFamily="34" charset="-122"/>
                <a:ea typeface="微软雅黑" pitchFamily="34" charset="-122"/>
              </a:rPr>
              <a:t>根据业务功能分解原则，将业务功能分解到最小业务单元</a:t>
            </a:r>
            <a:endParaRPr kumimoji="0" lang="zh-CN" altLang="en-US" sz="1400" i="0" u="none" strike="noStrike" cap="none" normalizeH="0" baseline="0" dirty="0" smtClean="0">
              <a:ln>
                <a:noFill/>
              </a:ln>
              <a:effectLst/>
              <a:latin typeface="宋体" pitchFamily="2" charset="-122"/>
              <a:ea typeface="宋体" pitchFamily="2" charset="-122"/>
            </a:endParaRPr>
          </a:p>
        </p:txBody>
      </p:sp>
      <p:sp>
        <p:nvSpPr>
          <p:cNvPr id="8" name="TextBox 9"/>
          <p:cNvSpPr txBox="1"/>
          <p:nvPr/>
        </p:nvSpPr>
        <p:spPr>
          <a:xfrm rot="20826188">
            <a:off x="7799627" y="1892611"/>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6144332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4" name="矩形 3"/>
          <p:cNvSpPr/>
          <p:nvPr/>
        </p:nvSpPr>
        <p:spPr>
          <a:xfrm>
            <a:off x="1698796" y="1556794"/>
            <a:ext cx="7858180" cy="307777"/>
          </a:xfrm>
          <a:prstGeom prst="rect">
            <a:avLst/>
          </a:prstGeom>
        </p:spPr>
        <p:txBody>
          <a:bodyPr wrap="square">
            <a:spAutoFit/>
          </a:bodyPr>
          <a:lstStyle/>
          <a:p>
            <a:pPr indent="360000"/>
            <a:r>
              <a:rPr lang="zh-CN" altLang="en-US" sz="1400" dirty="0" smtClean="0">
                <a:latin typeface="微软雅黑" pitchFamily="34" charset="-122"/>
                <a:ea typeface="微软雅黑" pitchFamily="34" charset="-122"/>
              </a:rPr>
              <a:t>根据候选服务筛选方法，筛选候选服务</a:t>
            </a:r>
            <a:endParaRPr lang="zh-CN" altLang="en-US" sz="1400" dirty="0">
              <a:latin typeface="微软雅黑" pitchFamily="34" charset="-122"/>
              <a:ea typeface="微软雅黑" pitchFamily="34" charset="-122"/>
            </a:endParaRPr>
          </a:p>
        </p:txBody>
      </p:sp>
      <p:sp>
        <p:nvSpPr>
          <p:cNvPr id="5" name="标题 4"/>
          <p:cNvSpPr txBox="1">
            <a:spLocks/>
          </p:cNvSpPr>
          <p:nvPr/>
        </p:nvSpPr>
        <p:spPr>
          <a:xfrm>
            <a:off x="1885750" y="936104"/>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服务识别（</a:t>
            </a:r>
            <a:r>
              <a:rPr lang="en-US" altLang="zh-CN" sz="2400" dirty="0" smtClean="0">
                <a:solidFill>
                  <a:srgbClr val="00246C"/>
                </a:solidFill>
                <a:latin typeface="微软雅黑" pitchFamily="34" charset="-122"/>
                <a:ea typeface="微软雅黑" pitchFamily="34" charset="-122"/>
              </a:rPr>
              <a:t>1</a:t>
            </a:r>
            <a:r>
              <a:rPr lang="zh-CN" altLang="en-US" sz="2400" dirty="0" smtClean="0">
                <a:solidFill>
                  <a:srgbClr val="00246C"/>
                </a:solidFill>
                <a:latin typeface="微软雅黑" pitchFamily="34" charset="-122"/>
                <a:ea typeface="微软雅黑" pitchFamily="34" charset="-122"/>
              </a:rPr>
              <a:t>）</a:t>
            </a:r>
            <a:endParaRPr lang="zh-CN" altLang="en-US" sz="2400" dirty="0">
              <a:solidFill>
                <a:srgbClr val="00246C"/>
              </a:solidFill>
              <a:latin typeface="微软雅黑" pitchFamily="34" charset="-122"/>
              <a:ea typeface="微软雅黑" pitchFamily="34" charset="-122"/>
              <a:cs typeface="+mj-cs"/>
            </a:endParaRPr>
          </a:p>
        </p:txBody>
      </p:sp>
      <p:graphicFrame>
        <p:nvGraphicFramePr>
          <p:cNvPr id="6" name="表格 5"/>
          <p:cNvGraphicFramePr>
            <a:graphicFrameLocks noGrp="1"/>
          </p:cNvGraphicFramePr>
          <p:nvPr>
            <p:extLst>
              <p:ext uri="{D42A27DB-BD31-4B8C-83A1-F6EECF244321}">
                <p14:modId xmlns:p14="http://schemas.microsoft.com/office/powerpoint/2010/main" val="811306534"/>
              </p:ext>
            </p:extLst>
          </p:nvPr>
        </p:nvGraphicFramePr>
        <p:xfrm>
          <a:off x="2269808" y="1928802"/>
          <a:ext cx="2643698" cy="4369491"/>
        </p:xfrm>
        <a:graphic>
          <a:graphicData uri="http://schemas.openxmlformats.org/drawingml/2006/table">
            <a:tbl>
              <a:tblPr/>
              <a:tblGrid>
                <a:gridCol w="272009"/>
                <a:gridCol w="425116"/>
                <a:gridCol w="446159"/>
                <a:gridCol w="1500414"/>
              </a:tblGrid>
              <a:tr h="27843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序号</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二级序号</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三级序号</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1" i="0" u="none" strike="noStrike" dirty="0">
                          <a:solidFill>
                            <a:srgbClr val="000000"/>
                          </a:solidFill>
                          <a:latin typeface="微软雅黑" pitchFamily="34" charset="-122"/>
                          <a:ea typeface="微软雅黑" pitchFamily="34" charset="-122"/>
                        </a:rPr>
                        <a:t>业务功能</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r>
              <a:tr h="27843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smtClean="0">
                          <a:solidFill>
                            <a:srgbClr val="000000"/>
                          </a:solidFill>
                          <a:latin typeface="微软雅黑" pitchFamily="34" charset="-122"/>
                          <a:ea typeface="微软雅黑" pitchFamily="34" charset="-122"/>
                        </a:rPr>
                        <a:t>1</a:t>
                      </a: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实物贵金属现货交易</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客户现货购买申请</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客户信息查询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客户信息查询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现金客户信息录入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en-US" altLang="zh-CN"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销售产品清单查询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产品详细信息查询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1.3.3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产品优惠信息查询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en-US" altLang="zh-CN"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1.4</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实物贵金属现货购买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库存校验</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客户账户信息查询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chemeClr val="tx1"/>
                          </a:solidFill>
                          <a:latin typeface="微软雅黑" pitchFamily="34" charset="-122"/>
                          <a:ea typeface="微软雅黑" pitchFamily="34" charset="-122"/>
                        </a:rPr>
                        <a:t>1.4.3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代客代理实时记账处理</a:t>
                      </a:r>
                      <a:endParaRPr lang="zh-CN" altLang="en-US" sz="1200" b="0" i="0" u="none" strike="noStrike" dirty="0">
                        <a:solidFill>
                          <a:srgbClr val="000000"/>
                        </a:solidFill>
                        <a:latin typeface="微软雅黑" pitchFamily="34" charset="-122"/>
                        <a:ea typeface="微软雅黑"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431">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smtClean="0">
                          <a:solidFill>
                            <a:schemeClr val="tx1"/>
                          </a:solidFill>
                          <a:latin typeface="微软雅黑" pitchFamily="34" charset="-122"/>
                          <a:ea typeface="微软雅黑" pitchFamily="34" charset="-122"/>
                        </a:rPr>
                        <a:t>1.4.4</a:t>
                      </a:r>
                      <a:endParaRPr lang="en-US" altLang="zh-CN" sz="1200" b="0" i="0" u="none" strike="noStrike" dirty="0">
                        <a:solidFill>
                          <a:schemeClr val="tx1"/>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代客代理平台登记</a:t>
                      </a:r>
                      <a:endParaRPr lang="zh-CN" altLang="en-US" sz="1200" b="0" i="0" u="none" strike="noStrike" dirty="0">
                        <a:solidFill>
                          <a:schemeClr val="tx1"/>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左箭头 6"/>
          <p:cNvSpPr/>
          <p:nvPr/>
        </p:nvSpPr>
        <p:spPr bwMode="auto">
          <a:xfrm>
            <a:off x="5198118" y="2586102"/>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8" name="TextBox 9"/>
          <p:cNvSpPr txBox="1"/>
          <p:nvPr/>
        </p:nvSpPr>
        <p:spPr>
          <a:xfrm>
            <a:off x="5751190" y="2549719"/>
            <a:ext cx="3240360" cy="307777"/>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人工流程，不作为候选服务</a:t>
            </a:r>
          </a:p>
        </p:txBody>
      </p:sp>
      <p:sp>
        <p:nvSpPr>
          <p:cNvPr id="9" name="左箭头 8"/>
          <p:cNvSpPr/>
          <p:nvPr/>
        </p:nvSpPr>
        <p:spPr bwMode="auto">
          <a:xfrm>
            <a:off x="5198118" y="3140968"/>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10" name="TextBox 13"/>
          <p:cNvSpPr txBox="1"/>
          <p:nvPr/>
        </p:nvSpPr>
        <p:spPr>
          <a:xfrm>
            <a:off x="5774940" y="3080835"/>
            <a:ext cx="4067944" cy="307777"/>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有复用价值，作为候选服务</a:t>
            </a:r>
          </a:p>
        </p:txBody>
      </p:sp>
      <p:sp>
        <p:nvSpPr>
          <p:cNvPr id="11" name="左箭头 10"/>
          <p:cNvSpPr/>
          <p:nvPr/>
        </p:nvSpPr>
        <p:spPr bwMode="auto">
          <a:xfrm>
            <a:off x="5210246" y="3697287"/>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12" name="TextBox 16"/>
          <p:cNvSpPr txBox="1"/>
          <p:nvPr/>
        </p:nvSpPr>
        <p:spPr>
          <a:xfrm>
            <a:off x="5775827" y="3625279"/>
            <a:ext cx="4031432" cy="523220"/>
          </a:xfrm>
          <a:prstGeom prst="rect">
            <a:avLst/>
          </a:prstGeom>
          <a:noFill/>
        </p:spPr>
        <p:txBody>
          <a:bodyPr wrap="square" rtlCol="0">
            <a:spAutoFit/>
          </a:bodyPr>
          <a:lstStyle/>
          <a:p>
            <a:r>
              <a:rPr lang="zh-CN" altLang="zh-CN" sz="1400" b="1" dirty="0" smtClean="0">
                <a:latin typeface="微软雅黑" pitchFamily="34" charset="-122"/>
                <a:ea typeface="微软雅黑" pitchFamily="34" charset="-122"/>
              </a:rPr>
              <a:t>子节点全部与用户交互，父节点一次交互</a:t>
            </a:r>
            <a:r>
              <a:rPr lang="zh-CN" altLang="en-US" sz="1400" b="1" dirty="0" smtClean="0">
                <a:latin typeface="微软雅黑" pitchFamily="34" charset="-122"/>
                <a:ea typeface="微软雅黑" pitchFamily="34" charset="-122"/>
              </a:rPr>
              <a:t>不能</a:t>
            </a:r>
            <a:r>
              <a:rPr lang="zh-CN" altLang="zh-CN" sz="1400" b="1" dirty="0" smtClean="0">
                <a:latin typeface="微软雅黑" pitchFamily="34" charset="-122"/>
                <a:ea typeface="微软雅黑" pitchFamily="34" charset="-122"/>
              </a:rPr>
              <a:t>实现子节点的所有功能</a:t>
            </a:r>
            <a:r>
              <a:rPr lang="zh-CN" altLang="en-US" sz="1400" b="1" dirty="0" smtClean="0">
                <a:latin typeface="微软雅黑" pitchFamily="34" charset="-122"/>
                <a:ea typeface="微软雅黑" pitchFamily="34" charset="-122"/>
              </a:rPr>
              <a:t>，不作候选服务</a:t>
            </a:r>
          </a:p>
        </p:txBody>
      </p:sp>
      <p:sp>
        <p:nvSpPr>
          <p:cNvPr id="13" name="左箭头 12"/>
          <p:cNvSpPr/>
          <p:nvPr/>
        </p:nvSpPr>
        <p:spPr bwMode="auto">
          <a:xfrm>
            <a:off x="5234630" y="4777407"/>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14" name="TextBox 18"/>
          <p:cNvSpPr txBox="1"/>
          <p:nvPr/>
        </p:nvSpPr>
        <p:spPr>
          <a:xfrm>
            <a:off x="5775827" y="4741024"/>
            <a:ext cx="4211960" cy="307777"/>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与子节点非同源，并与用户有交互，作为候选服务</a:t>
            </a:r>
          </a:p>
        </p:txBody>
      </p:sp>
      <p:sp>
        <p:nvSpPr>
          <p:cNvPr id="15" name="左箭头 14"/>
          <p:cNvSpPr/>
          <p:nvPr/>
        </p:nvSpPr>
        <p:spPr bwMode="auto">
          <a:xfrm>
            <a:off x="5234630" y="5085184"/>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16" name="TextBox 20"/>
          <p:cNvSpPr txBox="1"/>
          <p:nvPr/>
        </p:nvSpPr>
        <p:spPr>
          <a:xfrm>
            <a:off x="5786944" y="5065439"/>
            <a:ext cx="4067944" cy="307777"/>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与父节点同源，无可复用性，不作为候选服务</a:t>
            </a:r>
          </a:p>
        </p:txBody>
      </p:sp>
      <p:sp>
        <p:nvSpPr>
          <p:cNvPr id="17" name="左箭头 16"/>
          <p:cNvSpPr/>
          <p:nvPr/>
        </p:nvSpPr>
        <p:spPr bwMode="auto">
          <a:xfrm>
            <a:off x="5221358" y="5373216"/>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18" name="TextBox 22"/>
          <p:cNvSpPr txBox="1"/>
          <p:nvPr/>
        </p:nvSpPr>
        <p:spPr>
          <a:xfrm>
            <a:off x="5787573" y="5353471"/>
            <a:ext cx="4067944" cy="307777"/>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与</a:t>
            </a:r>
            <a:r>
              <a:rPr lang="zh-CN" altLang="zh-CN" sz="1400" b="1" dirty="0" smtClean="0">
                <a:latin typeface="微软雅黑" pitchFamily="34" charset="-122"/>
                <a:ea typeface="微软雅黑" pitchFamily="34" charset="-122"/>
              </a:rPr>
              <a:t>父节点非同源</a:t>
            </a:r>
            <a:r>
              <a:rPr lang="zh-CN" altLang="en-US" sz="1400" b="1" dirty="0" smtClean="0">
                <a:latin typeface="微软雅黑" pitchFamily="34" charset="-122"/>
                <a:ea typeface="微软雅黑" pitchFamily="34" charset="-122"/>
              </a:rPr>
              <a:t>，作为候选服务</a:t>
            </a:r>
          </a:p>
        </p:txBody>
      </p:sp>
      <p:sp>
        <p:nvSpPr>
          <p:cNvPr id="19" name="左箭头 18"/>
          <p:cNvSpPr/>
          <p:nvPr/>
        </p:nvSpPr>
        <p:spPr bwMode="auto">
          <a:xfrm>
            <a:off x="5221868" y="5644610"/>
            <a:ext cx="432048" cy="216024"/>
          </a:xfrm>
          <a:prstGeom prst="leftArrow">
            <a:avLst/>
          </a:prstGeom>
          <a:solidFill>
            <a:srgbClr val="C00000"/>
          </a:solidFill>
          <a:ln w="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sp>
        <p:nvSpPr>
          <p:cNvPr id="20" name="TextBox 26"/>
          <p:cNvSpPr txBox="1"/>
          <p:nvPr/>
        </p:nvSpPr>
        <p:spPr>
          <a:xfrm>
            <a:off x="5770762" y="5643578"/>
            <a:ext cx="4357686" cy="307777"/>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与</a:t>
            </a:r>
            <a:r>
              <a:rPr lang="zh-CN" altLang="zh-CN" sz="1400" b="1" dirty="0" smtClean="0">
                <a:latin typeface="微软雅黑" pitchFamily="34" charset="-122"/>
                <a:ea typeface="微软雅黑" pitchFamily="34" charset="-122"/>
              </a:rPr>
              <a:t>父节点非同源</a:t>
            </a:r>
            <a:r>
              <a:rPr lang="zh-CN" altLang="en-US" sz="1400" b="1" dirty="0" smtClean="0">
                <a:latin typeface="微软雅黑" pitchFamily="34" charset="-122"/>
                <a:ea typeface="微软雅黑" pitchFamily="34" charset="-122"/>
              </a:rPr>
              <a:t>，作为候选服务</a:t>
            </a:r>
          </a:p>
        </p:txBody>
      </p:sp>
      <p:sp>
        <p:nvSpPr>
          <p:cNvPr id="21" name="左箭头 20"/>
          <p:cNvSpPr/>
          <p:nvPr/>
        </p:nvSpPr>
        <p:spPr bwMode="auto">
          <a:xfrm rot="10800000">
            <a:off x="5518520" y="3645020"/>
            <a:ext cx="432048" cy="612032"/>
          </a:xfrm>
          <a:prstGeom prst="leftArrow">
            <a:avLst/>
          </a:prstGeom>
          <a:solidFill>
            <a:schemeClr val="bg1"/>
          </a:solidFill>
          <a:ln w="0" cap="flat" cmpd="sng" algn="ctr">
            <a:solidFill>
              <a:schemeClr val="accent6">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smtClean="0">
              <a:ln>
                <a:noFill/>
              </a:ln>
              <a:solidFill>
                <a:schemeClr val="tx1"/>
              </a:solidFill>
              <a:effectLst/>
              <a:latin typeface="宋体" pitchFamily="2" charset="-122"/>
              <a:ea typeface="宋体" pitchFamily="2" charset="-122"/>
            </a:endParaRPr>
          </a:p>
        </p:txBody>
      </p:sp>
      <p:graphicFrame>
        <p:nvGraphicFramePr>
          <p:cNvPr id="22" name="表格 21"/>
          <p:cNvGraphicFramePr>
            <a:graphicFrameLocks noGrp="1"/>
          </p:cNvGraphicFramePr>
          <p:nvPr>
            <p:extLst>
              <p:ext uri="{D42A27DB-BD31-4B8C-83A1-F6EECF244321}">
                <p14:modId xmlns:p14="http://schemas.microsoft.com/office/powerpoint/2010/main" val="2353691806"/>
              </p:ext>
            </p:extLst>
          </p:nvPr>
        </p:nvGraphicFramePr>
        <p:xfrm>
          <a:off x="6127949" y="1928802"/>
          <a:ext cx="3018481" cy="4429154"/>
        </p:xfrm>
        <a:graphic>
          <a:graphicData uri="http://schemas.openxmlformats.org/drawingml/2006/table">
            <a:tbl>
              <a:tblPr/>
              <a:tblGrid>
                <a:gridCol w="366893"/>
                <a:gridCol w="426865"/>
                <a:gridCol w="504916"/>
                <a:gridCol w="1719807"/>
              </a:tblGrid>
              <a:tr h="41835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序号</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二级序号</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smtClean="0">
                          <a:solidFill>
                            <a:srgbClr val="000000"/>
                          </a:solidFill>
                          <a:latin typeface="微软雅黑" pitchFamily="34" charset="-122"/>
                          <a:ea typeface="微软雅黑" pitchFamily="34" charset="-122"/>
                        </a:rPr>
                        <a:t>三级序号</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业务功能</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38ED5"/>
                    </a:solidFill>
                  </a:tcPr>
                </a:tc>
              </a:tr>
              <a:tr h="28648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smtClean="0">
                          <a:solidFill>
                            <a:srgbClr val="000000"/>
                          </a:solidFill>
                          <a:latin typeface="微软雅黑" pitchFamily="34" charset="-122"/>
                          <a:ea typeface="微软雅黑" pitchFamily="34" charset="-122"/>
                        </a:rPr>
                        <a:t>1</a:t>
                      </a: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实物贵金属现货交易</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6486">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客户现货购买申请</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6486">
                <a:tc>
                  <a:txBody>
                    <a:bodyPr/>
                    <a:lstStyle/>
                    <a:p>
                      <a:pPr algn="ctr" fontAlgn="ctr"/>
                      <a:endParaRPr lang="en-US" altLang="zh-CN"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1.2.2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现金客户信息录入</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en-US" altLang="zh-CN"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产品查询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销售产品清单查询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1.3.2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产品详细信息查询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1.3.3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产品优惠信息查询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en-US" altLang="zh-CN"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latin typeface="微软雅黑" pitchFamily="34" charset="-122"/>
                          <a:ea typeface="微软雅黑" pitchFamily="34" charset="-122"/>
                        </a:rPr>
                        <a:t>1.4</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实物贵金属现货购买</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1.4.1</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库存校验</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6486">
                <a:tc>
                  <a:txBody>
                    <a:bodyPr/>
                    <a:lstStyle/>
                    <a:p>
                      <a:pPr algn="ctr" fontAlgn="ctr"/>
                      <a:endParaRPr lang="zh-CN" altLang="en-US" sz="1200" b="0" i="0" u="none" strike="noStrike">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1.4.2</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客户账户信息查询</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chemeClr val="tx1"/>
                          </a:solidFill>
                          <a:latin typeface="微软雅黑" pitchFamily="34" charset="-122"/>
                          <a:ea typeface="微软雅黑" pitchFamily="34" charset="-122"/>
                        </a:rPr>
                        <a:t>1.4.3</a:t>
                      </a: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smtClean="0">
                          <a:solidFill>
                            <a:srgbClr val="000000"/>
                          </a:solidFill>
                          <a:latin typeface="微软雅黑" pitchFamily="34" charset="-122"/>
                          <a:ea typeface="微软雅黑" pitchFamily="34" charset="-122"/>
                        </a:rPr>
                        <a:t>代客代理实时记账处理</a:t>
                      </a: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7673"/>
                    </a:solidFill>
                  </a:tcPr>
                </a:tc>
              </a:tr>
              <a:tr h="286486">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smtClean="0">
                          <a:solidFill>
                            <a:schemeClr val="tx1"/>
                          </a:solidFill>
                          <a:latin typeface="微软雅黑" pitchFamily="34" charset="-122"/>
                          <a:ea typeface="微软雅黑" pitchFamily="34" charset="-122"/>
                        </a:rPr>
                        <a:t>1.4.4</a:t>
                      </a:r>
                      <a:endParaRPr lang="en-US" altLang="zh-CN" sz="1200" b="0" i="0" u="none" strike="noStrike" dirty="0">
                        <a:solidFill>
                          <a:schemeClr val="tx1"/>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rgbClr val="000000"/>
                          </a:solidFill>
                          <a:latin typeface="微软雅黑" pitchFamily="34" charset="-122"/>
                          <a:ea typeface="微软雅黑" pitchFamily="34" charset="-122"/>
                        </a:rPr>
                        <a:t>代客代理平台登记</a:t>
                      </a:r>
                      <a:endParaRPr lang="zh-CN" altLang="en-US" sz="1200" b="0" i="0" u="none" strike="noStrike" dirty="0">
                        <a:solidFill>
                          <a:schemeClr val="tx1"/>
                        </a:solidFill>
                        <a:latin typeface="微软雅黑" pitchFamily="34" charset="-122"/>
                        <a:ea typeface="微软雅黑" pitchFamily="34" charset="-122"/>
                      </a:endParaRPr>
                    </a:p>
                  </a:txBody>
                  <a:tcPr marL="8843" marR="8843" marT="88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
        <p:nvSpPr>
          <p:cNvPr id="23" name="TextBox 24"/>
          <p:cNvSpPr txBox="1"/>
          <p:nvPr/>
        </p:nvSpPr>
        <p:spPr>
          <a:xfrm rot="20826188">
            <a:off x="8085411" y="1463983"/>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06961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childTnLst>
                          </p:cTn>
                        </p:par>
                        <p:par>
                          <p:cTn id="17" fill="hold">
                            <p:stCondLst>
                              <p:cond delay="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1"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9"/>
                                        </p:tgtEl>
                                        <p:attrNameLst>
                                          <p:attrName>style.visibility</p:attrName>
                                        </p:attrNameLst>
                                      </p:cBhvr>
                                      <p:to>
                                        <p:strVal val="hidden"/>
                                      </p:to>
                                    </p:set>
                                  </p:childTnLst>
                                </p:cTn>
                              </p:par>
                            </p:childTnLst>
                          </p:cTn>
                        </p:par>
                        <p:par>
                          <p:cTn id="30" fill="hold">
                            <p:stCondLst>
                              <p:cond delay="0"/>
                            </p:stCondLst>
                            <p:childTnLst>
                              <p:par>
                                <p:cTn id="31" presetID="3" presetClass="entr" presetSubtype="1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horizontal)">
                                      <p:cBhvr>
                                        <p:cTn id="33" dur="500"/>
                                        <p:tgtEl>
                                          <p:spTgt spid="12"/>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linds(horizontal)">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2"/>
                                        </p:tgtEl>
                                        <p:attrNameLst>
                                          <p:attrName>style.visibility</p:attrName>
                                        </p:attrNameLst>
                                      </p:cBhvr>
                                      <p:to>
                                        <p:strVal val="hidden"/>
                                      </p:to>
                                    </p:set>
                                  </p:childTnLst>
                                </p:cTn>
                              </p:par>
                            </p:childTnLst>
                          </p:cTn>
                        </p:par>
                        <p:par>
                          <p:cTn id="43" fill="hold">
                            <p:stCondLst>
                              <p:cond delay="0"/>
                            </p:stCondLst>
                            <p:childTnLst>
                              <p:par>
                                <p:cTn id="44" presetID="3" presetClass="entr" presetSubtype="1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linds(horizontal)">
                                      <p:cBhvr>
                                        <p:cTn id="46" dur="500"/>
                                        <p:tgtEl>
                                          <p:spTgt spid="1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linds(horizontal)">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14"/>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13"/>
                                        </p:tgtEl>
                                        <p:attrNameLst>
                                          <p:attrName>style.visibility</p:attrName>
                                        </p:attrNameLst>
                                      </p:cBhvr>
                                      <p:to>
                                        <p:strVal val="hidden"/>
                                      </p:to>
                                    </p:set>
                                  </p:childTnLst>
                                </p:cTn>
                              </p:par>
                            </p:childTnLst>
                          </p:cTn>
                        </p:par>
                        <p:par>
                          <p:cTn id="56" fill="hold">
                            <p:stCondLst>
                              <p:cond delay="0"/>
                            </p:stCondLst>
                            <p:childTnLst>
                              <p:par>
                                <p:cTn id="57" presetID="3" presetClass="entr" presetSubtype="1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blinds(horizontal)">
                                      <p:cBhvr>
                                        <p:cTn id="59" dur="500"/>
                                        <p:tgtEl>
                                          <p:spTgt spid="15"/>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blinds(horizontal)">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15"/>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childTnLst>
                          </p:cTn>
                        </p:par>
                        <p:par>
                          <p:cTn id="69" fill="hold">
                            <p:stCondLst>
                              <p:cond delay="0"/>
                            </p:stCondLst>
                            <p:childTnLst>
                              <p:par>
                                <p:cTn id="70" presetID="3" presetClass="entr" presetSubtype="10"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blinds(horizontal)">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grpId="1" nodeType="clickEffect">
                                  <p:stCondLst>
                                    <p:cond delay="0"/>
                                  </p:stCondLst>
                                  <p:childTnLst>
                                    <p:set>
                                      <p:cBhvr>
                                        <p:cTn id="79" dur="1" fill="hold">
                                          <p:stCondLst>
                                            <p:cond delay="0"/>
                                          </p:stCondLst>
                                        </p:cTn>
                                        <p:tgtEl>
                                          <p:spTgt spid="17"/>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18"/>
                                        </p:tgtEl>
                                        <p:attrNameLst>
                                          <p:attrName>style.visibility</p:attrName>
                                        </p:attrNameLst>
                                      </p:cBhvr>
                                      <p:to>
                                        <p:strVal val="hidden"/>
                                      </p:to>
                                    </p:set>
                                  </p:childTnLst>
                                </p:cTn>
                              </p:par>
                            </p:childTnLst>
                          </p:cTn>
                        </p:par>
                        <p:par>
                          <p:cTn id="82" fill="hold">
                            <p:stCondLst>
                              <p:cond delay="0"/>
                            </p:stCondLst>
                            <p:childTnLst>
                              <p:par>
                                <p:cTn id="83" presetID="3" presetClass="entr" presetSubtype="10"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blinds(horizontal)">
                                      <p:cBhvr>
                                        <p:cTn id="85" dur="500"/>
                                        <p:tgtEl>
                                          <p:spTgt spid="19"/>
                                        </p:tgtEl>
                                      </p:cBhvr>
                                    </p:animEffect>
                                  </p:childTnLst>
                                </p:cTn>
                              </p:par>
                              <p:par>
                                <p:cTn id="86" presetID="3" presetClass="entr" presetSubtype="10" fill="hold"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blinds(horizontal)">
                                      <p:cBhvr>
                                        <p:cTn id="88" dur="500"/>
                                        <p:tgtEl>
                                          <p:spTgt spid="20"/>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19"/>
                                        </p:tgtEl>
                                        <p:attrNameLst>
                                          <p:attrName>style.visibility</p:attrName>
                                        </p:attrNameLst>
                                      </p:cBhvr>
                                      <p:to>
                                        <p:strVal val="hidden"/>
                                      </p:to>
                                    </p:set>
                                  </p:childTnLst>
                                </p:cTn>
                              </p:par>
                              <p:par>
                                <p:cTn id="93" presetID="1" presetClass="exit" presetSubtype="0" fill="hold" grpId="0" nodeType="withEffect">
                                  <p:stCondLst>
                                    <p:cond delay="0"/>
                                  </p:stCondLst>
                                  <p:childTnLst>
                                    <p:set>
                                      <p:cBhvr>
                                        <p:cTn id="94" dur="1" fill="hold">
                                          <p:stCondLst>
                                            <p:cond delay="0"/>
                                          </p:stCondLst>
                                        </p:cTn>
                                        <p:tgtEl>
                                          <p:spTgt spid="20"/>
                                        </p:tgtEl>
                                        <p:attrNameLst>
                                          <p:attrName>style.visibility</p:attrName>
                                        </p:attrNameLst>
                                      </p:cBhvr>
                                      <p:to>
                                        <p:strVal val="hidden"/>
                                      </p:to>
                                    </p:set>
                                  </p:childTnLst>
                                </p:cTn>
                              </p:par>
                            </p:childTnLst>
                          </p:cTn>
                        </p:par>
                        <p:par>
                          <p:cTn id="95" fill="hold">
                            <p:stCondLst>
                              <p:cond delay="0"/>
                            </p:stCondLst>
                            <p:childTnLst>
                              <p:par>
                                <p:cTn id="96" presetID="3" presetClass="entr" presetSubtype="10" fill="hold" grpId="0" nodeType="after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blinds(horizontal)">
                                      <p:cBhvr>
                                        <p:cTn id="98" dur="500"/>
                                        <p:tgtEl>
                                          <p:spTgt spid="21"/>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p:bldP spid="8" grpId="1"/>
      <p:bldP spid="9" grpId="0" animBg="1"/>
      <p:bldP spid="9" grpId="1" animBg="1"/>
      <p:bldP spid="10" grpId="0"/>
      <p:bldP spid="10" grpId="1"/>
      <p:bldP spid="11" grpId="0" animBg="1"/>
      <p:bldP spid="11" grpId="1" animBg="1"/>
      <p:bldP spid="12" grpId="0"/>
      <p:bldP spid="12" grpId="1"/>
      <p:bldP spid="13" grpId="0" animBg="1"/>
      <p:bldP spid="13" grpId="1" animBg="1"/>
      <p:bldP spid="14" grpId="0"/>
      <p:bldP spid="14" grpId="1"/>
      <p:bldP spid="15" grpId="0" animBg="1"/>
      <p:bldP spid="15" grpId="1" animBg="1"/>
      <p:bldP spid="16" grpId="0"/>
      <p:bldP spid="16" grpId="1"/>
      <p:bldP spid="17" grpId="0" animBg="1"/>
      <p:bldP spid="17" grpId="1" animBg="1"/>
      <p:bldP spid="18" grpId="0"/>
      <p:bldP spid="18" grpId="1"/>
      <p:bldP spid="19" grpId="0" animBg="1"/>
      <p:bldP spid="19" grpId="1" animBg="1"/>
      <p:bldP spid="20" grpId="0"/>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graphicFrame>
        <p:nvGraphicFramePr>
          <p:cNvPr id="4" name="表格 3"/>
          <p:cNvGraphicFramePr>
            <a:graphicFrameLocks noGrp="1"/>
          </p:cNvGraphicFramePr>
          <p:nvPr>
            <p:extLst>
              <p:ext uri="{D42A27DB-BD31-4B8C-83A1-F6EECF244321}">
                <p14:modId xmlns:p14="http://schemas.microsoft.com/office/powerpoint/2010/main" val="4119208488"/>
              </p:ext>
            </p:extLst>
          </p:nvPr>
        </p:nvGraphicFramePr>
        <p:xfrm>
          <a:off x="2250504" y="2060848"/>
          <a:ext cx="7560841" cy="3101218"/>
        </p:xfrm>
        <a:graphic>
          <a:graphicData uri="http://schemas.openxmlformats.org/drawingml/2006/table">
            <a:tbl>
              <a:tblPr/>
              <a:tblGrid>
                <a:gridCol w="1556644"/>
                <a:gridCol w="963636"/>
                <a:gridCol w="1853147"/>
                <a:gridCol w="3187414"/>
              </a:tblGrid>
              <a:tr h="316117">
                <a:tc rowSpan="2">
                  <a:txBody>
                    <a:bodyPr/>
                    <a:lstStyle/>
                    <a:p>
                      <a:pPr algn="ctr" fontAlgn="ctr"/>
                      <a:r>
                        <a:rPr lang="zh-CN" altLang="en-US" sz="1200" b="1" i="0" u="none" strike="noStrike" dirty="0">
                          <a:solidFill>
                            <a:srgbClr val="000000"/>
                          </a:solidFill>
                          <a:latin typeface="微软雅黑" pitchFamily="34" charset="-122"/>
                          <a:ea typeface="微软雅黑" pitchFamily="34" charset="-122"/>
                        </a:rPr>
                        <a:t>候选服务</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c gridSpan="2">
                  <a:txBody>
                    <a:bodyPr/>
                    <a:lstStyle/>
                    <a:p>
                      <a:pPr algn="ctr" fontAlgn="ctr"/>
                      <a:r>
                        <a:rPr lang="zh-CN" altLang="en-US" sz="1200" b="1" i="0" u="none" strike="noStrike">
                          <a:solidFill>
                            <a:srgbClr val="000000"/>
                          </a:solidFill>
                          <a:latin typeface="微软雅黑" pitchFamily="34" charset="-122"/>
                          <a:ea typeface="微软雅黑" pitchFamily="34" charset="-122"/>
                        </a:rPr>
                        <a:t>接口</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c hMerge="1">
                  <a:txBody>
                    <a:bodyPr/>
                    <a:lstStyle/>
                    <a:p>
                      <a:endParaRPr lang="zh-CN" altLang="en-US"/>
                    </a:p>
                  </a:txBody>
                  <a:tcPr/>
                </a:tc>
                <a:tc rowSpan="2">
                  <a:txBody>
                    <a:bodyPr/>
                    <a:lstStyle/>
                    <a:p>
                      <a:pPr algn="ctr" fontAlgn="ctr"/>
                      <a:r>
                        <a:rPr lang="zh-CN" altLang="en-US" sz="1200" b="1" i="0" u="none" strike="noStrike">
                          <a:solidFill>
                            <a:srgbClr val="000000"/>
                          </a:solidFill>
                          <a:latin typeface="微软雅黑" pitchFamily="34" charset="-122"/>
                          <a:ea typeface="微软雅黑" pitchFamily="34" charset="-122"/>
                        </a:rPr>
                        <a:t>差异描述</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r>
              <a:tr h="316117">
                <a:tc vMerge="1">
                  <a:txBody>
                    <a:bodyPr/>
                    <a:lstStyle/>
                    <a:p>
                      <a:endParaRPr lang="zh-CN" altLang="en-US"/>
                    </a:p>
                  </a:txBody>
                  <a:tcPr/>
                </a:tc>
                <a:tc>
                  <a:txBody>
                    <a:bodyPr/>
                    <a:lstStyle/>
                    <a:p>
                      <a:pPr algn="ctr" fontAlgn="ctr"/>
                      <a:r>
                        <a:rPr lang="zh-CN" altLang="en-US" sz="1200" b="1" i="0" u="none" strike="noStrike" dirty="0">
                          <a:solidFill>
                            <a:srgbClr val="000000"/>
                          </a:solidFill>
                          <a:latin typeface="微软雅黑" pitchFamily="34" charset="-122"/>
                          <a:ea typeface="微软雅黑" pitchFamily="34" charset="-122"/>
                        </a:rPr>
                        <a:t>交易码</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c>
                  <a:txBody>
                    <a:bodyPr/>
                    <a:lstStyle/>
                    <a:p>
                      <a:pPr algn="ctr" fontAlgn="ctr"/>
                      <a:r>
                        <a:rPr lang="zh-CN" altLang="en-US" sz="1200" b="1" i="0" u="none" strike="noStrike" dirty="0" smtClean="0">
                          <a:solidFill>
                            <a:srgbClr val="000000"/>
                          </a:solidFill>
                          <a:latin typeface="微软雅黑" pitchFamily="34" charset="-122"/>
                          <a:ea typeface="微软雅黑" pitchFamily="34" charset="-122"/>
                        </a:rPr>
                        <a:t>接口名称</a:t>
                      </a:r>
                      <a:endParaRPr lang="zh-CN" altLang="en-US" sz="1200" b="1" i="0" u="none" strike="noStrike" dirty="0">
                        <a:solidFill>
                          <a:srgbClr val="000000"/>
                        </a:solidFill>
                        <a:latin typeface="微软雅黑" pitchFamily="34" charset="-122"/>
                        <a:ea typeface="微软雅黑" pitchFamily="34" charset="-122"/>
                      </a:endParaRP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c vMerge="1">
                  <a:txBody>
                    <a:bodyPr/>
                    <a:lstStyle/>
                    <a:p>
                      <a:endParaRPr lang="zh-CN" altLang="en-US"/>
                    </a:p>
                  </a:txBody>
                  <a:tcPr/>
                </a:tc>
              </a:tr>
              <a:tr h="276843">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latin typeface="微软雅黑" pitchFamily="34" charset="-122"/>
                          <a:ea typeface="微软雅黑" pitchFamily="34" charset="-122"/>
                        </a:rPr>
                        <a:t>FE04</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客户信息查询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1083">
                <a:tc>
                  <a:txBody>
                    <a:bodyPr/>
                    <a:lstStyle/>
                    <a:p>
                      <a:pPr algn="l" fontAlgn="ctr"/>
                      <a:r>
                        <a:rPr lang="zh-CN" altLang="en-US" sz="1200" b="0" i="0" u="none" strike="noStrike" dirty="0">
                          <a:solidFill>
                            <a:srgbClr val="000000"/>
                          </a:solidFill>
                          <a:latin typeface="微软雅黑" pitchFamily="34" charset="-122"/>
                          <a:ea typeface="微软雅黑" pitchFamily="34" charset="-122"/>
                        </a:rPr>
                        <a:t>现金客户信息录入</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CN" altLang="en-US" sz="1200" b="0" i="0" u="none" strike="noStrike" dirty="0">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无此</a:t>
                      </a:r>
                      <a:r>
                        <a:rPr lang="zh-CN" altLang="en-US" sz="1200" b="0" i="0" u="none" strike="noStrike" dirty="0" smtClean="0">
                          <a:solidFill>
                            <a:srgbClr val="000000"/>
                          </a:solidFill>
                          <a:latin typeface="微软雅黑" pitchFamily="34" charset="-122"/>
                          <a:ea typeface="微软雅黑" pitchFamily="34" charset="-122"/>
                        </a:rPr>
                        <a:t>接口，需要</a:t>
                      </a:r>
                      <a:r>
                        <a:rPr lang="zh-CN" altLang="en-US" sz="1200" b="0" i="0" u="none" strike="noStrike" dirty="0">
                          <a:solidFill>
                            <a:srgbClr val="000000"/>
                          </a:solidFill>
                          <a:latin typeface="微软雅黑" pitchFamily="34" charset="-122"/>
                          <a:ea typeface="微软雅黑" pitchFamily="34" charset="-122"/>
                        </a:rPr>
                        <a:t>确认无客户信息时，是否允许购买，并将客户信息补录到系统中</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76843">
                <a:tc>
                  <a:txBody>
                    <a:bodyPr/>
                    <a:lstStyle/>
                    <a:p>
                      <a:pPr algn="l" fontAlgn="ctr"/>
                      <a:r>
                        <a:rPr lang="zh-CN" altLang="en-US" sz="1200" b="0" i="0" u="none" strike="noStrike" dirty="0">
                          <a:solidFill>
                            <a:srgbClr val="000000"/>
                          </a:solidFill>
                          <a:latin typeface="微软雅黑" pitchFamily="34" charset="-122"/>
                          <a:ea typeface="微软雅黑" pitchFamily="34" charset="-122"/>
                        </a:rPr>
                        <a:t>销售产品清单查询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latin typeface="微软雅黑" pitchFamily="34" charset="-122"/>
                          <a:ea typeface="微软雅黑" pitchFamily="34" charset="-122"/>
                        </a:rPr>
                        <a:t>EW47</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销售产品信息查询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6843">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产品详细信息查询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latin typeface="微软雅黑" pitchFamily="34" charset="-122"/>
                          <a:ea typeface="微软雅黑" pitchFamily="34" charset="-122"/>
                        </a:rPr>
                        <a:t>EW11</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产品详细信息查询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6843">
                <a:tc>
                  <a:txBody>
                    <a:bodyPr/>
                    <a:lstStyle/>
                    <a:p>
                      <a:pPr algn="l" fontAlgn="ctr"/>
                      <a:r>
                        <a:rPr lang="zh-CN" altLang="en-US" sz="1200" b="0" i="0" u="none" strike="noStrike" dirty="0">
                          <a:solidFill>
                            <a:srgbClr val="000000"/>
                          </a:solidFill>
                          <a:latin typeface="微软雅黑" pitchFamily="34" charset="-122"/>
                          <a:ea typeface="微软雅黑" pitchFamily="34" charset="-122"/>
                        </a:rPr>
                        <a:t>产品优惠信息查询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latin typeface="微软雅黑" pitchFamily="34" charset="-122"/>
                          <a:ea typeface="微软雅黑" pitchFamily="34" charset="-122"/>
                        </a:rPr>
                        <a:t>EW42</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获取销售产品优惠比例</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6843">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实物贵金属现货购买</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i="0" u="none" strike="noStrike" dirty="0">
                          <a:solidFill>
                            <a:srgbClr val="000000"/>
                          </a:solidFill>
                          <a:latin typeface="微软雅黑" pitchFamily="34" charset="-122"/>
                          <a:ea typeface="微软雅黑" pitchFamily="34" charset="-122"/>
                        </a:rPr>
                        <a:t>EW23</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实物贵金属现货交易</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6843">
                <a:tc>
                  <a:txBody>
                    <a:bodyPr/>
                    <a:lstStyle/>
                    <a:p>
                      <a:pPr algn="l" fontAlgn="ctr"/>
                      <a:r>
                        <a:rPr lang="zh-CN" altLang="en-US" sz="1200" b="0" i="0" u="none" strike="noStrike" dirty="0">
                          <a:solidFill>
                            <a:srgbClr val="000000"/>
                          </a:solidFill>
                          <a:latin typeface="微软雅黑" pitchFamily="34" charset="-122"/>
                          <a:ea typeface="微软雅黑" pitchFamily="34" charset="-122"/>
                        </a:rPr>
                        <a:t>客户账户信息查询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200" b="0" i="0" u="none" strike="noStrike" dirty="0">
                          <a:solidFill>
                            <a:srgbClr val="000000"/>
                          </a:solidFill>
                          <a:latin typeface="微软雅黑" pitchFamily="34" charset="-122"/>
                          <a:ea typeface="微软雅黑" pitchFamily="34" charset="-122"/>
                        </a:rPr>
                        <a:t>3691</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a:solidFill>
                            <a:srgbClr val="000000"/>
                          </a:solidFill>
                          <a:latin typeface="微软雅黑" pitchFamily="34" charset="-122"/>
                          <a:ea typeface="微软雅黑" pitchFamily="34" charset="-122"/>
                        </a:rPr>
                        <a:t>账号信息查询</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latin typeface="微软雅黑" pitchFamily="34" charset="-122"/>
                          <a:ea typeface="微软雅黑" pitchFamily="34" charset="-122"/>
                        </a:rPr>
                        <a:t>　</a:t>
                      </a: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6843">
                <a:tc>
                  <a:txBody>
                    <a:bodyPr/>
                    <a:lstStyle/>
                    <a:p>
                      <a:pPr algn="l" fontAlgn="ctr"/>
                      <a:r>
                        <a:rPr lang="zh-CN" altLang="en-US" sz="1200" b="0" i="0" u="none" strike="noStrike" dirty="0" smtClean="0">
                          <a:solidFill>
                            <a:srgbClr val="000000"/>
                          </a:solidFill>
                          <a:latin typeface="微软雅黑" pitchFamily="34" charset="-122"/>
                          <a:ea typeface="微软雅黑" pitchFamily="34" charset="-122"/>
                        </a:rPr>
                        <a:t>核心记账服务</a:t>
                      </a:r>
                      <a:endParaRPr lang="zh-CN" altLang="en-US" sz="1200" b="0" i="0" u="none" strike="noStrike" dirty="0">
                        <a:solidFill>
                          <a:srgbClr val="000000"/>
                        </a:solidFill>
                        <a:latin typeface="微软雅黑" pitchFamily="34" charset="-122"/>
                        <a:ea typeface="微软雅黑" pitchFamily="34" charset="-122"/>
                      </a:endParaRP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altLang="zh-CN" sz="1200" b="0" i="0" u="none" strike="noStrike" dirty="0" smtClean="0">
                          <a:solidFill>
                            <a:srgbClr val="000000"/>
                          </a:solidFill>
                          <a:latin typeface="微软雅黑" pitchFamily="34" charset="-122"/>
                          <a:ea typeface="微软雅黑" pitchFamily="34" charset="-122"/>
                        </a:rPr>
                        <a:t>EW01</a:t>
                      </a:r>
                      <a:endParaRPr lang="en-US" altLang="zh-CN" sz="1200" b="0" i="0" u="none" strike="noStrike" dirty="0">
                        <a:solidFill>
                          <a:srgbClr val="000000"/>
                        </a:solidFill>
                        <a:latin typeface="微软雅黑" pitchFamily="34" charset="-122"/>
                        <a:ea typeface="微软雅黑" pitchFamily="34" charset="-122"/>
                      </a:endParaRP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200" b="0" i="0" u="none" strike="noStrike" dirty="0" smtClean="0">
                          <a:solidFill>
                            <a:srgbClr val="000000"/>
                          </a:solidFill>
                          <a:latin typeface="微软雅黑" pitchFamily="34" charset="-122"/>
                          <a:ea typeface="微软雅黑" pitchFamily="34" charset="-122"/>
                        </a:rPr>
                        <a:t>代客代理实时记账处理</a:t>
                      </a:r>
                      <a:endParaRPr lang="zh-CN" altLang="en-US" sz="1200" b="0" i="0" u="none" strike="noStrike" dirty="0">
                        <a:solidFill>
                          <a:srgbClr val="000000"/>
                        </a:solidFill>
                        <a:latin typeface="微软雅黑" pitchFamily="34" charset="-122"/>
                        <a:ea typeface="微软雅黑" pitchFamily="34" charset="-122"/>
                      </a:endParaRP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latin typeface="微软雅黑" pitchFamily="34" charset="-122"/>
                        <a:ea typeface="微软雅黑" pitchFamily="34" charset="-122"/>
                      </a:endParaRPr>
                    </a:p>
                  </a:txBody>
                  <a:tcPr marL="8343" marR="8343" marT="83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标题 4"/>
          <p:cNvSpPr txBox="1">
            <a:spLocks/>
          </p:cNvSpPr>
          <p:nvPr/>
        </p:nvSpPr>
        <p:spPr>
          <a:xfrm>
            <a:off x="2034482" y="936104"/>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服务识别（</a:t>
            </a:r>
            <a:r>
              <a:rPr lang="en-US" altLang="zh-CN" sz="2400" dirty="0" smtClean="0">
                <a:solidFill>
                  <a:srgbClr val="00246C"/>
                </a:solidFill>
                <a:latin typeface="微软雅黑" pitchFamily="34" charset="-122"/>
                <a:ea typeface="微软雅黑" pitchFamily="34" charset="-122"/>
              </a:rPr>
              <a:t>2</a:t>
            </a:r>
            <a:r>
              <a:rPr lang="zh-CN" altLang="en-US" sz="2400" dirty="0" smtClean="0">
                <a:solidFill>
                  <a:srgbClr val="00246C"/>
                </a:solidFill>
                <a:latin typeface="微软雅黑" pitchFamily="34" charset="-122"/>
                <a:ea typeface="微软雅黑" pitchFamily="34" charset="-122"/>
              </a:rPr>
              <a:t>）</a:t>
            </a:r>
            <a:endParaRPr lang="zh-CN" altLang="en-US" sz="2400" dirty="0">
              <a:solidFill>
                <a:srgbClr val="00246C"/>
              </a:solidFill>
              <a:latin typeface="微软雅黑" pitchFamily="34" charset="-122"/>
              <a:ea typeface="微软雅黑" pitchFamily="34" charset="-122"/>
              <a:cs typeface="+mj-cs"/>
            </a:endParaRPr>
          </a:p>
        </p:txBody>
      </p:sp>
      <p:sp>
        <p:nvSpPr>
          <p:cNvPr id="6" name="矩形 5"/>
          <p:cNvSpPr/>
          <p:nvPr/>
        </p:nvSpPr>
        <p:spPr>
          <a:xfrm>
            <a:off x="1847528" y="1412776"/>
            <a:ext cx="7429552" cy="415498"/>
          </a:xfrm>
          <a:prstGeom prst="rect">
            <a:avLst/>
          </a:prstGeom>
        </p:spPr>
        <p:txBody>
          <a:bodyPr wrap="square">
            <a:spAutoFit/>
          </a:bodyPr>
          <a:lstStyle/>
          <a:p>
            <a:pPr marL="0" lvl="1" indent="360000">
              <a:lnSpc>
                <a:spcPct val="150000"/>
              </a:lnSpc>
            </a:pPr>
            <a:r>
              <a:rPr lang="zh-CN" altLang="en-US" sz="1400" dirty="0" smtClean="0">
                <a:latin typeface="微软雅黑" pitchFamily="34" charset="-122"/>
                <a:ea typeface="微软雅黑" pitchFamily="34" charset="-122"/>
              </a:rPr>
              <a:t>根据</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接口文档</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和</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业务功能分解表</a:t>
            </a:r>
            <a:r>
              <a:rPr lang="en-US"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进行业务完备性检查，确定最终候选服务。</a:t>
            </a:r>
            <a:endParaRPr lang="en-US" altLang="zh-CN" sz="1400" dirty="0" smtClean="0">
              <a:latin typeface="微软雅黑" pitchFamily="34" charset="-122"/>
              <a:ea typeface="微软雅黑" pitchFamily="34" charset="-122"/>
            </a:endParaRPr>
          </a:p>
        </p:txBody>
      </p:sp>
      <p:sp>
        <p:nvSpPr>
          <p:cNvPr id="7" name="云形标注 6"/>
          <p:cNvSpPr/>
          <p:nvPr/>
        </p:nvSpPr>
        <p:spPr bwMode="auto">
          <a:xfrm>
            <a:off x="6931026" y="3717032"/>
            <a:ext cx="1872208" cy="576064"/>
          </a:xfrm>
          <a:prstGeom prst="cloudCallout">
            <a:avLst>
              <a:gd name="adj1" fmla="val -126761"/>
              <a:gd name="adj2" fmla="val -137462"/>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b="1" i="0" u="none" strike="noStrike" cap="none" normalizeH="0" baseline="0" dirty="0" smtClean="0">
                <a:ln>
                  <a:noFill/>
                </a:ln>
                <a:effectLst/>
                <a:latin typeface="宋体" pitchFamily="2" charset="-122"/>
                <a:ea typeface="宋体" pitchFamily="2" charset="-122"/>
              </a:rPr>
              <a:t>接口遗漏？</a:t>
            </a:r>
          </a:p>
        </p:txBody>
      </p:sp>
      <p:sp>
        <p:nvSpPr>
          <p:cNvPr id="8" name="TextBox 8"/>
          <p:cNvSpPr txBox="1"/>
          <p:nvPr/>
        </p:nvSpPr>
        <p:spPr>
          <a:xfrm rot="20826188">
            <a:off x="8091267" y="4107189"/>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434870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5" name="标题 4"/>
          <p:cNvSpPr txBox="1">
            <a:spLocks/>
          </p:cNvSpPr>
          <p:nvPr/>
        </p:nvSpPr>
        <p:spPr>
          <a:xfrm>
            <a:off x="2351584" y="936104"/>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服务识别（</a:t>
            </a:r>
            <a:r>
              <a:rPr lang="en-US" altLang="zh-CN" sz="2400" dirty="0" smtClean="0">
                <a:solidFill>
                  <a:srgbClr val="00246C"/>
                </a:solidFill>
                <a:latin typeface="微软雅黑" pitchFamily="34" charset="-122"/>
                <a:ea typeface="微软雅黑" pitchFamily="34" charset="-122"/>
              </a:rPr>
              <a:t>3</a:t>
            </a:r>
            <a:r>
              <a:rPr lang="zh-CN" altLang="en-US" sz="2400" dirty="0" smtClean="0">
                <a:solidFill>
                  <a:srgbClr val="00246C"/>
                </a:solidFill>
                <a:latin typeface="微软雅黑" pitchFamily="34" charset="-122"/>
                <a:ea typeface="微软雅黑" pitchFamily="34" charset="-122"/>
              </a:rPr>
              <a:t>）</a:t>
            </a:r>
            <a:endParaRPr lang="zh-CN" altLang="en-US" sz="2400" dirty="0">
              <a:solidFill>
                <a:srgbClr val="00246C"/>
              </a:solidFill>
              <a:latin typeface="微软雅黑" pitchFamily="34" charset="-122"/>
              <a:ea typeface="微软雅黑" pitchFamily="34" charset="-122"/>
              <a:cs typeface="+mj-cs"/>
            </a:endParaRPr>
          </a:p>
        </p:txBody>
      </p:sp>
      <p:graphicFrame>
        <p:nvGraphicFramePr>
          <p:cNvPr id="6" name="表格 5"/>
          <p:cNvGraphicFramePr>
            <a:graphicFrameLocks noGrp="1"/>
          </p:cNvGraphicFramePr>
          <p:nvPr>
            <p:extLst>
              <p:ext uri="{D42A27DB-BD31-4B8C-83A1-F6EECF244321}">
                <p14:modId xmlns:p14="http://schemas.microsoft.com/office/powerpoint/2010/main" val="483742271"/>
              </p:ext>
            </p:extLst>
          </p:nvPr>
        </p:nvGraphicFramePr>
        <p:xfrm>
          <a:off x="1883022" y="1844824"/>
          <a:ext cx="8245426" cy="4311852"/>
        </p:xfrm>
        <a:graphic>
          <a:graphicData uri="http://schemas.openxmlformats.org/drawingml/2006/table">
            <a:tbl>
              <a:tblPr/>
              <a:tblGrid>
                <a:gridCol w="730777"/>
                <a:gridCol w="1471296"/>
                <a:gridCol w="1606635"/>
                <a:gridCol w="1221501"/>
                <a:gridCol w="1576009"/>
                <a:gridCol w="1639208"/>
              </a:tblGrid>
              <a:tr h="412669">
                <a:tc>
                  <a:txBody>
                    <a:bodyPr/>
                    <a:lstStyle/>
                    <a:p>
                      <a:pPr algn="ctr" fontAlgn="ctr"/>
                      <a:r>
                        <a:rPr lang="zh-CN" altLang="en-US" sz="1100" b="1" i="0" u="none" strike="noStrike" dirty="0">
                          <a:solidFill>
                            <a:srgbClr val="000000"/>
                          </a:solidFill>
                          <a:latin typeface="微软雅黑" pitchFamily="34" charset="-122"/>
                          <a:ea typeface="微软雅黑" pitchFamily="34" charset="-122"/>
                        </a:rPr>
                        <a:t>交易码</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1100" b="1" i="0" u="none" strike="noStrike">
                          <a:solidFill>
                            <a:srgbClr val="000000"/>
                          </a:solidFill>
                          <a:latin typeface="微软雅黑" pitchFamily="34" charset="-122"/>
                          <a:ea typeface="微软雅黑" pitchFamily="34" charset="-122"/>
                        </a:rPr>
                        <a:t>接口名称</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1100" b="1" i="0" u="none" strike="noStrike" dirty="0" smtClean="0">
                          <a:solidFill>
                            <a:srgbClr val="000000"/>
                          </a:solidFill>
                          <a:latin typeface="微软雅黑" pitchFamily="34" charset="-122"/>
                          <a:ea typeface="微软雅黑" pitchFamily="34" charset="-122"/>
                        </a:rPr>
                        <a:t>可选服务库</a:t>
                      </a:r>
                      <a:r>
                        <a:rPr lang="en-US" altLang="zh-CN" sz="1100" b="1" i="0" u="none" strike="noStrike" dirty="0">
                          <a:solidFill>
                            <a:srgbClr val="000000"/>
                          </a:solidFill>
                          <a:latin typeface="微软雅黑" pitchFamily="34" charset="-122"/>
                          <a:ea typeface="微软雅黑" pitchFamily="34" charset="-122"/>
                        </a:rPr>
                        <a:t/>
                      </a:r>
                      <a:br>
                        <a:rPr lang="en-US" altLang="zh-CN" sz="1100" b="1" i="0" u="none" strike="noStrike" dirty="0">
                          <a:solidFill>
                            <a:srgbClr val="000000"/>
                          </a:solidFill>
                          <a:latin typeface="微软雅黑" pitchFamily="34" charset="-122"/>
                          <a:ea typeface="微软雅黑" pitchFamily="34" charset="-122"/>
                        </a:rPr>
                      </a:br>
                      <a:r>
                        <a:rPr lang="zh-CN" altLang="en-US" sz="1100" b="1" i="0" u="none" strike="noStrike" dirty="0">
                          <a:solidFill>
                            <a:srgbClr val="000000"/>
                          </a:solidFill>
                          <a:latin typeface="微软雅黑" pitchFamily="34" charset="-122"/>
                          <a:ea typeface="微软雅黑" pitchFamily="34" charset="-122"/>
                        </a:rPr>
                        <a:t>服务代码</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1100" b="1" i="0" u="none" strike="noStrike" dirty="0" smtClean="0">
                          <a:solidFill>
                            <a:srgbClr val="000000"/>
                          </a:solidFill>
                          <a:latin typeface="微软雅黑" pitchFamily="34" charset="-122"/>
                          <a:ea typeface="微软雅黑" pitchFamily="34" charset="-122"/>
                        </a:rPr>
                        <a:t>可选服务库操作</a:t>
                      </a:r>
                      <a:endParaRPr lang="zh-CN" altLang="en-US" sz="1100" b="1"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CC"/>
                    </a:solidFill>
                  </a:tcPr>
                </a:tc>
                <a:tc>
                  <a:txBody>
                    <a:bodyPr/>
                    <a:lstStyle/>
                    <a:p>
                      <a:pPr algn="ctr" fontAlgn="ctr"/>
                      <a:r>
                        <a:rPr lang="zh-CN" altLang="en-US" sz="1100" b="1" i="0" u="none" strike="noStrike">
                          <a:solidFill>
                            <a:srgbClr val="000000"/>
                          </a:solidFill>
                          <a:latin typeface="微软雅黑" pitchFamily="34" charset="-122"/>
                          <a:ea typeface="微软雅黑" pitchFamily="34" charset="-122"/>
                        </a:rPr>
                        <a:t>最终生成服务</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FF"/>
                    </a:solidFill>
                  </a:tcPr>
                </a:tc>
                <a:tc>
                  <a:txBody>
                    <a:bodyPr/>
                    <a:lstStyle/>
                    <a:p>
                      <a:pPr algn="ctr" fontAlgn="ctr"/>
                      <a:r>
                        <a:rPr lang="zh-CN" altLang="en-US" sz="1100" b="1" i="0" u="none" strike="noStrike">
                          <a:solidFill>
                            <a:srgbClr val="000000"/>
                          </a:solidFill>
                          <a:latin typeface="微软雅黑" pitchFamily="34" charset="-122"/>
                          <a:ea typeface="微软雅黑" pitchFamily="34" charset="-122"/>
                        </a:rPr>
                        <a:t>最终生成</a:t>
                      </a:r>
                      <a:br>
                        <a:rPr lang="zh-CN" altLang="en-US" sz="1100" b="1" i="0" u="none" strike="noStrike">
                          <a:solidFill>
                            <a:srgbClr val="000000"/>
                          </a:solidFill>
                          <a:latin typeface="微软雅黑" pitchFamily="34" charset="-122"/>
                          <a:ea typeface="微软雅黑" pitchFamily="34" charset="-122"/>
                        </a:rPr>
                      </a:br>
                      <a:r>
                        <a:rPr lang="zh-CN" altLang="en-US" sz="1100" b="1" i="0" u="none" strike="noStrike">
                          <a:solidFill>
                            <a:srgbClr val="000000"/>
                          </a:solidFill>
                          <a:latin typeface="微软雅黑" pitchFamily="34" charset="-122"/>
                          <a:ea typeface="微软雅黑" pitchFamily="34" charset="-122"/>
                        </a:rPr>
                        <a:t>服务操作</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FF"/>
                    </a:solidFill>
                  </a:tcPr>
                </a:tc>
              </a:tr>
              <a:tr h="614769">
                <a:tc>
                  <a:txBody>
                    <a:bodyPr/>
                    <a:lstStyle/>
                    <a:p>
                      <a:pPr algn="l" fontAlgn="ctr"/>
                      <a:r>
                        <a:rPr lang="en-US" sz="1100" b="0" i="0" u="none" strike="noStrike" dirty="0">
                          <a:solidFill>
                            <a:srgbClr val="000000"/>
                          </a:solidFill>
                          <a:latin typeface="微软雅黑" pitchFamily="34" charset="-122"/>
                          <a:ea typeface="微软雅黑" pitchFamily="34" charset="-122"/>
                        </a:rPr>
                        <a:t>FE04</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查询客户信息</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客户公共信息查询</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a:t>
                      </a:r>
                      <a:r>
                        <a:rPr lang="en-US" sz="1100" b="0" i="0" u="none" strike="noStrike" dirty="0">
                          <a:solidFill>
                            <a:srgbClr val="000000"/>
                          </a:solidFill>
                          <a:latin typeface="微软雅黑" pitchFamily="34" charset="-122"/>
                          <a:ea typeface="微软雅黑" pitchFamily="34" charset="-122"/>
                        </a:rPr>
                        <a:t>S120030009)</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无</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代客代理客户信息查询</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a:t>
                      </a:r>
                      <a:r>
                        <a:rPr lang="en-US" sz="1100" b="0" i="0" u="none" strike="noStrike" dirty="0">
                          <a:solidFill>
                            <a:srgbClr val="000000"/>
                          </a:solidFill>
                          <a:latin typeface="微软雅黑" pitchFamily="34" charset="-122"/>
                          <a:ea typeface="微软雅黑" pitchFamily="34" charset="-122"/>
                        </a:rPr>
                        <a:t>S090070017)</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0" i="0" u="none" strike="noStrike" dirty="0" err="1">
                          <a:solidFill>
                            <a:srgbClr val="000000"/>
                          </a:solidFill>
                          <a:latin typeface="微软雅黑" pitchFamily="34" charset="-122"/>
                          <a:ea typeface="微软雅黑" pitchFamily="34" charset="-122"/>
                        </a:rPr>
                        <a:t>ClntInfoQuery</a:t>
                      </a:r>
                      <a:r>
                        <a:rPr lang="en-US" sz="1100" b="0" i="0" u="none" strike="noStrike" dirty="0">
                          <a:solidFill>
                            <a:srgbClr val="000000"/>
                          </a:solidFill>
                          <a:latin typeface="微软雅黑" pitchFamily="34" charset="-122"/>
                          <a:ea typeface="微软雅黑" pitchFamily="34" charset="-122"/>
                        </a:rPr>
                        <a:t/>
                      </a:r>
                      <a:br>
                        <a:rPr lang="en-US" sz="1100" b="0" i="0" u="none" strike="noStrike" dirty="0">
                          <a:solidFill>
                            <a:srgbClr val="000000"/>
                          </a:solidFill>
                          <a:latin typeface="微软雅黑" pitchFamily="34" charset="-122"/>
                          <a:ea typeface="微软雅黑" pitchFamily="34" charset="-122"/>
                        </a:rPr>
                      </a:br>
                      <a:r>
                        <a:rPr lang="zh-CN" altLang="en-US" sz="1100" b="0" i="0" u="none" strike="noStrike" dirty="0">
                          <a:solidFill>
                            <a:srgbClr val="000000"/>
                          </a:solidFill>
                          <a:latin typeface="微软雅黑" pitchFamily="34" charset="-122"/>
                          <a:ea typeface="微软雅黑" pitchFamily="34" charset="-122"/>
                        </a:rPr>
                        <a:t>客户基本信息查询</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614769">
                <a:tc>
                  <a:txBody>
                    <a:bodyPr/>
                    <a:lstStyle/>
                    <a:p>
                      <a:pPr algn="l" fontAlgn="ctr"/>
                      <a:r>
                        <a:rPr lang="en-US" altLang="zh-CN" sz="1100" b="0" i="0" u="none" strike="noStrike" dirty="0" smtClean="0">
                          <a:solidFill>
                            <a:srgbClr val="000000"/>
                          </a:solidFill>
                          <a:latin typeface="微软雅黑" pitchFamily="34" charset="-122"/>
                          <a:ea typeface="微软雅黑" pitchFamily="34" charset="-122"/>
                        </a:rPr>
                        <a:t>EW47</a:t>
                      </a:r>
                      <a:endParaRPr lang="en-US" altLang="zh-CN"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销售产品信息查询</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无</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无</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实物贵金属产品信息查询</a:t>
                      </a:r>
                      <a:br>
                        <a:rPr lang="zh-CN" altLang="en-US" sz="1100" b="0" i="0" u="none" strike="noStrike" dirty="0" smtClean="0">
                          <a:solidFill>
                            <a:srgbClr val="000000"/>
                          </a:solidFill>
                          <a:latin typeface="微软雅黑" pitchFamily="34" charset="-122"/>
                          <a:ea typeface="微软雅黑" pitchFamily="34" charset="-122"/>
                        </a:rPr>
                      </a:br>
                      <a:r>
                        <a:rPr lang="en-US" altLang="zh-CN" sz="1100" b="0" i="0" u="none" strike="noStrike" dirty="0" smtClean="0">
                          <a:solidFill>
                            <a:srgbClr val="000000"/>
                          </a:solidFill>
                          <a:latin typeface="微软雅黑" pitchFamily="34" charset="-122"/>
                          <a:ea typeface="微软雅黑" pitchFamily="34" charset="-122"/>
                        </a:rPr>
                        <a:t>(S090030005)</a:t>
                      </a:r>
                      <a:endParaRPr lang="en-US" altLang="zh-CN"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0" i="0" u="none" strike="noStrike" dirty="0" err="1" smtClean="0">
                          <a:solidFill>
                            <a:srgbClr val="000000"/>
                          </a:solidFill>
                          <a:latin typeface="微软雅黑" pitchFamily="34" charset="-122"/>
                          <a:ea typeface="微软雅黑" pitchFamily="34" charset="-122"/>
                        </a:rPr>
                        <a:t>ProductInfoQry</a:t>
                      </a:r>
                      <a:r>
                        <a:rPr lang="en-US" sz="1100" b="0" i="0" u="none" strike="noStrike" dirty="0" smtClean="0">
                          <a:solidFill>
                            <a:srgbClr val="000000"/>
                          </a:solidFill>
                          <a:latin typeface="微软雅黑" pitchFamily="34" charset="-122"/>
                          <a:ea typeface="微软雅黑" pitchFamily="34" charset="-122"/>
                        </a:rPr>
                        <a:t/>
                      </a:r>
                      <a:br>
                        <a:rPr lang="en-US" sz="1100" b="0" i="0" u="none" strike="noStrike" dirty="0" smtClean="0">
                          <a:solidFill>
                            <a:srgbClr val="000000"/>
                          </a:solidFill>
                          <a:latin typeface="微软雅黑" pitchFamily="34" charset="-122"/>
                          <a:ea typeface="微软雅黑" pitchFamily="34" charset="-122"/>
                        </a:rPr>
                      </a:br>
                      <a:r>
                        <a:rPr lang="zh-CN" altLang="en-US" sz="1100" b="0" i="0" u="none" strike="noStrike" dirty="0" smtClean="0">
                          <a:solidFill>
                            <a:srgbClr val="000000"/>
                          </a:solidFill>
                          <a:latin typeface="微软雅黑" pitchFamily="34" charset="-122"/>
                          <a:ea typeface="微软雅黑" pitchFamily="34" charset="-122"/>
                        </a:rPr>
                        <a:t>实物贵金属产品信息查询</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614769">
                <a:tc>
                  <a:txBody>
                    <a:bodyPr/>
                    <a:lstStyle/>
                    <a:p>
                      <a:pPr algn="l" fontAlgn="ctr"/>
                      <a:r>
                        <a:rPr lang="en-US" sz="1100" b="0" i="0" u="none" strike="noStrike" dirty="0" smtClean="0">
                          <a:solidFill>
                            <a:srgbClr val="000000"/>
                          </a:solidFill>
                          <a:latin typeface="微软雅黑" pitchFamily="34" charset="-122"/>
                          <a:ea typeface="微软雅黑" pitchFamily="34" charset="-122"/>
                        </a:rPr>
                        <a:t>EW11</a:t>
                      </a:r>
                      <a:endParaRPr 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产品详细信息查询</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实物贵金属产品信息查询</a:t>
                      </a:r>
                      <a:br>
                        <a:rPr lang="zh-CN" altLang="en-US" sz="1100" b="0" i="0" u="none" strike="noStrike" dirty="0" smtClean="0">
                          <a:solidFill>
                            <a:srgbClr val="000000"/>
                          </a:solidFill>
                          <a:latin typeface="微软雅黑" pitchFamily="34" charset="-122"/>
                          <a:ea typeface="微软雅黑" pitchFamily="34" charset="-122"/>
                        </a:rPr>
                      </a:br>
                      <a:r>
                        <a:rPr lang="en-US" altLang="zh-CN" sz="1100" b="0" i="0" u="none" strike="noStrike" dirty="0" smtClean="0">
                          <a:solidFill>
                            <a:srgbClr val="000000"/>
                          </a:solidFill>
                          <a:latin typeface="微软雅黑" pitchFamily="34" charset="-122"/>
                          <a:ea typeface="微软雅黑" pitchFamily="34" charset="-122"/>
                        </a:rPr>
                        <a:t>(S090030005)</a:t>
                      </a:r>
                      <a:endParaRPr lang="en-US" altLang="zh-CN"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100" b="0" i="0" u="none" strike="noStrike" dirty="0" smtClean="0">
                          <a:solidFill>
                            <a:srgbClr val="000000"/>
                          </a:solidFill>
                          <a:latin typeface="微软雅黑" pitchFamily="34" charset="-122"/>
                          <a:ea typeface="微软雅黑" pitchFamily="34" charset="-122"/>
                        </a:rPr>
                        <a:t>无</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实物贵金属产品信息查询</a:t>
                      </a:r>
                      <a:br>
                        <a:rPr lang="zh-CN" altLang="en-US" sz="1100" b="0" i="0" u="none" strike="noStrike" dirty="0" smtClean="0">
                          <a:solidFill>
                            <a:srgbClr val="000000"/>
                          </a:solidFill>
                          <a:latin typeface="微软雅黑" pitchFamily="34" charset="-122"/>
                          <a:ea typeface="微软雅黑" pitchFamily="34" charset="-122"/>
                        </a:rPr>
                      </a:br>
                      <a:r>
                        <a:rPr lang="en-US" altLang="zh-CN" sz="1100" b="0" i="0" u="none" strike="noStrike" dirty="0" smtClean="0">
                          <a:solidFill>
                            <a:srgbClr val="000000"/>
                          </a:solidFill>
                          <a:latin typeface="微软雅黑" pitchFamily="34" charset="-122"/>
                          <a:ea typeface="微软雅黑" pitchFamily="34" charset="-122"/>
                        </a:rPr>
                        <a:t>(S090030005)</a:t>
                      </a:r>
                      <a:endParaRPr lang="en-US" altLang="zh-CN"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err="1" smtClean="0">
                          <a:solidFill>
                            <a:srgbClr val="000000"/>
                          </a:solidFill>
                          <a:latin typeface="微软雅黑" pitchFamily="34" charset="-122"/>
                          <a:ea typeface="微软雅黑" pitchFamily="34" charset="-122"/>
                        </a:rPr>
                        <a:t>Product</a:t>
                      </a:r>
                      <a:r>
                        <a:rPr lang="en-US" altLang="zh-CN" sz="1100" b="0" i="0" u="none" strike="noStrike" dirty="0" err="1" smtClean="0">
                          <a:solidFill>
                            <a:srgbClr val="000000"/>
                          </a:solidFill>
                          <a:latin typeface="微软雅黑" pitchFamily="34" charset="-122"/>
                          <a:ea typeface="微软雅黑" pitchFamily="34" charset="-122"/>
                        </a:rPr>
                        <a:t>Detail</a:t>
                      </a:r>
                      <a:r>
                        <a:rPr lang="en-US" sz="1100" b="0" i="0" u="none" strike="noStrike" dirty="0" err="1" smtClean="0">
                          <a:solidFill>
                            <a:srgbClr val="000000"/>
                          </a:solidFill>
                          <a:latin typeface="微软雅黑" pitchFamily="34" charset="-122"/>
                          <a:ea typeface="微软雅黑" pitchFamily="34" charset="-122"/>
                        </a:rPr>
                        <a:t>Qry</a:t>
                      </a:r>
                      <a:r>
                        <a:rPr lang="en-US" sz="1100" b="0" i="0" u="none" strike="noStrike" dirty="0" smtClean="0">
                          <a:solidFill>
                            <a:srgbClr val="000000"/>
                          </a:solidFill>
                          <a:latin typeface="微软雅黑" pitchFamily="34" charset="-122"/>
                          <a:ea typeface="微软雅黑" pitchFamily="34" charset="-122"/>
                        </a:rPr>
                        <a:t/>
                      </a:r>
                      <a:br>
                        <a:rPr lang="en-US" sz="1100" b="0" i="0" u="none" strike="noStrike" dirty="0" smtClean="0">
                          <a:solidFill>
                            <a:srgbClr val="000000"/>
                          </a:solidFill>
                          <a:latin typeface="微软雅黑" pitchFamily="34" charset="-122"/>
                          <a:ea typeface="微软雅黑" pitchFamily="34" charset="-122"/>
                        </a:rPr>
                      </a:br>
                      <a:r>
                        <a:rPr lang="zh-CN" altLang="en-US" sz="1100" b="0" i="0" u="none" strike="noStrike" dirty="0" smtClean="0">
                          <a:solidFill>
                            <a:srgbClr val="000000"/>
                          </a:solidFill>
                          <a:latin typeface="微软雅黑" pitchFamily="34" charset="-122"/>
                          <a:ea typeface="微软雅黑" pitchFamily="34" charset="-122"/>
                        </a:rPr>
                        <a:t>实物贵金属产品详细查询</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14769">
                <a:tc>
                  <a:txBody>
                    <a:bodyPr/>
                    <a:lstStyle/>
                    <a:p>
                      <a:pPr algn="l" fontAlgn="ctr"/>
                      <a:r>
                        <a:rPr lang="en-US" sz="1100" b="0" i="0" u="none" strike="noStrike" dirty="0">
                          <a:solidFill>
                            <a:srgbClr val="000000"/>
                          </a:solidFill>
                          <a:latin typeface="微软雅黑" pitchFamily="34" charset="-122"/>
                          <a:ea typeface="微软雅黑" pitchFamily="34" charset="-122"/>
                        </a:rPr>
                        <a:t>EW42</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获取销售产品优惠比例</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实物贵金属产品信息查询</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(S090030005)</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1100" b="0" i="0" u="none" strike="noStrike" dirty="0" err="1" smtClean="0">
                          <a:solidFill>
                            <a:srgbClr val="000000"/>
                          </a:solidFill>
                          <a:latin typeface="微软雅黑" pitchFamily="34" charset="-122"/>
                          <a:ea typeface="微软雅黑" pitchFamily="34" charset="-122"/>
                        </a:rPr>
                        <a:t>ProductDetailQry</a:t>
                      </a:r>
                      <a:r>
                        <a:rPr lang="en-US" altLang="zh-CN" sz="1100" b="0" i="0" u="none" strike="noStrike" dirty="0" smtClean="0">
                          <a:solidFill>
                            <a:srgbClr val="000000"/>
                          </a:solidFill>
                          <a:latin typeface="微软雅黑" pitchFamily="34" charset="-122"/>
                          <a:ea typeface="微软雅黑" pitchFamily="34" charset="-122"/>
                        </a:rPr>
                        <a:t/>
                      </a:r>
                      <a:br>
                        <a:rPr lang="en-US" altLang="zh-CN" sz="1100" b="0" i="0" u="none" strike="noStrike" dirty="0" smtClean="0">
                          <a:solidFill>
                            <a:srgbClr val="000000"/>
                          </a:solidFill>
                          <a:latin typeface="微软雅黑" pitchFamily="34" charset="-122"/>
                          <a:ea typeface="微软雅黑" pitchFamily="34" charset="-122"/>
                        </a:rPr>
                      </a:br>
                      <a:r>
                        <a:rPr lang="zh-CN" altLang="en-US" sz="1100" b="0" i="0" u="none" strike="noStrike" dirty="0" smtClean="0">
                          <a:solidFill>
                            <a:srgbClr val="000000"/>
                          </a:solidFill>
                          <a:latin typeface="微软雅黑" pitchFamily="34" charset="-122"/>
                          <a:ea typeface="微软雅黑" pitchFamily="34" charset="-122"/>
                        </a:rPr>
                        <a:t>实物贵金属产品详细查询</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实物贵金属产品信息查询</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(S090030005)</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err="1" smtClean="0">
                          <a:solidFill>
                            <a:srgbClr val="000000"/>
                          </a:solidFill>
                          <a:latin typeface="微软雅黑" pitchFamily="34" charset="-122"/>
                          <a:ea typeface="微软雅黑" pitchFamily="34" charset="-122"/>
                        </a:rPr>
                        <a:t>Product</a:t>
                      </a:r>
                      <a:r>
                        <a:rPr lang="en-US" altLang="zh-CN" sz="1100" b="0" i="0" u="none" strike="noStrike" dirty="0" err="1" smtClean="0">
                          <a:solidFill>
                            <a:srgbClr val="000000"/>
                          </a:solidFill>
                          <a:latin typeface="微软雅黑" pitchFamily="34" charset="-122"/>
                          <a:ea typeface="微软雅黑" pitchFamily="34" charset="-122"/>
                        </a:rPr>
                        <a:t>Detail</a:t>
                      </a:r>
                      <a:r>
                        <a:rPr lang="en-US" sz="1100" b="0" i="0" u="none" strike="noStrike" dirty="0" err="1" smtClean="0">
                          <a:solidFill>
                            <a:srgbClr val="000000"/>
                          </a:solidFill>
                          <a:latin typeface="微软雅黑" pitchFamily="34" charset="-122"/>
                          <a:ea typeface="微软雅黑" pitchFamily="34" charset="-122"/>
                        </a:rPr>
                        <a:t>Qry</a:t>
                      </a:r>
                      <a:r>
                        <a:rPr lang="en-US" sz="1100" b="0" i="0" u="none" strike="noStrike" dirty="0" smtClean="0">
                          <a:solidFill>
                            <a:srgbClr val="000000"/>
                          </a:solidFill>
                          <a:latin typeface="微软雅黑" pitchFamily="34" charset="-122"/>
                          <a:ea typeface="微软雅黑" pitchFamily="34" charset="-122"/>
                        </a:rPr>
                        <a:t/>
                      </a:r>
                      <a:br>
                        <a:rPr lang="en-US" sz="1100" b="0" i="0" u="none" strike="noStrike" dirty="0" smtClean="0">
                          <a:solidFill>
                            <a:srgbClr val="000000"/>
                          </a:solidFill>
                          <a:latin typeface="微软雅黑" pitchFamily="34" charset="-122"/>
                          <a:ea typeface="微软雅黑" pitchFamily="34" charset="-122"/>
                        </a:rPr>
                      </a:br>
                      <a:r>
                        <a:rPr lang="zh-CN" altLang="en-US" sz="1100" b="0" i="0" u="none" strike="noStrike" dirty="0" smtClean="0">
                          <a:solidFill>
                            <a:srgbClr val="000000"/>
                          </a:solidFill>
                          <a:latin typeface="微软雅黑" pitchFamily="34" charset="-122"/>
                          <a:ea typeface="微软雅黑" pitchFamily="34" charset="-122"/>
                        </a:rPr>
                        <a:t>实物贵金属产品详细查询</a:t>
                      </a:r>
                      <a:endParaRPr lang="zh-CN" altLang="en-US"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12669">
                <a:tc>
                  <a:txBody>
                    <a:bodyPr/>
                    <a:lstStyle/>
                    <a:p>
                      <a:pPr algn="l" fontAlgn="ctr"/>
                      <a:r>
                        <a:rPr lang="en-US" sz="1100" b="0" i="0" u="none" strike="noStrike" dirty="0">
                          <a:solidFill>
                            <a:srgbClr val="000000"/>
                          </a:solidFill>
                          <a:latin typeface="微软雅黑" pitchFamily="34" charset="-122"/>
                          <a:ea typeface="微软雅黑" pitchFamily="34" charset="-122"/>
                        </a:rPr>
                        <a:t>EW23</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现货出售交易</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无</a:t>
                      </a:r>
                      <a:endParaRPr lang="en-US" altLang="zh-CN"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无</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实物</a:t>
                      </a:r>
                      <a:r>
                        <a:rPr lang="zh-CN" altLang="en-US" sz="1100" b="0" i="0" u="none" strike="noStrike" dirty="0" smtClean="0">
                          <a:solidFill>
                            <a:srgbClr val="000000"/>
                          </a:solidFill>
                          <a:latin typeface="微软雅黑" pitchFamily="34" charset="-122"/>
                          <a:ea typeface="微软雅黑" pitchFamily="34" charset="-122"/>
                        </a:rPr>
                        <a:t>贵金属购买</a:t>
                      </a:r>
                      <a:r>
                        <a:rPr lang="zh-CN" altLang="en-US" sz="1100" b="0" i="0" u="none" strike="noStrike" dirty="0">
                          <a:solidFill>
                            <a:srgbClr val="000000"/>
                          </a:solidFill>
                          <a:latin typeface="微软雅黑" pitchFamily="34" charset="-122"/>
                          <a:ea typeface="微软雅黑" pitchFamily="34" charset="-122"/>
                        </a:rPr>
                        <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(S090010004)</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err="1">
                          <a:solidFill>
                            <a:srgbClr val="000000"/>
                          </a:solidFill>
                          <a:latin typeface="微软雅黑" pitchFamily="34" charset="-122"/>
                          <a:ea typeface="微软雅黑" pitchFamily="34" charset="-122"/>
                        </a:rPr>
                        <a:t>SpotSale</a:t>
                      </a:r>
                      <a:r>
                        <a:rPr lang="en-US" sz="1100" b="0" i="0" u="none" strike="noStrike" dirty="0">
                          <a:solidFill>
                            <a:srgbClr val="000000"/>
                          </a:solidFill>
                          <a:latin typeface="微软雅黑" pitchFamily="34" charset="-122"/>
                          <a:ea typeface="微软雅黑" pitchFamily="34" charset="-122"/>
                        </a:rPr>
                        <a:t/>
                      </a:r>
                      <a:br>
                        <a:rPr lang="en-US" sz="1100" b="0" i="0" u="none" strike="noStrike" dirty="0">
                          <a:solidFill>
                            <a:srgbClr val="000000"/>
                          </a:solidFill>
                          <a:latin typeface="微软雅黑" pitchFamily="34" charset="-122"/>
                          <a:ea typeface="微软雅黑" pitchFamily="34" charset="-122"/>
                        </a:rPr>
                      </a:br>
                      <a:r>
                        <a:rPr lang="zh-CN" altLang="en-US" sz="1100" b="0" i="0" u="none" strike="noStrike" dirty="0">
                          <a:solidFill>
                            <a:srgbClr val="000000"/>
                          </a:solidFill>
                          <a:latin typeface="微软雅黑" pitchFamily="34" charset="-122"/>
                          <a:ea typeface="微软雅黑" pitchFamily="34" charset="-122"/>
                        </a:rPr>
                        <a:t>现货出售</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14769">
                <a:tc>
                  <a:txBody>
                    <a:bodyPr/>
                    <a:lstStyle/>
                    <a:p>
                      <a:pPr algn="l" fontAlgn="ctr"/>
                      <a:r>
                        <a:rPr lang="en-US" altLang="zh-CN" sz="1100" b="0" i="0" u="none" strike="noStrike" dirty="0">
                          <a:solidFill>
                            <a:srgbClr val="000000"/>
                          </a:solidFill>
                          <a:latin typeface="微软雅黑" pitchFamily="34" charset="-122"/>
                          <a:ea typeface="微软雅黑" pitchFamily="34" charset="-122"/>
                        </a:rPr>
                        <a:t>3691</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账号信息查询</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账户基本信息查询</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(S120030004)</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err="1">
                          <a:solidFill>
                            <a:srgbClr val="000000"/>
                          </a:solidFill>
                          <a:latin typeface="微软雅黑" pitchFamily="34" charset="-122"/>
                          <a:ea typeface="微软雅黑" pitchFamily="34" charset="-122"/>
                        </a:rPr>
                        <a:t>AcctInfoQuery</a:t>
                      </a:r>
                      <a:r>
                        <a:rPr lang="en-US" sz="1100" b="0" i="0" u="none" strike="noStrike" dirty="0">
                          <a:solidFill>
                            <a:srgbClr val="000000"/>
                          </a:solidFill>
                          <a:latin typeface="微软雅黑" pitchFamily="34" charset="-122"/>
                          <a:ea typeface="微软雅黑" pitchFamily="34" charset="-122"/>
                        </a:rPr>
                        <a:t/>
                      </a:r>
                      <a:br>
                        <a:rPr lang="en-US" sz="1100" b="0" i="0" u="none" strike="noStrike" dirty="0">
                          <a:solidFill>
                            <a:srgbClr val="000000"/>
                          </a:solidFill>
                          <a:latin typeface="微软雅黑" pitchFamily="34" charset="-122"/>
                          <a:ea typeface="微软雅黑" pitchFamily="34" charset="-122"/>
                        </a:rPr>
                      </a:br>
                      <a:r>
                        <a:rPr lang="zh-CN" altLang="en-US" sz="1100" b="0" i="0" u="none" strike="noStrike" dirty="0">
                          <a:solidFill>
                            <a:srgbClr val="000000"/>
                          </a:solidFill>
                          <a:latin typeface="微软雅黑" pitchFamily="34" charset="-122"/>
                          <a:ea typeface="微软雅黑" pitchFamily="34" charset="-122"/>
                        </a:rPr>
                        <a:t>账户信息查询</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账户基本信息查询</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(S120030004)</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1100" b="0" i="0" u="none" strike="noStrike" dirty="0" err="1">
                          <a:solidFill>
                            <a:srgbClr val="000000"/>
                          </a:solidFill>
                          <a:latin typeface="微软雅黑" pitchFamily="34" charset="-122"/>
                          <a:ea typeface="微软雅黑" pitchFamily="34" charset="-122"/>
                        </a:rPr>
                        <a:t>AcctInfoQuery</a:t>
                      </a:r>
                      <a:r>
                        <a:rPr lang="en-US" altLang="zh-CN" sz="1100" b="0" i="0" u="none" strike="noStrike" dirty="0">
                          <a:solidFill>
                            <a:srgbClr val="000000"/>
                          </a:solidFill>
                          <a:latin typeface="微软雅黑" pitchFamily="34" charset="-122"/>
                          <a:ea typeface="微软雅黑" pitchFamily="34" charset="-122"/>
                        </a:rPr>
                        <a:t/>
                      </a:r>
                      <a:br>
                        <a:rPr lang="en-US" altLang="zh-CN" sz="1100" b="0" i="0" u="none" strike="noStrike" dirty="0">
                          <a:solidFill>
                            <a:srgbClr val="000000"/>
                          </a:solidFill>
                          <a:latin typeface="微软雅黑" pitchFamily="34" charset="-122"/>
                          <a:ea typeface="微软雅黑" pitchFamily="34" charset="-122"/>
                        </a:rPr>
                      </a:br>
                      <a:r>
                        <a:rPr lang="zh-CN" altLang="en-US" sz="1100" b="0" i="0" u="none" strike="noStrike" dirty="0">
                          <a:solidFill>
                            <a:srgbClr val="000000"/>
                          </a:solidFill>
                          <a:latin typeface="微软雅黑" pitchFamily="34" charset="-122"/>
                          <a:ea typeface="微软雅黑" pitchFamily="34" charset="-122"/>
                        </a:rPr>
                        <a:t>结算账户信息查询</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12669">
                <a:tc>
                  <a:txBody>
                    <a:bodyPr/>
                    <a:lstStyle/>
                    <a:p>
                      <a:pPr algn="l" fontAlgn="ctr"/>
                      <a:r>
                        <a:rPr lang="en-US" sz="1100" b="0" i="0" u="none" strike="noStrike" dirty="0">
                          <a:solidFill>
                            <a:srgbClr val="000000"/>
                          </a:solidFill>
                          <a:latin typeface="微软雅黑" pitchFamily="34" charset="-122"/>
                          <a:ea typeface="微软雅黑" pitchFamily="34" charset="-122"/>
                        </a:rPr>
                        <a:t>EW01</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代客代理实时记账处理</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核心记账服务</a:t>
                      </a:r>
                      <a:br>
                        <a:rPr lang="zh-CN" altLang="en-US" sz="1100" b="0" i="0" u="none" strike="noStrike" dirty="0" smtClean="0">
                          <a:solidFill>
                            <a:srgbClr val="000000"/>
                          </a:solidFill>
                          <a:latin typeface="微软雅黑" pitchFamily="34" charset="-122"/>
                          <a:ea typeface="微软雅黑" pitchFamily="34" charset="-122"/>
                        </a:rPr>
                      </a:br>
                      <a:r>
                        <a:rPr lang="en-US" altLang="zh-CN" sz="1100" b="0" i="0" u="none" strike="noStrike" dirty="0" smtClean="0">
                          <a:solidFill>
                            <a:srgbClr val="000000"/>
                          </a:solidFill>
                          <a:latin typeface="微软雅黑" pitchFamily="34" charset="-122"/>
                          <a:ea typeface="微软雅黑" pitchFamily="34" charset="-122"/>
                        </a:rPr>
                        <a:t>(S010010003)</a:t>
                      </a:r>
                      <a:endParaRPr lang="en-US" altLang="zh-CN" sz="1100" b="0" i="0" u="none" strike="noStrike" dirty="0">
                        <a:solidFill>
                          <a:srgbClr val="000000"/>
                        </a:solidFill>
                        <a:latin typeface="微软雅黑" pitchFamily="34" charset="-122"/>
                        <a:ea typeface="微软雅黑" pitchFamily="34" charset="-122"/>
                      </a:endParaRP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无</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100" b="0" i="0" u="none" strike="noStrike" dirty="0" smtClean="0">
                          <a:solidFill>
                            <a:srgbClr val="000000"/>
                          </a:solidFill>
                          <a:latin typeface="微软雅黑" pitchFamily="34" charset="-122"/>
                          <a:ea typeface="微软雅黑" pitchFamily="34" charset="-122"/>
                        </a:rPr>
                        <a:t>核心记账</a:t>
                      </a:r>
                      <a:r>
                        <a:rPr lang="zh-CN" altLang="en-US" sz="1100" b="0" i="0" u="none" strike="noStrike" dirty="0">
                          <a:solidFill>
                            <a:srgbClr val="000000"/>
                          </a:solidFill>
                          <a:latin typeface="微软雅黑" pitchFamily="34" charset="-122"/>
                          <a:ea typeface="微软雅黑" pitchFamily="34" charset="-122"/>
                        </a:rPr>
                        <a:t>服务</a:t>
                      </a:r>
                      <a:br>
                        <a:rPr lang="zh-CN" altLang="en-US" sz="1100" b="0" i="0" u="none" strike="noStrike" dirty="0">
                          <a:solidFill>
                            <a:srgbClr val="000000"/>
                          </a:solidFill>
                          <a:latin typeface="微软雅黑" pitchFamily="34" charset="-122"/>
                          <a:ea typeface="微软雅黑" pitchFamily="34" charset="-122"/>
                        </a:rPr>
                      </a:br>
                      <a:r>
                        <a:rPr lang="en-US" altLang="zh-CN" sz="1100" b="0" i="0" u="none" strike="noStrike" dirty="0">
                          <a:solidFill>
                            <a:srgbClr val="000000"/>
                          </a:solidFill>
                          <a:latin typeface="微软雅黑" pitchFamily="34" charset="-122"/>
                          <a:ea typeface="微软雅黑" pitchFamily="34" charset="-122"/>
                        </a:rPr>
                        <a:t>(</a:t>
                      </a:r>
                      <a:r>
                        <a:rPr lang="en-US" altLang="zh-CN" sz="1100" b="0" i="0" u="none" strike="noStrike" dirty="0" smtClean="0">
                          <a:solidFill>
                            <a:srgbClr val="000000"/>
                          </a:solidFill>
                          <a:latin typeface="微软雅黑" pitchFamily="34" charset="-122"/>
                          <a:ea typeface="微软雅黑" pitchFamily="34" charset="-122"/>
                        </a:rPr>
                        <a:t>S010010003</a:t>
                      </a:r>
                      <a:r>
                        <a:rPr lang="en-US" altLang="zh-CN" sz="1100" b="0" i="0" u="none" strike="noStrike" dirty="0">
                          <a:solidFill>
                            <a:srgbClr val="000000"/>
                          </a:solidFill>
                          <a:latin typeface="微软雅黑" pitchFamily="34" charset="-122"/>
                          <a:ea typeface="微软雅黑" pitchFamily="34" charset="-122"/>
                        </a:rPr>
                        <a:t>)</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err="1">
                          <a:solidFill>
                            <a:srgbClr val="000000"/>
                          </a:solidFill>
                          <a:latin typeface="微软雅黑" pitchFamily="34" charset="-122"/>
                          <a:ea typeface="微软雅黑" pitchFamily="34" charset="-122"/>
                        </a:rPr>
                        <a:t>RealTimeAcctingDeal</a:t>
                      </a:r>
                      <a:r>
                        <a:rPr lang="en-US" sz="1100" b="0" i="0" u="none" strike="noStrike" dirty="0">
                          <a:solidFill>
                            <a:srgbClr val="000000"/>
                          </a:solidFill>
                          <a:latin typeface="微软雅黑" pitchFamily="34" charset="-122"/>
                          <a:ea typeface="微软雅黑" pitchFamily="34" charset="-122"/>
                        </a:rPr>
                        <a:t/>
                      </a:r>
                      <a:br>
                        <a:rPr lang="en-US" sz="1100" b="0" i="0" u="none" strike="noStrike" dirty="0">
                          <a:solidFill>
                            <a:srgbClr val="000000"/>
                          </a:solidFill>
                          <a:latin typeface="微软雅黑" pitchFamily="34" charset="-122"/>
                          <a:ea typeface="微软雅黑" pitchFamily="34" charset="-122"/>
                        </a:rPr>
                      </a:br>
                      <a:r>
                        <a:rPr lang="zh-CN" altLang="en-US" sz="1100" b="0" i="0" u="none" strike="noStrike" dirty="0" smtClean="0">
                          <a:solidFill>
                            <a:srgbClr val="000000"/>
                          </a:solidFill>
                          <a:latin typeface="微软雅黑" pitchFamily="34" charset="-122"/>
                          <a:ea typeface="微软雅黑" pitchFamily="34" charset="-122"/>
                        </a:rPr>
                        <a:t>代客代理实时</a:t>
                      </a:r>
                      <a:r>
                        <a:rPr lang="zh-CN" altLang="en-US" sz="1100" b="0" i="0" u="none" strike="noStrike" dirty="0">
                          <a:solidFill>
                            <a:srgbClr val="000000"/>
                          </a:solidFill>
                          <a:latin typeface="微软雅黑" pitchFamily="34" charset="-122"/>
                          <a:ea typeface="微软雅黑" pitchFamily="34" charset="-122"/>
                        </a:rPr>
                        <a:t>记账处理</a:t>
                      </a:r>
                    </a:p>
                  </a:txBody>
                  <a:tcPr marL="7023" marR="7023" marT="70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线形标注 2 6"/>
          <p:cNvSpPr/>
          <p:nvPr/>
        </p:nvSpPr>
        <p:spPr bwMode="auto">
          <a:xfrm>
            <a:off x="5022150" y="3429000"/>
            <a:ext cx="1793930" cy="1008112"/>
          </a:xfrm>
          <a:prstGeom prst="borderCallout2">
            <a:avLst>
              <a:gd name="adj1" fmla="val 24247"/>
              <a:gd name="adj2" fmla="val 196544"/>
              <a:gd name="adj3" fmla="val 51733"/>
              <a:gd name="adj4" fmla="val 99409"/>
              <a:gd name="adj5" fmla="val 101292"/>
              <a:gd name="adj6" fmla="val 196174"/>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lnSpc>
                <a:spcPct val="150000"/>
              </a:lnSpc>
              <a:spcBef>
                <a:spcPct val="50000"/>
              </a:spcBef>
              <a:spcAft>
                <a:spcPct val="0"/>
              </a:spcAft>
              <a:buClr>
                <a:schemeClr val="tx1"/>
              </a:buClr>
            </a:pPr>
            <a:r>
              <a:rPr lang="zh-CN" altLang="en-US" sz="1200" b="1" dirty="0" smtClean="0">
                <a:latin typeface="微软雅黑" pitchFamily="34" charset="-122"/>
                <a:ea typeface="微软雅黑" pitchFamily="34" charset="-122"/>
              </a:rPr>
              <a:t>根据服务复用原则，此两个候选服务功能边界相同，合并为一个服务</a:t>
            </a:r>
          </a:p>
          <a:p>
            <a:pPr marL="0" marR="0" indent="0" algn="ctr" defTabSz="914400" rtl="0" eaLnBrk="1" fontAlgn="base" latinLnBrk="0" hangingPunct="1">
              <a:lnSpc>
                <a:spcPct val="100000"/>
              </a:lnSpc>
              <a:spcBef>
                <a:spcPct val="50000"/>
              </a:spcBef>
              <a:spcAft>
                <a:spcPct val="0"/>
              </a:spcAft>
              <a:buClr>
                <a:schemeClr val="tx1"/>
              </a:buClr>
              <a:buSzTx/>
              <a:buFont typeface="Wingdings" pitchFamily="2" charset="2"/>
              <a:buNone/>
              <a:tabLst/>
            </a:pPr>
            <a:endParaRPr kumimoji="0" lang="zh-CN" altLang="en-US" sz="1200" b="1" i="0" u="none" strike="noStrike" cap="none" normalizeH="0" baseline="0" dirty="0" smtClean="0">
              <a:ln>
                <a:noFill/>
              </a:ln>
              <a:effectLst/>
              <a:latin typeface="宋体" pitchFamily="2" charset="-122"/>
              <a:ea typeface="宋体" pitchFamily="2" charset="-122"/>
            </a:endParaRPr>
          </a:p>
        </p:txBody>
      </p:sp>
      <p:sp>
        <p:nvSpPr>
          <p:cNvPr id="8" name="线形标注 2 7"/>
          <p:cNvSpPr/>
          <p:nvPr/>
        </p:nvSpPr>
        <p:spPr bwMode="auto">
          <a:xfrm>
            <a:off x="2736134" y="4077072"/>
            <a:ext cx="2207738" cy="864096"/>
          </a:xfrm>
          <a:prstGeom prst="borderCallout2">
            <a:avLst>
              <a:gd name="adj1" fmla="val 102477"/>
              <a:gd name="adj2" fmla="val 50810"/>
              <a:gd name="adj3" fmla="val 101209"/>
              <a:gd name="adj4" fmla="val 49868"/>
              <a:gd name="adj5" fmla="val 166115"/>
              <a:gd name="adj6" fmla="val 72414"/>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50000"/>
              </a:spcBef>
              <a:spcAft>
                <a:spcPct val="0"/>
              </a:spcAft>
              <a:buClr>
                <a:schemeClr val="tx1"/>
              </a:buClr>
            </a:pPr>
            <a:r>
              <a:rPr lang="zh-CN" altLang="en-US" sz="1200" b="1" dirty="0" smtClean="0">
                <a:latin typeface="微软雅黑" pitchFamily="34" charset="-122"/>
                <a:ea typeface="微软雅黑" pitchFamily="34" charset="-122"/>
              </a:rPr>
              <a:t>复用</a:t>
            </a:r>
            <a:r>
              <a:rPr lang="zh-CN" altLang="en-US" sz="1200" b="1" dirty="0">
                <a:latin typeface="微软雅黑" pitchFamily="34" charset="-122"/>
                <a:ea typeface="微软雅黑" pitchFamily="34" charset="-122"/>
              </a:rPr>
              <a:t>服务库</a:t>
            </a:r>
            <a:r>
              <a:rPr lang="zh-CN" altLang="en-US" sz="1200" b="1" dirty="0" smtClean="0">
                <a:latin typeface="微软雅黑" pitchFamily="34" charset="-122"/>
                <a:ea typeface="微软雅黑" pitchFamily="34" charset="-122"/>
              </a:rPr>
              <a:t>中已发布的服务</a:t>
            </a:r>
            <a:endParaRPr lang="en-US" altLang="zh-CN" sz="1200" b="1" dirty="0" smtClean="0">
              <a:latin typeface="微软雅黑" pitchFamily="34" charset="-122"/>
              <a:ea typeface="微软雅黑" pitchFamily="34" charset="-122"/>
            </a:endParaRPr>
          </a:p>
          <a:p>
            <a:pPr fontAlgn="base">
              <a:spcBef>
                <a:spcPct val="50000"/>
              </a:spcBef>
              <a:spcAft>
                <a:spcPct val="0"/>
              </a:spcAft>
              <a:buClr>
                <a:schemeClr val="tx1"/>
              </a:buClr>
            </a:pPr>
            <a:r>
              <a:rPr lang="zh-CN" altLang="en-US" sz="1200" b="1" dirty="0" smtClean="0">
                <a:latin typeface="微软雅黑" pitchFamily="34" charset="-122"/>
                <a:ea typeface="微软雅黑" pitchFamily="34" charset="-122"/>
              </a:rPr>
              <a:t>服务：</a:t>
            </a:r>
            <a:r>
              <a:rPr lang="zh-CN" altLang="en-US" sz="1200" b="1" dirty="0" smtClean="0">
                <a:solidFill>
                  <a:srgbClr val="000000"/>
                </a:solidFill>
                <a:latin typeface="微软雅黑" pitchFamily="34" charset="-122"/>
                <a:ea typeface="微软雅黑" pitchFamily="34" charset="-122"/>
              </a:rPr>
              <a:t>账户基本信息查询</a:t>
            </a:r>
            <a:endParaRPr lang="en-US" altLang="zh-CN" sz="1200" b="1" dirty="0" smtClean="0">
              <a:solidFill>
                <a:srgbClr val="000000"/>
              </a:solidFill>
              <a:latin typeface="微软雅黑" pitchFamily="34" charset="-122"/>
              <a:ea typeface="微软雅黑" pitchFamily="34" charset="-122"/>
            </a:endParaRPr>
          </a:p>
          <a:p>
            <a:pPr fontAlgn="base">
              <a:spcBef>
                <a:spcPct val="50000"/>
              </a:spcBef>
              <a:spcAft>
                <a:spcPct val="0"/>
              </a:spcAft>
              <a:buClr>
                <a:schemeClr val="tx1"/>
              </a:buClr>
            </a:pPr>
            <a:r>
              <a:rPr kumimoji="0" lang="zh-CN" altLang="en-US" sz="1200" b="1" i="0" u="none" strike="noStrike" cap="none" normalizeH="0" baseline="0" dirty="0" smtClean="0">
                <a:ln>
                  <a:noFill/>
                </a:ln>
                <a:solidFill>
                  <a:srgbClr val="000000"/>
                </a:solidFill>
                <a:effectLst/>
                <a:latin typeface="微软雅黑" pitchFamily="34" charset="-122"/>
                <a:ea typeface="微软雅黑" pitchFamily="34" charset="-122"/>
              </a:rPr>
              <a:t>操作：</a:t>
            </a:r>
            <a:r>
              <a:rPr lang="zh-CN" altLang="en-US" sz="1200" b="1" dirty="0" smtClean="0">
                <a:solidFill>
                  <a:srgbClr val="000000"/>
                </a:solidFill>
                <a:latin typeface="微软雅黑" pitchFamily="34" charset="-122"/>
                <a:ea typeface="微软雅黑" pitchFamily="34" charset="-122"/>
              </a:rPr>
              <a:t>结算账户信息查询</a:t>
            </a:r>
          </a:p>
          <a:p>
            <a:pPr fontAlgn="base">
              <a:spcBef>
                <a:spcPct val="50000"/>
              </a:spcBef>
              <a:spcAft>
                <a:spcPct val="0"/>
              </a:spcAft>
              <a:buClr>
                <a:schemeClr val="tx1"/>
              </a:buClr>
            </a:pPr>
            <a:endParaRPr kumimoji="0" lang="zh-CN" altLang="en-US" sz="1200" b="1"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9" name="线形标注 2 8"/>
          <p:cNvSpPr/>
          <p:nvPr/>
        </p:nvSpPr>
        <p:spPr bwMode="auto">
          <a:xfrm>
            <a:off x="7320136" y="4077072"/>
            <a:ext cx="1944216" cy="720080"/>
          </a:xfrm>
          <a:prstGeom prst="borderCallout2">
            <a:avLst>
              <a:gd name="adj1" fmla="val 18750"/>
              <a:gd name="adj2" fmla="val -8333"/>
              <a:gd name="adj3" fmla="val 18750"/>
              <a:gd name="adj4" fmla="val -16667"/>
              <a:gd name="adj5" fmla="val 113912"/>
              <a:gd name="adj6" fmla="val -104615"/>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50000"/>
              </a:spcBef>
              <a:spcAft>
                <a:spcPct val="0"/>
              </a:spcAft>
              <a:buClr>
                <a:schemeClr val="tx1"/>
              </a:buClr>
              <a:buSzTx/>
              <a:buFont typeface="Wingdings" pitchFamily="2" charset="2"/>
              <a:buNone/>
              <a:tabLst/>
            </a:pPr>
            <a:r>
              <a:rPr kumimoji="0" lang="zh-CN" altLang="en-US" sz="1200" b="1" i="0" u="none" strike="noStrike" cap="none" normalizeH="0" baseline="0" dirty="0" smtClean="0">
                <a:ln>
                  <a:noFill/>
                </a:ln>
                <a:solidFill>
                  <a:schemeClr val="tx1"/>
                </a:solidFill>
                <a:effectLst/>
                <a:latin typeface="微软雅黑" pitchFamily="34" charset="-122"/>
                <a:ea typeface="微软雅黑" pitchFamily="34" charset="-122"/>
              </a:rPr>
              <a:t>无可复用的服务，新增：</a:t>
            </a:r>
            <a:endParaRPr kumimoji="0" lang="en-US" altLang="zh-CN" sz="1200" b="1" i="0" u="none" strike="noStrike" cap="none" normalizeH="0" baseline="0" dirty="0" smtClean="0">
              <a:ln>
                <a:noFill/>
              </a:ln>
              <a:solidFill>
                <a:schemeClr val="tx1"/>
              </a:solidFill>
              <a:effectLst/>
              <a:latin typeface="微软雅黑" pitchFamily="34" charset="-122"/>
              <a:ea typeface="微软雅黑" pitchFamily="34" charset="-122"/>
            </a:endParaRPr>
          </a:p>
          <a:p>
            <a:pPr fontAlgn="base">
              <a:spcBef>
                <a:spcPct val="50000"/>
              </a:spcBef>
              <a:spcAft>
                <a:spcPct val="0"/>
              </a:spcAft>
              <a:buClr>
                <a:schemeClr val="tx1"/>
              </a:buClr>
            </a:pPr>
            <a:r>
              <a:rPr lang="zh-CN" altLang="en-US" sz="1200" b="1" dirty="0" smtClean="0">
                <a:latin typeface="微软雅黑" pitchFamily="34" charset="-122"/>
                <a:ea typeface="微软雅黑" pitchFamily="34" charset="-122"/>
              </a:rPr>
              <a:t>服务：</a:t>
            </a:r>
            <a:r>
              <a:rPr lang="zh-CN" altLang="en-US" sz="1200" b="1" dirty="0" smtClean="0">
                <a:solidFill>
                  <a:srgbClr val="000000"/>
                </a:solidFill>
                <a:latin typeface="微软雅黑" pitchFamily="34" charset="-122"/>
                <a:ea typeface="微软雅黑" pitchFamily="34" charset="-122"/>
              </a:rPr>
              <a:t>实物贵金属购买</a:t>
            </a:r>
            <a:br>
              <a:rPr lang="zh-CN" altLang="en-US" sz="1200" b="1" dirty="0" smtClean="0">
                <a:solidFill>
                  <a:srgbClr val="000000"/>
                </a:solidFill>
                <a:latin typeface="微软雅黑" pitchFamily="34" charset="-122"/>
                <a:ea typeface="微软雅黑" pitchFamily="34" charset="-122"/>
              </a:rPr>
            </a:br>
            <a:r>
              <a:rPr kumimoji="0" lang="zh-CN" altLang="en-US" sz="1200" b="1" i="0" u="none" strike="noStrike" cap="none" normalizeH="0" baseline="0" dirty="0" smtClean="0">
                <a:ln>
                  <a:noFill/>
                </a:ln>
                <a:solidFill>
                  <a:schemeClr val="tx1"/>
                </a:solidFill>
                <a:effectLst/>
                <a:latin typeface="微软雅黑" pitchFamily="34" charset="-122"/>
                <a:ea typeface="微软雅黑" pitchFamily="34" charset="-122"/>
              </a:rPr>
              <a:t>操作：</a:t>
            </a:r>
            <a:r>
              <a:rPr lang="zh-CN" altLang="en-US" sz="1200" b="1" dirty="0" smtClean="0">
                <a:solidFill>
                  <a:srgbClr val="000000"/>
                </a:solidFill>
                <a:latin typeface="微软雅黑" pitchFamily="34" charset="-122"/>
                <a:ea typeface="微软雅黑" pitchFamily="34" charset="-122"/>
              </a:rPr>
              <a:t>现货出售</a:t>
            </a:r>
            <a:endParaRPr kumimoji="0" lang="zh-CN" altLang="en-US" sz="1200" b="1" i="0" u="none" strike="noStrike" cap="none" normalizeH="0" baseline="0" dirty="0" smtClean="0">
              <a:ln>
                <a:noFill/>
              </a:ln>
              <a:solidFill>
                <a:schemeClr val="tx1"/>
              </a:solidFill>
              <a:effectLst/>
              <a:latin typeface="微软雅黑" pitchFamily="34" charset="-122"/>
              <a:ea typeface="微软雅黑" pitchFamily="34" charset="-122"/>
            </a:endParaRPr>
          </a:p>
        </p:txBody>
      </p:sp>
      <p:sp>
        <p:nvSpPr>
          <p:cNvPr id="10" name="TextBox 11"/>
          <p:cNvSpPr txBox="1"/>
          <p:nvPr/>
        </p:nvSpPr>
        <p:spPr>
          <a:xfrm rot="20826188">
            <a:off x="5853192" y="2667231"/>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86132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childTnLst>
                          </p:cTn>
                        </p:par>
                        <p:par>
                          <p:cTn id="12" fill="hold">
                            <p:stCondLst>
                              <p:cond delay="0"/>
                            </p:stCondLst>
                            <p:childTnLst>
                              <p:par>
                                <p:cTn id="13" presetID="3" presetClass="entr" presetSubtype="1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9"/>
                                        </p:tgtEl>
                                        <p:attrNameLst>
                                          <p:attrName>style.visibility</p:attrName>
                                        </p:attrNameLst>
                                      </p:cBhvr>
                                      <p:to>
                                        <p:strVal val="hidden"/>
                                      </p:to>
                                    </p:set>
                                  </p:childTnLst>
                                </p:cTn>
                              </p:par>
                            </p:childTnLst>
                          </p:cTn>
                        </p:par>
                        <p:par>
                          <p:cTn id="20" fill="hold">
                            <p:stCondLst>
                              <p:cond delay="0"/>
                            </p:stCondLst>
                            <p:childTnLst>
                              <p:par>
                                <p:cTn id="21" presetID="3" presetClass="entr" presetSubtype="1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9" grpId="0" animBg="1"/>
      <p:bldP spid="9"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4" name="矩形 3"/>
          <p:cNvSpPr/>
          <p:nvPr/>
        </p:nvSpPr>
        <p:spPr>
          <a:xfrm>
            <a:off x="2148670" y="1331476"/>
            <a:ext cx="2768224" cy="338554"/>
          </a:xfrm>
          <a:prstGeom prst="rect">
            <a:avLst/>
          </a:prstGeom>
        </p:spPr>
        <p:txBody>
          <a:bodyPr wrap="square">
            <a:spAutoFit/>
          </a:bodyPr>
          <a:lstStyle/>
          <a:p>
            <a:pPr marL="144000" indent="360000">
              <a:buFont typeface="Wingdings" pitchFamily="2" charset="2"/>
              <a:buChar char="l"/>
            </a:pPr>
            <a:r>
              <a:rPr lang="en-US" altLang="zh-CN" sz="1600" dirty="0" smtClean="0">
                <a:solidFill>
                  <a:srgbClr val="000000"/>
                </a:solidFill>
                <a:latin typeface="微软雅黑" pitchFamily="34" charset="-122"/>
                <a:ea typeface="微软雅黑" pitchFamily="34" charset="-122"/>
              </a:rPr>
              <a:t>《</a:t>
            </a:r>
            <a:r>
              <a:rPr lang="zh-CN" altLang="en-US" sz="1600" dirty="0" smtClean="0">
                <a:solidFill>
                  <a:srgbClr val="000000"/>
                </a:solidFill>
                <a:latin typeface="微软雅黑" pitchFamily="34" charset="-122"/>
                <a:ea typeface="微软雅黑" pitchFamily="34" charset="-122"/>
              </a:rPr>
              <a:t>服务接口定义</a:t>
            </a:r>
            <a:r>
              <a:rPr lang="en-US" altLang="zh-CN" sz="1600" dirty="0" smtClean="0">
                <a:solidFill>
                  <a:srgbClr val="000000"/>
                </a:solidFill>
                <a:latin typeface="微软雅黑" pitchFamily="34" charset="-122"/>
                <a:ea typeface="微软雅黑" pitchFamily="34" charset="-122"/>
              </a:rPr>
              <a:t>》</a:t>
            </a:r>
            <a:endParaRPr lang="zh-CN" altLang="en-US" sz="1600" dirty="0" smtClean="0">
              <a:solidFill>
                <a:srgbClr val="000000"/>
              </a:solidFill>
              <a:latin typeface="微软雅黑" pitchFamily="34" charset="-122"/>
              <a:ea typeface="微软雅黑" pitchFamily="34" charset="-122"/>
            </a:endParaRPr>
          </a:p>
        </p:txBody>
      </p:sp>
      <p:sp>
        <p:nvSpPr>
          <p:cNvPr id="5" name="矩形 4"/>
          <p:cNvSpPr/>
          <p:nvPr/>
        </p:nvSpPr>
        <p:spPr>
          <a:xfrm>
            <a:off x="2567608" y="4355812"/>
            <a:ext cx="3456384" cy="338554"/>
          </a:xfrm>
          <a:prstGeom prst="rect">
            <a:avLst/>
          </a:prstGeom>
        </p:spPr>
        <p:txBody>
          <a:bodyPr wrap="square">
            <a:spAutoFit/>
          </a:bodyPr>
          <a:lstStyle/>
          <a:p>
            <a:pPr marL="144000" indent="360000">
              <a:buFont typeface="Wingdings" pitchFamily="2" charset="2"/>
              <a:buChar char="l"/>
            </a:pPr>
            <a:r>
              <a:rPr lang="en-US" altLang="zh-CN" sz="1600" dirty="0" smtClean="0">
                <a:solidFill>
                  <a:srgbClr val="000000"/>
                </a:solidFill>
                <a:latin typeface="微软雅黑" pitchFamily="34" charset="-122"/>
                <a:ea typeface="微软雅黑" pitchFamily="34" charset="-122"/>
              </a:rPr>
              <a:t>《</a:t>
            </a:r>
            <a:r>
              <a:rPr lang="zh-CN" altLang="en-US" sz="1600" dirty="0" smtClean="0">
                <a:solidFill>
                  <a:srgbClr val="000000"/>
                </a:solidFill>
                <a:latin typeface="微软雅黑" pitchFamily="34" charset="-122"/>
                <a:ea typeface="微软雅黑" pitchFamily="34" charset="-122"/>
              </a:rPr>
              <a:t>元数据字典</a:t>
            </a:r>
            <a:r>
              <a:rPr lang="en-US" altLang="zh-CN" sz="1600" dirty="0" smtClean="0">
                <a:solidFill>
                  <a:srgbClr val="000000"/>
                </a:solidFill>
                <a:latin typeface="微软雅黑" pitchFamily="34" charset="-122"/>
                <a:ea typeface="微软雅黑" pitchFamily="34" charset="-122"/>
              </a:rPr>
              <a:t>》</a:t>
            </a:r>
            <a:endParaRPr lang="zh-CN" altLang="en-US" sz="1600" dirty="0" smtClean="0">
              <a:solidFill>
                <a:srgbClr val="000000"/>
              </a:solidFill>
              <a:latin typeface="微软雅黑" pitchFamily="34" charset="-122"/>
              <a:ea typeface="微软雅黑" pitchFamily="34" charset="-122"/>
            </a:endParaRPr>
          </a:p>
        </p:txBody>
      </p:sp>
      <p:pic>
        <p:nvPicPr>
          <p:cNvPr id="6" name="Picture 2"/>
          <p:cNvPicPr>
            <a:picLocks noChangeAspect="1" noChangeArrowheads="1"/>
          </p:cNvPicPr>
          <p:nvPr/>
        </p:nvPicPr>
        <p:blipFill>
          <a:blip r:embed="rId3" cstate="print"/>
          <a:srcRect/>
          <a:stretch>
            <a:fillRect/>
          </a:stretch>
        </p:blipFill>
        <p:spPr bwMode="auto">
          <a:xfrm>
            <a:off x="1703513" y="4725144"/>
            <a:ext cx="4536504" cy="1704975"/>
          </a:xfrm>
          <a:prstGeom prst="rect">
            <a:avLst/>
          </a:prstGeom>
          <a:noFill/>
          <a:ln w="9525">
            <a:solidFill>
              <a:schemeClr val="accent1"/>
            </a:solidFill>
            <a:miter lim="800000"/>
            <a:headEnd/>
            <a:tailEnd/>
          </a:ln>
        </p:spPr>
      </p:pic>
      <p:pic>
        <p:nvPicPr>
          <p:cNvPr id="7" name="Picture 3"/>
          <p:cNvPicPr>
            <a:picLocks noChangeAspect="1" noChangeArrowheads="1"/>
          </p:cNvPicPr>
          <p:nvPr/>
        </p:nvPicPr>
        <p:blipFill>
          <a:blip r:embed="rId4" cstate="print"/>
          <a:srcRect/>
          <a:stretch>
            <a:fillRect/>
          </a:stretch>
        </p:blipFill>
        <p:spPr bwMode="auto">
          <a:xfrm>
            <a:off x="6298134" y="4725144"/>
            <a:ext cx="4046338" cy="1728192"/>
          </a:xfrm>
          <a:prstGeom prst="rect">
            <a:avLst/>
          </a:prstGeom>
          <a:noFill/>
          <a:ln w="9525">
            <a:solidFill>
              <a:schemeClr val="accent1"/>
            </a:solidFill>
            <a:miter lim="800000"/>
            <a:headEnd/>
            <a:tailEnd/>
          </a:ln>
        </p:spPr>
      </p:pic>
      <p:pic>
        <p:nvPicPr>
          <p:cNvPr id="8" name="Picture 4"/>
          <p:cNvPicPr>
            <a:picLocks noChangeAspect="1" noChangeArrowheads="1"/>
          </p:cNvPicPr>
          <p:nvPr/>
        </p:nvPicPr>
        <p:blipFill>
          <a:blip r:embed="rId5" cstate="print"/>
          <a:srcRect/>
          <a:stretch>
            <a:fillRect/>
          </a:stretch>
        </p:blipFill>
        <p:spPr bwMode="auto">
          <a:xfrm>
            <a:off x="1728217" y="1700808"/>
            <a:ext cx="8591550" cy="2592288"/>
          </a:xfrm>
          <a:prstGeom prst="rect">
            <a:avLst/>
          </a:prstGeom>
          <a:noFill/>
          <a:ln w="9525">
            <a:solidFill>
              <a:schemeClr val="accent1"/>
            </a:solidFill>
            <a:miter lim="800000"/>
            <a:headEnd/>
            <a:tailEnd/>
          </a:ln>
        </p:spPr>
      </p:pic>
      <p:sp>
        <p:nvSpPr>
          <p:cNvPr id="9" name="标题 4"/>
          <p:cNvSpPr txBox="1">
            <a:spLocks/>
          </p:cNvSpPr>
          <p:nvPr/>
        </p:nvSpPr>
        <p:spPr>
          <a:xfrm>
            <a:off x="2246328" y="836712"/>
            <a:ext cx="831416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服务设计（</a:t>
            </a:r>
            <a:r>
              <a:rPr lang="en-US" altLang="zh-CN" sz="2400" dirty="0" smtClean="0">
                <a:solidFill>
                  <a:srgbClr val="00246C"/>
                </a:solidFill>
                <a:latin typeface="微软雅黑" pitchFamily="34" charset="-122"/>
                <a:ea typeface="微软雅黑" pitchFamily="34" charset="-122"/>
              </a:rPr>
              <a:t>1</a:t>
            </a:r>
            <a:r>
              <a:rPr lang="zh-CN" altLang="en-US" sz="2400" dirty="0" smtClean="0">
                <a:solidFill>
                  <a:srgbClr val="00246C"/>
                </a:solidFill>
                <a:latin typeface="微软雅黑" pitchFamily="34" charset="-122"/>
                <a:ea typeface="微软雅黑" pitchFamily="34" charset="-122"/>
              </a:rPr>
              <a:t>）</a:t>
            </a:r>
            <a:endParaRPr lang="zh-CN" altLang="en-US" sz="2400" dirty="0">
              <a:solidFill>
                <a:srgbClr val="FF0000"/>
              </a:solidFill>
              <a:latin typeface="微软雅黑" pitchFamily="34" charset="-122"/>
              <a:ea typeface="微软雅黑" pitchFamily="34" charset="-122"/>
              <a:cs typeface="+mj-cs"/>
            </a:endParaRPr>
          </a:p>
        </p:txBody>
      </p:sp>
      <p:sp>
        <p:nvSpPr>
          <p:cNvPr id="10" name="线形标注 2 9"/>
          <p:cNvSpPr/>
          <p:nvPr/>
        </p:nvSpPr>
        <p:spPr bwMode="auto">
          <a:xfrm>
            <a:off x="3575720" y="2420888"/>
            <a:ext cx="1872208" cy="504056"/>
          </a:xfrm>
          <a:prstGeom prst="borderCallout2">
            <a:avLst>
              <a:gd name="adj1" fmla="val 36891"/>
              <a:gd name="adj2" fmla="val 102258"/>
              <a:gd name="adj3" fmla="val 40189"/>
              <a:gd name="adj4" fmla="val 102655"/>
              <a:gd name="adj5" fmla="val 140536"/>
              <a:gd name="adj6" fmla="val 220147"/>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zh-CN" sz="1200" b="1" dirty="0" smtClean="0">
                <a:latin typeface="微软雅黑" pitchFamily="34" charset="-122"/>
                <a:ea typeface="微软雅黑" pitchFamily="34" charset="-122"/>
              </a:rPr>
              <a:t>服务合约必须明确，减少使用中的发生误解的可能</a:t>
            </a:r>
            <a:endParaRPr lang="zh-CN" altLang="zh-CN" sz="1200" b="1" dirty="0">
              <a:latin typeface="微软雅黑" pitchFamily="34" charset="-122"/>
              <a:ea typeface="微软雅黑" pitchFamily="34" charset="-122"/>
            </a:endParaRPr>
          </a:p>
        </p:txBody>
      </p:sp>
      <p:sp>
        <p:nvSpPr>
          <p:cNvPr id="11" name="线形标注 2 10"/>
          <p:cNvSpPr/>
          <p:nvPr/>
        </p:nvSpPr>
        <p:spPr bwMode="auto">
          <a:xfrm>
            <a:off x="5087888" y="3861048"/>
            <a:ext cx="1872208" cy="720080"/>
          </a:xfrm>
          <a:prstGeom prst="borderCallout2">
            <a:avLst>
              <a:gd name="adj1" fmla="val 228430"/>
              <a:gd name="adj2" fmla="val 104795"/>
              <a:gd name="adj3" fmla="val 103800"/>
              <a:gd name="adj4" fmla="val 52546"/>
              <a:gd name="adj5" fmla="val 208387"/>
              <a:gd name="adj6" fmla="val -24056"/>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zh-CN" sz="1200" b="1" dirty="0" smtClean="0">
                <a:latin typeface="微软雅黑" pitchFamily="34" charset="-122"/>
                <a:ea typeface="微软雅黑" pitchFamily="34" charset="-122"/>
              </a:rPr>
              <a:t>元数据、标准代码使用遵循</a:t>
            </a:r>
            <a:r>
              <a:rPr lang="en-US" altLang="zh-CN" sz="1200" b="1" dirty="0" smtClean="0">
                <a:latin typeface="微软雅黑" pitchFamily="34" charset="-122"/>
                <a:ea typeface="微软雅黑" pitchFamily="34" charset="-122"/>
              </a:rPr>
              <a:t>《</a:t>
            </a:r>
            <a:r>
              <a:rPr lang="zh-CN" altLang="zh-CN" sz="1200" b="1" dirty="0" smtClean="0">
                <a:latin typeface="微软雅黑" pitchFamily="34" charset="-122"/>
                <a:ea typeface="微软雅黑" pitchFamily="34" charset="-122"/>
              </a:rPr>
              <a:t>服务治理指导规范</a:t>
            </a:r>
            <a:r>
              <a:rPr lang="en-US" altLang="zh-CN" sz="1200" b="1" dirty="0" smtClean="0">
                <a:latin typeface="微软雅黑" pitchFamily="34" charset="-122"/>
                <a:ea typeface="微软雅黑" pitchFamily="34" charset="-122"/>
              </a:rPr>
              <a:t>》</a:t>
            </a:r>
            <a:r>
              <a:rPr lang="zh-CN" altLang="zh-CN" sz="1200" b="1" dirty="0" smtClean="0">
                <a:latin typeface="微软雅黑" pitchFamily="34" charset="-122"/>
                <a:ea typeface="微软雅黑" pitchFamily="34" charset="-122"/>
              </a:rPr>
              <a:t>使用</a:t>
            </a:r>
            <a:endParaRPr lang="zh-CN" altLang="zh-CN" sz="1200" b="1" dirty="0">
              <a:latin typeface="微软雅黑" pitchFamily="34" charset="-122"/>
              <a:ea typeface="微软雅黑" pitchFamily="34" charset="-122"/>
            </a:endParaRPr>
          </a:p>
        </p:txBody>
      </p:sp>
      <p:sp>
        <p:nvSpPr>
          <p:cNvPr id="12" name="TextBox 16"/>
          <p:cNvSpPr txBox="1"/>
          <p:nvPr/>
        </p:nvSpPr>
        <p:spPr>
          <a:xfrm rot="20826188">
            <a:off x="8676894" y="1392545"/>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
        <p:nvSpPr>
          <p:cNvPr id="13" name="矩形 12"/>
          <p:cNvSpPr/>
          <p:nvPr/>
        </p:nvSpPr>
        <p:spPr>
          <a:xfrm>
            <a:off x="6809810" y="4357694"/>
            <a:ext cx="3456384" cy="338554"/>
          </a:xfrm>
          <a:prstGeom prst="rect">
            <a:avLst/>
          </a:prstGeom>
        </p:spPr>
        <p:txBody>
          <a:bodyPr wrap="square">
            <a:spAutoFit/>
          </a:bodyPr>
          <a:lstStyle/>
          <a:p>
            <a:pPr marL="144000" indent="360000">
              <a:buFont typeface="Wingdings" pitchFamily="2" charset="2"/>
              <a:buChar char="l"/>
            </a:pPr>
            <a:r>
              <a:rPr lang="en-US" altLang="zh-CN" sz="1600" dirty="0" smtClean="0">
                <a:solidFill>
                  <a:srgbClr val="000000"/>
                </a:solidFill>
                <a:latin typeface="微软雅黑" pitchFamily="34" charset="-122"/>
                <a:ea typeface="微软雅黑" pitchFamily="34" charset="-122"/>
              </a:rPr>
              <a:t>《</a:t>
            </a:r>
            <a:r>
              <a:rPr lang="zh-CN" altLang="en-US" sz="1600" dirty="0" smtClean="0">
                <a:solidFill>
                  <a:srgbClr val="000000"/>
                </a:solidFill>
                <a:latin typeface="微软雅黑" pitchFamily="34" charset="-122"/>
                <a:ea typeface="微软雅黑" pitchFamily="34" charset="-122"/>
              </a:rPr>
              <a:t>标准代码表</a:t>
            </a:r>
            <a:r>
              <a:rPr lang="en-US" altLang="zh-CN" sz="1600" dirty="0" smtClean="0">
                <a:solidFill>
                  <a:srgbClr val="000000"/>
                </a:solidFill>
                <a:latin typeface="微软雅黑" pitchFamily="34" charset="-122"/>
                <a:ea typeface="微软雅黑" pitchFamily="34" charset="-122"/>
              </a:rPr>
              <a:t>》</a:t>
            </a:r>
            <a:endParaRPr lang="zh-CN" altLang="en-US" sz="1600" dirty="0" smtClean="0"/>
          </a:p>
        </p:txBody>
      </p:sp>
    </p:spTree>
    <p:extLst>
      <p:ext uri="{BB962C8B-B14F-4D97-AF65-F5344CB8AC3E}">
        <p14:creationId xmlns:p14="http://schemas.microsoft.com/office/powerpoint/2010/main" val="29724388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4" name="TextBox 4"/>
          <p:cNvSpPr txBox="1"/>
          <p:nvPr/>
        </p:nvSpPr>
        <p:spPr>
          <a:xfrm>
            <a:off x="2207568" y="2149751"/>
            <a:ext cx="2666114" cy="369332"/>
          </a:xfrm>
          <a:prstGeom prst="rect">
            <a:avLst/>
          </a:prstGeom>
          <a:noFill/>
        </p:spPr>
        <p:txBody>
          <a:bodyPr wrap="none" rtlCol="0">
            <a:spAutoFit/>
          </a:bodyPr>
          <a:lstStyle/>
          <a:p>
            <a:pPr>
              <a:buFont typeface="Wingdings" pitchFamily="2" charset="2"/>
              <a:buChar char="l"/>
            </a:pPr>
            <a:r>
              <a:rPr lang="zh-CN" altLang="en-US" dirty="0" smtClean="0">
                <a:latin typeface="微软雅黑" pitchFamily="34" charset="-122"/>
                <a:ea typeface="微软雅黑" pitchFamily="34" charset="-122"/>
              </a:rPr>
              <a:t>服务接口依赖关系视图</a:t>
            </a:r>
          </a:p>
        </p:txBody>
      </p:sp>
      <p:graphicFrame>
        <p:nvGraphicFramePr>
          <p:cNvPr id="5" name="表格 4"/>
          <p:cNvGraphicFramePr>
            <a:graphicFrameLocks noGrp="1"/>
          </p:cNvGraphicFramePr>
          <p:nvPr>
            <p:extLst>
              <p:ext uri="{D42A27DB-BD31-4B8C-83A1-F6EECF244321}">
                <p14:modId xmlns:p14="http://schemas.microsoft.com/office/powerpoint/2010/main" val="2115409769"/>
              </p:ext>
            </p:extLst>
          </p:nvPr>
        </p:nvGraphicFramePr>
        <p:xfrm>
          <a:off x="2162920" y="2879521"/>
          <a:ext cx="7786742" cy="1557591"/>
        </p:xfrm>
        <a:graphic>
          <a:graphicData uri="http://schemas.openxmlformats.org/drawingml/2006/table">
            <a:tbl>
              <a:tblPr/>
              <a:tblGrid>
                <a:gridCol w="501385"/>
                <a:gridCol w="816179"/>
                <a:gridCol w="624038"/>
                <a:gridCol w="575290"/>
                <a:gridCol w="681247"/>
                <a:gridCol w="695248"/>
                <a:gridCol w="834297"/>
                <a:gridCol w="1390495"/>
                <a:gridCol w="1668563"/>
              </a:tblGrid>
              <a:tr h="860774">
                <a:tc>
                  <a:txBody>
                    <a:bodyPr/>
                    <a:lstStyle/>
                    <a:p>
                      <a:pPr algn="ctr" fontAlgn="ctr"/>
                      <a:r>
                        <a:rPr lang="zh-CN" altLang="en-US" sz="1100" b="1" i="0" u="none" strike="noStrike" dirty="0">
                          <a:solidFill>
                            <a:srgbClr val="FFFFFF"/>
                          </a:solidFill>
                          <a:latin typeface="微软雅黑" pitchFamily="34" charset="-122"/>
                          <a:ea typeface="微软雅黑" pitchFamily="34" charset="-122"/>
                        </a:rPr>
                        <a:t>发起方系统</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a:solidFill>
                            <a:srgbClr val="FFFFFF"/>
                          </a:solidFill>
                          <a:latin typeface="微软雅黑" pitchFamily="34" charset="-122"/>
                          <a:ea typeface="微软雅黑" pitchFamily="34" charset="-122"/>
                        </a:rPr>
                        <a:t>发起</a:t>
                      </a:r>
                      <a:r>
                        <a:rPr lang="zh-CN" altLang="en-US" sz="1100" b="1" i="0" u="none" strike="noStrike" dirty="0" smtClean="0">
                          <a:solidFill>
                            <a:srgbClr val="FFFFFF"/>
                          </a:solidFill>
                          <a:latin typeface="微软雅黑" pitchFamily="34" charset="-122"/>
                          <a:ea typeface="微软雅黑" pitchFamily="34" charset="-122"/>
                        </a:rPr>
                        <a:t>方</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交易</a:t>
                      </a:r>
                      <a:r>
                        <a:rPr lang="zh-CN" altLang="en-US" sz="1100" b="1" i="0" u="none" strike="noStrike" dirty="0">
                          <a:solidFill>
                            <a:srgbClr val="FFFFFF"/>
                          </a:solidFill>
                          <a:latin typeface="微软雅黑" pitchFamily="34" charset="-122"/>
                          <a:ea typeface="微软雅黑" pitchFamily="34" charset="-122"/>
                        </a:rPr>
                        <a:t>码</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交易</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名称</a:t>
                      </a:r>
                      <a:endParaRPr lang="zh-CN" altLang="en-US" sz="1100" b="1" i="0" u="none" strike="noStrike" dirty="0">
                        <a:solidFill>
                          <a:srgbClr val="FFFFFF"/>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目标</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系统</a:t>
                      </a:r>
                      <a:r>
                        <a:rPr lang="en-US" altLang="zh-CN" sz="1100" b="1" i="0" u="none" strike="noStrike" dirty="0">
                          <a:solidFill>
                            <a:srgbClr val="FFFFFF"/>
                          </a:solidFill>
                          <a:latin typeface="微软雅黑" pitchFamily="34" charset="-122"/>
                          <a:ea typeface="微软雅黑" pitchFamily="34" charset="-122"/>
                        </a:rPr>
                        <a:t>1</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目标系统</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交易</a:t>
                      </a:r>
                      <a:r>
                        <a:rPr lang="zh-CN" altLang="en-US" sz="1100" b="1" i="0" u="none" strike="noStrike" dirty="0">
                          <a:solidFill>
                            <a:srgbClr val="FFFFFF"/>
                          </a:solidFill>
                          <a:latin typeface="微软雅黑" pitchFamily="34" charset="-122"/>
                          <a:ea typeface="微软雅黑" pitchFamily="34" charset="-122"/>
                        </a:rPr>
                        <a:t>码</a:t>
                      </a:r>
                      <a:r>
                        <a:rPr lang="en-US" altLang="zh-CN" sz="1100" b="1" i="0" u="none" strike="noStrike" dirty="0">
                          <a:solidFill>
                            <a:srgbClr val="FFFFFF"/>
                          </a:solidFill>
                          <a:latin typeface="微软雅黑" pitchFamily="34" charset="-122"/>
                          <a:ea typeface="微软雅黑" pitchFamily="34" charset="-122"/>
                        </a:rPr>
                        <a:t>1</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目标系统</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交易</a:t>
                      </a:r>
                      <a:r>
                        <a:rPr lang="zh-CN" altLang="en-US" sz="1100" b="1" i="0" u="none" strike="noStrike" dirty="0">
                          <a:solidFill>
                            <a:srgbClr val="FFFFFF"/>
                          </a:solidFill>
                          <a:latin typeface="微软雅黑" pitchFamily="34" charset="-122"/>
                          <a:ea typeface="微软雅黑" pitchFamily="34" charset="-122"/>
                        </a:rPr>
                        <a:t>名称</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目标</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系统</a:t>
                      </a:r>
                      <a:r>
                        <a:rPr lang="en-US" altLang="zh-CN" sz="1100" b="1" i="0" u="none" strike="noStrike" dirty="0">
                          <a:solidFill>
                            <a:srgbClr val="FFFFFF"/>
                          </a:solidFill>
                          <a:latin typeface="微软雅黑" pitchFamily="34" charset="-122"/>
                          <a:ea typeface="微软雅黑" pitchFamily="34" charset="-122"/>
                        </a:rPr>
                        <a:t>2</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目标系统</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交易</a:t>
                      </a:r>
                      <a:r>
                        <a:rPr lang="zh-CN" altLang="en-US" sz="1100" b="1" i="0" u="none" strike="noStrike" dirty="0">
                          <a:solidFill>
                            <a:srgbClr val="FFFFFF"/>
                          </a:solidFill>
                          <a:latin typeface="微软雅黑" pitchFamily="34" charset="-122"/>
                          <a:ea typeface="微软雅黑" pitchFamily="34" charset="-122"/>
                        </a:rPr>
                        <a:t>码</a:t>
                      </a:r>
                      <a:r>
                        <a:rPr lang="en-US" altLang="zh-CN" sz="1100" b="1" i="0" u="none" strike="noStrike" dirty="0">
                          <a:solidFill>
                            <a:srgbClr val="FFFFFF"/>
                          </a:solidFill>
                          <a:latin typeface="微软雅黑" pitchFamily="34" charset="-122"/>
                          <a:ea typeface="微软雅黑" pitchFamily="34" charset="-122"/>
                        </a:rPr>
                        <a:t>2</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fontAlgn="ctr"/>
                      <a:r>
                        <a:rPr lang="zh-CN" altLang="en-US" sz="1100" b="1" i="0" u="none" strike="noStrike" dirty="0" smtClean="0">
                          <a:solidFill>
                            <a:srgbClr val="FFFFFF"/>
                          </a:solidFill>
                          <a:latin typeface="微软雅黑" pitchFamily="34" charset="-122"/>
                          <a:ea typeface="微软雅黑" pitchFamily="34" charset="-122"/>
                        </a:rPr>
                        <a:t>目标系统</a:t>
                      </a:r>
                      <a:endParaRPr lang="en-US" altLang="zh-CN" sz="1100" b="1" i="0" u="none" strike="noStrike" dirty="0" smtClean="0">
                        <a:solidFill>
                          <a:srgbClr val="FFFFFF"/>
                        </a:solidFill>
                        <a:latin typeface="微软雅黑" pitchFamily="34" charset="-122"/>
                        <a:ea typeface="微软雅黑" pitchFamily="34" charset="-122"/>
                      </a:endParaRPr>
                    </a:p>
                    <a:p>
                      <a:pPr algn="ctr" fontAlgn="ctr"/>
                      <a:r>
                        <a:rPr lang="zh-CN" altLang="en-US" sz="1100" b="1" i="0" u="none" strike="noStrike" dirty="0" smtClean="0">
                          <a:solidFill>
                            <a:srgbClr val="FFFFFF"/>
                          </a:solidFill>
                          <a:latin typeface="微软雅黑" pitchFamily="34" charset="-122"/>
                          <a:ea typeface="微软雅黑" pitchFamily="34" charset="-122"/>
                        </a:rPr>
                        <a:t>交易</a:t>
                      </a:r>
                      <a:r>
                        <a:rPr lang="zh-CN" altLang="en-US" sz="1100" b="1" i="0" u="none" strike="noStrike" dirty="0">
                          <a:solidFill>
                            <a:srgbClr val="FFFFFF"/>
                          </a:solidFill>
                          <a:latin typeface="微软雅黑" pitchFamily="34" charset="-122"/>
                          <a:ea typeface="微软雅黑" pitchFamily="34" charset="-122"/>
                        </a:rPr>
                        <a:t>名称</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r>
              <a:tr h="368902">
                <a:tc rowSpan="2">
                  <a:txBody>
                    <a:bodyPr/>
                    <a:lstStyle/>
                    <a:p>
                      <a:pPr algn="ctr" fontAlgn="ctr"/>
                      <a:r>
                        <a:rPr lang="en-US" sz="1100" b="0" i="0" u="none" strike="noStrike" dirty="0">
                          <a:solidFill>
                            <a:srgbClr val="000000"/>
                          </a:solidFill>
                          <a:latin typeface="微软雅黑" pitchFamily="34" charset="-122"/>
                          <a:ea typeface="微软雅黑" pitchFamily="34" charset="-122"/>
                        </a:rPr>
                        <a:t>FES</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rowSpan="2">
                  <a:txBody>
                    <a:bodyPr/>
                    <a:lstStyle/>
                    <a:p>
                      <a:pPr algn="ctr" fontAlgn="ctr"/>
                      <a:r>
                        <a:rPr lang="en-US" sz="1100" b="0" i="0" u="none" strike="noStrike" dirty="0" err="1">
                          <a:solidFill>
                            <a:srgbClr val="000000"/>
                          </a:solidFill>
                          <a:latin typeface="微软雅黑" pitchFamily="34" charset="-122"/>
                          <a:ea typeface="微软雅黑" pitchFamily="34" charset="-122"/>
                        </a:rPr>
                        <a:t>SpotSale</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1100" b="0" i="0" u="none" strike="noStrike" dirty="0">
                          <a:solidFill>
                            <a:srgbClr val="000000"/>
                          </a:solidFill>
                          <a:latin typeface="微软雅黑" pitchFamily="34" charset="-122"/>
                          <a:ea typeface="微软雅黑" pitchFamily="34" charset="-122"/>
                        </a:rPr>
                        <a:t>现货出售</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smtClean="0">
                          <a:solidFill>
                            <a:srgbClr val="000000"/>
                          </a:solidFill>
                          <a:latin typeface="微软雅黑" pitchFamily="34" charset="-122"/>
                          <a:ea typeface="微软雅黑" pitchFamily="34" charset="-122"/>
                        </a:rPr>
                        <a:t>MMPP</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100" b="0" i="0" u="none" strike="noStrike" dirty="0" err="1" smtClean="0">
                          <a:solidFill>
                            <a:srgbClr val="000000"/>
                          </a:solidFill>
                          <a:latin typeface="微软雅黑" pitchFamily="34" charset="-122"/>
                          <a:ea typeface="微软雅黑" pitchFamily="34" charset="-122"/>
                        </a:rPr>
                        <a:t>SpotSale</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现货</a:t>
                      </a:r>
                      <a:r>
                        <a:rPr lang="zh-CN" altLang="en-US" sz="1100" b="0" i="0" u="none" strike="noStrike" dirty="0" smtClean="0">
                          <a:solidFill>
                            <a:srgbClr val="000000"/>
                          </a:solidFill>
                          <a:latin typeface="微软雅黑" pitchFamily="34" charset="-122"/>
                          <a:ea typeface="微软雅黑" pitchFamily="34" charset="-122"/>
                        </a:rPr>
                        <a:t>出售</a:t>
                      </a:r>
                      <a:endParaRPr lang="zh-CN" alt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核心系统</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en-US" sz="1100" b="0" i="0" u="none" strike="noStrike" dirty="0" err="1">
                          <a:solidFill>
                            <a:srgbClr val="000000"/>
                          </a:solidFill>
                          <a:latin typeface="微软雅黑" pitchFamily="34" charset="-122"/>
                          <a:ea typeface="微软雅黑" pitchFamily="34" charset="-122"/>
                        </a:rPr>
                        <a:t>AcctInfoQuery</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结算账户信息查询</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7915">
                <a:tc vMerge="1">
                  <a:txBody>
                    <a:bodyPr/>
                    <a:lstStyle/>
                    <a:p>
                      <a:pPr algn="ctr" fontAlgn="ctr"/>
                      <a:endParaRPr lang="en-US" sz="10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vMerge="1">
                  <a:txBody>
                    <a:bodyPr/>
                    <a:lstStyle/>
                    <a:p>
                      <a:pPr algn="l" fontAlgn="ctr"/>
                      <a:endParaRPr lang="en-US" sz="10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zh-CN" altLang="en-US" sz="10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smtClean="0">
                          <a:solidFill>
                            <a:srgbClr val="000000"/>
                          </a:solidFill>
                          <a:latin typeface="微软雅黑" pitchFamily="34" charset="-122"/>
                          <a:ea typeface="微软雅黑" pitchFamily="34" charset="-122"/>
                        </a:rPr>
                        <a:t>MMPP</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ctr" fontAlgn="ctr"/>
                      <a:r>
                        <a:rPr lang="en-US" sz="1100" b="0" i="0" u="none" strike="noStrike" dirty="0" err="1" smtClean="0">
                          <a:solidFill>
                            <a:srgbClr val="000000"/>
                          </a:solidFill>
                          <a:latin typeface="微软雅黑" pitchFamily="34" charset="-122"/>
                          <a:ea typeface="微软雅黑" pitchFamily="34" charset="-122"/>
                        </a:rPr>
                        <a:t>SpotSale</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现货</a:t>
                      </a:r>
                      <a:r>
                        <a:rPr lang="zh-CN" altLang="en-US" sz="1100" b="0" i="0" u="none" strike="noStrike" dirty="0" smtClean="0">
                          <a:solidFill>
                            <a:srgbClr val="000000"/>
                          </a:solidFill>
                          <a:latin typeface="微软雅黑" pitchFamily="34" charset="-122"/>
                          <a:ea typeface="微软雅黑" pitchFamily="34" charset="-122"/>
                        </a:rPr>
                        <a:t>出售</a:t>
                      </a:r>
                      <a:endParaRPr lang="zh-CN" alt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latin typeface="微软雅黑" pitchFamily="34" charset="-122"/>
                          <a:ea typeface="微软雅黑" pitchFamily="34" charset="-122"/>
                        </a:rPr>
                        <a:t>核心系统</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en-US" sz="1100" b="0" i="0" u="none" strike="noStrike" dirty="0" err="1" smtClean="0">
                          <a:solidFill>
                            <a:srgbClr val="000000"/>
                          </a:solidFill>
                          <a:latin typeface="微软雅黑" pitchFamily="34" charset="-122"/>
                          <a:ea typeface="微软雅黑" pitchFamily="34" charset="-122"/>
                        </a:rPr>
                        <a:t>RealTimeAcctingDea</a:t>
                      </a:r>
                      <a:endParaRPr lang="en-US" sz="1100" b="0" i="0" u="none" strike="noStrike" dirty="0">
                        <a:solidFill>
                          <a:srgbClr val="000000"/>
                        </a:solidFill>
                        <a:latin typeface="微软雅黑" pitchFamily="34" charset="-122"/>
                        <a:ea typeface="微软雅黑" pitchFamily="34" charset="-122"/>
                      </a:endParaRP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latin typeface="微软雅黑" pitchFamily="34" charset="-122"/>
                          <a:ea typeface="微软雅黑" pitchFamily="34" charset="-122"/>
                        </a:rPr>
                        <a:t>代客代理实时记账处理</a:t>
                      </a:r>
                    </a:p>
                  </a:txBody>
                  <a:tcPr marL="5354" marR="5354" marT="5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标题 4"/>
          <p:cNvSpPr txBox="1">
            <a:spLocks/>
          </p:cNvSpPr>
          <p:nvPr/>
        </p:nvSpPr>
        <p:spPr>
          <a:xfrm>
            <a:off x="2135560" y="1601071"/>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实物贵金属现货购买</a:t>
            </a:r>
            <a:r>
              <a:rPr lang="en-US" altLang="zh-CN" sz="2400" dirty="0" smtClean="0">
                <a:solidFill>
                  <a:srgbClr val="00246C"/>
                </a:solidFill>
                <a:latin typeface="微软雅黑" pitchFamily="34" charset="-122"/>
                <a:ea typeface="微软雅黑" pitchFamily="34" charset="-122"/>
              </a:rPr>
              <a:t>—</a:t>
            </a:r>
            <a:r>
              <a:rPr lang="zh-CN" altLang="en-US" sz="2400" dirty="0" smtClean="0">
                <a:solidFill>
                  <a:srgbClr val="00246C"/>
                </a:solidFill>
                <a:latin typeface="微软雅黑" pitchFamily="34" charset="-122"/>
                <a:ea typeface="微软雅黑" pitchFamily="34" charset="-122"/>
              </a:rPr>
              <a:t>服务设计（</a:t>
            </a:r>
            <a:r>
              <a:rPr lang="en-US" altLang="zh-CN" sz="2400" dirty="0" smtClean="0">
                <a:solidFill>
                  <a:srgbClr val="00246C"/>
                </a:solidFill>
                <a:latin typeface="微软雅黑" pitchFamily="34" charset="-122"/>
                <a:ea typeface="微软雅黑" pitchFamily="34" charset="-122"/>
              </a:rPr>
              <a:t>2</a:t>
            </a:r>
            <a:r>
              <a:rPr lang="zh-CN" altLang="en-US" sz="2400" dirty="0" smtClean="0">
                <a:solidFill>
                  <a:srgbClr val="00246C"/>
                </a:solidFill>
                <a:latin typeface="微软雅黑" pitchFamily="34" charset="-122"/>
                <a:ea typeface="微软雅黑" pitchFamily="34" charset="-122"/>
              </a:rPr>
              <a:t>）</a:t>
            </a:r>
            <a:endParaRPr lang="zh-CN" altLang="en-US" sz="2400" dirty="0">
              <a:solidFill>
                <a:srgbClr val="00246C"/>
              </a:solidFill>
              <a:latin typeface="微软雅黑" pitchFamily="34" charset="-122"/>
              <a:ea typeface="微软雅黑" pitchFamily="34" charset="-122"/>
              <a:cs typeface="+mj-cs"/>
            </a:endParaRPr>
          </a:p>
        </p:txBody>
      </p:sp>
      <p:sp>
        <p:nvSpPr>
          <p:cNvPr id="7" name="TextBox 7"/>
          <p:cNvSpPr txBox="1"/>
          <p:nvPr/>
        </p:nvSpPr>
        <p:spPr>
          <a:xfrm rot="20826188">
            <a:off x="5049073" y="3772023"/>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1150570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服务定义示例</a:t>
            </a:r>
            <a:r>
              <a:rPr lang="en-US" altLang="zh-CN" dirty="0" smtClean="0"/>
              <a:t>——</a:t>
            </a:r>
            <a:r>
              <a:rPr lang="zh-CN" altLang="en-US" dirty="0" smtClean="0"/>
              <a:t>实物贵金属现货购买</a:t>
            </a:r>
            <a:endParaRPr lang="en-US" dirty="0"/>
          </a:p>
        </p:txBody>
      </p:sp>
      <p:sp>
        <p:nvSpPr>
          <p:cNvPr id="8" name="TextBox 5"/>
          <p:cNvSpPr txBox="1"/>
          <p:nvPr/>
        </p:nvSpPr>
        <p:spPr>
          <a:xfrm>
            <a:off x="2415480" y="1714488"/>
            <a:ext cx="2204450" cy="369332"/>
          </a:xfrm>
          <a:prstGeom prst="rect">
            <a:avLst/>
          </a:prstGeom>
          <a:noFill/>
        </p:spPr>
        <p:txBody>
          <a:bodyPr wrap="none" rtlCol="0">
            <a:spAutoFit/>
          </a:bodyPr>
          <a:lstStyle/>
          <a:p>
            <a:pPr>
              <a:buFont typeface="Wingdings" pitchFamily="2" charset="2"/>
              <a:buChar char="n"/>
            </a:pPr>
            <a:r>
              <a:rPr lang="zh-CN" altLang="en-US" b="1" dirty="0" smtClean="0">
                <a:latin typeface="微软雅黑" pitchFamily="34" charset="-122"/>
                <a:ea typeface="微软雅黑" pitchFamily="34" charset="-122"/>
              </a:rPr>
              <a:t>导出服务技术文档</a:t>
            </a:r>
          </a:p>
        </p:txBody>
      </p:sp>
      <p:sp>
        <p:nvSpPr>
          <p:cNvPr id="9" name="标题 4"/>
          <p:cNvSpPr txBox="1">
            <a:spLocks/>
          </p:cNvSpPr>
          <p:nvPr/>
        </p:nvSpPr>
        <p:spPr>
          <a:xfrm>
            <a:off x="2388120" y="864096"/>
            <a:ext cx="7380288" cy="548680"/>
          </a:xfrm>
          <a:prstGeom prst="rect">
            <a:avLst/>
          </a:prstGeom>
        </p:spPr>
        <p:txBody>
          <a:bodyPr/>
          <a:lstStyle/>
          <a:p>
            <a:pPr marL="274638" indent="-247650">
              <a:spcBef>
                <a:spcPct val="0"/>
              </a:spcBef>
              <a:defRPr/>
            </a:pPr>
            <a:r>
              <a:rPr lang="zh-CN" altLang="en-US" sz="2400" dirty="0" smtClean="0">
                <a:solidFill>
                  <a:srgbClr val="00246C"/>
                </a:solidFill>
                <a:latin typeface="微软雅黑" pitchFamily="34" charset="-122"/>
                <a:ea typeface="微软雅黑" pitchFamily="34" charset="-122"/>
              </a:rPr>
              <a:t>服务设计（</a:t>
            </a:r>
            <a:r>
              <a:rPr lang="en-US" altLang="zh-CN" sz="2400" dirty="0" smtClean="0">
                <a:solidFill>
                  <a:srgbClr val="00246C"/>
                </a:solidFill>
                <a:latin typeface="微软雅黑" pitchFamily="34" charset="-122"/>
                <a:ea typeface="微软雅黑" pitchFamily="34" charset="-122"/>
              </a:rPr>
              <a:t>3</a:t>
            </a:r>
            <a:r>
              <a:rPr lang="zh-CN" altLang="en-US" sz="2400" dirty="0" smtClean="0">
                <a:solidFill>
                  <a:srgbClr val="00246C"/>
                </a:solidFill>
                <a:latin typeface="微软雅黑" pitchFamily="34" charset="-122"/>
                <a:ea typeface="微软雅黑" pitchFamily="34" charset="-122"/>
              </a:rPr>
              <a:t>）</a:t>
            </a:r>
            <a:endParaRPr lang="zh-CN" altLang="en-US" sz="2400" dirty="0">
              <a:solidFill>
                <a:srgbClr val="00246C"/>
              </a:solidFill>
              <a:latin typeface="微软雅黑" pitchFamily="34" charset="-122"/>
              <a:ea typeface="微软雅黑" pitchFamily="34" charset="-122"/>
              <a:cs typeface="+mj-cs"/>
            </a:endParaRPr>
          </a:p>
        </p:txBody>
      </p:sp>
      <p:sp>
        <p:nvSpPr>
          <p:cNvPr id="10" name="线形标注 2 9"/>
          <p:cNvSpPr/>
          <p:nvPr/>
        </p:nvSpPr>
        <p:spPr bwMode="auto">
          <a:xfrm>
            <a:off x="7709567" y="1377420"/>
            <a:ext cx="1865065" cy="521734"/>
          </a:xfrm>
          <a:prstGeom prst="borderCallout2">
            <a:avLst>
              <a:gd name="adj1" fmla="val 106392"/>
              <a:gd name="adj2" fmla="val 51514"/>
              <a:gd name="adj3" fmla="val 197053"/>
              <a:gd name="adj4" fmla="val 49482"/>
              <a:gd name="adj5" fmla="val 564443"/>
              <a:gd name="adj6" fmla="val -32483"/>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zh-CN" sz="1200" b="1" dirty="0" smtClean="0">
                <a:latin typeface="微软雅黑" pitchFamily="34" charset="-122"/>
                <a:ea typeface="微软雅黑" pitchFamily="34" charset="-122"/>
              </a:rPr>
              <a:t>服务采用</a:t>
            </a:r>
            <a:r>
              <a:rPr lang="en-US" altLang="zh-CN" sz="1200" b="1" dirty="0" smtClean="0">
                <a:latin typeface="微软雅黑" pitchFamily="34" charset="-122"/>
                <a:ea typeface="微软雅黑" pitchFamily="34" charset="-122"/>
              </a:rPr>
              <a:t>SOAP</a:t>
            </a:r>
            <a:r>
              <a:rPr lang="zh-CN" altLang="zh-CN" sz="1200" b="1" dirty="0" smtClean="0">
                <a:latin typeface="微软雅黑" pitchFamily="34" charset="-122"/>
                <a:ea typeface="微软雅黑" pitchFamily="34" charset="-122"/>
              </a:rPr>
              <a:t>的报文标准对外公布。</a:t>
            </a:r>
            <a:endParaRPr lang="zh-CN" altLang="zh-CN" sz="1200" b="1" dirty="0">
              <a:latin typeface="微软雅黑" pitchFamily="34" charset="-122"/>
              <a:ea typeface="微软雅黑" pitchFamily="34" charset="-122"/>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44104" y="2107632"/>
            <a:ext cx="3438525" cy="4250326"/>
          </a:xfrm>
          <a:prstGeom prst="rect">
            <a:avLst/>
          </a:prstGeom>
          <a:ln>
            <a:solidFill>
              <a:schemeClr val="tx1"/>
            </a:solidFill>
          </a:ln>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44504" y="2083820"/>
            <a:ext cx="3730129" cy="4274138"/>
          </a:xfrm>
          <a:prstGeom prst="rect">
            <a:avLst/>
          </a:prstGeom>
          <a:ln>
            <a:solidFill>
              <a:schemeClr val="tx1"/>
            </a:solidFill>
          </a:ln>
        </p:spPr>
      </p:pic>
      <p:sp>
        <p:nvSpPr>
          <p:cNvPr id="13" name="TextBox 9"/>
          <p:cNvSpPr txBox="1"/>
          <p:nvPr/>
        </p:nvSpPr>
        <p:spPr>
          <a:xfrm rot="20826188">
            <a:off x="5230194" y="3392809"/>
            <a:ext cx="997713" cy="369332"/>
          </a:xfrm>
          <a:prstGeom prst="rect">
            <a:avLst/>
          </a:prstGeom>
          <a:noFill/>
          <a:ln w="28575">
            <a:solidFill>
              <a:srgbClr val="FF0000"/>
            </a:solidFill>
          </a:ln>
        </p:spPr>
        <p:txBody>
          <a:bodyPr wrap="square" rtlCol="0">
            <a:spAutoFit/>
          </a:bodyPr>
          <a:lstStyle/>
          <a:p>
            <a:pPr algn="ctr"/>
            <a:r>
              <a:rPr lang="zh-CN" altLang="en-US" b="1" dirty="0" smtClean="0">
                <a:solidFill>
                  <a:srgbClr val="FF0000"/>
                </a:solidFill>
                <a:latin typeface="微软雅黑" pitchFamily="34" charset="-122"/>
                <a:ea typeface="微软雅黑" pitchFamily="34" charset="-122"/>
              </a:rPr>
              <a:t>示例</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739253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84739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PrimetonBlue">
      <a:dk1>
        <a:srgbClr val="011892"/>
      </a:dk1>
      <a:lt1>
        <a:srgbClr val="FE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lumMod val="75000"/>
            </a:schemeClr>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000" dirty="0" smtClean="0">
            <a:solidFill>
              <a:schemeClr val="tx1">
                <a:lumMod val="75000"/>
              </a:schemeClr>
            </a:solidFill>
            <a:latin typeface="Microsoft YaHei" charset="0"/>
            <a:ea typeface="Microsoft YaHei" charset="0"/>
            <a:cs typeface="Microsoft YaHei" charset="0"/>
          </a:defRPr>
        </a:defPPr>
      </a:lstStyle>
      <a:style>
        <a:lnRef idx="2">
          <a:schemeClr val="dk1"/>
        </a:lnRef>
        <a:fillRef idx="1">
          <a:schemeClr val="lt1"/>
        </a:fillRef>
        <a:effectRef idx="0">
          <a:schemeClr val="dk1"/>
        </a:effectRef>
        <a:fontRef idx="minor">
          <a:schemeClr val="dk1"/>
        </a:fontRef>
      </a:style>
    </a:spDef>
    <a:lnDef>
      <a:spPr>
        <a:ln w="25400">
          <a:solidFill>
            <a:schemeClr val="tx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dirty="0" smtClean="0">
            <a:solidFill>
              <a:schemeClr val="tx2">
                <a:lumMod val="75000"/>
              </a:schemeClr>
            </a:solidFill>
            <a:latin typeface="Microsoft YaHei" charset="0"/>
            <a:ea typeface="Microsoft YaHei" charset="0"/>
            <a:cs typeface="Microsoft YaHei" charset="0"/>
          </a:defRPr>
        </a:defPPr>
      </a:lstStyle>
    </a:txDef>
  </a:objectDefaults>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18723</TotalTime>
  <Words>3395</Words>
  <Application>Microsoft Office PowerPoint</Application>
  <PresentationFormat>宽屏</PresentationFormat>
  <Paragraphs>795</Paragraphs>
  <Slides>28</Slides>
  <Notes>24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43" baseType="lpstr">
      <vt:lpstr>Gulim</vt:lpstr>
      <vt:lpstr>华文楷体</vt:lpstr>
      <vt:lpstr>华文细黑</vt:lpstr>
      <vt:lpstr>楷体</vt:lpstr>
      <vt:lpstr>宋体</vt:lpstr>
      <vt:lpstr>微软雅黑</vt:lpstr>
      <vt:lpstr>微软雅黑</vt:lpstr>
      <vt:lpstr>Arial</vt:lpstr>
      <vt:lpstr>Calibri</vt:lpstr>
      <vt:lpstr>Symbol</vt:lpstr>
      <vt:lpstr>Times New Roman</vt:lpstr>
      <vt:lpstr>Verdana</vt:lpstr>
      <vt:lpstr>Wingdings</vt:lpstr>
      <vt:lpstr>Office 主题</vt:lpstr>
      <vt:lpstr>CorelDRAW</vt:lpstr>
      <vt:lpstr>基于ESB的服务治理方案</vt:lpstr>
      <vt:lpstr>PowerPoint 演示文稿</vt:lpstr>
      <vt:lpstr>PowerPoint 演示文稿</vt:lpstr>
      <vt:lpstr>服务治理的含义</vt:lpstr>
      <vt:lpstr>服务治理的内容</vt:lpstr>
      <vt:lpstr>服务全生命周期管理</vt:lpstr>
      <vt:lpstr>服务库</vt:lpstr>
      <vt:lpstr>服务治理的愿景目标</vt:lpstr>
      <vt:lpstr>服务治理的重点工作</vt:lpstr>
      <vt:lpstr>PowerPoint 演示文稿</vt:lpstr>
      <vt:lpstr>服务治理组织架构</vt:lpstr>
      <vt:lpstr>职责分工</vt:lpstr>
      <vt:lpstr>PowerPoint 演示文稿</vt:lpstr>
      <vt:lpstr>服务定义流程</vt:lpstr>
      <vt:lpstr>功能分解</vt:lpstr>
      <vt:lpstr>服务识别</vt:lpstr>
      <vt:lpstr>候选服务筛选方法——自上而下</vt:lpstr>
      <vt:lpstr>组合服务的确定方法</vt:lpstr>
      <vt:lpstr>服务定义指导原则</vt:lpstr>
      <vt:lpstr>服务定义示例——实物贵金属现货购买</vt:lpstr>
      <vt:lpstr>服务定义示例——实物贵金属现货购买</vt:lpstr>
      <vt:lpstr>服务定义示例——实物贵金属现货购买</vt:lpstr>
      <vt:lpstr>服务定义示例——实物贵金属现货购买</vt:lpstr>
      <vt:lpstr>服务定义示例——实物贵金属现货购买</vt:lpstr>
      <vt:lpstr>服务定义示例——实物贵金属现货购买</vt:lpstr>
      <vt:lpstr>服务定义示例——实物贵金属现货购买</vt:lpstr>
      <vt:lpstr>服务定义示例——实物贵金属现货购买</vt:lpstr>
      <vt:lpstr>PowerPoint 演示文稿</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产品</dc:title>
  <dc:subject/>
  <dc:creator>jiaoly</dc:creator>
  <cp:keywords/>
  <dc:description/>
  <cp:lastModifiedBy>ZHUJIANG</cp:lastModifiedBy>
  <cp:revision>2284</cp:revision>
  <dcterms:created xsi:type="dcterms:W3CDTF">2014-11-20T02:29:45Z</dcterms:created>
  <dcterms:modified xsi:type="dcterms:W3CDTF">2015-12-30T04:36:16Z</dcterms:modified>
  <cp:category/>
</cp:coreProperties>
</file>