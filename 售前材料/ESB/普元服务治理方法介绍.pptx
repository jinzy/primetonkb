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96" r:id="rId2"/>
    <p:sldId id="399" r:id="rId3"/>
    <p:sldId id="409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1" r:id="rId13"/>
    <p:sldId id="422" r:id="rId14"/>
    <p:sldId id="423" r:id="rId15"/>
    <p:sldId id="424" r:id="rId16"/>
    <p:sldId id="420" r:id="rId17"/>
    <p:sldId id="425" r:id="rId18"/>
    <p:sldId id="410" r:id="rId19"/>
    <p:sldId id="41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1737AB"/>
    <a:srgbClr val="178586"/>
    <a:srgbClr val="00007F"/>
    <a:srgbClr val="000000"/>
    <a:srgbClr val="929292"/>
    <a:srgbClr val="D6D6D6"/>
    <a:srgbClr val="797979"/>
    <a:srgbClr val="424242"/>
    <a:srgbClr val="E7E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5" autoAdjust="0"/>
    <p:restoredTop sz="96372" autoAdjust="0"/>
  </p:normalViewPr>
  <p:slideViewPr>
    <p:cSldViewPr snapToObjects="1" showGuides="1">
      <p:cViewPr varScale="1">
        <p:scale>
          <a:sx n="84" d="100"/>
          <a:sy n="84" d="100"/>
        </p:scale>
        <p:origin x="498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3712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34051-BEF0-7D4C-9196-86755A91DC50}" type="datetimeFigureOut">
              <a:rPr kumimoji="1" lang="zh-CN" altLang="en-US" smtClean="0"/>
              <a:pPr/>
              <a:t>2016-06-06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0FCA8-6321-0949-96E4-AD67B1E048D6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9388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5CB33-C662-8F41-8A71-5104D135C80E}" type="datetimeFigureOut">
              <a:rPr kumimoji="1" lang="zh-CN" altLang="en-US" smtClean="0"/>
              <a:pPr/>
              <a:t>2016-06-06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63DDE-E268-D241-A46D-5F7888E658E3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61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95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666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709441"/>
            <a:ext cx="10363200" cy="9882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882455"/>
            <a:ext cx="8534400" cy="8166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smtClean="0"/>
              <a:t>November 17, 2015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平台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让创新无限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612605" y="1052737"/>
            <a:ext cx="10972800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 marL="742950" indent="-285750">
              <a:spcBef>
                <a:spcPts val="1000"/>
              </a:spcBef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buFont typeface="Symbol" charset="2"/>
              <a:buChar char="-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 marL="1600200" indent="-228600">
              <a:buFont typeface="Arial"/>
              <a:buChar char="•"/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一级正文</a:t>
            </a:r>
            <a:r>
              <a:rPr lang="en-US" altLang="zh-CN" dirty="0" smtClean="0"/>
              <a:t>28P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二级正文</a:t>
            </a:r>
            <a:r>
              <a:rPr lang="en-US" altLang="zh-CN" dirty="0" smtClean="0"/>
              <a:t>24P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三级正文</a:t>
            </a:r>
            <a:r>
              <a:rPr lang="en-US" altLang="zh-CN" dirty="0" smtClean="0"/>
              <a:t>20P</a:t>
            </a:r>
            <a:r>
              <a:rPr lang="zh-CN" altLang="en-US" dirty="0" smtClean="0"/>
              <a:t>微软雅黑</a:t>
            </a:r>
            <a:endParaRPr lang="en-US" altLang="zh-CN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950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872078"/>
            <a:ext cx="3503712" cy="598592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3200" dirty="0" smtClean="0">
                <a:latin typeface="Microsoft YaHei" charset="0"/>
                <a:ea typeface="Microsoft YaHei" charset="0"/>
                <a:cs typeface="Microsoft YaHei" charset="0"/>
              </a:rPr>
              <a:t> 目录</a:t>
            </a:r>
            <a:endParaRPr lang="en-US" sz="32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648074" y="1341438"/>
            <a:ext cx="7920534" cy="460784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  <a:endParaRPr lang="zh-CN" altLang="en-US" dirty="0" smtClean="0"/>
          </a:p>
          <a:p>
            <a:pPr lvl="0"/>
            <a:endParaRPr lang="zh-CN" altLang="en-US" dirty="0" smtClean="0"/>
          </a:p>
          <a:p>
            <a:pPr lvl="0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35157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779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dirty="0" smtClean="0"/>
              <a:t>November 17, 2015</a:t>
            </a:r>
            <a:endParaRPr lang="zh-CN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上海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北京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广州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西安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武汉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成都 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 ☎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400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820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5821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30424" y="1909281"/>
            <a:ext cx="9862120" cy="10156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Bef>
                <a:spcPct val="0"/>
              </a:spcBef>
              <a:buNone/>
              <a:defRPr sz="6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CN" altLang="en-US" dirty="0" smtClean="0"/>
              <a:t>让我们遇见未来</a:t>
            </a:r>
          </a:p>
        </p:txBody>
      </p:sp>
    </p:spTree>
    <p:extLst>
      <p:ext uri="{BB962C8B-B14F-4D97-AF65-F5344CB8AC3E}">
        <p14:creationId xmlns:p14="http://schemas.microsoft.com/office/powerpoint/2010/main" val="2873963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 dirty="0" smtClean="0"/>
              <a:t>November 17, 2015</a:t>
            </a:r>
            <a:endParaRPr lang="zh-CN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上海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北京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广州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西安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武汉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成都 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dirty="0" smtClean="0">
                <a:latin typeface="Microsoft YaHei" charset="0"/>
                <a:ea typeface="Microsoft YaHei" charset="0"/>
                <a:cs typeface="Microsoft YaHei" charset="0"/>
              </a:rPr>
              <a:t>  ☎ </a:t>
            </a:r>
            <a:r>
              <a:rPr lang="en-US" altLang="zh-CN" sz="1800" dirty="0" smtClean="0">
                <a:latin typeface="Microsoft YaHei" charset="0"/>
                <a:ea typeface="Microsoft YaHei" charset="0"/>
                <a:cs typeface="Microsoft YaHei" charset="0"/>
              </a:rPr>
              <a:t>400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820</a:t>
            </a:r>
            <a:r>
              <a:rPr lang="zh-CN" altLang="en-US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 smtClean="0">
                <a:latin typeface="Microsoft YaHei" charset="0"/>
                <a:ea typeface="Microsoft YaHei" charset="0"/>
                <a:cs typeface="Microsoft YaHei" charset="0"/>
              </a:rPr>
              <a:t>5821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16" y="1192506"/>
            <a:ext cx="3964686" cy="3964686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012408" y="548680"/>
            <a:ext cx="5227608" cy="5847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b="0" i="0" dirty="0" smtClean="0">
                <a:solidFill>
                  <a:schemeClr val="bg1"/>
                </a:solidFill>
                <a:latin typeface="Kaiti SC Regular"/>
                <a:ea typeface="华文细黑"/>
                <a:cs typeface="Kaiti SC Regular"/>
              </a:rPr>
              <a:t>企业架构创新研究院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561904" y="2106722"/>
            <a:ext cx="2134496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与您共同讨论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公开研发过程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公开研发文档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公开技术细节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5711958" y="548680"/>
            <a:ext cx="578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研究院诚邀各位加入</a:t>
            </a:r>
            <a:endParaRPr lang="en-US" altLang="zh-CN" sz="2400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普元新一代企业云平台研发</a:t>
            </a:r>
            <a:endParaRPr lang="en-US" altLang="zh-CN" sz="2400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789464" y="168828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华文细黑"/>
                <a:ea typeface="华文细黑"/>
                <a:cs typeface="华文细黑"/>
              </a:rPr>
              <a:t>我们将在这里</a:t>
            </a:r>
            <a:endParaRPr lang="en-US" altLang="zh-CN" dirty="0" smtClean="0">
              <a:solidFill>
                <a:schemeClr val="bg1"/>
              </a:solidFill>
              <a:latin typeface="华文细黑"/>
              <a:ea typeface="华文细黑"/>
              <a:cs typeface="华文细黑"/>
            </a:endParaRPr>
          </a:p>
        </p:txBody>
      </p:sp>
    </p:spTree>
    <p:extLst>
      <p:ext uri="{BB962C8B-B14F-4D97-AF65-F5344CB8AC3E}">
        <p14:creationId xmlns:p14="http://schemas.microsoft.com/office/powerpoint/2010/main" val="2285568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120C7143-BB4D-47C6-9008-44C955299D49}" type="datetimeFigureOut">
              <a:rPr lang="zh-CN" altLang="en-US" smtClean="0"/>
              <a:pPr/>
              <a:t>2016-06-06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57" r:id="rId4"/>
    <p:sldLayoutId id="2147483661" r:id="rId5"/>
    <p:sldLayoutId id="2147483660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wmf"/><Relationship Id="rId4" Type="http://schemas.openxmlformats.org/officeDocument/2006/relationships/oleObject" Target="../embeddings/Microsoft_Excel_97-2003____1.xls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908720"/>
            <a:ext cx="10363200" cy="2160240"/>
          </a:xfrm>
        </p:spPr>
        <p:txBody>
          <a:bodyPr anchor="ctr">
            <a:noAutofit/>
          </a:bodyPr>
          <a:lstStyle/>
          <a:p>
            <a:r>
              <a:rPr lang="zh-CN" altLang="en-US" sz="6600" dirty="0" smtClean="0"/>
              <a:t>服务治理方法介绍</a:t>
            </a:r>
            <a:endParaRPr lang="en-US" sz="66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828800" y="3548423"/>
            <a:ext cx="8534400" cy="816681"/>
          </a:xfrm>
        </p:spPr>
        <p:txBody>
          <a:bodyPr/>
          <a:lstStyle/>
          <a:p>
            <a:r>
              <a:rPr lang="zh-CN" altLang="en-US" sz="3600" dirty="0"/>
              <a:t>普</a:t>
            </a:r>
            <a:r>
              <a:rPr lang="zh-CN" altLang="en-US" sz="3600" dirty="0" smtClean="0"/>
              <a:t>元软件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9396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服务治理的背景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272680" y="2044080"/>
            <a:ext cx="2304256" cy="7200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架构</a:t>
            </a:r>
            <a:endParaRPr lang="zh-CN" altLang="en-US" sz="2800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1464" y="3088196"/>
            <a:ext cx="2304256" cy="7200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业务</a:t>
            </a:r>
            <a:endParaRPr lang="zh-CN" altLang="en-US" sz="2800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71464" y="4113076"/>
            <a:ext cx="2304256" cy="7200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系统</a:t>
            </a:r>
            <a:endParaRPr lang="zh-CN" altLang="en-US" sz="2800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76936" y="2008076"/>
            <a:ext cx="7416824" cy="792088"/>
          </a:xfrm>
          <a:prstGeom prst="rect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精益化企业运营要求系统间集成方式</a:t>
            </a:r>
            <a:r>
              <a:rPr lang="zh-CN" altLang="en-US" sz="16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松耦合</a:t>
            </a:r>
            <a:endParaRPr lang="en-US" altLang="zh-CN" sz="1600" dirty="0" smtClean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企业</a:t>
            </a:r>
            <a:r>
              <a:rPr lang="en-US" altLang="zh-CN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IT</a:t>
            </a: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规划提出系统间集成逐步转向</a:t>
            </a:r>
            <a:r>
              <a:rPr lang="en-US" altLang="zh-CN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ESB</a:t>
            </a: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方式</a:t>
            </a:r>
          </a:p>
        </p:txBody>
      </p:sp>
      <p:sp>
        <p:nvSpPr>
          <p:cNvPr id="10" name="矩形 9"/>
          <p:cNvSpPr/>
          <p:nvPr/>
        </p:nvSpPr>
        <p:spPr>
          <a:xfrm>
            <a:off x="3576936" y="3052192"/>
            <a:ext cx="7416824" cy="792088"/>
          </a:xfrm>
          <a:prstGeom prst="rect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业务数据有效重复利用</a:t>
            </a:r>
            <a:endParaRPr lang="en-US" altLang="zh-CN" sz="1600" dirty="0" smtClean="0">
              <a:solidFill>
                <a:schemeClr val="tx1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AutoNum type="arabicPeriod" startAt="3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系统间各类</a:t>
            </a:r>
            <a:r>
              <a:rPr lang="zh-CN" altLang="en-US" sz="16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业务数据交互、业务功能调用需要统一管理</a:t>
            </a: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、</a:t>
            </a:r>
            <a:r>
              <a:rPr lang="zh-CN" altLang="en-US" sz="16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监控</a:t>
            </a: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和高可靠保障</a:t>
            </a:r>
            <a:endParaRPr lang="en-US" altLang="zh-CN" sz="1600" dirty="0" smtClean="0">
              <a:solidFill>
                <a:schemeClr val="tx1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AutoNum type="arabicPeriod" startAt="3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业务需求的快速实现</a:t>
            </a:r>
          </a:p>
        </p:txBody>
      </p:sp>
      <p:sp>
        <p:nvSpPr>
          <p:cNvPr id="11" name="矩形 10"/>
          <p:cNvSpPr/>
          <p:nvPr/>
        </p:nvSpPr>
        <p:spPr>
          <a:xfrm>
            <a:off x="3575720" y="4077072"/>
            <a:ext cx="7416824" cy="792088"/>
          </a:xfrm>
          <a:prstGeom prst="rect">
            <a:avLst/>
          </a:prstGeom>
          <a:ln>
            <a:solidFill>
              <a:srgbClr val="17375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sz="16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系统</a:t>
            </a: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间接口实现方式复杂，需要</a:t>
            </a:r>
            <a:r>
              <a:rPr lang="zh-CN" altLang="en-US" sz="16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规范统一，集中管理</a:t>
            </a:r>
            <a:endParaRPr lang="en-US" altLang="zh-CN" sz="1600" dirty="0" smtClean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AutoNum type="arabicPeriod" startAt="6"/>
            </a:pPr>
            <a:r>
              <a:rPr lang="zh-CN" altLang="en-US" sz="1600" dirty="0" smtClean="0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rPr>
              <a:t>避免点对点形成的“蜘蛛网”式集成，降低耦合，增强可扩展性，加强可复用性，降低开发和维护成本</a:t>
            </a:r>
          </a:p>
        </p:txBody>
      </p:sp>
    </p:spTree>
    <p:extLst>
      <p:ext uri="{BB962C8B-B14F-4D97-AF65-F5344CB8AC3E}">
        <p14:creationId xmlns:p14="http://schemas.microsoft.com/office/powerpoint/2010/main" val="284662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PDCA</a:t>
            </a:r>
            <a:r>
              <a:rPr lang="zh-CN" altLang="en-US" dirty="0" smtClean="0"/>
              <a:t>闭环为指导原则的服务治理过程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 bwMode="auto">
          <a:xfrm>
            <a:off x="2639616" y="1446970"/>
            <a:ext cx="9001000" cy="4536504"/>
          </a:xfrm>
          <a:prstGeom prst="roundRect">
            <a:avLst>
              <a:gd name="adj" fmla="val 4956"/>
            </a:avLst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0" rIns="36000" bIns="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31" name="圆角矩形 30"/>
          <p:cNvSpPr/>
          <p:nvPr/>
        </p:nvSpPr>
        <p:spPr bwMode="auto">
          <a:xfrm>
            <a:off x="2841156" y="2025942"/>
            <a:ext cx="8667628" cy="3112588"/>
          </a:xfrm>
          <a:prstGeom prst="roundRect">
            <a:avLst>
              <a:gd name="adj" fmla="val 8067"/>
            </a:avLst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32" name="圆角矩形 31"/>
          <p:cNvSpPr/>
          <p:nvPr/>
        </p:nvSpPr>
        <p:spPr bwMode="auto">
          <a:xfrm>
            <a:off x="7295987" y="2317669"/>
            <a:ext cx="1911697" cy="2765058"/>
          </a:xfrm>
          <a:prstGeom prst="roundRect">
            <a:avLst>
              <a:gd name="adj" fmla="val 10825"/>
            </a:avLst>
          </a:prstGeom>
          <a:solidFill>
            <a:srgbClr val="C6D1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监控</a:t>
            </a:r>
          </a:p>
        </p:txBody>
      </p:sp>
      <p:sp>
        <p:nvSpPr>
          <p:cNvPr id="35" name="圆角矩形 34"/>
          <p:cNvSpPr/>
          <p:nvPr/>
        </p:nvSpPr>
        <p:spPr bwMode="auto">
          <a:xfrm>
            <a:off x="7322723" y="5423605"/>
            <a:ext cx="2038584" cy="45182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度量和评估</a:t>
            </a:r>
          </a:p>
        </p:txBody>
      </p:sp>
      <p:sp>
        <p:nvSpPr>
          <p:cNvPr id="36" name="圆角矩形 35"/>
          <p:cNvSpPr/>
          <p:nvPr/>
        </p:nvSpPr>
        <p:spPr bwMode="auto">
          <a:xfrm>
            <a:off x="3062085" y="2294809"/>
            <a:ext cx="1911697" cy="2765058"/>
          </a:xfrm>
          <a:prstGeom prst="roundRect">
            <a:avLst>
              <a:gd name="adj" fmla="val 10825"/>
            </a:avLst>
          </a:prstGeom>
          <a:solidFill>
            <a:srgbClr val="C6D1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设计</a:t>
            </a:r>
          </a:p>
        </p:txBody>
      </p:sp>
      <p:sp>
        <p:nvSpPr>
          <p:cNvPr id="40" name="圆角矩形 39"/>
          <p:cNvSpPr/>
          <p:nvPr/>
        </p:nvSpPr>
        <p:spPr bwMode="auto">
          <a:xfrm>
            <a:off x="5179036" y="2317669"/>
            <a:ext cx="1911697" cy="2765058"/>
          </a:xfrm>
          <a:prstGeom prst="roundRect">
            <a:avLst>
              <a:gd name="adj" fmla="val 10825"/>
            </a:avLst>
          </a:prstGeom>
          <a:solidFill>
            <a:srgbClr val="C6D1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实施</a:t>
            </a:r>
          </a:p>
        </p:txBody>
      </p:sp>
      <p:sp>
        <p:nvSpPr>
          <p:cNvPr id="45" name="圆角矩形 44"/>
          <p:cNvSpPr/>
          <p:nvPr/>
        </p:nvSpPr>
        <p:spPr bwMode="auto">
          <a:xfrm>
            <a:off x="3241968" y="2865121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服务架构</a:t>
            </a:r>
          </a:p>
        </p:txBody>
      </p:sp>
      <p:sp>
        <p:nvSpPr>
          <p:cNvPr id="46" name="圆角矩形 45"/>
          <p:cNvSpPr/>
          <p:nvPr/>
        </p:nvSpPr>
        <p:spPr bwMode="auto">
          <a:xfrm>
            <a:off x="3241968" y="3648944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服务建模</a:t>
            </a:r>
          </a:p>
        </p:txBody>
      </p:sp>
      <p:sp>
        <p:nvSpPr>
          <p:cNvPr id="47" name="圆角矩形 46"/>
          <p:cNvSpPr/>
          <p:nvPr/>
        </p:nvSpPr>
        <p:spPr bwMode="auto">
          <a:xfrm>
            <a:off x="3241968" y="4413231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服务设计</a:t>
            </a:r>
          </a:p>
        </p:txBody>
      </p:sp>
      <p:sp>
        <p:nvSpPr>
          <p:cNvPr id="48" name="圆角矩形 47"/>
          <p:cNvSpPr/>
          <p:nvPr/>
        </p:nvSpPr>
        <p:spPr bwMode="auto">
          <a:xfrm>
            <a:off x="9412937" y="2317669"/>
            <a:ext cx="1911697" cy="2765058"/>
          </a:xfrm>
          <a:prstGeom prst="roundRect">
            <a:avLst>
              <a:gd name="adj" fmla="val 10825"/>
            </a:avLst>
          </a:prstGeom>
          <a:solidFill>
            <a:srgbClr val="C6D1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反馈</a:t>
            </a:r>
          </a:p>
        </p:txBody>
      </p:sp>
      <p:sp>
        <p:nvSpPr>
          <p:cNvPr id="49" name="圆角矩形 48"/>
          <p:cNvSpPr/>
          <p:nvPr/>
        </p:nvSpPr>
        <p:spPr bwMode="auto">
          <a:xfrm>
            <a:off x="7473971" y="2853691"/>
            <a:ext cx="1555728" cy="753046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事件管理和服务监控</a:t>
            </a:r>
          </a:p>
        </p:txBody>
      </p:sp>
      <p:sp>
        <p:nvSpPr>
          <p:cNvPr id="50" name="圆角矩形 49"/>
          <p:cNvSpPr/>
          <p:nvPr/>
        </p:nvSpPr>
        <p:spPr bwMode="auto">
          <a:xfrm>
            <a:off x="7473971" y="3849523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安全管理</a:t>
            </a:r>
          </a:p>
        </p:txBody>
      </p:sp>
      <p:sp>
        <p:nvSpPr>
          <p:cNvPr id="51" name="圆角矩形 50"/>
          <p:cNvSpPr/>
          <p:nvPr/>
        </p:nvSpPr>
        <p:spPr bwMode="auto">
          <a:xfrm>
            <a:off x="7473971" y="4517362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趋势</a:t>
            </a:r>
          </a:p>
        </p:txBody>
      </p:sp>
      <p:sp>
        <p:nvSpPr>
          <p:cNvPr id="55" name="TextBox 42"/>
          <p:cNvSpPr txBox="1"/>
          <p:nvPr/>
        </p:nvSpPr>
        <p:spPr>
          <a:xfrm>
            <a:off x="5998363" y="1542307"/>
            <a:ext cx="1847353" cy="3840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治理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过程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右箭头 53"/>
          <p:cNvSpPr/>
          <p:nvPr/>
        </p:nvSpPr>
        <p:spPr bwMode="auto">
          <a:xfrm rot="16200000">
            <a:off x="8027172" y="4675788"/>
            <a:ext cx="502032" cy="1108232"/>
          </a:xfrm>
          <a:prstGeom prst="rightArrow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lIns="0" tIns="0" rIns="0" bIns="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en-US" altLang="zh-CN" sz="1400" i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Check</a:t>
            </a:r>
            <a:endParaRPr lang="zh-CN" altLang="en-US" sz="1400" i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6" name="圆角矩形 55"/>
          <p:cNvSpPr/>
          <p:nvPr/>
        </p:nvSpPr>
        <p:spPr bwMode="auto">
          <a:xfrm>
            <a:off x="389700" y="2317669"/>
            <a:ext cx="1911697" cy="2765058"/>
          </a:xfrm>
          <a:prstGeom prst="roundRect">
            <a:avLst>
              <a:gd name="adj" fmla="val 10825"/>
            </a:avLst>
          </a:prstGeom>
          <a:solidFill>
            <a:srgbClr val="C6D1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t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服务规划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57" name="圆角矩形 56"/>
          <p:cNvSpPr/>
          <p:nvPr/>
        </p:nvSpPr>
        <p:spPr bwMode="auto">
          <a:xfrm>
            <a:off x="574348" y="2865121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SOA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战略</a:t>
            </a:r>
          </a:p>
        </p:txBody>
      </p:sp>
      <p:sp>
        <p:nvSpPr>
          <p:cNvPr id="58" name="圆角矩形 57"/>
          <p:cNvSpPr/>
          <p:nvPr/>
        </p:nvSpPr>
        <p:spPr bwMode="auto">
          <a:xfrm>
            <a:off x="574348" y="3642669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服务预算</a:t>
            </a:r>
          </a:p>
        </p:txBody>
      </p:sp>
      <p:sp>
        <p:nvSpPr>
          <p:cNvPr id="59" name="圆角矩形 58"/>
          <p:cNvSpPr/>
          <p:nvPr/>
        </p:nvSpPr>
        <p:spPr bwMode="auto">
          <a:xfrm>
            <a:off x="574348" y="4413231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服务责任方</a:t>
            </a:r>
          </a:p>
        </p:txBody>
      </p:sp>
      <p:sp>
        <p:nvSpPr>
          <p:cNvPr id="34" name="圆角矩形 33"/>
          <p:cNvSpPr/>
          <p:nvPr/>
        </p:nvSpPr>
        <p:spPr bwMode="auto">
          <a:xfrm>
            <a:off x="5044203" y="5423605"/>
            <a:ext cx="2208099" cy="45182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 defTabSz="912813" eaLnBrk="0" hangingPunct="0">
              <a:lnSpc>
                <a:spcPct val="85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服务落地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53" name="右箭头 52"/>
          <p:cNvSpPr/>
          <p:nvPr/>
        </p:nvSpPr>
        <p:spPr bwMode="auto">
          <a:xfrm rot="16200000">
            <a:off x="5881631" y="4730347"/>
            <a:ext cx="502032" cy="999114"/>
          </a:xfrm>
          <a:prstGeom prst="rightArrow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lIns="0" tIns="0" rIns="0" bIns="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en-US" altLang="zh-CN" sz="1400" i="1" dirty="0">
                <a:solidFill>
                  <a:srgbClr val="000000"/>
                </a:solidFill>
                <a:latin typeface="Arial" charset="0"/>
                <a:cs typeface="Arial" charset="0"/>
              </a:rPr>
              <a:t>Do</a:t>
            </a:r>
            <a:endParaRPr lang="zh-CN" altLang="en-US" sz="1400" i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圆角矩形 32"/>
          <p:cNvSpPr/>
          <p:nvPr/>
        </p:nvSpPr>
        <p:spPr bwMode="auto">
          <a:xfrm>
            <a:off x="2783632" y="5423605"/>
            <a:ext cx="2190150" cy="45182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原则、规范、标准和过程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52" name="右箭头 51"/>
          <p:cNvSpPr/>
          <p:nvPr/>
        </p:nvSpPr>
        <p:spPr bwMode="auto">
          <a:xfrm rot="16200000">
            <a:off x="3738391" y="4730347"/>
            <a:ext cx="502032" cy="999114"/>
          </a:xfrm>
          <a:prstGeom prst="rightArrow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lIns="0" tIns="0" rIns="0" bIns="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en-US" altLang="zh-CN" sz="1400" i="1" dirty="0">
                <a:solidFill>
                  <a:srgbClr val="000000"/>
                </a:solidFill>
                <a:latin typeface="Arial" charset="0"/>
                <a:cs typeface="Arial" charset="0"/>
              </a:rPr>
              <a:t>Plan</a:t>
            </a:r>
            <a:endParaRPr lang="zh-CN" altLang="en-US" sz="1400" i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3" name="圆角矩形 62"/>
          <p:cNvSpPr/>
          <p:nvPr/>
        </p:nvSpPr>
        <p:spPr bwMode="auto">
          <a:xfrm>
            <a:off x="9431728" y="5423605"/>
            <a:ext cx="2038584" cy="45182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治理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反馈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64" name="右箭头 63"/>
          <p:cNvSpPr/>
          <p:nvPr/>
        </p:nvSpPr>
        <p:spPr bwMode="auto">
          <a:xfrm rot="16200000">
            <a:off x="10204253" y="4730346"/>
            <a:ext cx="502032" cy="999114"/>
          </a:xfrm>
          <a:prstGeom prst="rightArrow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lIns="0" tIns="0" rIns="0" bIns="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en-US" altLang="zh-CN" sz="1400" i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Action</a:t>
            </a:r>
            <a:endParaRPr lang="zh-CN" altLang="en-US" sz="1400" i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圆角矩形 72"/>
          <p:cNvSpPr/>
          <p:nvPr/>
        </p:nvSpPr>
        <p:spPr bwMode="auto">
          <a:xfrm>
            <a:off x="5357020" y="2858788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服务组装</a:t>
            </a:r>
          </a:p>
        </p:txBody>
      </p:sp>
      <p:sp>
        <p:nvSpPr>
          <p:cNvPr id="74" name="圆角矩形 73"/>
          <p:cNvSpPr/>
          <p:nvPr/>
        </p:nvSpPr>
        <p:spPr bwMode="auto">
          <a:xfrm>
            <a:off x="5357020" y="3412962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服务测试</a:t>
            </a:r>
          </a:p>
        </p:txBody>
      </p:sp>
      <p:sp>
        <p:nvSpPr>
          <p:cNvPr id="75" name="圆角矩形 74"/>
          <p:cNvSpPr/>
          <p:nvPr/>
        </p:nvSpPr>
        <p:spPr bwMode="auto">
          <a:xfrm>
            <a:off x="5357020" y="3967136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服务部署</a:t>
            </a:r>
          </a:p>
        </p:txBody>
      </p:sp>
      <p:sp>
        <p:nvSpPr>
          <p:cNvPr id="76" name="圆角矩形 75"/>
          <p:cNvSpPr/>
          <p:nvPr/>
        </p:nvSpPr>
        <p:spPr bwMode="auto">
          <a:xfrm>
            <a:off x="5357020" y="4521310"/>
            <a:ext cx="1555728" cy="425054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服务交付</a:t>
            </a:r>
          </a:p>
        </p:txBody>
      </p:sp>
      <p:sp>
        <p:nvSpPr>
          <p:cNvPr id="77" name="圆角矩形 76"/>
          <p:cNvSpPr/>
          <p:nvPr/>
        </p:nvSpPr>
        <p:spPr bwMode="auto">
          <a:xfrm>
            <a:off x="9590921" y="2856498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服务模式优化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9590921" y="3640321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数据质量优化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79" name="圆角矩形 78"/>
          <p:cNvSpPr/>
          <p:nvPr/>
        </p:nvSpPr>
        <p:spPr bwMode="auto">
          <a:xfrm>
            <a:off x="9590921" y="4404608"/>
            <a:ext cx="1555728" cy="552233"/>
          </a:xfrm>
          <a:prstGeom prst="roundRect">
            <a:avLst>
              <a:gd name="adj" fmla="val 10825"/>
            </a:avLst>
          </a:prstGeom>
          <a:solidFill>
            <a:srgbClr val="5A87C5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 anchorCtr="0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服务环境优化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80" name="圆角矩形 79"/>
          <p:cNvSpPr/>
          <p:nvPr/>
        </p:nvSpPr>
        <p:spPr bwMode="auto">
          <a:xfrm>
            <a:off x="279162" y="5423605"/>
            <a:ext cx="2190150" cy="45182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</a:pP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治理组织和机制</a:t>
            </a:r>
          </a:p>
        </p:txBody>
      </p:sp>
    </p:spTree>
    <p:extLst>
      <p:ext uri="{BB962C8B-B14F-4D97-AF65-F5344CB8AC3E}">
        <p14:creationId xmlns:p14="http://schemas.microsoft.com/office/powerpoint/2010/main" val="56479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726750" y="2492896"/>
            <a:ext cx="2880320" cy="4014441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服务目录按数据主题域分类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08150" y="894430"/>
            <a:ext cx="4864114" cy="1548172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是否幂等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是否查询服务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反交易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反交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易前查询服务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9230" y="3501008"/>
            <a:ext cx="2880320" cy="187220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实时、定时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同步、异步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联机、批量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大、小数据量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单向、双向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需求分析方法</a:t>
            </a:r>
            <a:r>
              <a:rPr lang="en-US" altLang="zh-CN" dirty="0" smtClean="0"/>
              <a:t>—PMD</a:t>
            </a:r>
            <a:endParaRPr lang="zh-CN" altLang="en-US" dirty="0"/>
          </a:p>
        </p:txBody>
      </p:sp>
      <p:sp>
        <p:nvSpPr>
          <p:cNvPr id="2" name="流程图: 联系 1"/>
          <p:cNvSpPr/>
          <p:nvPr/>
        </p:nvSpPr>
        <p:spPr>
          <a:xfrm>
            <a:off x="5015880" y="2204864"/>
            <a:ext cx="1872208" cy="936104"/>
          </a:xfrm>
          <a:prstGeom prst="flowChartConnector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服务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特性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Property</a:t>
            </a:r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流程图: 联系 3"/>
          <p:cNvSpPr/>
          <p:nvPr/>
        </p:nvSpPr>
        <p:spPr>
          <a:xfrm>
            <a:off x="3119676" y="3933056"/>
            <a:ext cx="1872208" cy="936104"/>
          </a:xfrm>
          <a:prstGeom prst="flowChartConnector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服务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模式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Model</a:t>
            </a:r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11" name="直接箭头连接符 10"/>
          <p:cNvCxnSpPr>
            <a:stCxn id="2" idx="4"/>
            <a:endCxn id="4" idx="7"/>
          </p:cNvCxnSpPr>
          <p:nvPr/>
        </p:nvCxnSpPr>
        <p:spPr>
          <a:xfrm flipH="1">
            <a:off x="4717705" y="3140968"/>
            <a:ext cx="1234279" cy="929177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2" idx="4"/>
            <a:endCxn id="5" idx="1"/>
          </p:cNvCxnSpPr>
          <p:nvPr/>
        </p:nvCxnSpPr>
        <p:spPr>
          <a:xfrm>
            <a:off x="5951984" y="3140968"/>
            <a:ext cx="1381341" cy="929177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4" idx="6"/>
            <a:endCxn id="5" idx="2"/>
          </p:cNvCxnSpPr>
          <p:nvPr/>
        </p:nvCxnSpPr>
        <p:spPr>
          <a:xfrm>
            <a:off x="4991884" y="4401108"/>
            <a:ext cx="2067262" cy="0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346" y="3198118"/>
            <a:ext cx="2651127" cy="309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联系 4"/>
          <p:cNvSpPr/>
          <p:nvPr/>
        </p:nvSpPr>
        <p:spPr>
          <a:xfrm>
            <a:off x="7059146" y="3933056"/>
            <a:ext cx="1872208" cy="936104"/>
          </a:xfrm>
          <a:prstGeom prst="flowChartConnector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接口数据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Data</a:t>
            </a:r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11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接口现状及需求梳理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0" y="997892"/>
            <a:ext cx="8433334" cy="531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10" y="1988840"/>
            <a:ext cx="5381619" cy="3630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归纳整理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系统集成关系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693" y="2012824"/>
            <a:ext cx="5328592" cy="2496296"/>
          </a:xfrm>
          <a:prstGeom prst="rect">
            <a:avLst/>
          </a:prstGeom>
          <a:solidFill>
            <a:srgbClr val="17375E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与对外接口相关的系统功能分布</a:t>
            </a:r>
            <a:endParaRPr lang="zh-CN" altLang="en-US" sz="2800" b="1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693" y="4622306"/>
            <a:ext cx="5328592" cy="996534"/>
          </a:xfrm>
          <a:prstGeom prst="rect">
            <a:avLst/>
          </a:prstGeom>
          <a:solidFill>
            <a:srgbClr val="17375E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对端系统列表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30552" y="3501008"/>
            <a:ext cx="4833575" cy="2628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上弧形箭头 8"/>
          <p:cNvSpPr/>
          <p:nvPr/>
        </p:nvSpPr>
        <p:spPr>
          <a:xfrm>
            <a:off x="5951984" y="2785200"/>
            <a:ext cx="1512168" cy="504056"/>
          </a:xfrm>
          <a:prstGeom prst="curvedDownArrow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6659" y="3501008"/>
            <a:ext cx="4833575" cy="2736304"/>
          </a:xfrm>
          <a:prstGeom prst="rect">
            <a:avLst/>
          </a:prstGeom>
          <a:solidFill>
            <a:srgbClr val="17375E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系统接口现状及需求清单表</a:t>
            </a:r>
            <a:endParaRPr lang="zh-CN" altLang="en-US" sz="2800" b="1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72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集成模式分类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958919"/>
            <a:ext cx="9747990" cy="538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6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集成模式定义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23" y="1065262"/>
            <a:ext cx="8561905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3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6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" y="-28251"/>
            <a:ext cx="12189679" cy="688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8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6" y="5980"/>
            <a:ext cx="12195576" cy="685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5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7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服务梳理方法论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55" y="1124744"/>
            <a:ext cx="7361905" cy="34761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28" y="1372082"/>
            <a:ext cx="842477" cy="84247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15255" y="5075439"/>
            <a:ext cx="7109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“自上而下”的方法适用于服务的规划，</a:t>
            </a:r>
            <a:endParaRPr lang="en-US" altLang="zh-CN" sz="28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sz="28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应采用</a:t>
            </a:r>
            <a:r>
              <a:rPr lang="zh-CN" altLang="en-US" sz="4400" dirty="0" smtClean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自下而上</a:t>
            </a:r>
            <a:r>
              <a:rPr lang="zh-CN" altLang="en-US" sz="28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的方法进行服务的梳理</a:t>
            </a:r>
          </a:p>
        </p:txBody>
      </p:sp>
    </p:spTree>
    <p:extLst>
      <p:ext uri="{BB962C8B-B14F-4D97-AF65-F5344CB8AC3E}">
        <p14:creationId xmlns:p14="http://schemas.microsoft.com/office/powerpoint/2010/main" val="50550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自上而下的服务梳理过程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46" y="1052736"/>
            <a:ext cx="10359906" cy="50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1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自下而上的服务梳理过程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71" y="1052736"/>
            <a:ext cx="8400857" cy="503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7608" y="1001712"/>
            <a:ext cx="8208912" cy="5248275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椭圆 17"/>
          <p:cNvSpPr>
            <a:spLocks noChangeArrowheads="1"/>
          </p:cNvSpPr>
          <p:nvPr/>
        </p:nvSpPr>
        <p:spPr bwMode="auto">
          <a:xfrm>
            <a:off x="1831008" y="1462087"/>
            <a:ext cx="828675" cy="460375"/>
          </a:xfrm>
          <a:prstGeom prst="ellipse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36000" rIns="36000" anchor="ctr"/>
          <a:lstStyle/>
          <a:p>
            <a:pPr algn="ctr">
              <a:lnSpc>
                <a:spcPct val="90000"/>
              </a:lnSpc>
            </a:pPr>
            <a:r>
              <a:rPr lang="zh-CN" altLang="en-US" sz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代缴费</a:t>
            </a:r>
            <a:endParaRPr lang="zh-CN" altLang="en-US" sz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6535" y="1290637"/>
            <a:ext cx="1756481" cy="960448"/>
            <a:chOff x="74527" y="1692275"/>
            <a:chExt cx="1756481" cy="960448"/>
          </a:xfrm>
        </p:grpSpPr>
        <p:grpSp>
          <p:nvGrpSpPr>
            <p:cNvPr id="7" name="组合 243"/>
            <p:cNvGrpSpPr>
              <a:grpSpLocks/>
            </p:cNvGrpSpPr>
            <p:nvPr/>
          </p:nvGrpSpPr>
          <p:grpSpPr bwMode="auto">
            <a:xfrm>
              <a:off x="276097" y="1806574"/>
              <a:ext cx="285750" cy="500088"/>
              <a:chOff x="1714480" y="5572140"/>
              <a:chExt cx="285752" cy="500066"/>
            </a:xfrm>
          </p:grpSpPr>
          <p:sp>
            <p:nvSpPr>
              <p:cNvPr id="10" name="椭圆 244"/>
              <p:cNvSpPr>
                <a:spLocks noChangeArrowheads="1"/>
              </p:cNvSpPr>
              <p:nvPr/>
            </p:nvSpPr>
            <p:spPr bwMode="auto">
              <a:xfrm>
                <a:off x="1785918" y="5572140"/>
                <a:ext cx="142876" cy="142876"/>
              </a:xfrm>
              <a:prstGeom prst="ellips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79200" tIns="39600" rIns="79200" bIns="39600">
                <a:spAutoFit/>
              </a:bodyPr>
              <a:lstStyle/>
              <a:p>
                <a:pPr defTabSz="801688"/>
                <a:endParaRPr lang="zh-CN" altLang="en-US" sz="1400">
                  <a:solidFill>
                    <a:srgbClr val="FFFFFF"/>
                  </a:solidFill>
                  <a:latin typeface="FrutigerNext LT Regular"/>
                  <a:ea typeface="MS PGothic" pitchFamily="34" charset="-128"/>
                </a:endParaRPr>
              </a:p>
            </p:txBody>
          </p:sp>
          <p:cxnSp>
            <p:nvCxnSpPr>
              <p:cNvPr id="11" name="直接连接符 245"/>
              <p:cNvCxnSpPr>
                <a:cxnSpLocks noChangeShapeType="1"/>
              </p:cNvCxnSpPr>
              <p:nvPr/>
            </p:nvCxnSpPr>
            <p:spPr bwMode="auto">
              <a:xfrm>
                <a:off x="1714480" y="5804926"/>
                <a:ext cx="285752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" name="直接连接符 246"/>
              <p:cNvCxnSpPr>
                <a:cxnSpLocks noChangeShapeType="1"/>
                <a:stCxn id="10" idx="4"/>
              </p:cNvCxnSpPr>
              <p:nvPr/>
            </p:nvCxnSpPr>
            <p:spPr bwMode="auto">
              <a:xfrm rot="5400000">
                <a:off x="1750199" y="5822173"/>
                <a:ext cx="214314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3" name="直接连接符 247"/>
              <p:cNvCxnSpPr>
                <a:cxnSpLocks noChangeShapeType="1"/>
              </p:cNvCxnSpPr>
              <p:nvPr/>
            </p:nvCxnSpPr>
            <p:spPr bwMode="auto">
              <a:xfrm rot="5400000">
                <a:off x="1714480" y="5929330"/>
                <a:ext cx="142876" cy="142876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4" name="直接连接符 248"/>
              <p:cNvCxnSpPr>
                <a:cxnSpLocks noChangeShapeType="1"/>
              </p:cNvCxnSpPr>
              <p:nvPr/>
            </p:nvCxnSpPr>
            <p:spPr bwMode="auto">
              <a:xfrm rot="16200000" flipH="1">
                <a:off x="1857356" y="5929330"/>
                <a:ext cx="142876" cy="142876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8" name="TextBox 9"/>
            <p:cNvSpPr txBox="1">
              <a:spLocks noChangeArrowheads="1"/>
            </p:cNvSpPr>
            <p:nvPr/>
          </p:nvSpPr>
          <p:spPr bwMode="auto">
            <a:xfrm>
              <a:off x="74527" y="2284404"/>
              <a:ext cx="736600" cy="368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rIns="36000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网银用户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直接箭头连接符 8"/>
            <p:cNvCxnSpPr>
              <a:endCxn id="5" idx="2"/>
            </p:cNvCxnSpPr>
            <p:nvPr/>
          </p:nvCxnSpPr>
          <p:spPr bwMode="auto">
            <a:xfrm>
              <a:off x="1503855" y="1692275"/>
              <a:ext cx="327153" cy="158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5" name="圆角矩形标注 112"/>
          <p:cNvSpPr>
            <a:spLocks noChangeArrowheads="1"/>
          </p:cNvSpPr>
          <p:nvPr/>
        </p:nvSpPr>
        <p:spPr bwMode="auto">
          <a:xfrm>
            <a:off x="4961558" y="1312863"/>
            <a:ext cx="762000" cy="381000"/>
          </a:xfrm>
          <a:prstGeom prst="wedgeRoundRectCallout">
            <a:avLst>
              <a:gd name="adj1" fmla="val -69910"/>
              <a:gd name="adj2" fmla="val 46293"/>
              <a:gd name="adj3" fmla="val 16667"/>
            </a:avLst>
          </a:prstGeom>
          <a:solidFill>
            <a:srgbClr val="FF6699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  <a:buFont typeface="Wingdings" pitchFamily="2" charset="2"/>
              <a:buNone/>
            </a:pPr>
            <a:r>
              <a:rPr lang="zh-CN" altLang="en-US" sz="1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候选服务</a:t>
            </a:r>
          </a:p>
        </p:txBody>
      </p:sp>
      <p:sp>
        <p:nvSpPr>
          <p:cNvPr id="16" name="圆角矩形标注 112"/>
          <p:cNvSpPr>
            <a:spLocks noChangeArrowheads="1"/>
          </p:cNvSpPr>
          <p:nvPr/>
        </p:nvSpPr>
        <p:spPr bwMode="auto">
          <a:xfrm>
            <a:off x="3764583" y="2843212"/>
            <a:ext cx="762000" cy="381000"/>
          </a:xfrm>
          <a:prstGeom prst="wedgeRoundRectCallout">
            <a:avLst>
              <a:gd name="adj1" fmla="val 66890"/>
              <a:gd name="adj2" fmla="val -44907"/>
              <a:gd name="adj3" fmla="val 16667"/>
            </a:avLst>
          </a:prstGeom>
          <a:solidFill>
            <a:srgbClr val="FF6699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  <a:buClr>
                <a:srgbClr val="2DB6B3"/>
              </a:buClr>
              <a:buFont typeface="Wingdings" pitchFamily="2" charset="2"/>
              <a:buNone/>
            </a:pPr>
            <a:r>
              <a:rPr lang="zh-CN" altLang="en-US" sz="1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候选服务</a:t>
            </a:r>
          </a:p>
        </p:txBody>
      </p:sp>
    </p:spTree>
    <p:extLst>
      <p:ext uri="{BB962C8B-B14F-4D97-AF65-F5344CB8AC3E}">
        <p14:creationId xmlns:p14="http://schemas.microsoft.com/office/powerpoint/2010/main" val="48257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服务识别的产出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63552" y="1196753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6262" y="1196753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服务发布决策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8972" y="1196753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1682" y="1196753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服务报文</a:t>
            </a:r>
          </a:p>
        </p:txBody>
      </p:sp>
      <p:sp>
        <p:nvSpPr>
          <p:cNvPr id="8" name="TextBox 15"/>
          <p:cNvSpPr txBox="1"/>
          <p:nvPr/>
        </p:nvSpPr>
        <p:spPr>
          <a:xfrm>
            <a:off x="2063553" y="1657130"/>
            <a:ext cx="1266824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服务编号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服务名称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服务类别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识别来源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与原始信息的追溯关系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当前状态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16"/>
          <p:cNvSpPr txBox="1"/>
          <p:nvPr/>
        </p:nvSpPr>
        <p:spPr>
          <a:xfrm>
            <a:off x="3426261" y="1657131"/>
            <a:ext cx="1266825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服务有效性评测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发布决策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发布范围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4788971" y="1657131"/>
            <a:ext cx="1266825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服务提供方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服务使用方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服务调用条件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8"/>
          <p:cNvSpPr txBox="1"/>
          <p:nvPr/>
        </p:nvSpPr>
        <p:spPr>
          <a:xfrm>
            <a:off x="6151682" y="1657131"/>
            <a:ext cx="1266825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请求报文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响应报文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异常报文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7514392" y="1196752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服务质量要求（</a:t>
            </a:r>
            <a:r>
              <a:rPr lang="en-US" altLang="zh-CN" sz="1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QoS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13" name="TextBox 20"/>
          <p:cNvSpPr txBox="1"/>
          <p:nvPr/>
        </p:nvSpPr>
        <p:spPr>
          <a:xfrm>
            <a:off x="7514391" y="1657131"/>
            <a:ext cx="1266825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性能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可用性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安全性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…</a:t>
            </a:r>
          </a:p>
        </p:txBody>
      </p:sp>
      <p:sp>
        <p:nvSpPr>
          <p:cNvPr id="14" name="TextBox 21"/>
          <p:cNvSpPr txBox="1"/>
          <p:nvPr/>
        </p:nvSpPr>
        <p:spPr>
          <a:xfrm>
            <a:off x="8877103" y="1196753"/>
            <a:ext cx="1266825" cy="46037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服务实现</a:t>
            </a:r>
          </a:p>
        </p:txBody>
      </p:sp>
      <p:sp>
        <p:nvSpPr>
          <p:cNvPr id="15" name="TextBox 22"/>
          <p:cNvSpPr txBox="1"/>
          <p:nvPr/>
        </p:nvSpPr>
        <p:spPr>
          <a:xfrm>
            <a:off x="8877102" y="1657129"/>
            <a:ext cx="1266825" cy="2854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交互方式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通讯协议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报文编码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超时设置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通讯回执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…</a:t>
            </a:r>
          </a:p>
        </p:txBody>
      </p:sp>
      <p:sp>
        <p:nvSpPr>
          <p:cNvPr id="16" name="TextBox 25"/>
          <p:cNvSpPr txBox="1"/>
          <p:nvPr/>
        </p:nvSpPr>
        <p:spPr>
          <a:xfrm>
            <a:off x="2063553" y="4965477"/>
            <a:ext cx="1012825" cy="1387476"/>
          </a:xfrm>
          <a:prstGeom prst="rect">
            <a:avLst/>
          </a:prstGeom>
          <a:solidFill>
            <a:srgbClr val="B2DE82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服务说明的意义</a:t>
            </a:r>
          </a:p>
        </p:txBody>
      </p:sp>
      <p:sp>
        <p:nvSpPr>
          <p:cNvPr id="17" name="TextBox 26"/>
          <p:cNvSpPr txBox="1"/>
          <p:nvPr/>
        </p:nvSpPr>
        <p:spPr>
          <a:xfrm>
            <a:off x="3076377" y="4968653"/>
            <a:ext cx="5984875" cy="13843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36000" tIns="36000" rIns="36000" bIns="36000" rtlCol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用于记录服务识别的产出内容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从多种角度记录服务所需具备的属性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保证服务设计到服务实施间信息传递的一致性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SzPct val="60000"/>
              <a:buFont typeface="Wingdings" pitchFamily="2" charset="2"/>
              <a:buChar char="n"/>
            </a:pP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标准化的服务说明用于工具批量读取以形成 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ESB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运行环境所需的配置规则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496257"/>
              </p:ext>
            </p:extLst>
          </p:nvPr>
        </p:nvGraphicFramePr>
        <p:xfrm>
          <a:off x="9229528" y="5248053"/>
          <a:ext cx="914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工作表" showAsIcon="1" r:id="rId4" imgW="914400" imgH="723960" progId="Excel.Sheet.8">
                  <p:embed/>
                </p:oleObj>
              </mc:Choice>
              <mc:Fallback>
                <p:oleObj name="工作表" showAsIcon="1" r:id="rId4" imgW="914400" imgH="72396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9528" y="5248053"/>
                        <a:ext cx="914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63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0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48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PrimetonBlue">
      <a:dk1>
        <a:srgbClr val="011892"/>
      </a:dk1>
      <a:lt1>
        <a:srgbClr val="FE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chemeClr val="tx1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25400">
          <a:solidFill>
            <a:schemeClr val="tx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2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18547</TotalTime>
  <Words>465</Words>
  <Application>Microsoft Office PowerPoint</Application>
  <PresentationFormat>宽屏</PresentationFormat>
  <Paragraphs>122</Paragraphs>
  <Slides>19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FrutigerNext LT Regular</vt:lpstr>
      <vt:lpstr>Kaiti SC Regular</vt:lpstr>
      <vt:lpstr>MS PGothic</vt:lpstr>
      <vt:lpstr>华文细黑</vt:lpstr>
      <vt:lpstr>宋体</vt:lpstr>
      <vt:lpstr>Microsoft YaHei</vt:lpstr>
      <vt:lpstr>Microsoft YaHei</vt:lpstr>
      <vt:lpstr>Arial</vt:lpstr>
      <vt:lpstr>Calibri</vt:lpstr>
      <vt:lpstr>Symbol</vt:lpstr>
      <vt:lpstr>Wingdings</vt:lpstr>
      <vt:lpstr>Office 主题</vt:lpstr>
      <vt:lpstr>工作表</vt:lpstr>
      <vt:lpstr>服务治理方法介绍</vt:lpstr>
      <vt:lpstr>服务治理的背景</vt:lpstr>
      <vt:lpstr>以PDCA闭环为指导原则的服务治理过程</vt:lpstr>
      <vt:lpstr>需求分析方法—PMD</vt:lpstr>
      <vt:lpstr>接口现状及需求梳理</vt:lpstr>
      <vt:lpstr>归纳整理—系统集成关系</vt:lpstr>
      <vt:lpstr>集成模式分类</vt:lpstr>
      <vt:lpstr>集成模式定义</vt:lpstr>
      <vt:lpstr>总结</vt:lpstr>
      <vt:lpstr>总结</vt:lpstr>
      <vt:lpstr>总结</vt:lpstr>
      <vt:lpstr>总结</vt:lpstr>
      <vt:lpstr>服务梳理方法论</vt:lpstr>
      <vt:lpstr>自上而下的服务梳理过程</vt:lpstr>
      <vt:lpstr>自下而上的服务梳理过程</vt:lpstr>
      <vt:lpstr>举例</vt:lpstr>
      <vt:lpstr>服务识别的产出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</dc:title>
  <dc:subject/>
  <dc:creator>jiaoly</dc:creator>
  <cp:keywords/>
  <dc:description/>
  <cp:lastModifiedBy>ZHUJIANG</cp:lastModifiedBy>
  <cp:revision>2093</cp:revision>
  <dcterms:created xsi:type="dcterms:W3CDTF">2014-11-20T02:29:45Z</dcterms:created>
  <dcterms:modified xsi:type="dcterms:W3CDTF">2016-06-06T08:20:49Z</dcterms:modified>
  <cp:category/>
</cp:coreProperties>
</file>