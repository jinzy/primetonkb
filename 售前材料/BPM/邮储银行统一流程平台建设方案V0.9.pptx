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61" r:id="rId2"/>
    <p:sldId id="426" r:id="rId3"/>
    <p:sldId id="427" r:id="rId4"/>
    <p:sldId id="428" r:id="rId5"/>
    <p:sldId id="429" r:id="rId6"/>
    <p:sldId id="430" r:id="rId7"/>
    <p:sldId id="438" r:id="rId8"/>
    <p:sldId id="439" r:id="rId9"/>
    <p:sldId id="440" r:id="rId10"/>
    <p:sldId id="443" r:id="rId11"/>
    <p:sldId id="448" r:id="rId12"/>
    <p:sldId id="449" r:id="rId13"/>
    <p:sldId id="450" r:id="rId14"/>
    <p:sldId id="451" r:id="rId15"/>
    <p:sldId id="452" r:id="rId16"/>
    <p:sldId id="453" r:id="rId17"/>
    <p:sldId id="454" r:id="rId18"/>
    <p:sldId id="455" r:id="rId19"/>
    <p:sldId id="456" r:id="rId20"/>
    <p:sldId id="461" r:id="rId21"/>
    <p:sldId id="457" r:id="rId22"/>
    <p:sldId id="462" r:id="rId23"/>
    <p:sldId id="463" r:id="rId24"/>
    <p:sldId id="458" r:id="rId25"/>
    <p:sldId id="460" r:id="rId26"/>
    <p:sldId id="464" r:id="rId27"/>
    <p:sldId id="471" r:id="rId28"/>
    <p:sldId id="466" r:id="rId29"/>
    <p:sldId id="472" r:id="rId30"/>
    <p:sldId id="473" r:id="rId31"/>
    <p:sldId id="474" r:id="rId32"/>
    <p:sldId id="470" r:id="rId33"/>
    <p:sldId id="334"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1"/>
    <a:srgbClr val="BBDBE3"/>
    <a:srgbClr val="C5F0E1"/>
    <a:srgbClr val="2D9204"/>
    <a:srgbClr val="41B2E0"/>
    <a:srgbClr val="000000"/>
    <a:srgbClr val="F45909"/>
    <a:srgbClr val="929292"/>
    <a:srgbClr val="D6D6D6"/>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03" autoAdjust="0"/>
    <p:restoredTop sz="97213" autoAdjust="0"/>
  </p:normalViewPr>
  <p:slideViewPr>
    <p:cSldViewPr snapToObjects="1" showGuides="1">
      <p:cViewPr varScale="1">
        <p:scale>
          <a:sx n="102" d="100"/>
          <a:sy n="102" d="100"/>
        </p:scale>
        <p:origin x="-128" y="-1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20" d="100"/>
          <a:sy n="120" d="100"/>
        </p:scale>
        <p:origin x="3712" y="20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interSettings" Target="printerSettings/printerSettings1.bin"/><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6E68F1-6F70-44F1-989F-6910085C2CED}" type="doc">
      <dgm:prSet loTypeId="urn:microsoft.com/office/officeart/2005/8/layout/matrix1" loCatId="matrix" qsTypeId="urn:microsoft.com/office/officeart/2005/8/quickstyle/simple2" qsCatId="simple" csTypeId="urn:microsoft.com/office/officeart/2005/8/colors/colorful2" csCatId="colorful" phldr="1"/>
      <dgm:spPr/>
      <dgm:t>
        <a:bodyPr/>
        <a:lstStyle/>
        <a:p>
          <a:endParaRPr lang="zh-CN" altLang="en-US"/>
        </a:p>
      </dgm:t>
    </dgm:pt>
    <dgm:pt modelId="{C8D02824-7480-4002-BD9A-BD8984CB8968}">
      <dgm:prSet phldrT="[文本]" custT="1">
        <dgm:style>
          <a:lnRef idx="1">
            <a:schemeClr val="accent1"/>
          </a:lnRef>
          <a:fillRef idx="3">
            <a:schemeClr val="accent1"/>
          </a:fillRef>
          <a:effectRef idx="2">
            <a:schemeClr val="accent1"/>
          </a:effectRef>
          <a:fontRef idx="minor">
            <a:schemeClr val="lt1"/>
          </a:fontRef>
        </dgm:style>
      </dgm:prSet>
      <dgm:spPr>
        <a:xfrm>
          <a:off x="2982045" y="1773972"/>
          <a:ext cx="1246333" cy="1246333"/>
        </a:xfrm>
      </dgm:spPr>
      <dgm:t>
        <a:bodyPr lIns="0" tIns="0" rIns="0" bIns="0"/>
        <a:lstStyle/>
        <a:p>
          <a:pPr>
            <a:lnSpc>
              <a:spcPct val="100000"/>
            </a:lnSpc>
            <a:spcBef>
              <a:spcPts val="0"/>
            </a:spcBef>
            <a:spcAft>
              <a:spcPts val="0"/>
            </a:spcAft>
          </a:pPr>
          <a:r>
            <a:rPr lang="zh-CN" altLang="en-US" sz="1800" b="0" cap="none" spc="0" dirty="0" smtClean="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rPr>
            <a:t>一阶段：快速夯实基础</a:t>
          </a:r>
          <a:endParaRPr lang="zh-CN" altLang="en-US" sz="1800" b="0" cap="none" spc="0" dirty="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endParaRPr>
        </a:p>
      </dgm:t>
    </dgm:pt>
    <dgm:pt modelId="{C1CA861E-C23F-4EF7-BE5E-56F3AAB71219}" type="parTrans" cxnId="{1AF32A64-AAED-487C-965E-11C35BFDA97F}">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AF420658-4770-4B16-8567-970B3A6C9C22}" type="sibTrans" cxnId="{1AF32A64-AAED-487C-965E-11C35BFDA97F}">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0B415981-4D9A-4E46-B1A4-2B6EF05E8FAC}">
      <dgm:prSet phldrT="[文本]" custT="1"/>
      <dgm:spPr>
        <a:xfrm>
          <a:off x="3106679" y="2843"/>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统一流程服务能力</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825A95D7-2D89-4AB7-A568-9D3A40572062}" type="parTrans" cxnId="{3C28D252-91F0-4572-9522-60C828BC7605}">
      <dgm:prSet custT="1"/>
      <dgm:spPr>
        <a:xfrm rot="16200000">
          <a:off x="3400085" y="1186675"/>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37BA168B-EF59-48D7-9333-CCE0C0E13A2B}" type="sibTrans" cxnId="{3C28D252-91F0-4572-9522-60C828BC7605}">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13932873-F4F4-4948-807F-B85B53B6CAA5}">
      <dgm:prSet phldrT="[文本]" custT="1"/>
      <dgm:spPr>
        <a:xfrm>
          <a:off x="4319313" y="446365"/>
          <a:ext cx="997066" cy="997066"/>
        </a:xfrm>
      </dgm:spPr>
      <dgm:t>
        <a:bodyPr/>
        <a:lstStyle/>
        <a:p>
          <a:pPr>
            <a:lnSpc>
              <a:spcPts val="2000"/>
            </a:lnSpc>
            <a:spcBef>
              <a:spcPts val="0"/>
            </a:spcBef>
            <a:spcAft>
              <a:spcPts val="0"/>
            </a:spcAft>
          </a:pPr>
          <a:r>
            <a:rPr lang="en-US" altLang="zh-CN"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SOA</a:t>
          </a: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体系的基础支撑</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534A4C3F-A643-410E-A514-50057486FFC6}" type="parTrans" cxnId="{9B88D468-9708-4577-98ED-025584DB0063}">
      <dgm:prSet custT="1"/>
      <dgm:spPr>
        <a:xfrm rot="18591732">
          <a:off x="4039948" y="1420177"/>
          <a:ext cx="40823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C9808012-1D9C-4CC4-8835-BEA2F5F35D68}" type="sibTrans" cxnId="{9B88D468-9708-4577-98ED-025584DB0063}">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C1A87A3E-15D3-4D69-AB13-B614816766ED}">
      <dgm:prSet phldrT="[文本]" custT="1"/>
      <dgm:spPr>
        <a:xfrm>
          <a:off x="4973641" y="1569410"/>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业务流程规范体系</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B457D081-4D22-4725-96E9-2B4BB22D958F}" type="parTrans" cxnId="{9C3D14BF-CD25-4C60-88BB-7960E2A06A6D}">
      <dgm:prSet custT="1"/>
      <dgm:spPr>
        <a:xfrm rot="21000000">
          <a:off x="4383502" y="2011859"/>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D818317B-AE81-47E6-86C5-B564C62CCE61}" type="sibTrans" cxnId="{9C3D14BF-CD25-4C60-88BB-7960E2A06A6D}">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333F7771-3FD2-43C3-9773-41F380BF2169}">
      <dgm:prSet phldrT="[文本]" custT="1"/>
      <dgm:spPr>
        <a:xfrm>
          <a:off x="4748457" y="2846487"/>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企业级流程应用云</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E427D01C-3521-4EBD-9FC1-019EE4B69E5B}" type="sibTrans" cxnId="{E8B60D38-5751-4F5E-8A34-23205F35B1C0}">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066A32A7-8139-44DE-91F5-EE743A6BCA0E}" type="parTrans" cxnId="{E8B60D38-5751-4F5E-8A34-23205F35B1C0}">
      <dgm:prSet custT="1"/>
      <dgm:spPr>
        <a:xfrm rot="1800000">
          <a:off x="4264887" y="2684556"/>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1D9F4121-60A0-48AC-897E-DB9DC3391861}" type="pres">
      <dgm:prSet presAssocID="{566E68F1-6F70-44F1-989F-6910085C2CED}" presName="diagram" presStyleCnt="0">
        <dgm:presLayoutVars>
          <dgm:chMax val="1"/>
          <dgm:dir/>
          <dgm:animLvl val="ctr"/>
          <dgm:resizeHandles val="exact"/>
        </dgm:presLayoutVars>
      </dgm:prSet>
      <dgm:spPr/>
      <dgm:t>
        <a:bodyPr/>
        <a:lstStyle/>
        <a:p>
          <a:endParaRPr lang="zh-CN" altLang="en-US"/>
        </a:p>
      </dgm:t>
    </dgm:pt>
    <dgm:pt modelId="{6972891A-A82B-45E3-A3D4-0DD390EA2588}" type="pres">
      <dgm:prSet presAssocID="{566E68F1-6F70-44F1-989F-6910085C2CED}" presName="matrix" presStyleCnt="0"/>
      <dgm:spPr/>
      <dgm:t>
        <a:bodyPr/>
        <a:lstStyle/>
        <a:p>
          <a:endParaRPr lang="zh-CN" altLang="en-US"/>
        </a:p>
      </dgm:t>
    </dgm:pt>
    <dgm:pt modelId="{12E976BA-35A9-4CBC-81BA-E08B7D48D218}" type="pres">
      <dgm:prSet presAssocID="{566E68F1-6F70-44F1-989F-6910085C2CED}" presName="tile1" presStyleLbl="node1" presStyleIdx="0" presStyleCnt="4"/>
      <dgm:spPr/>
      <dgm:t>
        <a:bodyPr/>
        <a:lstStyle/>
        <a:p>
          <a:endParaRPr lang="zh-CN" altLang="en-US"/>
        </a:p>
      </dgm:t>
    </dgm:pt>
    <dgm:pt modelId="{3445D784-C7D6-438D-AE26-A30D923EAD23}" type="pres">
      <dgm:prSet presAssocID="{566E68F1-6F70-44F1-989F-6910085C2CED}" presName="tile1text" presStyleLbl="node1" presStyleIdx="0" presStyleCnt="4">
        <dgm:presLayoutVars>
          <dgm:chMax val="0"/>
          <dgm:chPref val="0"/>
          <dgm:bulletEnabled val="1"/>
        </dgm:presLayoutVars>
      </dgm:prSet>
      <dgm:spPr/>
      <dgm:t>
        <a:bodyPr/>
        <a:lstStyle/>
        <a:p>
          <a:endParaRPr lang="zh-CN" altLang="en-US"/>
        </a:p>
      </dgm:t>
    </dgm:pt>
    <dgm:pt modelId="{158DACDC-C7B8-49F7-AB8E-5E3A24733C6D}" type="pres">
      <dgm:prSet presAssocID="{566E68F1-6F70-44F1-989F-6910085C2CED}" presName="tile2" presStyleLbl="node1" presStyleIdx="1" presStyleCnt="4"/>
      <dgm:spPr/>
      <dgm:t>
        <a:bodyPr/>
        <a:lstStyle/>
        <a:p>
          <a:endParaRPr lang="zh-CN" altLang="en-US"/>
        </a:p>
      </dgm:t>
    </dgm:pt>
    <dgm:pt modelId="{9001E575-B24F-40F0-9704-9A3AA7D232E4}" type="pres">
      <dgm:prSet presAssocID="{566E68F1-6F70-44F1-989F-6910085C2CED}" presName="tile2text" presStyleLbl="node1" presStyleIdx="1" presStyleCnt="4">
        <dgm:presLayoutVars>
          <dgm:chMax val="0"/>
          <dgm:chPref val="0"/>
          <dgm:bulletEnabled val="1"/>
        </dgm:presLayoutVars>
      </dgm:prSet>
      <dgm:spPr/>
      <dgm:t>
        <a:bodyPr/>
        <a:lstStyle/>
        <a:p>
          <a:endParaRPr lang="zh-CN" altLang="en-US"/>
        </a:p>
      </dgm:t>
    </dgm:pt>
    <dgm:pt modelId="{8D4EEB0C-1609-41A3-AFF1-8712E6273475}" type="pres">
      <dgm:prSet presAssocID="{566E68F1-6F70-44F1-989F-6910085C2CED}" presName="tile3" presStyleLbl="node1" presStyleIdx="2" presStyleCnt="4"/>
      <dgm:spPr/>
      <dgm:t>
        <a:bodyPr/>
        <a:lstStyle/>
        <a:p>
          <a:endParaRPr lang="zh-CN" altLang="en-US"/>
        </a:p>
      </dgm:t>
    </dgm:pt>
    <dgm:pt modelId="{8B4807BF-8C18-431A-A74D-4E621D8B408F}" type="pres">
      <dgm:prSet presAssocID="{566E68F1-6F70-44F1-989F-6910085C2CED}" presName="tile3text" presStyleLbl="node1" presStyleIdx="2" presStyleCnt="4">
        <dgm:presLayoutVars>
          <dgm:chMax val="0"/>
          <dgm:chPref val="0"/>
          <dgm:bulletEnabled val="1"/>
        </dgm:presLayoutVars>
      </dgm:prSet>
      <dgm:spPr/>
      <dgm:t>
        <a:bodyPr/>
        <a:lstStyle/>
        <a:p>
          <a:endParaRPr lang="zh-CN" altLang="en-US"/>
        </a:p>
      </dgm:t>
    </dgm:pt>
    <dgm:pt modelId="{9FD4FC3C-E03B-4DAA-A261-65FFFF4C8ABE}" type="pres">
      <dgm:prSet presAssocID="{566E68F1-6F70-44F1-989F-6910085C2CED}" presName="tile4" presStyleLbl="node1" presStyleIdx="3" presStyleCnt="4"/>
      <dgm:spPr/>
      <dgm:t>
        <a:bodyPr/>
        <a:lstStyle/>
        <a:p>
          <a:endParaRPr lang="zh-CN" altLang="en-US"/>
        </a:p>
      </dgm:t>
    </dgm:pt>
    <dgm:pt modelId="{26AE52C9-CC9C-49E3-B7D1-B0FE4108B3CE}" type="pres">
      <dgm:prSet presAssocID="{566E68F1-6F70-44F1-989F-6910085C2CED}" presName="tile4text" presStyleLbl="node1" presStyleIdx="3" presStyleCnt="4">
        <dgm:presLayoutVars>
          <dgm:chMax val="0"/>
          <dgm:chPref val="0"/>
          <dgm:bulletEnabled val="1"/>
        </dgm:presLayoutVars>
      </dgm:prSet>
      <dgm:spPr/>
      <dgm:t>
        <a:bodyPr/>
        <a:lstStyle/>
        <a:p>
          <a:endParaRPr lang="zh-CN" altLang="en-US"/>
        </a:p>
      </dgm:t>
    </dgm:pt>
    <dgm:pt modelId="{54DD2CED-DB92-4E2E-B64E-C0A3EB650D83}" type="pres">
      <dgm:prSet presAssocID="{566E68F1-6F70-44F1-989F-6910085C2CED}" presName="centerTile" presStyleLbl="fgShp" presStyleIdx="0" presStyleCnt="1" custScaleX="211111">
        <dgm:presLayoutVars>
          <dgm:chMax val="0"/>
          <dgm:chPref val="0"/>
        </dgm:presLayoutVars>
      </dgm:prSet>
      <dgm:spPr/>
      <dgm:t>
        <a:bodyPr/>
        <a:lstStyle/>
        <a:p>
          <a:endParaRPr lang="zh-CN" altLang="en-US"/>
        </a:p>
      </dgm:t>
    </dgm:pt>
  </dgm:ptLst>
  <dgm:cxnLst>
    <dgm:cxn modelId="{BF0796FF-096C-C644-8A11-CA08CC2AA4E1}" type="presOf" srcId="{13932873-F4F4-4948-807F-B85B53B6CAA5}" destId="{158DACDC-C7B8-49F7-AB8E-5E3A24733C6D}" srcOrd="0" destOrd="0" presId="urn:microsoft.com/office/officeart/2005/8/layout/matrix1"/>
    <dgm:cxn modelId="{1AF32A64-AAED-487C-965E-11C35BFDA97F}" srcId="{566E68F1-6F70-44F1-989F-6910085C2CED}" destId="{C8D02824-7480-4002-BD9A-BD8984CB8968}" srcOrd="0" destOrd="0" parTransId="{C1CA861E-C23F-4EF7-BE5E-56F3AAB71219}" sibTransId="{AF420658-4770-4B16-8567-970B3A6C9C22}"/>
    <dgm:cxn modelId="{9C3D14BF-CD25-4C60-88BB-7960E2A06A6D}" srcId="{C8D02824-7480-4002-BD9A-BD8984CB8968}" destId="{C1A87A3E-15D3-4D69-AB13-B614816766ED}" srcOrd="2" destOrd="0" parTransId="{B457D081-4D22-4725-96E9-2B4BB22D958F}" sibTransId="{D818317B-AE81-47E6-86C5-B564C62CCE61}"/>
    <dgm:cxn modelId="{4B97B3BE-3003-E746-BED7-E114969C39DD}" type="presOf" srcId="{C1A87A3E-15D3-4D69-AB13-B614816766ED}" destId="{8B4807BF-8C18-431A-A74D-4E621D8B408F}" srcOrd="1" destOrd="0" presId="urn:microsoft.com/office/officeart/2005/8/layout/matrix1"/>
    <dgm:cxn modelId="{F8A7AE7F-87FA-074C-8A5E-765A8B1500C7}" type="presOf" srcId="{0B415981-4D9A-4E46-B1A4-2B6EF05E8FAC}" destId="{12E976BA-35A9-4CBC-81BA-E08B7D48D218}" srcOrd="0" destOrd="0" presId="urn:microsoft.com/office/officeart/2005/8/layout/matrix1"/>
    <dgm:cxn modelId="{F1A00C25-4EF4-F740-83E1-2B9997909B0B}" type="presOf" srcId="{333F7771-3FD2-43C3-9773-41F380BF2169}" destId="{26AE52C9-CC9C-49E3-B7D1-B0FE4108B3CE}" srcOrd="1" destOrd="0" presId="urn:microsoft.com/office/officeart/2005/8/layout/matrix1"/>
    <dgm:cxn modelId="{9B88D468-9708-4577-98ED-025584DB0063}" srcId="{C8D02824-7480-4002-BD9A-BD8984CB8968}" destId="{13932873-F4F4-4948-807F-B85B53B6CAA5}" srcOrd="1" destOrd="0" parTransId="{534A4C3F-A643-410E-A514-50057486FFC6}" sibTransId="{C9808012-1D9C-4CC4-8835-BEA2F5F35D68}"/>
    <dgm:cxn modelId="{E8B60D38-5751-4F5E-8A34-23205F35B1C0}" srcId="{C8D02824-7480-4002-BD9A-BD8984CB8968}" destId="{333F7771-3FD2-43C3-9773-41F380BF2169}" srcOrd="3" destOrd="0" parTransId="{066A32A7-8139-44DE-91F5-EE743A6BCA0E}" sibTransId="{E427D01C-3521-4EBD-9FC1-019EE4B69E5B}"/>
    <dgm:cxn modelId="{C65724FF-AD32-964A-88A0-7A015262D212}" type="presOf" srcId="{C1A87A3E-15D3-4D69-AB13-B614816766ED}" destId="{8D4EEB0C-1609-41A3-AFF1-8712E6273475}" srcOrd="0" destOrd="0" presId="urn:microsoft.com/office/officeart/2005/8/layout/matrix1"/>
    <dgm:cxn modelId="{639EE529-8BB7-AB46-A8A1-7BBA96AE8785}" type="presOf" srcId="{13932873-F4F4-4948-807F-B85B53B6CAA5}" destId="{9001E575-B24F-40F0-9704-9A3AA7D232E4}" srcOrd="1" destOrd="0" presId="urn:microsoft.com/office/officeart/2005/8/layout/matrix1"/>
    <dgm:cxn modelId="{77FE5BE8-1FAC-E448-802C-01A6C16005AF}" type="presOf" srcId="{566E68F1-6F70-44F1-989F-6910085C2CED}" destId="{1D9F4121-60A0-48AC-897E-DB9DC3391861}" srcOrd="0" destOrd="0" presId="urn:microsoft.com/office/officeart/2005/8/layout/matrix1"/>
    <dgm:cxn modelId="{6E6B0C4A-9D0B-1947-A67F-CB11E1B868E7}" type="presOf" srcId="{0B415981-4D9A-4E46-B1A4-2B6EF05E8FAC}" destId="{3445D784-C7D6-438D-AE26-A30D923EAD23}" srcOrd="1" destOrd="0" presId="urn:microsoft.com/office/officeart/2005/8/layout/matrix1"/>
    <dgm:cxn modelId="{0AB798C5-DC5A-D542-9731-7FD21FF22733}" type="presOf" srcId="{333F7771-3FD2-43C3-9773-41F380BF2169}" destId="{9FD4FC3C-E03B-4DAA-A261-65FFFF4C8ABE}" srcOrd="0" destOrd="0" presId="urn:microsoft.com/office/officeart/2005/8/layout/matrix1"/>
    <dgm:cxn modelId="{3C28D252-91F0-4572-9522-60C828BC7605}" srcId="{C8D02824-7480-4002-BD9A-BD8984CB8968}" destId="{0B415981-4D9A-4E46-B1A4-2B6EF05E8FAC}" srcOrd="0" destOrd="0" parTransId="{825A95D7-2D89-4AB7-A568-9D3A40572062}" sibTransId="{37BA168B-EF59-48D7-9333-CCE0C0E13A2B}"/>
    <dgm:cxn modelId="{C883C073-8175-7C42-95C5-6C43FA6E24A7}" type="presOf" srcId="{C8D02824-7480-4002-BD9A-BD8984CB8968}" destId="{54DD2CED-DB92-4E2E-B64E-C0A3EB650D83}" srcOrd="0" destOrd="0" presId="urn:microsoft.com/office/officeart/2005/8/layout/matrix1"/>
    <dgm:cxn modelId="{2A49501B-A63D-0644-B3AA-F9FCA1FDD3B7}" type="presParOf" srcId="{1D9F4121-60A0-48AC-897E-DB9DC3391861}" destId="{6972891A-A82B-45E3-A3D4-0DD390EA2588}" srcOrd="0" destOrd="0" presId="urn:microsoft.com/office/officeart/2005/8/layout/matrix1"/>
    <dgm:cxn modelId="{481A891C-6D3A-3C45-B956-66143E4027BE}" type="presParOf" srcId="{6972891A-A82B-45E3-A3D4-0DD390EA2588}" destId="{12E976BA-35A9-4CBC-81BA-E08B7D48D218}" srcOrd="0" destOrd="0" presId="urn:microsoft.com/office/officeart/2005/8/layout/matrix1"/>
    <dgm:cxn modelId="{C5AEC363-04E0-7F4A-A6F2-93A02E94F593}" type="presParOf" srcId="{6972891A-A82B-45E3-A3D4-0DD390EA2588}" destId="{3445D784-C7D6-438D-AE26-A30D923EAD23}" srcOrd="1" destOrd="0" presId="urn:microsoft.com/office/officeart/2005/8/layout/matrix1"/>
    <dgm:cxn modelId="{8EF2B1C4-6B4D-4545-AEA5-0271294852EA}" type="presParOf" srcId="{6972891A-A82B-45E3-A3D4-0DD390EA2588}" destId="{158DACDC-C7B8-49F7-AB8E-5E3A24733C6D}" srcOrd="2" destOrd="0" presId="urn:microsoft.com/office/officeart/2005/8/layout/matrix1"/>
    <dgm:cxn modelId="{08C133FF-3954-F145-A75A-925C631F475E}" type="presParOf" srcId="{6972891A-A82B-45E3-A3D4-0DD390EA2588}" destId="{9001E575-B24F-40F0-9704-9A3AA7D232E4}" srcOrd="3" destOrd="0" presId="urn:microsoft.com/office/officeart/2005/8/layout/matrix1"/>
    <dgm:cxn modelId="{0C5B64F9-7854-E441-952E-C57C7E92E18E}" type="presParOf" srcId="{6972891A-A82B-45E3-A3D4-0DD390EA2588}" destId="{8D4EEB0C-1609-41A3-AFF1-8712E6273475}" srcOrd="4" destOrd="0" presId="urn:microsoft.com/office/officeart/2005/8/layout/matrix1"/>
    <dgm:cxn modelId="{4D451F87-B0EC-9748-B359-181620D7D22B}" type="presParOf" srcId="{6972891A-A82B-45E3-A3D4-0DD390EA2588}" destId="{8B4807BF-8C18-431A-A74D-4E621D8B408F}" srcOrd="5" destOrd="0" presId="urn:microsoft.com/office/officeart/2005/8/layout/matrix1"/>
    <dgm:cxn modelId="{5EA11E47-11BC-AE42-B3F8-6B0F770E0B7D}" type="presParOf" srcId="{6972891A-A82B-45E3-A3D4-0DD390EA2588}" destId="{9FD4FC3C-E03B-4DAA-A261-65FFFF4C8ABE}" srcOrd="6" destOrd="0" presId="urn:microsoft.com/office/officeart/2005/8/layout/matrix1"/>
    <dgm:cxn modelId="{265389F0-400A-C94C-A0F5-9FCE2096F6B5}" type="presParOf" srcId="{6972891A-A82B-45E3-A3D4-0DD390EA2588}" destId="{26AE52C9-CC9C-49E3-B7D1-B0FE4108B3CE}" srcOrd="7" destOrd="0" presId="urn:microsoft.com/office/officeart/2005/8/layout/matrix1"/>
    <dgm:cxn modelId="{EEDEE6E6-B4A4-1D4B-BA1B-70BD563FE117}" type="presParOf" srcId="{1D9F4121-60A0-48AC-897E-DB9DC3391861}" destId="{54DD2CED-DB92-4E2E-B64E-C0A3EB650D83}" srcOrd="1" destOrd="0" presId="urn:microsoft.com/office/officeart/2005/8/layout/matrix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6E68F1-6F70-44F1-989F-6910085C2CED}" type="doc">
      <dgm:prSet loTypeId="urn:microsoft.com/office/officeart/2005/8/layout/matrix1" loCatId="matrix" qsTypeId="urn:microsoft.com/office/officeart/2005/8/quickstyle/simple2" qsCatId="simple" csTypeId="urn:microsoft.com/office/officeart/2005/8/colors/colorful1" csCatId="colorful" phldr="1"/>
      <dgm:spPr/>
      <dgm:t>
        <a:bodyPr/>
        <a:lstStyle/>
        <a:p>
          <a:endParaRPr lang="zh-CN" altLang="en-US"/>
        </a:p>
      </dgm:t>
    </dgm:pt>
    <dgm:pt modelId="{C8D02824-7480-4002-BD9A-BD8984CB8968}">
      <dgm:prSet phldrT="[文本]" custT="1">
        <dgm:style>
          <a:lnRef idx="1">
            <a:schemeClr val="accent5"/>
          </a:lnRef>
          <a:fillRef idx="3">
            <a:schemeClr val="accent5"/>
          </a:fillRef>
          <a:effectRef idx="2">
            <a:schemeClr val="accent5"/>
          </a:effectRef>
          <a:fontRef idx="minor">
            <a:schemeClr val="lt1"/>
          </a:fontRef>
        </dgm:style>
      </dgm:prSet>
      <dgm:spPr>
        <a:xfrm>
          <a:off x="2982045" y="1773972"/>
          <a:ext cx="1246333" cy="1246333"/>
        </a:xfrm>
      </dgm:spPr>
      <dgm:t>
        <a:bodyPr lIns="0" tIns="0" rIns="0" bIns="0"/>
        <a:lstStyle/>
        <a:p>
          <a:pPr>
            <a:lnSpc>
              <a:spcPct val="100000"/>
            </a:lnSpc>
            <a:spcBef>
              <a:spcPts val="0"/>
            </a:spcBef>
            <a:spcAft>
              <a:spcPts val="0"/>
            </a:spcAft>
          </a:pPr>
          <a:r>
            <a:rPr lang="zh-CN" altLang="en-US" sz="1800" b="0" cap="none" spc="0" dirty="0" smtClean="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rPr>
            <a:t>二阶段：流程综合能力提升</a:t>
          </a:r>
          <a:endParaRPr lang="zh-CN" altLang="en-US" sz="1800" b="0" cap="none" spc="0" dirty="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endParaRPr>
        </a:p>
      </dgm:t>
    </dgm:pt>
    <dgm:pt modelId="{C1CA861E-C23F-4EF7-BE5E-56F3AAB71219}" type="parTrans" cxnId="{1AF32A64-AAED-487C-965E-11C35BFDA97F}">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AF420658-4770-4B16-8567-970B3A6C9C22}" type="sibTrans" cxnId="{1AF32A64-AAED-487C-965E-11C35BFDA97F}">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0B415981-4D9A-4E46-B1A4-2B6EF05E8FAC}">
      <dgm:prSet phldrT="[文本]" custT="1"/>
      <dgm:spPr>
        <a:xfrm>
          <a:off x="3106679" y="2843"/>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统一跨流程协作</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825A95D7-2D89-4AB7-A568-9D3A40572062}" type="parTrans" cxnId="{3C28D252-91F0-4572-9522-60C828BC7605}">
      <dgm:prSet custT="1"/>
      <dgm:spPr>
        <a:xfrm rot="16200000">
          <a:off x="3400085" y="1186675"/>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37BA168B-EF59-48D7-9333-CCE0C0E13A2B}" type="sibTrans" cxnId="{3C28D252-91F0-4572-9522-60C828BC7605}">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13932873-F4F4-4948-807F-B85B53B6CAA5}">
      <dgm:prSet phldrT="[文本]" custT="1"/>
      <dgm:spPr>
        <a:xfrm>
          <a:off x="4319313" y="446365"/>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流程优化分析能力</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534A4C3F-A643-410E-A514-50057486FFC6}" type="parTrans" cxnId="{9B88D468-9708-4577-98ED-025584DB0063}">
      <dgm:prSet custT="1"/>
      <dgm:spPr>
        <a:xfrm rot="18591732">
          <a:off x="4039948" y="1420177"/>
          <a:ext cx="40823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C9808012-1D9C-4CC4-8835-BEA2F5F35D68}" type="sibTrans" cxnId="{9B88D468-9708-4577-98ED-025584DB0063}">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C1A87A3E-15D3-4D69-AB13-B614816766ED}">
      <dgm:prSet phldrT="[文本]" custT="1"/>
      <dgm:spPr>
        <a:xfrm>
          <a:off x="4973641" y="1569410"/>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统一业务活动监控</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B457D081-4D22-4725-96E9-2B4BB22D958F}" type="parTrans" cxnId="{9C3D14BF-CD25-4C60-88BB-7960E2A06A6D}">
      <dgm:prSet custT="1"/>
      <dgm:spPr>
        <a:xfrm rot="21000000">
          <a:off x="4383502" y="2011859"/>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D818317B-AE81-47E6-86C5-B564C62CCE61}" type="sibTrans" cxnId="{9C3D14BF-CD25-4C60-88BB-7960E2A06A6D}">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333F7771-3FD2-43C3-9773-41F380BF2169}">
      <dgm:prSet phldrT="[文本]" custT="1"/>
      <dgm:spPr>
        <a:xfrm>
          <a:off x="4748457" y="2846487"/>
          <a:ext cx="997066" cy="997066"/>
        </a:xfrm>
      </dgm:spPr>
      <dgm:t>
        <a:bodyPr/>
        <a:lstStyle/>
        <a:p>
          <a:pPr>
            <a:lnSpc>
              <a:spcPts val="2000"/>
            </a:lnSpc>
            <a:spcBef>
              <a:spcPts val="0"/>
            </a:spcBef>
            <a:spcAft>
              <a:spcPts val="0"/>
            </a:spcAft>
          </a:pPr>
          <a:r>
            <a:rPr lang="zh-CN" altLang="en-US" sz="1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统一业务流程管理</a:t>
          </a:r>
          <a:endParaRPr lang="zh-CN" altLang="en-US" sz="1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gm:t>
    </dgm:pt>
    <dgm:pt modelId="{E427D01C-3521-4EBD-9FC1-019EE4B69E5B}" type="sibTrans" cxnId="{E8B60D38-5751-4F5E-8A34-23205F35B1C0}">
      <dgm:prSet/>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dgm:t>
    </dgm:pt>
    <dgm:pt modelId="{066A32A7-8139-44DE-91F5-EE743A6BCA0E}" type="parTrans" cxnId="{E8B60D38-5751-4F5E-8A34-23205F35B1C0}">
      <dgm:prSet custT="1"/>
      <dgm:spPr>
        <a:xfrm rot="1800000">
          <a:off x="4264887" y="2684556"/>
          <a:ext cx="410253" cy="423753"/>
        </a:xfrm>
      </dgm:spPr>
      <dgm:t>
        <a:bodyPr/>
        <a:lstStyle/>
        <a:p>
          <a:pPr>
            <a:lnSpc>
              <a:spcPts val="2000"/>
            </a:lnSpc>
            <a:spcBef>
              <a:spcPts val="0"/>
            </a:spcBef>
            <a:spcAft>
              <a:spcPts val="0"/>
            </a:spcAft>
          </a:pPr>
          <a:endParaRPr lang="zh-CN" altLang="en-US" sz="1600" b="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cs typeface="+mn-cs"/>
          </a:endParaRPr>
        </a:p>
      </dgm:t>
    </dgm:pt>
    <dgm:pt modelId="{1D9F4121-60A0-48AC-897E-DB9DC3391861}" type="pres">
      <dgm:prSet presAssocID="{566E68F1-6F70-44F1-989F-6910085C2CED}" presName="diagram" presStyleCnt="0">
        <dgm:presLayoutVars>
          <dgm:chMax val="1"/>
          <dgm:dir/>
          <dgm:animLvl val="ctr"/>
          <dgm:resizeHandles val="exact"/>
        </dgm:presLayoutVars>
      </dgm:prSet>
      <dgm:spPr/>
      <dgm:t>
        <a:bodyPr/>
        <a:lstStyle/>
        <a:p>
          <a:endParaRPr lang="zh-CN" altLang="en-US"/>
        </a:p>
      </dgm:t>
    </dgm:pt>
    <dgm:pt modelId="{6972891A-A82B-45E3-A3D4-0DD390EA2588}" type="pres">
      <dgm:prSet presAssocID="{566E68F1-6F70-44F1-989F-6910085C2CED}" presName="matrix" presStyleCnt="0"/>
      <dgm:spPr/>
      <dgm:t>
        <a:bodyPr/>
        <a:lstStyle/>
        <a:p>
          <a:endParaRPr lang="zh-CN" altLang="en-US"/>
        </a:p>
      </dgm:t>
    </dgm:pt>
    <dgm:pt modelId="{12E976BA-35A9-4CBC-81BA-E08B7D48D218}" type="pres">
      <dgm:prSet presAssocID="{566E68F1-6F70-44F1-989F-6910085C2CED}" presName="tile1" presStyleLbl="node1" presStyleIdx="0" presStyleCnt="4"/>
      <dgm:spPr/>
      <dgm:t>
        <a:bodyPr/>
        <a:lstStyle/>
        <a:p>
          <a:endParaRPr lang="zh-CN" altLang="en-US"/>
        </a:p>
      </dgm:t>
    </dgm:pt>
    <dgm:pt modelId="{3445D784-C7D6-438D-AE26-A30D923EAD23}" type="pres">
      <dgm:prSet presAssocID="{566E68F1-6F70-44F1-989F-6910085C2CED}" presName="tile1text" presStyleLbl="node1" presStyleIdx="0" presStyleCnt="4">
        <dgm:presLayoutVars>
          <dgm:chMax val="0"/>
          <dgm:chPref val="0"/>
          <dgm:bulletEnabled val="1"/>
        </dgm:presLayoutVars>
      </dgm:prSet>
      <dgm:spPr/>
      <dgm:t>
        <a:bodyPr/>
        <a:lstStyle/>
        <a:p>
          <a:endParaRPr lang="zh-CN" altLang="en-US"/>
        </a:p>
      </dgm:t>
    </dgm:pt>
    <dgm:pt modelId="{158DACDC-C7B8-49F7-AB8E-5E3A24733C6D}" type="pres">
      <dgm:prSet presAssocID="{566E68F1-6F70-44F1-989F-6910085C2CED}" presName="tile2" presStyleLbl="node1" presStyleIdx="1" presStyleCnt="4"/>
      <dgm:spPr/>
      <dgm:t>
        <a:bodyPr/>
        <a:lstStyle/>
        <a:p>
          <a:endParaRPr lang="zh-CN" altLang="en-US"/>
        </a:p>
      </dgm:t>
    </dgm:pt>
    <dgm:pt modelId="{9001E575-B24F-40F0-9704-9A3AA7D232E4}" type="pres">
      <dgm:prSet presAssocID="{566E68F1-6F70-44F1-989F-6910085C2CED}" presName="tile2text" presStyleLbl="node1" presStyleIdx="1" presStyleCnt="4">
        <dgm:presLayoutVars>
          <dgm:chMax val="0"/>
          <dgm:chPref val="0"/>
          <dgm:bulletEnabled val="1"/>
        </dgm:presLayoutVars>
      </dgm:prSet>
      <dgm:spPr/>
      <dgm:t>
        <a:bodyPr/>
        <a:lstStyle/>
        <a:p>
          <a:endParaRPr lang="zh-CN" altLang="en-US"/>
        </a:p>
      </dgm:t>
    </dgm:pt>
    <dgm:pt modelId="{8D4EEB0C-1609-41A3-AFF1-8712E6273475}" type="pres">
      <dgm:prSet presAssocID="{566E68F1-6F70-44F1-989F-6910085C2CED}" presName="tile3" presStyleLbl="node1" presStyleIdx="2" presStyleCnt="4"/>
      <dgm:spPr/>
      <dgm:t>
        <a:bodyPr/>
        <a:lstStyle/>
        <a:p>
          <a:endParaRPr lang="zh-CN" altLang="en-US"/>
        </a:p>
      </dgm:t>
    </dgm:pt>
    <dgm:pt modelId="{8B4807BF-8C18-431A-A74D-4E621D8B408F}" type="pres">
      <dgm:prSet presAssocID="{566E68F1-6F70-44F1-989F-6910085C2CED}" presName="tile3text" presStyleLbl="node1" presStyleIdx="2" presStyleCnt="4">
        <dgm:presLayoutVars>
          <dgm:chMax val="0"/>
          <dgm:chPref val="0"/>
          <dgm:bulletEnabled val="1"/>
        </dgm:presLayoutVars>
      </dgm:prSet>
      <dgm:spPr/>
      <dgm:t>
        <a:bodyPr/>
        <a:lstStyle/>
        <a:p>
          <a:endParaRPr lang="zh-CN" altLang="en-US"/>
        </a:p>
      </dgm:t>
    </dgm:pt>
    <dgm:pt modelId="{9FD4FC3C-E03B-4DAA-A261-65FFFF4C8ABE}" type="pres">
      <dgm:prSet presAssocID="{566E68F1-6F70-44F1-989F-6910085C2CED}" presName="tile4" presStyleLbl="node1" presStyleIdx="3" presStyleCnt="4"/>
      <dgm:spPr/>
      <dgm:t>
        <a:bodyPr/>
        <a:lstStyle/>
        <a:p>
          <a:endParaRPr lang="zh-CN" altLang="en-US"/>
        </a:p>
      </dgm:t>
    </dgm:pt>
    <dgm:pt modelId="{26AE52C9-CC9C-49E3-B7D1-B0FE4108B3CE}" type="pres">
      <dgm:prSet presAssocID="{566E68F1-6F70-44F1-989F-6910085C2CED}" presName="tile4text" presStyleLbl="node1" presStyleIdx="3" presStyleCnt="4">
        <dgm:presLayoutVars>
          <dgm:chMax val="0"/>
          <dgm:chPref val="0"/>
          <dgm:bulletEnabled val="1"/>
        </dgm:presLayoutVars>
      </dgm:prSet>
      <dgm:spPr/>
      <dgm:t>
        <a:bodyPr/>
        <a:lstStyle/>
        <a:p>
          <a:endParaRPr lang="zh-CN" altLang="en-US"/>
        </a:p>
      </dgm:t>
    </dgm:pt>
    <dgm:pt modelId="{54DD2CED-DB92-4E2E-B64E-C0A3EB650D83}" type="pres">
      <dgm:prSet presAssocID="{566E68F1-6F70-44F1-989F-6910085C2CED}" presName="centerTile" presStyleLbl="fgShp" presStyleIdx="0" presStyleCnt="1" custScaleX="257942">
        <dgm:presLayoutVars>
          <dgm:chMax val="0"/>
          <dgm:chPref val="0"/>
        </dgm:presLayoutVars>
      </dgm:prSet>
      <dgm:spPr/>
      <dgm:t>
        <a:bodyPr/>
        <a:lstStyle/>
        <a:p>
          <a:endParaRPr lang="zh-CN" altLang="en-US"/>
        </a:p>
      </dgm:t>
    </dgm:pt>
  </dgm:ptLst>
  <dgm:cxnLst>
    <dgm:cxn modelId="{3A334B70-D64A-C54D-8EB5-E468619B5D68}" type="presOf" srcId="{13932873-F4F4-4948-807F-B85B53B6CAA5}" destId="{158DACDC-C7B8-49F7-AB8E-5E3A24733C6D}" srcOrd="0" destOrd="0" presId="urn:microsoft.com/office/officeart/2005/8/layout/matrix1"/>
    <dgm:cxn modelId="{182F6149-3877-4E40-9561-EE47043C976D}" type="presOf" srcId="{C8D02824-7480-4002-BD9A-BD8984CB8968}" destId="{54DD2CED-DB92-4E2E-B64E-C0A3EB650D83}" srcOrd="0" destOrd="0" presId="urn:microsoft.com/office/officeart/2005/8/layout/matrix1"/>
    <dgm:cxn modelId="{1AF32A64-AAED-487C-965E-11C35BFDA97F}" srcId="{566E68F1-6F70-44F1-989F-6910085C2CED}" destId="{C8D02824-7480-4002-BD9A-BD8984CB8968}" srcOrd="0" destOrd="0" parTransId="{C1CA861E-C23F-4EF7-BE5E-56F3AAB71219}" sibTransId="{AF420658-4770-4B16-8567-970B3A6C9C22}"/>
    <dgm:cxn modelId="{9C3D14BF-CD25-4C60-88BB-7960E2A06A6D}" srcId="{C8D02824-7480-4002-BD9A-BD8984CB8968}" destId="{C1A87A3E-15D3-4D69-AB13-B614816766ED}" srcOrd="2" destOrd="0" parTransId="{B457D081-4D22-4725-96E9-2B4BB22D958F}" sibTransId="{D818317B-AE81-47E6-86C5-B564C62CCE61}"/>
    <dgm:cxn modelId="{CA2607EF-2BDB-9746-924C-D15293FBE473}" type="presOf" srcId="{C1A87A3E-15D3-4D69-AB13-B614816766ED}" destId="{8B4807BF-8C18-431A-A74D-4E621D8B408F}" srcOrd="1" destOrd="0" presId="urn:microsoft.com/office/officeart/2005/8/layout/matrix1"/>
    <dgm:cxn modelId="{1EF88BE4-CF3E-414A-96E4-713D66A07498}" type="presOf" srcId="{0B415981-4D9A-4E46-B1A4-2B6EF05E8FAC}" destId="{3445D784-C7D6-438D-AE26-A30D923EAD23}" srcOrd="1" destOrd="0" presId="urn:microsoft.com/office/officeart/2005/8/layout/matrix1"/>
    <dgm:cxn modelId="{9B88D468-9708-4577-98ED-025584DB0063}" srcId="{C8D02824-7480-4002-BD9A-BD8984CB8968}" destId="{13932873-F4F4-4948-807F-B85B53B6CAA5}" srcOrd="1" destOrd="0" parTransId="{534A4C3F-A643-410E-A514-50057486FFC6}" sibTransId="{C9808012-1D9C-4CC4-8835-BEA2F5F35D68}"/>
    <dgm:cxn modelId="{8422C683-84B7-0B44-A117-A8C4EA818F93}" type="presOf" srcId="{333F7771-3FD2-43C3-9773-41F380BF2169}" destId="{9FD4FC3C-E03B-4DAA-A261-65FFFF4C8ABE}" srcOrd="0" destOrd="0" presId="urn:microsoft.com/office/officeart/2005/8/layout/matrix1"/>
    <dgm:cxn modelId="{E8B60D38-5751-4F5E-8A34-23205F35B1C0}" srcId="{C8D02824-7480-4002-BD9A-BD8984CB8968}" destId="{333F7771-3FD2-43C3-9773-41F380BF2169}" srcOrd="3" destOrd="0" parTransId="{066A32A7-8139-44DE-91F5-EE743A6BCA0E}" sibTransId="{E427D01C-3521-4EBD-9FC1-019EE4B69E5B}"/>
    <dgm:cxn modelId="{6CD300AE-4A73-C44C-ADF0-D5B226138D99}" type="presOf" srcId="{0B415981-4D9A-4E46-B1A4-2B6EF05E8FAC}" destId="{12E976BA-35A9-4CBC-81BA-E08B7D48D218}" srcOrd="0" destOrd="0" presId="urn:microsoft.com/office/officeart/2005/8/layout/matrix1"/>
    <dgm:cxn modelId="{51E4869E-BD07-8D4F-AD0F-17237A77305F}" type="presOf" srcId="{13932873-F4F4-4948-807F-B85B53B6CAA5}" destId="{9001E575-B24F-40F0-9704-9A3AA7D232E4}" srcOrd="1" destOrd="0" presId="urn:microsoft.com/office/officeart/2005/8/layout/matrix1"/>
    <dgm:cxn modelId="{3C28D252-91F0-4572-9522-60C828BC7605}" srcId="{C8D02824-7480-4002-BD9A-BD8984CB8968}" destId="{0B415981-4D9A-4E46-B1A4-2B6EF05E8FAC}" srcOrd="0" destOrd="0" parTransId="{825A95D7-2D89-4AB7-A568-9D3A40572062}" sibTransId="{37BA168B-EF59-48D7-9333-CCE0C0E13A2B}"/>
    <dgm:cxn modelId="{F6C65C40-5B83-6B45-AE9D-4D310C1C9129}" type="presOf" srcId="{333F7771-3FD2-43C3-9773-41F380BF2169}" destId="{26AE52C9-CC9C-49E3-B7D1-B0FE4108B3CE}" srcOrd="1" destOrd="0" presId="urn:microsoft.com/office/officeart/2005/8/layout/matrix1"/>
    <dgm:cxn modelId="{E3AECE41-12FC-2847-801C-3E25E8CB3286}" type="presOf" srcId="{C1A87A3E-15D3-4D69-AB13-B614816766ED}" destId="{8D4EEB0C-1609-41A3-AFF1-8712E6273475}" srcOrd="0" destOrd="0" presId="urn:microsoft.com/office/officeart/2005/8/layout/matrix1"/>
    <dgm:cxn modelId="{E33F456D-6840-8145-B1B3-707BBC8DDDCE}" type="presOf" srcId="{566E68F1-6F70-44F1-989F-6910085C2CED}" destId="{1D9F4121-60A0-48AC-897E-DB9DC3391861}" srcOrd="0" destOrd="0" presId="urn:microsoft.com/office/officeart/2005/8/layout/matrix1"/>
    <dgm:cxn modelId="{1F6121E8-52BB-834B-B775-B89F8F04D4CF}" type="presParOf" srcId="{1D9F4121-60A0-48AC-897E-DB9DC3391861}" destId="{6972891A-A82B-45E3-A3D4-0DD390EA2588}" srcOrd="0" destOrd="0" presId="urn:microsoft.com/office/officeart/2005/8/layout/matrix1"/>
    <dgm:cxn modelId="{1DFC03AF-311F-C446-9965-F4DAD418B82A}" type="presParOf" srcId="{6972891A-A82B-45E3-A3D4-0DD390EA2588}" destId="{12E976BA-35A9-4CBC-81BA-E08B7D48D218}" srcOrd="0" destOrd="0" presId="urn:microsoft.com/office/officeart/2005/8/layout/matrix1"/>
    <dgm:cxn modelId="{F57D12DE-DE8E-F443-BB57-D28948A9B4E5}" type="presParOf" srcId="{6972891A-A82B-45E3-A3D4-0DD390EA2588}" destId="{3445D784-C7D6-438D-AE26-A30D923EAD23}" srcOrd="1" destOrd="0" presId="urn:microsoft.com/office/officeart/2005/8/layout/matrix1"/>
    <dgm:cxn modelId="{139F5BCC-C05C-E34B-A450-D3BE29FDFB30}" type="presParOf" srcId="{6972891A-A82B-45E3-A3D4-0DD390EA2588}" destId="{158DACDC-C7B8-49F7-AB8E-5E3A24733C6D}" srcOrd="2" destOrd="0" presId="urn:microsoft.com/office/officeart/2005/8/layout/matrix1"/>
    <dgm:cxn modelId="{1DD2E3DF-8905-1B4A-85BF-51E760C2C4CD}" type="presParOf" srcId="{6972891A-A82B-45E3-A3D4-0DD390EA2588}" destId="{9001E575-B24F-40F0-9704-9A3AA7D232E4}" srcOrd="3" destOrd="0" presId="urn:microsoft.com/office/officeart/2005/8/layout/matrix1"/>
    <dgm:cxn modelId="{D3B06D77-CE30-CD48-A75A-BA8D1BA31207}" type="presParOf" srcId="{6972891A-A82B-45E3-A3D4-0DD390EA2588}" destId="{8D4EEB0C-1609-41A3-AFF1-8712E6273475}" srcOrd="4" destOrd="0" presId="urn:microsoft.com/office/officeart/2005/8/layout/matrix1"/>
    <dgm:cxn modelId="{A74929FB-DC8D-DA44-A59F-485C8DC79E1B}" type="presParOf" srcId="{6972891A-A82B-45E3-A3D4-0DD390EA2588}" destId="{8B4807BF-8C18-431A-A74D-4E621D8B408F}" srcOrd="5" destOrd="0" presId="urn:microsoft.com/office/officeart/2005/8/layout/matrix1"/>
    <dgm:cxn modelId="{884201BC-B46F-0440-85B5-97A4A1F22B0F}" type="presParOf" srcId="{6972891A-A82B-45E3-A3D4-0DD390EA2588}" destId="{9FD4FC3C-E03B-4DAA-A261-65FFFF4C8ABE}" srcOrd="6" destOrd="0" presId="urn:microsoft.com/office/officeart/2005/8/layout/matrix1"/>
    <dgm:cxn modelId="{B5CA42AE-7A32-3A4D-ABCA-24444596B8D8}" type="presParOf" srcId="{6972891A-A82B-45E3-A3D4-0DD390EA2588}" destId="{26AE52C9-CC9C-49E3-B7D1-B0FE4108B3CE}" srcOrd="7" destOrd="0" presId="urn:microsoft.com/office/officeart/2005/8/layout/matrix1"/>
    <dgm:cxn modelId="{594C2A94-5AB2-774B-8220-73C563E135AA}" type="presParOf" srcId="{1D9F4121-60A0-48AC-897E-DB9DC3391861}" destId="{54DD2CED-DB92-4E2E-B64E-C0A3EB650D83}" srcOrd="1" destOrd="0" presId="urn:microsoft.com/office/officeart/2005/8/layout/matrix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4C9FF1-99F4-4B7B-94CC-41113FEE89DD}" type="doc">
      <dgm:prSet loTypeId="urn:microsoft.com/office/officeart/2005/8/layout/hProcess4" loCatId="process" qsTypeId="urn:microsoft.com/office/officeart/2005/8/quickstyle/3d3" qsCatId="3D" csTypeId="urn:microsoft.com/office/officeart/2005/8/colors/colorful4" csCatId="colorful" phldr="1"/>
      <dgm:spPr/>
      <dgm:t>
        <a:bodyPr/>
        <a:lstStyle/>
        <a:p>
          <a:endParaRPr lang="en-US"/>
        </a:p>
      </dgm:t>
    </dgm:pt>
    <dgm:pt modelId="{9A5DC648-AA3C-4B3B-AEE2-D0588D6AE1C8}">
      <dgm:prSet phldrT="[Text]"/>
      <dgm:spPr>
        <a:xfrm>
          <a:off x="497914" y="2789153"/>
          <a:ext cx="1972712" cy="784482"/>
        </a:xfrm>
        <a:solidFill>
          <a:srgbClr val="009DD9">
            <a:lumMod val="20000"/>
            <a:lumOff val="80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r>
            <a:rPr lang="zh-CN" altLang="en-US" b="1" dirty="0" smtClean="0">
              <a:solidFill>
                <a:sysClr val="windowText" lastClr="000000"/>
              </a:solidFill>
              <a:latin typeface="华文仿宋"/>
              <a:ea typeface="华文仿宋"/>
              <a:cs typeface="华文仿宋"/>
            </a:rPr>
            <a:t>搭建共享的统一流程平台并建立配套体系规范</a:t>
          </a:r>
          <a:endParaRPr lang="en-US" b="1" dirty="0">
            <a:solidFill>
              <a:sysClr val="windowText" lastClr="000000"/>
            </a:solidFill>
            <a:latin typeface="华文仿宋"/>
            <a:ea typeface="华文仿宋"/>
            <a:cs typeface="华文仿宋"/>
          </a:endParaRPr>
        </a:p>
      </dgm:t>
    </dgm:pt>
    <dgm:pt modelId="{9527CAF8-9E84-4501-94A2-18BC9654220A}" type="parTrans" cxnId="{61A7CC5C-ECFF-485D-908F-B996EE771A6E}">
      <dgm:prSet/>
      <dgm:spPr/>
      <dgm:t>
        <a:bodyPr/>
        <a:lstStyle/>
        <a:p>
          <a:endParaRPr lang="en-US">
            <a:latin typeface="华文仿宋"/>
            <a:ea typeface="华文仿宋"/>
            <a:cs typeface="华文仿宋"/>
          </a:endParaRPr>
        </a:p>
      </dgm:t>
    </dgm:pt>
    <dgm:pt modelId="{009A31F4-DF12-4A8C-BFEC-2BF01FDCC4E0}" type="sibTrans" cxnId="{61A7CC5C-ECFF-485D-908F-B996EE771A6E}">
      <dgm:prSet/>
      <dgm:spPr>
        <a:xfrm>
          <a:off x="1264207" y="1827880"/>
          <a:ext cx="2391386" cy="2391386"/>
        </a:xfrm>
        <a:solidFill>
          <a:srgbClr val="009DD9">
            <a:lumMod val="20000"/>
            <a:lumOff val="80000"/>
          </a:srgb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gm:spPr>
      <dgm:t>
        <a:bodyPr/>
        <a:lstStyle/>
        <a:p>
          <a:endParaRPr lang="en-US">
            <a:solidFill>
              <a:schemeClr val="tx1"/>
            </a:solidFill>
            <a:latin typeface="华文仿宋"/>
            <a:ea typeface="华文仿宋"/>
            <a:cs typeface="华文仿宋"/>
          </a:endParaRPr>
        </a:p>
      </dgm:t>
    </dgm:pt>
    <dgm:pt modelId="{319A926B-6923-4CA7-9E12-26D7379183E9}">
      <dgm:prSet phldrT="[Text]" custT="1"/>
      <dgm:spPr>
        <a:xfrm>
          <a:off x="4736" y="1350935"/>
          <a:ext cx="2219301" cy="1830459"/>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建立多应用统一的流程技术架构规范、设计开发规范、维护规范等；</a:t>
          </a:r>
          <a:endParaRPr lang="en-US" sz="1200" dirty="0">
            <a:solidFill>
              <a:sysClr val="windowText" lastClr="000000">
                <a:hueOff val="0"/>
                <a:satOff val="0"/>
                <a:lumOff val="0"/>
                <a:alphaOff val="0"/>
              </a:sysClr>
            </a:solidFill>
            <a:latin typeface="华文仿宋"/>
            <a:ea typeface="华文仿宋"/>
            <a:cs typeface="华文仿宋"/>
          </a:endParaRPr>
        </a:p>
      </dgm:t>
    </dgm:pt>
    <dgm:pt modelId="{CAAA04CC-21F6-458C-90C7-77A4CB245822}" type="parTrans" cxnId="{2289717C-95BA-4201-BF9F-D09B8F9365E7}">
      <dgm:prSet/>
      <dgm:spPr/>
      <dgm:t>
        <a:bodyPr/>
        <a:lstStyle/>
        <a:p>
          <a:endParaRPr lang="en-US">
            <a:latin typeface="华文仿宋"/>
            <a:ea typeface="华文仿宋"/>
            <a:cs typeface="华文仿宋"/>
          </a:endParaRPr>
        </a:p>
      </dgm:t>
    </dgm:pt>
    <dgm:pt modelId="{C764C47C-E256-4D82-92F8-63894C3350FD}" type="sibTrans" cxnId="{2289717C-95BA-4201-BF9F-D09B8F9365E7}">
      <dgm:prSet/>
      <dgm:spPr/>
      <dgm:t>
        <a:bodyPr/>
        <a:lstStyle/>
        <a:p>
          <a:endParaRPr lang="en-US">
            <a:latin typeface="华文仿宋"/>
            <a:ea typeface="华文仿宋"/>
            <a:cs typeface="华文仿宋"/>
          </a:endParaRPr>
        </a:p>
      </dgm:t>
    </dgm:pt>
    <dgm:pt modelId="{DBC61735-D14E-439A-9303-5188BE440EDE}">
      <dgm:prSet phldrT="[Text]"/>
      <dgm:spPr>
        <a:xfrm>
          <a:off x="3296479" y="603237"/>
          <a:ext cx="1972712" cy="784482"/>
        </a:xfrm>
        <a:solidFill>
          <a:srgbClr val="0099FF"/>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r>
            <a:rPr lang="zh-CN" altLang="en-US" b="1" dirty="0" smtClean="0">
              <a:solidFill>
                <a:sysClr val="window" lastClr="FFFFFF"/>
              </a:solidFill>
              <a:latin typeface="华文仿宋"/>
              <a:ea typeface="华文仿宋"/>
              <a:cs typeface="华文仿宋"/>
            </a:rPr>
            <a:t>应用试点与平台完善</a:t>
          </a:r>
          <a:endParaRPr lang="en-US" b="1" dirty="0">
            <a:solidFill>
              <a:sysClr val="window" lastClr="FFFFFF"/>
            </a:solidFill>
            <a:latin typeface="华文仿宋"/>
            <a:ea typeface="华文仿宋"/>
            <a:cs typeface="华文仿宋"/>
          </a:endParaRPr>
        </a:p>
      </dgm:t>
    </dgm:pt>
    <dgm:pt modelId="{962ADD23-4ED0-4591-852E-F666A724E84E}" type="parTrans" cxnId="{2B0AA8E3-5A54-40BF-95F2-B04B4D08B5EE}">
      <dgm:prSet/>
      <dgm:spPr/>
      <dgm:t>
        <a:bodyPr/>
        <a:lstStyle/>
        <a:p>
          <a:endParaRPr lang="en-US">
            <a:latin typeface="华文仿宋"/>
            <a:ea typeface="华文仿宋"/>
            <a:cs typeface="华文仿宋"/>
          </a:endParaRPr>
        </a:p>
      </dgm:t>
    </dgm:pt>
    <dgm:pt modelId="{52A46EBD-4F22-44E0-A531-B5DECC0D949C}" type="sibTrans" cxnId="{2B0AA8E3-5A54-40BF-95F2-B04B4D08B5EE}">
      <dgm:prSet/>
      <dgm:spPr>
        <a:xfrm>
          <a:off x="3925194" y="50138"/>
          <a:ext cx="2707845" cy="2707845"/>
        </a:xfrm>
        <a:solidFill>
          <a:srgbClr val="0099FF"/>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gm:spPr>
      <dgm:t>
        <a:bodyPr/>
        <a:lstStyle/>
        <a:p>
          <a:endParaRPr lang="en-US">
            <a:latin typeface="华文仿宋"/>
            <a:ea typeface="华文仿宋"/>
            <a:cs typeface="华文仿宋"/>
          </a:endParaRPr>
        </a:p>
      </dgm:t>
    </dgm:pt>
    <dgm:pt modelId="{C479779B-6E1A-4013-A811-AC3A2F730EA9}">
      <dgm:prSet phldrT="[Text]" custT="1"/>
      <dgm:spPr>
        <a:xfrm>
          <a:off x="2803301" y="928694"/>
          <a:ext cx="2219301" cy="2674941"/>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启动试点，基于统一流程平台进行流程设计、开发、监控、优化和运维；</a:t>
          </a:r>
          <a:endParaRPr lang="en-US" sz="1200" dirty="0">
            <a:solidFill>
              <a:sysClr val="windowText" lastClr="000000">
                <a:hueOff val="0"/>
                <a:satOff val="0"/>
                <a:lumOff val="0"/>
                <a:alphaOff val="0"/>
              </a:sysClr>
            </a:solidFill>
            <a:latin typeface="华文仿宋"/>
            <a:ea typeface="华文仿宋"/>
            <a:cs typeface="华文仿宋"/>
          </a:endParaRPr>
        </a:p>
      </dgm:t>
    </dgm:pt>
    <dgm:pt modelId="{FFAA4B40-9560-4573-88F9-D9A3929A1118}" type="parTrans" cxnId="{1F2F852F-32AF-4B0A-84F6-96AB7F400C25}">
      <dgm:prSet/>
      <dgm:spPr/>
      <dgm:t>
        <a:bodyPr/>
        <a:lstStyle/>
        <a:p>
          <a:endParaRPr lang="en-US">
            <a:latin typeface="华文仿宋"/>
            <a:ea typeface="华文仿宋"/>
            <a:cs typeface="华文仿宋"/>
          </a:endParaRPr>
        </a:p>
      </dgm:t>
    </dgm:pt>
    <dgm:pt modelId="{1A9A5CCC-793D-438C-8BD7-F67D807F731D}" type="sibTrans" cxnId="{1F2F852F-32AF-4B0A-84F6-96AB7F400C25}">
      <dgm:prSet/>
      <dgm:spPr/>
      <dgm:t>
        <a:bodyPr/>
        <a:lstStyle/>
        <a:p>
          <a:endParaRPr lang="en-US">
            <a:latin typeface="华文仿宋"/>
            <a:ea typeface="华文仿宋"/>
            <a:cs typeface="华文仿宋"/>
          </a:endParaRPr>
        </a:p>
      </dgm:t>
    </dgm:pt>
    <dgm:pt modelId="{EB160D99-07D2-4D32-8FCB-801F7C9D0E9B}">
      <dgm:prSet phldrT="[Text]"/>
      <dgm:spPr>
        <a:xfrm>
          <a:off x="6095045" y="2789153"/>
          <a:ext cx="1972712" cy="784482"/>
        </a:xfrm>
        <a:solidFill>
          <a:srgbClr val="002060"/>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r>
            <a:rPr lang="zh-CN" altLang="en-US" b="1" dirty="0" smtClean="0">
              <a:solidFill>
                <a:sysClr val="window" lastClr="FFFFFF"/>
              </a:solidFill>
              <a:latin typeface="华文仿宋"/>
              <a:ea typeface="华文仿宋"/>
              <a:cs typeface="华文仿宋"/>
            </a:rPr>
            <a:t>平台的全面推广</a:t>
          </a:r>
          <a:endParaRPr lang="en-US" b="1" dirty="0">
            <a:solidFill>
              <a:sysClr val="window" lastClr="FFFFFF"/>
            </a:solidFill>
            <a:latin typeface="华文仿宋"/>
            <a:ea typeface="华文仿宋"/>
            <a:cs typeface="华文仿宋"/>
          </a:endParaRPr>
        </a:p>
      </dgm:t>
    </dgm:pt>
    <dgm:pt modelId="{9627E07F-2372-4A83-8EA0-43CBABBEFB8D}" type="parTrans" cxnId="{09358DE0-68E9-48AC-8A3A-4CCF11B81E8E}">
      <dgm:prSet/>
      <dgm:spPr/>
      <dgm:t>
        <a:bodyPr/>
        <a:lstStyle/>
        <a:p>
          <a:endParaRPr lang="en-US">
            <a:latin typeface="华文仿宋"/>
            <a:ea typeface="华文仿宋"/>
            <a:cs typeface="华文仿宋"/>
          </a:endParaRPr>
        </a:p>
      </dgm:t>
    </dgm:pt>
    <dgm:pt modelId="{96ACF0F9-6AAD-47E7-89EE-D487822C0034}" type="sibTrans" cxnId="{09358DE0-68E9-48AC-8A3A-4CCF11B81E8E}">
      <dgm:prSet/>
      <dgm:spPr/>
      <dgm:t>
        <a:bodyPr/>
        <a:lstStyle/>
        <a:p>
          <a:endParaRPr lang="en-US">
            <a:latin typeface="华文仿宋"/>
            <a:ea typeface="华文仿宋"/>
            <a:cs typeface="华文仿宋"/>
          </a:endParaRPr>
        </a:p>
      </dgm:t>
    </dgm:pt>
    <dgm:pt modelId="{E568FA1B-2C2F-4676-9BAE-E4ADE3ADE5FF}">
      <dgm:prSet phldrT="[Text]" custT="1"/>
      <dgm:spPr>
        <a:xfrm>
          <a:off x="5601867" y="1350935"/>
          <a:ext cx="2219301" cy="1830459"/>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根据新的流程应用建设或者改造的规划，有计划、分批的实现流程承载平台的迁移；</a:t>
          </a:r>
          <a:endParaRPr lang="en-US" sz="1200" dirty="0">
            <a:solidFill>
              <a:sysClr val="windowText" lastClr="000000">
                <a:hueOff val="0"/>
                <a:satOff val="0"/>
                <a:lumOff val="0"/>
                <a:alphaOff val="0"/>
              </a:sysClr>
            </a:solidFill>
            <a:latin typeface="华文仿宋"/>
            <a:ea typeface="华文仿宋"/>
            <a:cs typeface="华文仿宋"/>
          </a:endParaRPr>
        </a:p>
      </dgm:t>
    </dgm:pt>
    <dgm:pt modelId="{96CFFDE9-6124-4808-AF27-1ED3395044B0}" type="parTrans" cxnId="{1AA692FA-7604-4897-AA0F-EE7302E63F03}">
      <dgm:prSet/>
      <dgm:spPr/>
      <dgm:t>
        <a:bodyPr/>
        <a:lstStyle/>
        <a:p>
          <a:endParaRPr lang="en-US">
            <a:latin typeface="华文仿宋"/>
            <a:ea typeface="华文仿宋"/>
            <a:cs typeface="华文仿宋"/>
          </a:endParaRPr>
        </a:p>
      </dgm:t>
    </dgm:pt>
    <dgm:pt modelId="{5EE29E42-1FB8-4925-90ED-9890C4FC3FE0}" type="sibTrans" cxnId="{1AA692FA-7604-4897-AA0F-EE7302E63F03}">
      <dgm:prSet/>
      <dgm:spPr/>
      <dgm:t>
        <a:bodyPr/>
        <a:lstStyle/>
        <a:p>
          <a:endParaRPr lang="en-US">
            <a:latin typeface="华文仿宋"/>
            <a:ea typeface="华文仿宋"/>
            <a:cs typeface="华文仿宋"/>
          </a:endParaRPr>
        </a:p>
      </dgm:t>
    </dgm:pt>
    <dgm:pt modelId="{8360F095-C5F5-4FC8-8964-176FC9AEC46A}">
      <dgm:prSet phldrT="[Text]" custT="1"/>
      <dgm:spPr>
        <a:xfrm>
          <a:off x="4736" y="1350935"/>
          <a:ext cx="2219301" cy="1830459"/>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搭建共享的统一流程平台，定制具备企业特色的关键支撑能力</a:t>
          </a:r>
          <a:endParaRPr lang="en-US" sz="1200" dirty="0">
            <a:solidFill>
              <a:sysClr val="windowText" lastClr="000000">
                <a:hueOff val="0"/>
                <a:satOff val="0"/>
                <a:lumOff val="0"/>
                <a:alphaOff val="0"/>
              </a:sysClr>
            </a:solidFill>
            <a:latin typeface="华文仿宋"/>
            <a:ea typeface="华文仿宋"/>
            <a:cs typeface="华文仿宋"/>
          </a:endParaRPr>
        </a:p>
      </dgm:t>
    </dgm:pt>
    <dgm:pt modelId="{A0062785-11B6-45F7-AF4F-37D48F17E9FF}" type="parTrans" cxnId="{9C26C1E6-F81A-4630-8323-EA0D877B38DD}">
      <dgm:prSet/>
      <dgm:spPr/>
      <dgm:t>
        <a:bodyPr/>
        <a:lstStyle/>
        <a:p>
          <a:endParaRPr lang="en-US">
            <a:latin typeface="华文仿宋"/>
            <a:ea typeface="华文仿宋"/>
            <a:cs typeface="华文仿宋"/>
          </a:endParaRPr>
        </a:p>
      </dgm:t>
    </dgm:pt>
    <dgm:pt modelId="{306DCBFF-505D-4505-8A4C-D859C788B9F3}" type="sibTrans" cxnId="{9C26C1E6-F81A-4630-8323-EA0D877B38DD}">
      <dgm:prSet/>
      <dgm:spPr/>
      <dgm:t>
        <a:bodyPr/>
        <a:lstStyle/>
        <a:p>
          <a:endParaRPr lang="en-US">
            <a:latin typeface="华文仿宋"/>
            <a:ea typeface="华文仿宋"/>
            <a:cs typeface="华文仿宋"/>
          </a:endParaRPr>
        </a:p>
      </dgm:t>
    </dgm:pt>
    <dgm:pt modelId="{9BCB43AC-E538-4A69-911D-EF3843293F52}">
      <dgm:prSet phldrT="[Text]" custT="1"/>
      <dgm:spPr>
        <a:xfrm>
          <a:off x="4736" y="1350935"/>
          <a:ext cx="2219301" cy="1830459"/>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建立组件库</a:t>
          </a:r>
          <a:r>
            <a:rPr lang="en-US" altLang="zh-CN" sz="1200" dirty="0" smtClean="0">
              <a:solidFill>
                <a:sysClr val="windowText" lastClr="000000">
                  <a:hueOff val="0"/>
                  <a:satOff val="0"/>
                  <a:lumOff val="0"/>
                  <a:alphaOff val="0"/>
                </a:sysClr>
              </a:solidFill>
              <a:latin typeface="华文仿宋"/>
              <a:ea typeface="华文仿宋"/>
              <a:cs typeface="华文仿宋"/>
            </a:rPr>
            <a:t>/</a:t>
          </a:r>
          <a:r>
            <a:rPr lang="zh-CN" altLang="en-US" sz="1200" dirty="0" smtClean="0">
              <a:solidFill>
                <a:sysClr val="windowText" lastClr="000000">
                  <a:hueOff val="0"/>
                  <a:satOff val="0"/>
                  <a:lumOff val="0"/>
                  <a:alphaOff val="0"/>
                </a:sysClr>
              </a:solidFill>
              <a:latin typeface="华文仿宋"/>
              <a:ea typeface="华文仿宋"/>
              <a:cs typeface="华文仿宋"/>
            </a:rPr>
            <a:t>知识库积累体系；</a:t>
          </a:r>
          <a:endParaRPr lang="en-US" sz="1200" dirty="0">
            <a:solidFill>
              <a:sysClr val="windowText" lastClr="000000">
                <a:hueOff val="0"/>
                <a:satOff val="0"/>
                <a:lumOff val="0"/>
                <a:alphaOff val="0"/>
              </a:sysClr>
            </a:solidFill>
            <a:latin typeface="华文仿宋"/>
            <a:ea typeface="华文仿宋"/>
            <a:cs typeface="华文仿宋"/>
          </a:endParaRPr>
        </a:p>
      </dgm:t>
    </dgm:pt>
    <dgm:pt modelId="{71FA5DC1-DA1F-44D8-BF33-6EC4CF8BE4B3}" type="parTrans" cxnId="{B84D9080-160E-4F1B-AFC3-47F954FE1282}">
      <dgm:prSet/>
      <dgm:spPr/>
      <dgm:t>
        <a:bodyPr/>
        <a:lstStyle/>
        <a:p>
          <a:endParaRPr lang="en-US">
            <a:latin typeface="华文仿宋"/>
            <a:ea typeface="华文仿宋"/>
            <a:cs typeface="华文仿宋"/>
          </a:endParaRPr>
        </a:p>
      </dgm:t>
    </dgm:pt>
    <dgm:pt modelId="{0A3EAD6F-E139-4E10-BF54-CF67202E6242}" type="sibTrans" cxnId="{B84D9080-160E-4F1B-AFC3-47F954FE1282}">
      <dgm:prSet/>
      <dgm:spPr/>
      <dgm:t>
        <a:bodyPr/>
        <a:lstStyle/>
        <a:p>
          <a:endParaRPr lang="en-US">
            <a:latin typeface="华文仿宋"/>
            <a:ea typeface="华文仿宋"/>
            <a:cs typeface="华文仿宋"/>
          </a:endParaRPr>
        </a:p>
      </dgm:t>
    </dgm:pt>
    <dgm:pt modelId="{C82762B9-68B4-42A7-B042-8664385109B6}">
      <dgm:prSet custT="1"/>
      <dgm:spPr>
        <a:xfrm>
          <a:off x="2803301" y="928694"/>
          <a:ext cx="2219301" cy="2674941"/>
        </a:xfr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t>
        <a:bodyPr/>
        <a:lstStyle/>
        <a:p>
          <a:r>
            <a:rPr lang="zh-CN" altLang="en-US" sz="1200" dirty="0" smtClean="0">
              <a:solidFill>
                <a:sysClr val="windowText" lastClr="000000">
                  <a:hueOff val="0"/>
                  <a:satOff val="0"/>
                  <a:lumOff val="0"/>
                  <a:alphaOff val="0"/>
                </a:sysClr>
              </a:solidFill>
              <a:latin typeface="华文仿宋"/>
              <a:ea typeface="华文仿宋"/>
              <a:cs typeface="华文仿宋"/>
            </a:rPr>
            <a:t>根据试点情况完善平台及配套体系规范；</a:t>
          </a:r>
          <a:endParaRPr lang="en-US" sz="1200" dirty="0">
            <a:solidFill>
              <a:sysClr val="windowText" lastClr="000000">
                <a:hueOff val="0"/>
                <a:satOff val="0"/>
                <a:lumOff val="0"/>
                <a:alphaOff val="0"/>
              </a:sysClr>
            </a:solidFill>
            <a:latin typeface="华文仿宋"/>
            <a:ea typeface="华文仿宋"/>
            <a:cs typeface="华文仿宋"/>
          </a:endParaRPr>
        </a:p>
      </dgm:t>
    </dgm:pt>
    <dgm:pt modelId="{C66AB960-E502-49C1-A5D3-162F4D202893}" type="parTrans" cxnId="{FB40E294-C0AA-4A22-9522-2F48EF17F151}">
      <dgm:prSet/>
      <dgm:spPr/>
      <dgm:t>
        <a:bodyPr/>
        <a:lstStyle/>
        <a:p>
          <a:endParaRPr lang="zh-CN" altLang="en-US">
            <a:latin typeface="华文仿宋"/>
            <a:ea typeface="华文仿宋"/>
            <a:cs typeface="华文仿宋"/>
          </a:endParaRPr>
        </a:p>
      </dgm:t>
    </dgm:pt>
    <dgm:pt modelId="{24C939A1-DF0F-46A3-8115-A5EF89A9A5C3}" type="sibTrans" cxnId="{FB40E294-C0AA-4A22-9522-2F48EF17F151}">
      <dgm:prSet/>
      <dgm:spPr/>
      <dgm:t>
        <a:bodyPr/>
        <a:lstStyle/>
        <a:p>
          <a:endParaRPr lang="zh-CN" altLang="en-US">
            <a:latin typeface="华文仿宋"/>
            <a:ea typeface="华文仿宋"/>
            <a:cs typeface="华文仿宋"/>
          </a:endParaRPr>
        </a:p>
      </dgm:t>
    </dgm:pt>
    <dgm:pt modelId="{A73F5135-0A3F-47AC-9F1C-8E1E4DA3577F}" type="pres">
      <dgm:prSet presAssocID="{574C9FF1-99F4-4B7B-94CC-41113FEE89DD}" presName="Name0" presStyleCnt="0">
        <dgm:presLayoutVars>
          <dgm:dir/>
          <dgm:animLvl val="lvl"/>
          <dgm:resizeHandles val="exact"/>
        </dgm:presLayoutVars>
      </dgm:prSet>
      <dgm:spPr/>
      <dgm:t>
        <a:bodyPr/>
        <a:lstStyle/>
        <a:p>
          <a:endParaRPr lang="en-US"/>
        </a:p>
      </dgm:t>
    </dgm:pt>
    <dgm:pt modelId="{5B1A2704-EF49-49F7-8BD5-0B30D2CC24F8}" type="pres">
      <dgm:prSet presAssocID="{574C9FF1-99F4-4B7B-94CC-41113FEE89DD}" presName="tSp" presStyleCnt="0"/>
      <dgm:spPr/>
    </dgm:pt>
    <dgm:pt modelId="{E5DDDF37-378B-4ABB-9317-DF291075511A}" type="pres">
      <dgm:prSet presAssocID="{574C9FF1-99F4-4B7B-94CC-41113FEE89DD}" presName="bSp" presStyleCnt="0"/>
      <dgm:spPr/>
    </dgm:pt>
    <dgm:pt modelId="{86B1722A-0C1F-4528-AC13-07FE2D5B7FFB}" type="pres">
      <dgm:prSet presAssocID="{574C9FF1-99F4-4B7B-94CC-41113FEE89DD}" presName="process" presStyleCnt="0"/>
      <dgm:spPr/>
    </dgm:pt>
    <dgm:pt modelId="{6AB5A0E1-7E7C-42F0-AA5E-8F0E61BCE344}" type="pres">
      <dgm:prSet presAssocID="{9A5DC648-AA3C-4B3B-AEE2-D0588D6AE1C8}" presName="composite1" presStyleCnt="0"/>
      <dgm:spPr/>
    </dgm:pt>
    <dgm:pt modelId="{D63229E1-CCC6-4798-BAA6-93E6214D6092}" type="pres">
      <dgm:prSet presAssocID="{9A5DC648-AA3C-4B3B-AEE2-D0588D6AE1C8}" presName="dummyNode1" presStyleLbl="node1" presStyleIdx="0" presStyleCnt="3"/>
      <dgm:spPr/>
    </dgm:pt>
    <dgm:pt modelId="{D217A302-51A6-4BB6-8B93-01AD48D76F75}" type="pres">
      <dgm:prSet presAssocID="{9A5DC648-AA3C-4B3B-AEE2-D0588D6AE1C8}" presName="childNode1" presStyleLbl="bgAcc1" presStyleIdx="0" presStyleCnt="3" custScaleY="137458" custLinFactNeighborY="-11935">
        <dgm:presLayoutVars>
          <dgm:bulletEnabled val="1"/>
        </dgm:presLayoutVars>
      </dgm:prSet>
      <dgm:spPr>
        <a:prstGeom prst="roundRect">
          <a:avLst>
            <a:gd name="adj" fmla="val 10000"/>
          </a:avLst>
        </a:prstGeom>
      </dgm:spPr>
      <dgm:t>
        <a:bodyPr/>
        <a:lstStyle/>
        <a:p>
          <a:endParaRPr lang="en-US"/>
        </a:p>
      </dgm:t>
    </dgm:pt>
    <dgm:pt modelId="{F1DD8A76-48A1-4CAA-A6B4-9E062B5429F4}" type="pres">
      <dgm:prSet presAssocID="{9A5DC648-AA3C-4B3B-AEE2-D0588D6AE1C8}" presName="childNode1tx" presStyleLbl="bgAcc1" presStyleIdx="0" presStyleCnt="3">
        <dgm:presLayoutVars>
          <dgm:bulletEnabled val="1"/>
        </dgm:presLayoutVars>
      </dgm:prSet>
      <dgm:spPr/>
      <dgm:t>
        <a:bodyPr/>
        <a:lstStyle/>
        <a:p>
          <a:endParaRPr lang="en-US"/>
        </a:p>
      </dgm:t>
    </dgm:pt>
    <dgm:pt modelId="{673F55B3-3DE2-4454-AE71-DACDD09D1BAC}" type="pres">
      <dgm:prSet presAssocID="{9A5DC648-AA3C-4B3B-AEE2-D0588D6AE1C8}" presName="parentNode1" presStyleLbl="node1" presStyleIdx="0" presStyleCnt="3">
        <dgm:presLayoutVars>
          <dgm:chMax val="1"/>
          <dgm:bulletEnabled val="1"/>
        </dgm:presLayoutVars>
      </dgm:prSet>
      <dgm:spPr>
        <a:prstGeom prst="roundRect">
          <a:avLst>
            <a:gd name="adj" fmla="val 10000"/>
          </a:avLst>
        </a:prstGeom>
      </dgm:spPr>
      <dgm:t>
        <a:bodyPr/>
        <a:lstStyle/>
        <a:p>
          <a:endParaRPr lang="en-US"/>
        </a:p>
      </dgm:t>
    </dgm:pt>
    <dgm:pt modelId="{5502474F-A71F-416C-ADB1-E61E71A674F2}" type="pres">
      <dgm:prSet presAssocID="{9A5DC648-AA3C-4B3B-AEE2-D0588D6AE1C8}" presName="connSite1" presStyleCnt="0"/>
      <dgm:spPr/>
    </dgm:pt>
    <dgm:pt modelId="{B9435B8A-1569-4098-A632-53B7B20E80C3}" type="pres">
      <dgm:prSet presAssocID="{009A31F4-DF12-4A8C-BFEC-2BF01FDCC4E0}" presName="Name9" presStyleLbl="sibTrans2D1" presStyleIdx="0" presStyleCnt="2"/>
      <dgm:spPr>
        <a:prstGeom prst="leftCircularArrow">
          <a:avLst>
            <a:gd name="adj1" fmla="val 2921"/>
            <a:gd name="adj2" fmla="val 357550"/>
            <a:gd name="adj3" fmla="val 2143706"/>
            <a:gd name="adj4" fmla="val 9035135"/>
            <a:gd name="adj5" fmla="val 3408"/>
          </a:avLst>
        </a:prstGeom>
      </dgm:spPr>
      <dgm:t>
        <a:bodyPr/>
        <a:lstStyle/>
        <a:p>
          <a:endParaRPr lang="en-US"/>
        </a:p>
      </dgm:t>
    </dgm:pt>
    <dgm:pt modelId="{6FE474B5-8D69-47BD-9BDA-0B61B1815ACD}" type="pres">
      <dgm:prSet presAssocID="{DBC61735-D14E-439A-9303-5188BE440EDE}" presName="composite2" presStyleCnt="0"/>
      <dgm:spPr/>
    </dgm:pt>
    <dgm:pt modelId="{44CE2314-7D7D-4A5C-84EC-67DA7CC5BE58}" type="pres">
      <dgm:prSet presAssocID="{DBC61735-D14E-439A-9303-5188BE440EDE}" presName="dummyNode2" presStyleLbl="node1" presStyleIdx="0" presStyleCnt="3"/>
      <dgm:spPr/>
    </dgm:pt>
    <dgm:pt modelId="{349B4982-76AF-4572-A966-138C281EF3F2}" type="pres">
      <dgm:prSet presAssocID="{DBC61735-D14E-439A-9303-5188BE440EDE}" presName="childNode2" presStyleLbl="bgAcc1" presStyleIdx="1" presStyleCnt="3" custScaleY="122178">
        <dgm:presLayoutVars>
          <dgm:bulletEnabled val="1"/>
        </dgm:presLayoutVars>
      </dgm:prSet>
      <dgm:spPr>
        <a:prstGeom prst="roundRect">
          <a:avLst>
            <a:gd name="adj" fmla="val 10000"/>
          </a:avLst>
        </a:prstGeom>
      </dgm:spPr>
      <dgm:t>
        <a:bodyPr/>
        <a:lstStyle/>
        <a:p>
          <a:endParaRPr lang="en-US"/>
        </a:p>
      </dgm:t>
    </dgm:pt>
    <dgm:pt modelId="{B63472C6-1F42-4BA0-B0F5-81E9A2E4711B}" type="pres">
      <dgm:prSet presAssocID="{DBC61735-D14E-439A-9303-5188BE440EDE}" presName="childNode2tx" presStyleLbl="bgAcc1" presStyleIdx="1" presStyleCnt="3">
        <dgm:presLayoutVars>
          <dgm:bulletEnabled val="1"/>
        </dgm:presLayoutVars>
      </dgm:prSet>
      <dgm:spPr/>
      <dgm:t>
        <a:bodyPr/>
        <a:lstStyle/>
        <a:p>
          <a:endParaRPr lang="en-US"/>
        </a:p>
      </dgm:t>
    </dgm:pt>
    <dgm:pt modelId="{3C906CCA-73A5-4DF9-985E-DB84385922D3}" type="pres">
      <dgm:prSet presAssocID="{DBC61735-D14E-439A-9303-5188BE440EDE}" presName="parentNode2" presStyleLbl="node1" presStyleIdx="1" presStyleCnt="3" custScaleX="121697" custLinFactNeighborY="-45311">
        <dgm:presLayoutVars>
          <dgm:chMax val="0"/>
          <dgm:bulletEnabled val="1"/>
        </dgm:presLayoutVars>
      </dgm:prSet>
      <dgm:spPr>
        <a:prstGeom prst="roundRect">
          <a:avLst>
            <a:gd name="adj" fmla="val 10000"/>
          </a:avLst>
        </a:prstGeom>
      </dgm:spPr>
      <dgm:t>
        <a:bodyPr/>
        <a:lstStyle/>
        <a:p>
          <a:endParaRPr lang="en-US"/>
        </a:p>
      </dgm:t>
    </dgm:pt>
    <dgm:pt modelId="{B29EE634-A077-44FA-9EA5-E3A1CCCE627D}" type="pres">
      <dgm:prSet presAssocID="{DBC61735-D14E-439A-9303-5188BE440EDE}" presName="connSite2" presStyleCnt="0"/>
      <dgm:spPr/>
    </dgm:pt>
    <dgm:pt modelId="{D47E5D5D-0007-45B8-94DE-852CED59E6DA}" type="pres">
      <dgm:prSet presAssocID="{52A46EBD-4F22-44E0-A531-B5DECC0D949C}" presName="Name18" presStyleLbl="sibTrans2D1" presStyleIdx="1" presStyleCnt="2" custLinFactNeighborY="7044"/>
      <dgm:spPr>
        <a:prstGeom prst="circularArrow">
          <a:avLst>
            <a:gd name="adj1" fmla="val 2580"/>
            <a:gd name="adj2" fmla="val 313257"/>
            <a:gd name="adj3" fmla="val 20063291"/>
            <a:gd name="adj4" fmla="val 13127569"/>
            <a:gd name="adj5" fmla="val 3010"/>
          </a:avLst>
        </a:prstGeom>
      </dgm:spPr>
      <dgm:t>
        <a:bodyPr/>
        <a:lstStyle/>
        <a:p>
          <a:endParaRPr lang="en-US"/>
        </a:p>
      </dgm:t>
    </dgm:pt>
    <dgm:pt modelId="{0C1E8132-468E-452C-B9F8-7F3EE1A23367}" type="pres">
      <dgm:prSet presAssocID="{EB160D99-07D2-4D32-8FCB-801F7C9D0E9B}" presName="composite1" presStyleCnt="0"/>
      <dgm:spPr/>
    </dgm:pt>
    <dgm:pt modelId="{5B12162D-9811-4B92-9ED8-8CBEE3701DA2}" type="pres">
      <dgm:prSet presAssocID="{EB160D99-07D2-4D32-8FCB-801F7C9D0E9B}" presName="dummyNode1" presStyleLbl="node1" presStyleIdx="1" presStyleCnt="3"/>
      <dgm:spPr/>
    </dgm:pt>
    <dgm:pt modelId="{521002B3-0661-42F7-9C78-663992C4E08A}" type="pres">
      <dgm:prSet presAssocID="{EB160D99-07D2-4D32-8FCB-801F7C9D0E9B}" presName="childNode1" presStyleLbl="bgAcc1" presStyleIdx="2" presStyleCnt="3">
        <dgm:presLayoutVars>
          <dgm:bulletEnabled val="1"/>
        </dgm:presLayoutVars>
      </dgm:prSet>
      <dgm:spPr>
        <a:prstGeom prst="roundRect">
          <a:avLst>
            <a:gd name="adj" fmla="val 10000"/>
          </a:avLst>
        </a:prstGeom>
      </dgm:spPr>
      <dgm:t>
        <a:bodyPr/>
        <a:lstStyle/>
        <a:p>
          <a:endParaRPr lang="en-US"/>
        </a:p>
      </dgm:t>
    </dgm:pt>
    <dgm:pt modelId="{6361363E-5B1F-4EB7-A49C-BCF63C8E7B33}" type="pres">
      <dgm:prSet presAssocID="{EB160D99-07D2-4D32-8FCB-801F7C9D0E9B}" presName="childNode1tx" presStyleLbl="bgAcc1" presStyleIdx="2" presStyleCnt="3">
        <dgm:presLayoutVars>
          <dgm:bulletEnabled val="1"/>
        </dgm:presLayoutVars>
      </dgm:prSet>
      <dgm:spPr/>
      <dgm:t>
        <a:bodyPr/>
        <a:lstStyle/>
        <a:p>
          <a:endParaRPr lang="en-US"/>
        </a:p>
      </dgm:t>
    </dgm:pt>
    <dgm:pt modelId="{B6554C72-870A-4F02-A19F-01F41FBB04CF}" type="pres">
      <dgm:prSet presAssocID="{EB160D99-07D2-4D32-8FCB-801F7C9D0E9B}" presName="parentNode1" presStyleLbl="node1" presStyleIdx="2" presStyleCnt="3">
        <dgm:presLayoutVars>
          <dgm:chMax val="1"/>
          <dgm:bulletEnabled val="1"/>
        </dgm:presLayoutVars>
      </dgm:prSet>
      <dgm:spPr>
        <a:prstGeom prst="roundRect">
          <a:avLst>
            <a:gd name="adj" fmla="val 10000"/>
          </a:avLst>
        </a:prstGeom>
      </dgm:spPr>
      <dgm:t>
        <a:bodyPr/>
        <a:lstStyle/>
        <a:p>
          <a:endParaRPr lang="en-US"/>
        </a:p>
      </dgm:t>
    </dgm:pt>
    <dgm:pt modelId="{255F6C1E-FF3F-4AC4-A401-9B6074EC901B}" type="pres">
      <dgm:prSet presAssocID="{EB160D99-07D2-4D32-8FCB-801F7C9D0E9B}" presName="connSite1" presStyleCnt="0"/>
      <dgm:spPr/>
    </dgm:pt>
  </dgm:ptLst>
  <dgm:cxnLst>
    <dgm:cxn modelId="{5EAB7ADF-E4DF-CA4F-A338-890AD37EAD0E}" type="presOf" srcId="{9BCB43AC-E538-4A69-911D-EF3843293F52}" destId="{D217A302-51A6-4BB6-8B93-01AD48D76F75}" srcOrd="0" destOrd="2" presId="urn:microsoft.com/office/officeart/2005/8/layout/hProcess4"/>
    <dgm:cxn modelId="{AD7801DB-A599-CD4C-ACE1-EEC455027768}" type="presOf" srcId="{E568FA1B-2C2F-4676-9BAE-E4ADE3ADE5FF}" destId="{521002B3-0661-42F7-9C78-663992C4E08A}" srcOrd="0" destOrd="0" presId="urn:microsoft.com/office/officeart/2005/8/layout/hProcess4"/>
    <dgm:cxn modelId="{22C5910D-57B1-344E-9909-B34DE8F612F3}" type="presOf" srcId="{C479779B-6E1A-4013-A811-AC3A2F730EA9}" destId="{B63472C6-1F42-4BA0-B0F5-81E9A2E4711B}" srcOrd="1" destOrd="0" presId="urn:microsoft.com/office/officeart/2005/8/layout/hProcess4"/>
    <dgm:cxn modelId="{434FFABA-B4A0-AA42-8999-D64F47F7FA48}" type="presOf" srcId="{9A5DC648-AA3C-4B3B-AEE2-D0588D6AE1C8}" destId="{673F55B3-3DE2-4454-AE71-DACDD09D1BAC}" srcOrd="0" destOrd="0" presId="urn:microsoft.com/office/officeart/2005/8/layout/hProcess4"/>
    <dgm:cxn modelId="{61A7CC5C-ECFF-485D-908F-B996EE771A6E}" srcId="{574C9FF1-99F4-4B7B-94CC-41113FEE89DD}" destId="{9A5DC648-AA3C-4B3B-AEE2-D0588D6AE1C8}" srcOrd="0" destOrd="0" parTransId="{9527CAF8-9E84-4501-94A2-18BC9654220A}" sibTransId="{009A31F4-DF12-4A8C-BFEC-2BF01FDCC4E0}"/>
    <dgm:cxn modelId="{09358DE0-68E9-48AC-8A3A-4CCF11B81E8E}" srcId="{574C9FF1-99F4-4B7B-94CC-41113FEE89DD}" destId="{EB160D99-07D2-4D32-8FCB-801F7C9D0E9B}" srcOrd="2" destOrd="0" parTransId="{9627E07F-2372-4A83-8EA0-43CBABBEFB8D}" sibTransId="{96ACF0F9-6AAD-47E7-89EE-D487822C0034}"/>
    <dgm:cxn modelId="{73CE1C26-62E8-1747-8051-B695453A1F56}" type="presOf" srcId="{009A31F4-DF12-4A8C-BFEC-2BF01FDCC4E0}" destId="{B9435B8A-1569-4098-A632-53B7B20E80C3}" srcOrd="0" destOrd="0" presId="urn:microsoft.com/office/officeart/2005/8/layout/hProcess4"/>
    <dgm:cxn modelId="{1C8CB4EE-285F-844B-B1FE-45D427686822}" type="presOf" srcId="{319A926B-6923-4CA7-9E12-26D7379183E9}" destId="{F1DD8A76-48A1-4CAA-A6B4-9E062B5429F4}" srcOrd="1" destOrd="1" presId="urn:microsoft.com/office/officeart/2005/8/layout/hProcess4"/>
    <dgm:cxn modelId="{FBF399E3-FFFC-CB4D-B848-119D1AAC9DE8}" type="presOf" srcId="{574C9FF1-99F4-4B7B-94CC-41113FEE89DD}" destId="{A73F5135-0A3F-47AC-9F1C-8E1E4DA3577F}" srcOrd="0" destOrd="0" presId="urn:microsoft.com/office/officeart/2005/8/layout/hProcess4"/>
    <dgm:cxn modelId="{9C26C1E6-F81A-4630-8323-EA0D877B38DD}" srcId="{9A5DC648-AA3C-4B3B-AEE2-D0588D6AE1C8}" destId="{8360F095-C5F5-4FC8-8964-176FC9AEC46A}" srcOrd="0" destOrd="0" parTransId="{A0062785-11B6-45F7-AF4F-37D48F17E9FF}" sibTransId="{306DCBFF-505D-4505-8A4C-D859C788B9F3}"/>
    <dgm:cxn modelId="{1AA692FA-7604-4897-AA0F-EE7302E63F03}" srcId="{EB160D99-07D2-4D32-8FCB-801F7C9D0E9B}" destId="{E568FA1B-2C2F-4676-9BAE-E4ADE3ADE5FF}" srcOrd="0" destOrd="0" parTransId="{96CFFDE9-6124-4808-AF27-1ED3395044B0}" sibTransId="{5EE29E42-1FB8-4925-90ED-9890C4FC3FE0}"/>
    <dgm:cxn modelId="{2924093D-1C93-8C48-ADB2-68FAD57B676E}" type="presOf" srcId="{52A46EBD-4F22-44E0-A531-B5DECC0D949C}" destId="{D47E5D5D-0007-45B8-94DE-852CED59E6DA}" srcOrd="0" destOrd="0" presId="urn:microsoft.com/office/officeart/2005/8/layout/hProcess4"/>
    <dgm:cxn modelId="{1F4310B5-0C7F-154E-9732-769329EC4F84}" type="presOf" srcId="{319A926B-6923-4CA7-9E12-26D7379183E9}" destId="{D217A302-51A6-4BB6-8B93-01AD48D76F75}" srcOrd="0" destOrd="1" presId="urn:microsoft.com/office/officeart/2005/8/layout/hProcess4"/>
    <dgm:cxn modelId="{2B0AA8E3-5A54-40BF-95F2-B04B4D08B5EE}" srcId="{574C9FF1-99F4-4B7B-94CC-41113FEE89DD}" destId="{DBC61735-D14E-439A-9303-5188BE440EDE}" srcOrd="1" destOrd="0" parTransId="{962ADD23-4ED0-4591-852E-F666A724E84E}" sibTransId="{52A46EBD-4F22-44E0-A531-B5DECC0D949C}"/>
    <dgm:cxn modelId="{1F2F852F-32AF-4B0A-84F6-96AB7F400C25}" srcId="{DBC61735-D14E-439A-9303-5188BE440EDE}" destId="{C479779B-6E1A-4013-A811-AC3A2F730EA9}" srcOrd="0" destOrd="0" parTransId="{FFAA4B40-9560-4573-88F9-D9A3929A1118}" sibTransId="{1A9A5CCC-793D-438C-8BD7-F67D807F731D}"/>
    <dgm:cxn modelId="{97A8FB93-403E-BD4A-B15E-3D7D34DE1F71}" type="presOf" srcId="{C82762B9-68B4-42A7-B042-8664385109B6}" destId="{349B4982-76AF-4572-A966-138C281EF3F2}" srcOrd="0" destOrd="1" presId="urn:microsoft.com/office/officeart/2005/8/layout/hProcess4"/>
    <dgm:cxn modelId="{B84D9080-160E-4F1B-AFC3-47F954FE1282}" srcId="{9A5DC648-AA3C-4B3B-AEE2-D0588D6AE1C8}" destId="{9BCB43AC-E538-4A69-911D-EF3843293F52}" srcOrd="2" destOrd="0" parTransId="{71FA5DC1-DA1F-44D8-BF33-6EC4CF8BE4B3}" sibTransId="{0A3EAD6F-E139-4E10-BF54-CF67202E6242}"/>
    <dgm:cxn modelId="{98AEA6B4-14FA-5443-9009-4F74B9D8002C}" type="presOf" srcId="{E568FA1B-2C2F-4676-9BAE-E4ADE3ADE5FF}" destId="{6361363E-5B1F-4EB7-A49C-BCF63C8E7B33}" srcOrd="1" destOrd="0" presId="urn:microsoft.com/office/officeart/2005/8/layout/hProcess4"/>
    <dgm:cxn modelId="{FB40E294-C0AA-4A22-9522-2F48EF17F151}" srcId="{DBC61735-D14E-439A-9303-5188BE440EDE}" destId="{C82762B9-68B4-42A7-B042-8664385109B6}" srcOrd="1" destOrd="0" parTransId="{C66AB960-E502-49C1-A5D3-162F4D202893}" sibTransId="{24C939A1-DF0F-46A3-8115-A5EF89A9A5C3}"/>
    <dgm:cxn modelId="{2289717C-95BA-4201-BF9F-D09B8F9365E7}" srcId="{9A5DC648-AA3C-4B3B-AEE2-D0588D6AE1C8}" destId="{319A926B-6923-4CA7-9E12-26D7379183E9}" srcOrd="1" destOrd="0" parTransId="{CAAA04CC-21F6-458C-90C7-77A4CB245822}" sibTransId="{C764C47C-E256-4D82-92F8-63894C3350FD}"/>
    <dgm:cxn modelId="{C3EB5F8D-66F8-4447-945D-3F281F254D54}" type="presOf" srcId="{9BCB43AC-E538-4A69-911D-EF3843293F52}" destId="{F1DD8A76-48A1-4CAA-A6B4-9E062B5429F4}" srcOrd="1" destOrd="2" presId="urn:microsoft.com/office/officeart/2005/8/layout/hProcess4"/>
    <dgm:cxn modelId="{174B3606-8C82-6044-933E-54BAE09B5D59}" type="presOf" srcId="{EB160D99-07D2-4D32-8FCB-801F7C9D0E9B}" destId="{B6554C72-870A-4F02-A19F-01F41FBB04CF}" srcOrd="0" destOrd="0" presId="urn:microsoft.com/office/officeart/2005/8/layout/hProcess4"/>
    <dgm:cxn modelId="{45C1D5A3-F1D9-6E4C-9177-3BE7D6CC2976}" type="presOf" srcId="{C82762B9-68B4-42A7-B042-8664385109B6}" destId="{B63472C6-1F42-4BA0-B0F5-81E9A2E4711B}" srcOrd="1" destOrd="1" presId="urn:microsoft.com/office/officeart/2005/8/layout/hProcess4"/>
    <dgm:cxn modelId="{70A4E4EF-3AA7-AA41-85D5-1BE5B319A51A}" type="presOf" srcId="{8360F095-C5F5-4FC8-8964-176FC9AEC46A}" destId="{D217A302-51A6-4BB6-8B93-01AD48D76F75}" srcOrd="0" destOrd="0" presId="urn:microsoft.com/office/officeart/2005/8/layout/hProcess4"/>
    <dgm:cxn modelId="{55F9A6AC-A25A-1442-BCCE-51BCB8751729}" type="presOf" srcId="{C479779B-6E1A-4013-A811-AC3A2F730EA9}" destId="{349B4982-76AF-4572-A966-138C281EF3F2}" srcOrd="0" destOrd="0" presId="urn:microsoft.com/office/officeart/2005/8/layout/hProcess4"/>
    <dgm:cxn modelId="{CEA8B5CF-561B-A441-94A3-B5224E933CDC}" type="presOf" srcId="{DBC61735-D14E-439A-9303-5188BE440EDE}" destId="{3C906CCA-73A5-4DF9-985E-DB84385922D3}" srcOrd="0" destOrd="0" presId="urn:microsoft.com/office/officeart/2005/8/layout/hProcess4"/>
    <dgm:cxn modelId="{15D1BF15-6D89-924E-B708-413E21711C89}" type="presOf" srcId="{8360F095-C5F5-4FC8-8964-176FC9AEC46A}" destId="{F1DD8A76-48A1-4CAA-A6B4-9E062B5429F4}" srcOrd="1" destOrd="0" presId="urn:microsoft.com/office/officeart/2005/8/layout/hProcess4"/>
    <dgm:cxn modelId="{1195D08C-0975-9E41-96BE-9310FEA22755}" type="presParOf" srcId="{A73F5135-0A3F-47AC-9F1C-8E1E4DA3577F}" destId="{5B1A2704-EF49-49F7-8BD5-0B30D2CC24F8}" srcOrd="0" destOrd="0" presId="urn:microsoft.com/office/officeart/2005/8/layout/hProcess4"/>
    <dgm:cxn modelId="{3421C477-5A50-E347-8F71-060A6D882B46}" type="presParOf" srcId="{A73F5135-0A3F-47AC-9F1C-8E1E4DA3577F}" destId="{E5DDDF37-378B-4ABB-9317-DF291075511A}" srcOrd="1" destOrd="0" presId="urn:microsoft.com/office/officeart/2005/8/layout/hProcess4"/>
    <dgm:cxn modelId="{C53795DF-205F-2F4A-ADD9-B83C5D2A5A0B}" type="presParOf" srcId="{A73F5135-0A3F-47AC-9F1C-8E1E4DA3577F}" destId="{86B1722A-0C1F-4528-AC13-07FE2D5B7FFB}" srcOrd="2" destOrd="0" presId="urn:microsoft.com/office/officeart/2005/8/layout/hProcess4"/>
    <dgm:cxn modelId="{FB3BE299-3E70-FB43-BCF3-2DD6E67EDC24}" type="presParOf" srcId="{86B1722A-0C1F-4528-AC13-07FE2D5B7FFB}" destId="{6AB5A0E1-7E7C-42F0-AA5E-8F0E61BCE344}" srcOrd="0" destOrd="0" presId="urn:microsoft.com/office/officeart/2005/8/layout/hProcess4"/>
    <dgm:cxn modelId="{CA8356FC-BD6F-F045-9781-28A268F6B546}" type="presParOf" srcId="{6AB5A0E1-7E7C-42F0-AA5E-8F0E61BCE344}" destId="{D63229E1-CCC6-4798-BAA6-93E6214D6092}" srcOrd="0" destOrd="0" presId="urn:microsoft.com/office/officeart/2005/8/layout/hProcess4"/>
    <dgm:cxn modelId="{F86C3389-245A-174A-8AB3-79775662928D}" type="presParOf" srcId="{6AB5A0E1-7E7C-42F0-AA5E-8F0E61BCE344}" destId="{D217A302-51A6-4BB6-8B93-01AD48D76F75}" srcOrd="1" destOrd="0" presId="urn:microsoft.com/office/officeart/2005/8/layout/hProcess4"/>
    <dgm:cxn modelId="{B111A773-342E-AE4C-B951-A24AF6A5CE90}" type="presParOf" srcId="{6AB5A0E1-7E7C-42F0-AA5E-8F0E61BCE344}" destId="{F1DD8A76-48A1-4CAA-A6B4-9E062B5429F4}" srcOrd="2" destOrd="0" presId="urn:microsoft.com/office/officeart/2005/8/layout/hProcess4"/>
    <dgm:cxn modelId="{53AFBBE8-5B8C-7C45-A492-D1E6EF142546}" type="presParOf" srcId="{6AB5A0E1-7E7C-42F0-AA5E-8F0E61BCE344}" destId="{673F55B3-3DE2-4454-AE71-DACDD09D1BAC}" srcOrd="3" destOrd="0" presId="urn:microsoft.com/office/officeart/2005/8/layout/hProcess4"/>
    <dgm:cxn modelId="{90F090F3-5B41-294F-9704-B76F45560894}" type="presParOf" srcId="{6AB5A0E1-7E7C-42F0-AA5E-8F0E61BCE344}" destId="{5502474F-A71F-416C-ADB1-E61E71A674F2}" srcOrd="4" destOrd="0" presId="urn:microsoft.com/office/officeart/2005/8/layout/hProcess4"/>
    <dgm:cxn modelId="{CBB04DFE-699D-784C-ACEC-EAD0E9D32CB9}" type="presParOf" srcId="{86B1722A-0C1F-4528-AC13-07FE2D5B7FFB}" destId="{B9435B8A-1569-4098-A632-53B7B20E80C3}" srcOrd="1" destOrd="0" presId="urn:microsoft.com/office/officeart/2005/8/layout/hProcess4"/>
    <dgm:cxn modelId="{22E44870-65A7-9247-9EC7-1393F253F765}" type="presParOf" srcId="{86B1722A-0C1F-4528-AC13-07FE2D5B7FFB}" destId="{6FE474B5-8D69-47BD-9BDA-0B61B1815ACD}" srcOrd="2" destOrd="0" presId="urn:microsoft.com/office/officeart/2005/8/layout/hProcess4"/>
    <dgm:cxn modelId="{5FC78EB0-3650-8240-A64D-16F92984C090}" type="presParOf" srcId="{6FE474B5-8D69-47BD-9BDA-0B61B1815ACD}" destId="{44CE2314-7D7D-4A5C-84EC-67DA7CC5BE58}" srcOrd="0" destOrd="0" presId="urn:microsoft.com/office/officeart/2005/8/layout/hProcess4"/>
    <dgm:cxn modelId="{B6AD9FB4-EC33-054B-BB53-BCA8033824CB}" type="presParOf" srcId="{6FE474B5-8D69-47BD-9BDA-0B61B1815ACD}" destId="{349B4982-76AF-4572-A966-138C281EF3F2}" srcOrd="1" destOrd="0" presId="urn:microsoft.com/office/officeart/2005/8/layout/hProcess4"/>
    <dgm:cxn modelId="{766286A5-5E14-994D-81AB-03B5547B1930}" type="presParOf" srcId="{6FE474B5-8D69-47BD-9BDA-0B61B1815ACD}" destId="{B63472C6-1F42-4BA0-B0F5-81E9A2E4711B}" srcOrd="2" destOrd="0" presId="urn:microsoft.com/office/officeart/2005/8/layout/hProcess4"/>
    <dgm:cxn modelId="{D782026B-E01D-1540-B143-146B4B2E866B}" type="presParOf" srcId="{6FE474B5-8D69-47BD-9BDA-0B61B1815ACD}" destId="{3C906CCA-73A5-4DF9-985E-DB84385922D3}" srcOrd="3" destOrd="0" presId="urn:microsoft.com/office/officeart/2005/8/layout/hProcess4"/>
    <dgm:cxn modelId="{70CFE0CE-9702-E44C-BD09-8564F815070D}" type="presParOf" srcId="{6FE474B5-8D69-47BD-9BDA-0B61B1815ACD}" destId="{B29EE634-A077-44FA-9EA5-E3A1CCCE627D}" srcOrd="4" destOrd="0" presId="urn:microsoft.com/office/officeart/2005/8/layout/hProcess4"/>
    <dgm:cxn modelId="{4C40FD6C-A01C-7B47-8052-46AE5CD6B608}" type="presParOf" srcId="{86B1722A-0C1F-4528-AC13-07FE2D5B7FFB}" destId="{D47E5D5D-0007-45B8-94DE-852CED59E6DA}" srcOrd="3" destOrd="0" presId="urn:microsoft.com/office/officeart/2005/8/layout/hProcess4"/>
    <dgm:cxn modelId="{AB28370C-FC13-1748-9BE5-E912BDF5B821}" type="presParOf" srcId="{86B1722A-0C1F-4528-AC13-07FE2D5B7FFB}" destId="{0C1E8132-468E-452C-B9F8-7F3EE1A23367}" srcOrd="4" destOrd="0" presId="urn:microsoft.com/office/officeart/2005/8/layout/hProcess4"/>
    <dgm:cxn modelId="{008B0362-7EFB-D943-9501-4F8A78FBD191}" type="presParOf" srcId="{0C1E8132-468E-452C-B9F8-7F3EE1A23367}" destId="{5B12162D-9811-4B92-9ED8-8CBEE3701DA2}" srcOrd="0" destOrd="0" presId="urn:microsoft.com/office/officeart/2005/8/layout/hProcess4"/>
    <dgm:cxn modelId="{BECD9580-AC20-8349-9942-CA06ED7A3835}" type="presParOf" srcId="{0C1E8132-468E-452C-B9F8-7F3EE1A23367}" destId="{521002B3-0661-42F7-9C78-663992C4E08A}" srcOrd="1" destOrd="0" presId="urn:microsoft.com/office/officeart/2005/8/layout/hProcess4"/>
    <dgm:cxn modelId="{0925108C-1A0C-7F4F-8B63-89FCBAB4DF81}" type="presParOf" srcId="{0C1E8132-468E-452C-B9F8-7F3EE1A23367}" destId="{6361363E-5B1F-4EB7-A49C-BCF63C8E7B33}" srcOrd="2" destOrd="0" presId="urn:microsoft.com/office/officeart/2005/8/layout/hProcess4"/>
    <dgm:cxn modelId="{AC11039B-EEBA-EB4D-A051-9E135F5D80E4}" type="presParOf" srcId="{0C1E8132-468E-452C-B9F8-7F3EE1A23367}" destId="{B6554C72-870A-4F02-A19F-01F41FBB04CF}" srcOrd="3" destOrd="0" presId="urn:microsoft.com/office/officeart/2005/8/layout/hProcess4"/>
    <dgm:cxn modelId="{D8430323-DEC3-354A-9A7A-C2AB967326E2}" type="presParOf" srcId="{0C1E8132-468E-452C-B9F8-7F3EE1A23367}" destId="{255F6C1E-FF3F-4AC4-A401-9B6074EC901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E976BA-35A9-4CBC-81BA-E08B7D48D218}">
      <dsp:nvSpPr>
        <dsp:cNvPr id="0" name=""/>
        <dsp:cNvSpPr/>
      </dsp:nvSpPr>
      <dsp:spPr>
        <a:xfrm rot="16200000">
          <a:off x="612068" y="-612068"/>
          <a:ext cx="936104" cy="2160240"/>
        </a:xfrm>
        <a:prstGeom prst="round1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统一流程服务能力</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5400000">
        <a:off x="-1" y="1"/>
        <a:ext cx="2160240" cy="702078"/>
      </dsp:txXfrm>
    </dsp:sp>
    <dsp:sp modelId="{158DACDC-C7B8-49F7-AB8E-5E3A24733C6D}">
      <dsp:nvSpPr>
        <dsp:cNvPr id="0" name=""/>
        <dsp:cNvSpPr/>
      </dsp:nvSpPr>
      <dsp:spPr>
        <a:xfrm>
          <a:off x="2160240" y="0"/>
          <a:ext cx="2160240" cy="936104"/>
        </a:xfrm>
        <a:prstGeom prst="round1Rect">
          <a:avLst/>
        </a:prstGeom>
        <a:solidFill>
          <a:schemeClr val="accent2">
            <a:hueOff val="1560507"/>
            <a:satOff val="-1946"/>
            <a:lumOff val="45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en-US" altLang="zh-CN"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SOA</a:t>
          </a: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体系的基础支撑</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a:off x="2160240" y="0"/>
        <a:ext cx="2160240" cy="702078"/>
      </dsp:txXfrm>
    </dsp:sp>
    <dsp:sp modelId="{8D4EEB0C-1609-41A3-AFF1-8712E6273475}">
      <dsp:nvSpPr>
        <dsp:cNvPr id="0" name=""/>
        <dsp:cNvSpPr/>
      </dsp:nvSpPr>
      <dsp:spPr>
        <a:xfrm rot="10800000">
          <a:off x="0" y="936104"/>
          <a:ext cx="2160240" cy="936104"/>
        </a:xfrm>
        <a:prstGeom prst="round1Rect">
          <a:avLst/>
        </a:prstGeom>
        <a:solidFill>
          <a:schemeClr val="accent2">
            <a:hueOff val="3121013"/>
            <a:satOff val="-3893"/>
            <a:lumOff val="91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业务流程规范体系</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10800000">
        <a:off x="0" y="1170130"/>
        <a:ext cx="2160240" cy="702078"/>
      </dsp:txXfrm>
    </dsp:sp>
    <dsp:sp modelId="{9FD4FC3C-E03B-4DAA-A261-65FFFF4C8ABE}">
      <dsp:nvSpPr>
        <dsp:cNvPr id="0" name=""/>
        <dsp:cNvSpPr/>
      </dsp:nvSpPr>
      <dsp:spPr>
        <a:xfrm rot="5400000">
          <a:off x="2772308" y="324036"/>
          <a:ext cx="936104" cy="2160240"/>
        </a:xfrm>
        <a:prstGeom prst="round1Rect">
          <a:avLst/>
        </a:prstGeom>
        <a:solidFill>
          <a:schemeClr val="accent2">
            <a:hueOff val="4681520"/>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企业级流程应用云</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5400000">
        <a:off x="2160240" y="1170130"/>
        <a:ext cx="2160240" cy="702078"/>
      </dsp:txXfrm>
    </dsp:sp>
    <dsp:sp modelId="{54DD2CED-DB92-4E2E-B64E-C0A3EB650D83}">
      <dsp:nvSpPr>
        <dsp:cNvPr id="0" name=""/>
        <dsp:cNvSpPr/>
      </dsp:nvSpPr>
      <dsp:spPr>
        <a:xfrm>
          <a:off x="792088" y="702078"/>
          <a:ext cx="2736302" cy="468052"/>
        </a:xfrm>
        <a:prstGeom prst="roundRect">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cap="flat" cmpd="sng" algn="ctr">
          <a:solidFill>
            <a:schemeClr val="accent1">
              <a:shade val="95000"/>
              <a:satMod val="105000"/>
            </a:schemeClr>
          </a:solidFill>
          <a:prstDash val="solid"/>
        </a:ln>
        <a:effectLst>
          <a:outerShdw blurRad="40000" dist="23000" dir="5400000" rotWithShape="0">
            <a:srgbClr val="000000">
              <a:alpha val="35000"/>
            </a:srgbClr>
          </a:out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0" tIns="0" rIns="0" bIns="0" numCol="1" spcCol="1270" anchor="ctr" anchorCtr="0">
          <a:noAutofit/>
        </a:bodyPr>
        <a:lstStyle/>
        <a:p>
          <a:pPr lvl="0" algn="ctr" defTabSz="800100">
            <a:lnSpc>
              <a:spcPct val="100000"/>
            </a:lnSpc>
            <a:spcBef>
              <a:spcPct val="0"/>
            </a:spcBef>
            <a:spcAft>
              <a:spcPts val="0"/>
            </a:spcAft>
          </a:pPr>
          <a:r>
            <a:rPr lang="zh-CN" altLang="en-US" sz="1800" b="0" kern="1200" cap="none" spc="0" dirty="0" smtClean="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rPr>
            <a:t>一阶段：快速夯实基础</a:t>
          </a:r>
          <a:endParaRPr lang="zh-CN" altLang="en-US" sz="1800" b="0" kern="1200" cap="none" spc="0" dirty="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endParaRPr>
        </a:p>
      </dsp:txBody>
      <dsp:txXfrm>
        <a:off x="814936" y="724926"/>
        <a:ext cx="2690606" cy="4223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E976BA-35A9-4CBC-81BA-E08B7D48D218}">
      <dsp:nvSpPr>
        <dsp:cNvPr id="0" name=""/>
        <dsp:cNvSpPr/>
      </dsp:nvSpPr>
      <dsp:spPr>
        <a:xfrm rot="16200000">
          <a:off x="503926" y="-503926"/>
          <a:ext cx="900100" cy="1907952"/>
        </a:xfrm>
        <a:prstGeom prst="round1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统一跨流程协作</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5400000">
        <a:off x="0" y="0"/>
        <a:ext cx="1907952" cy="675075"/>
      </dsp:txXfrm>
    </dsp:sp>
    <dsp:sp modelId="{158DACDC-C7B8-49F7-AB8E-5E3A24733C6D}">
      <dsp:nvSpPr>
        <dsp:cNvPr id="0" name=""/>
        <dsp:cNvSpPr/>
      </dsp:nvSpPr>
      <dsp:spPr>
        <a:xfrm>
          <a:off x="1907952" y="0"/>
          <a:ext cx="1907952" cy="900100"/>
        </a:xfrm>
        <a:prstGeom prst="round1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流程优化分析能力</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a:off x="1907952" y="0"/>
        <a:ext cx="1907952" cy="675075"/>
      </dsp:txXfrm>
    </dsp:sp>
    <dsp:sp modelId="{8D4EEB0C-1609-41A3-AFF1-8712E6273475}">
      <dsp:nvSpPr>
        <dsp:cNvPr id="0" name=""/>
        <dsp:cNvSpPr/>
      </dsp:nvSpPr>
      <dsp:spPr>
        <a:xfrm rot="10800000">
          <a:off x="0" y="900100"/>
          <a:ext cx="1907952" cy="900100"/>
        </a:xfrm>
        <a:prstGeom prst="round1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统一业务活动监控</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10800000">
        <a:off x="0" y="1125124"/>
        <a:ext cx="1907952" cy="675075"/>
      </dsp:txXfrm>
    </dsp:sp>
    <dsp:sp modelId="{9FD4FC3C-E03B-4DAA-A261-65FFFF4C8ABE}">
      <dsp:nvSpPr>
        <dsp:cNvPr id="0" name=""/>
        <dsp:cNvSpPr/>
      </dsp:nvSpPr>
      <dsp:spPr>
        <a:xfrm rot="5400000">
          <a:off x="2411878" y="396173"/>
          <a:ext cx="900100" cy="1907952"/>
        </a:xfrm>
        <a:prstGeom prst="round1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ts val="2000"/>
            </a:lnSpc>
            <a:spcBef>
              <a:spcPct val="0"/>
            </a:spcBef>
            <a:spcAft>
              <a:spcPts val="0"/>
            </a:spcAft>
          </a:pPr>
          <a:r>
            <a:rPr lang="zh-CN" altLang="en-US" sz="1600" b="0" kern="120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rPr>
            <a:t>统一业务流程管理</a:t>
          </a:r>
          <a:endParaRPr lang="zh-CN" altLang="en-US" sz="16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仿宋"/>
            <a:ea typeface="华文仿宋"/>
            <a:cs typeface="华文仿宋"/>
          </a:endParaRPr>
        </a:p>
      </dsp:txBody>
      <dsp:txXfrm rot="-5400000">
        <a:off x="1907952" y="1125124"/>
        <a:ext cx="1907952" cy="675075"/>
      </dsp:txXfrm>
    </dsp:sp>
    <dsp:sp modelId="{54DD2CED-DB92-4E2E-B64E-C0A3EB650D83}">
      <dsp:nvSpPr>
        <dsp:cNvPr id="0" name=""/>
        <dsp:cNvSpPr/>
      </dsp:nvSpPr>
      <dsp:spPr>
        <a:xfrm>
          <a:off x="431529" y="675074"/>
          <a:ext cx="2952845" cy="450050"/>
        </a:xfrm>
        <a:prstGeom prst="roundRect">
          <a:avLst/>
        </a:prstGeom>
        <a:gradFill rotWithShape="1">
          <a:gsLst>
            <a:gs pos="0">
              <a:schemeClr val="accent5">
                <a:shade val="51000"/>
                <a:satMod val="130000"/>
              </a:schemeClr>
            </a:gs>
            <a:gs pos="80000">
              <a:schemeClr val="accent5">
                <a:shade val="93000"/>
                <a:satMod val="130000"/>
              </a:schemeClr>
            </a:gs>
            <a:gs pos="100000">
              <a:schemeClr val="accent5">
                <a:shade val="94000"/>
                <a:satMod val="135000"/>
              </a:schemeClr>
            </a:gs>
          </a:gsLst>
          <a:lin ang="16200000" scaled="0"/>
        </a:gradFill>
        <a:ln w="9525" cap="flat" cmpd="sng" algn="ctr">
          <a:solidFill>
            <a:schemeClr val="accent5">
              <a:shade val="95000"/>
              <a:satMod val="105000"/>
            </a:schemeClr>
          </a:solidFill>
          <a:prstDash val="solid"/>
        </a:ln>
        <a:effectLst>
          <a:outerShdw blurRad="40000" dist="23000" dir="5400000" rotWithShape="0">
            <a:srgbClr val="000000">
              <a:alpha val="35000"/>
            </a:srgbClr>
          </a:outerShdw>
        </a:effectLst>
      </dsp:spPr>
      <dsp:style>
        <a:lnRef idx="1">
          <a:schemeClr val="accent5"/>
        </a:lnRef>
        <a:fillRef idx="3">
          <a:schemeClr val="accent5"/>
        </a:fillRef>
        <a:effectRef idx="2">
          <a:schemeClr val="accent5"/>
        </a:effectRef>
        <a:fontRef idx="minor">
          <a:schemeClr val="lt1"/>
        </a:fontRef>
      </dsp:style>
      <dsp:txBody>
        <a:bodyPr spcFirstLastPara="0" vert="horz" wrap="square" lIns="0" tIns="0" rIns="0" bIns="0" numCol="1" spcCol="1270" anchor="ctr" anchorCtr="0">
          <a:noAutofit/>
        </a:bodyPr>
        <a:lstStyle/>
        <a:p>
          <a:pPr lvl="0" algn="ctr" defTabSz="800100">
            <a:lnSpc>
              <a:spcPct val="100000"/>
            </a:lnSpc>
            <a:spcBef>
              <a:spcPct val="0"/>
            </a:spcBef>
            <a:spcAft>
              <a:spcPts val="0"/>
            </a:spcAft>
          </a:pPr>
          <a:r>
            <a:rPr lang="zh-CN" altLang="en-US" sz="1800" b="0" kern="1200" cap="none" spc="0" dirty="0" smtClean="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rPr>
            <a:t>二阶段：流程综合能力提升</a:t>
          </a:r>
          <a:endParaRPr lang="zh-CN" altLang="en-US" sz="1800" b="0" kern="1200" cap="none" spc="0" dirty="0">
            <a:ln w="18415" cmpd="sng">
              <a:solidFill>
                <a:srgbClr val="FFFFFF"/>
              </a:solidFill>
              <a:prstDash val="solid"/>
            </a:ln>
            <a:solidFill>
              <a:srgbClr val="FFFFFF"/>
            </a:solidFill>
            <a:effectLst>
              <a:outerShdw blurRad="63500" dist="127000" dir="15000000" sy="30000" kx="-1800000" algn="bl" rotWithShape="0">
                <a:prstClr val="black">
                  <a:alpha val="30000"/>
                </a:prstClr>
              </a:outerShdw>
            </a:effectLst>
            <a:latin typeface="微软雅黑" pitchFamily="34" charset="-122"/>
            <a:ea typeface="微软雅黑" pitchFamily="34" charset="-122"/>
            <a:cs typeface="+mn-cs"/>
          </a:endParaRPr>
        </a:p>
      </dsp:txBody>
      <dsp:txXfrm>
        <a:off x="453499" y="697044"/>
        <a:ext cx="2908905" cy="4061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17A302-51A6-4BB6-8B93-01AD48D76F75}">
      <dsp:nvSpPr>
        <dsp:cNvPr id="0" name=""/>
        <dsp:cNvSpPr/>
      </dsp:nvSpPr>
      <dsp:spPr>
        <a:xfrm>
          <a:off x="225983" y="477716"/>
          <a:ext cx="2692611" cy="3052724"/>
        </a:xfrm>
        <a:prstGeom prst="roundRect">
          <a:avLst>
            <a:gd name="adj" fmla="val 10000"/>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搭建共享的统一流程平台，定制具备企业特色的关键支撑能力</a:t>
          </a:r>
          <a:endParaRPr lang="en-US" sz="1200" kern="1200" dirty="0">
            <a:solidFill>
              <a:sysClr val="windowText" lastClr="000000">
                <a:hueOff val="0"/>
                <a:satOff val="0"/>
                <a:lumOff val="0"/>
                <a:alphaOff val="0"/>
              </a:sysClr>
            </a:solidFill>
            <a:latin typeface="华文仿宋"/>
            <a:ea typeface="华文仿宋"/>
            <a:cs typeface="华文仿宋"/>
          </a:endParaRPr>
        </a:p>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建立多应用统一的流程技术架构规范、设计开发规范、维护规范等；</a:t>
          </a:r>
          <a:endParaRPr lang="en-US" sz="1200" kern="1200" dirty="0">
            <a:solidFill>
              <a:sysClr val="windowText" lastClr="000000">
                <a:hueOff val="0"/>
                <a:satOff val="0"/>
                <a:lumOff val="0"/>
                <a:alphaOff val="0"/>
              </a:sysClr>
            </a:solidFill>
            <a:latin typeface="华文仿宋"/>
            <a:ea typeface="华文仿宋"/>
            <a:cs typeface="华文仿宋"/>
          </a:endParaRPr>
        </a:p>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建立组件库</a:t>
          </a:r>
          <a:r>
            <a:rPr lang="en-US" altLang="zh-CN" sz="1200" kern="1200" dirty="0" smtClean="0">
              <a:solidFill>
                <a:sysClr val="windowText" lastClr="000000">
                  <a:hueOff val="0"/>
                  <a:satOff val="0"/>
                  <a:lumOff val="0"/>
                  <a:alphaOff val="0"/>
                </a:sysClr>
              </a:solidFill>
              <a:latin typeface="华文仿宋"/>
              <a:ea typeface="华文仿宋"/>
              <a:cs typeface="华文仿宋"/>
            </a:rPr>
            <a:t>/</a:t>
          </a:r>
          <a:r>
            <a:rPr lang="zh-CN" altLang="en-US" sz="1200" kern="1200" dirty="0" smtClean="0">
              <a:solidFill>
                <a:sysClr val="windowText" lastClr="000000">
                  <a:hueOff val="0"/>
                  <a:satOff val="0"/>
                  <a:lumOff val="0"/>
                  <a:alphaOff val="0"/>
                </a:sysClr>
              </a:solidFill>
              <a:latin typeface="华文仿宋"/>
              <a:ea typeface="华文仿宋"/>
              <a:cs typeface="华文仿宋"/>
            </a:rPr>
            <a:t>知识库积累体系；</a:t>
          </a:r>
          <a:endParaRPr lang="en-US" sz="1200" kern="1200" dirty="0">
            <a:solidFill>
              <a:sysClr val="windowText" lastClr="000000">
                <a:hueOff val="0"/>
                <a:satOff val="0"/>
                <a:lumOff val="0"/>
                <a:alphaOff val="0"/>
              </a:sysClr>
            </a:solidFill>
            <a:latin typeface="华文仿宋"/>
            <a:ea typeface="华文仿宋"/>
            <a:cs typeface="华文仿宋"/>
          </a:endParaRPr>
        </a:p>
      </dsp:txBody>
      <dsp:txXfrm>
        <a:off x="296235" y="547968"/>
        <a:ext cx="2552107" cy="2258065"/>
      </dsp:txXfrm>
    </dsp:sp>
    <dsp:sp modelId="{B9435B8A-1569-4098-A632-53B7B20E80C3}">
      <dsp:nvSpPr>
        <dsp:cNvPr id="0" name=""/>
        <dsp:cNvSpPr/>
      </dsp:nvSpPr>
      <dsp:spPr>
        <a:xfrm>
          <a:off x="1710947" y="1586947"/>
          <a:ext cx="3117323" cy="3117323"/>
        </a:xfrm>
        <a:prstGeom prst="leftCircularArrow">
          <a:avLst>
            <a:gd name="adj1" fmla="val 2921"/>
            <a:gd name="adj2" fmla="val 357550"/>
            <a:gd name="adj3" fmla="val 2143706"/>
            <a:gd name="adj4" fmla="val 9035135"/>
            <a:gd name="adj5" fmla="val 3408"/>
          </a:avLst>
        </a:prstGeom>
        <a:solidFill>
          <a:srgbClr val="009DD9">
            <a:lumMod val="20000"/>
            <a:lumOff val="80000"/>
          </a:srgb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673F55B3-3DE2-4454-AE71-DACDD09D1BAC}">
      <dsp:nvSpPr>
        <dsp:cNvPr id="0" name=""/>
        <dsp:cNvSpPr/>
      </dsp:nvSpPr>
      <dsp:spPr>
        <a:xfrm>
          <a:off x="824342" y="2903662"/>
          <a:ext cx="2393432" cy="951789"/>
        </a:xfrm>
        <a:prstGeom prst="roundRect">
          <a:avLst>
            <a:gd name="adj" fmla="val 10000"/>
          </a:avLst>
        </a:prstGeom>
        <a:solidFill>
          <a:srgbClr val="009DD9">
            <a:lumMod val="20000"/>
            <a:lumOff val="80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solidFill>
                <a:sysClr val="windowText" lastClr="000000"/>
              </a:solidFill>
              <a:latin typeface="华文仿宋"/>
              <a:ea typeface="华文仿宋"/>
              <a:cs typeface="华文仿宋"/>
            </a:rPr>
            <a:t>搭建共享的统一流程平台并建立配套体系规范</a:t>
          </a:r>
          <a:endParaRPr lang="en-US" sz="2000" b="1" kern="1200" dirty="0">
            <a:solidFill>
              <a:sysClr val="windowText" lastClr="000000"/>
            </a:solidFill>
            <a:latin typeface="华文仿宋"/>
            <a:ea typeface="华文仿宋"/>
            <a:cs typeface="华文仿宋"/>
          </a:endParaRPr>
        </a:p>
      </dsp:txBody>
      <dsp:txXfrm>
        <a:off x="852219" y="2931539"/>
        <a:ext cx="2337678" cy="896035"/>
      </dsp:txXfrm>
    </dsp:sp>
    <dsp:sp modelId="{349B4982-76AF-4572-A966-138C281EF3F2}">
      <dsp:nvSpPr>
        <dsp:cNvPr id="0" name=""/>
        <dsp:cNvSpPr/>
      </dsp:nvSpPr>
      <dsp:spPr>
        <a:xfrm>
          <a:off x="3755941" y="907715"/>
          <a:ext cx="2692611" cy="2713379"/>
        </a:xfrm>
        <a:prstGeom prst="roundRect">
          <a:avLst>
            <a:gd name="adj" fmla="val 10000"/>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启动试点，基于统一流程平台进行流程设计、开发、监控、优化和运维；</a:t>
          </a:r>
          <a:endParaRPr lang="en-US" sz="1200" kern="1200" dirty="0">
            <a:solidFill>
              <a:sysClr val="windowText" lastClr="000000">
                <a:hueOff val="0"/>
                <a:satOff val="0"/>
                <a:lumOff val="0"/>
                <a:alphaOff val="0"/>
              </a:sysClr>
            </a:solidFill>
            <a:latin typeface="华文仿宋"/>
            <a:ea typeface="华文仿宋"/>
            <a:cs typeface="华文仿宋"/>
          </a:endParaRPr>
        </a:p>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根据试点情况完善平台及配套体系规范；</a:t>
          </a:r>
          <a:endParaRPr lang="en-US" sz="1200" kern="1200" dirty="0">
            <a:solidFill>
              <a:sysClr val="windowText" lastClr="000000">
                <a:hueOff val="0"/>
                <a:satOff val="0"/>
                <a:lumOff val="0"/>
                <a:alphaOff val="0"/>
              </a:sysClr>
            </a:solidFill>
            <a:latin typeface="华文仿宋"/>
            <a:ea typeface="华文仿宋"/>
            <a:cs typeface="华文仿宋"/>
          </a:endParaRPr>
        </a:p>
      </dsp:txBody>
      <dsp:txXfrm>
        <a:off x="3818383" y="1551596"/>
        <a:ext cx="2567727" cy="2007057"/>
      </dsp:txXfrm>
    </dsp:sp>
    <dsp:sp modelId="{D47E5D5D-0007-45B8-94DE-852CED59E6DA}">
      <dsp:nvSpPr>
        <dsp:cNvPr id="0" name=""/>
        <dsp:cNvSpPr/>
      </dsp:nvSpPr>
      <dsp:spPr>
        <a:xfrm>
          <a:off x="5058831" y="-298962"/>
          <a:ext cx="3795077" cy="3795077"/>
        </a:xfrm>
        <a:prstGeom prst="circularArrow">
          <a:avLst>
            <a:gd name="adj1" fmla="val 2580"/>
            <a:gd name="adj2" fmla="val 313257"/>
            <a:gd name="adj3" fmla="val 20063291"/>
            <a:gd name="adj4" fmla="val 13127569"/>
            <a:gd name="adj5" fmla="val 3010"/>
          </a:avLst>
        </a:prstGeom>
        <a:solidFill>
          <a:srgbClr val="0099FF"/>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3C906CCA-73A5-4DF9-985E-DB84385922D3}">
      <dsp:nvSpPr>
        <dsp:cNvPr id="0" name=""/>
        <dsp:cNvSpPr/>
      </dsp:nvSpPr>
      <dsp:spPr>
        <a:xfrm>
          <a:off x="4094647" y="246825"/>
          <a:ext cx="2912735" cy="951789"/>
        </a:xfrm>
        <a:prstGeom prst="roundRect">
          <a:avLst>
            <a:gd name="adj" fmla="val 10000"/>
          </a:avLst>
        </a:prstGeom>
        <a:solidFill>
          <a:srgbClr val="0099FF"/>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solidFill>
                <a:sysClr val="window" lastClr="FFFFFF"/>
              </a:solidFill>
              <a:latin typeface="华文仿宋"/>
              <a:ea typeface="华文仿宋"/>
              <a:cs typeface="华文仿宋"/>
            </a:rPr>
            <a:t>应用试点与平台完善</a:t>
          </a:r>
          <a:endParaRPr lang="en-US" sz="2000" b="1" kern="1200" dirty="0">
            <a:solidFill>
              <a:sysClr val="window" lastClr="FFFFFF"/>
            </a:solidFill>
            <a:latin typeface="华文仿宋"/>
            <a:ea typeface="华文仿宋"/>
            <a:cs typeface="华文仿宋"/>
          </a:endParaRPr>
        </a:p>
      </dsp:txBody>
      <dsp:txXfrm>
        <a:off x="4122524" y="274702"/>
        <a:ext cx="2856981" cy="896035"/>
      </dsp:txXfrm>
    </dsp:sp>
    <dsp:sp modelId="{521002B3-0661-42F7-9C78-663992C4E08A}">
      <dsp:nvSpPr>
        <dsp:cNvPr id="0" name=""/>
        <dsp:cNvSpPr/>
      </dsp:nvSpPr>
      <dsp:spPr>
        <a:xfrm>
          <a:off x="7545550" y="1155744"/>
          <a:ext cx="2692611" cy="2220841"/>
        </a:xfrm>
        <a:prstGeom prst="roundRect">
          <a:avLst>
            <a:gd name="adj" fmla="val 10000"/>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zh-CN" altLang="en-US" sz="1200" kern="1200" dirty="0" smtClean="0">
              <a:solidFill>
                <a:sysClr val="windowText" lastClr="000000">
                  <a:hueOff val="0"/>
                  <a:satOff val="0"/>
                  <a:lumOff val="0"/>
                  <a:alphaOff val="0"/>
                </a:sysClr>
              </a:solidFill>
              <a:latin typeface="华文仿宋"/>
              <a:ea typeface="华文仿宋"/>
              <a:cs typeface="华文仿宋"/>
            </a:rPr>
            <a:t>根据新的流程应用建设或者改造的规划，有计划、分批的实现流程承载平台的迁移；</a:t>
          </a:r>
          <a:endParaRPr lang="en-US" sz="1200" kern="1200" dirty="0">
            <a:solidFill>
              <a:sysClr val="windowText" lastClr="000000">
                <a:hueOff val="0"/>
                <a:satOff val="0"/>
                <a:lumOff val="0"/>
                <a:alphaOff val="0"/>
              </a:sysClr>
            </a:solidFill>
            <a:latin typeface="华文仿宋"/>
            <a:ea typeface="华文仿宋"/>
            <a:cs typeface="华文仿宋"/>
          </a:endParaRPr>
        </a:p>
      </dsp:txBody>
      <dsp:txXfrm>
        <a:off x="7596658" y="1206852"/>
        <a:ext cx="2590395" cy="1642731"/>
      </dsp:txXfrm>
    </dsp:sp>
    <dsp:sp modelId="{B6554C72-870A-4F02-A19F-01F41FBB04CF}">
      <dsp:nvSpPr>
        <dsp:cNvPr id="0" name=""/>
        <dsp:cNvSpPr/>
      </dsp:nvSpPr>
      <dsp:spPr>
        <a:xfrm>
          <a:off x="8143908" y="2900691"/>
          <a:ext cx="2393432" cy="951789"/>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solidFill>
                <a:sysClr val="window" lastClr="FFFFFF"/>
              </a:solidFill>
              <a:latin typeface="华文仿宋"/>
              <a:ea typeface="华文仿宋"/>
              <a:cs typeface="华文仿宋"/>
            </a:rPr>
            <a:t>平台的全面推广</a:t>
          </a:r>
          <a:endParaRPr lang="en-US" sz="2000" b="1" kern="1200" dirty="0">
            <a:solidFill>
              <a:sysClr val="window" lastClr="FFFFFF"/>
            </a:solidFill>
            <a:latin typeface="华文仿宋"/>
            <a:ea typeface="华文仿宋"/>
            <a:cs typeface="华文仿宋"/>
          </a:endParaRPr>
        </a:p>
      </dsp:txBody>
      <dsp:txXfrm>
        <a:off x="8171785" y="2928568"/>
        <a:ext cx="2337678" cy="896035"/>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34051-BEF0-7D4C-9196-86755A91DC50}" type="datetimeFigureOut">
              <a:rPr kumimoji="1" lang="zh-CN" altLang="en-US" smtClean="0"/>
              <a:pPr/>
              <a:t>16/4/19</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F50FCA8-6321-0949-96E4-AD67B1E048D6}" type="slidenum">
              <a:rPr kumimoji="1" lang="zh-CN" altLang="en-US" smtClean="0"/>
              <a:pPr/>
              <a:t>‹#›</a:t>
            </a:fld>
            <a:endParaRPr kumimoji="1" lang="zh-CN" altLang="en-US"/>
          </a:p>
        </p:txBody>
      </p:sp>
    </p:spTree>
    <p:extLst>
      <p:ext uri="{BB962C8B-B14F-4D97-AF65-F5344CB8AC3E}">
        <p14:creationId xmlns:p14="http://schemas.microsoft.com/office/powerpoint/2010/main" val="2949388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E5CB33-C662-8F41-8A71-5104D135C80E}" type="datetimeFigureOut">
              <a:rPr kumimoji="1" lang="zh-CN" altLang="en-US" smtClean="0"/>
              <a:pPr/>
              <a:t>16/4/19</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863DDE-E268-D241-A46D-5F7888E658E3}" type="slidenum">
              <a:rPr kumimoji="1" lang="zh-CN" altLang="en-US" smtClean="0"/>
              <a:pPr/>
              <a:t>‹#›</a:t>
            </a:fld>
            <a:endParaRPr kumimoji="1" lang="zh-CN" altLang="en-US"/>
          </a:p>
        </p:txBody>
      </p:sp>
    </p:spTree>
    <p:extLst>
      <p:ext uri="{BB962C8B-B14F-4D97-AF65-F5344CB8AC3E}">
        <p14:creationId xmlns:p14="http://schemas.microsoft.com/office/powerpoint/2010/main" val="38446123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a:t>
            </a:fld>
            <a:endParaRPr kumimoji="1" lang="zh-CN" altLang="en-US"/>
          </a:p>
        </p:txBody>
      </p:sp>
    </p:spTree>
    <p:extLst>
      <p:ext uri="{BB962C8B-B14F-4D97-AF65-F5344CB8AC3E}">
        <p14:creationId xmlns:p14="http://schemas.microsoft.com/office/powerpoint/2010/main" val="101976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solidFill>
                  <a:prstClr val="black"/>
                </a:solidFill>
                <a:latin typeface="Calibri"/>
                <a:ea typeface="宋体"/>
              </a:rPr>
              <a:pPr/>
              <a:t>2</a:t>
            </a:fld>
            <a:endParaRPr kumimoji="1" lang="zh-CN" altLang="en-US">
              <a:solidFill>
                <a:prstClr val="black"/>
              </a:solidFill>
              <a:latin typeface="Calibri"/>
              <a:ea typeface="宋体"/>
            </a:endParaRPr>
          </a:p>
        </p:txBody>
      </p:sp>
    </p:spTree>
    <p:extLst>
      <p:ext uri="{BB962C8B-B14F-4D97-AF65-F5344CB8AC3E}">
        <p14:creationId xmlns:p14="http://schemas.microsoft.com/office/powerpoint/2010/main" val="444976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重点是需求</a:t>
            </a:r>
            <a:r>
              <a:rPr kumimoji="1" lang="en-US" altLang="zh-CN" dirty="0" smtClean="0"/>
              <a:t> </a:t>
            </a:r>
            <a:r>
              <a:rPr kumimoji="1" lang="zh-CN" altLang="en-US" dirty="0" smtClean="0"/>
              <a:t>与</a:t>
            </a:r>
            <a:r>
              <a:rPr kumimoji="1" lang="en-US" altLang="zh-CN" dirty="0" smtClean="0"/>
              <a:t> </a:t>
            </a:r>
            <a:r>
              <a:rPr kumimoji="1" lang="zh-CN" altLang="en-US" dirty="0" smtClean="0"/>
              <a:t>供给是否能同步？</a:t>
            </a:r>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3</a:t>
            </a:fld>
            <a:endParaRPr kumimoji="1" lang="zh-CN" altLang="en-US"/>
          </a:p>
        </p:txBody>
      </p:sp>
    </p:spTree>
    <p:extLst>
      <p:ext uri="{BB962C8B-B14F-4D97-AF65-F5344CB8AC3E}">
        <p14:creationId xmlns:p14="http://schemas.microsoft.com/office/powerpoint/2010/main" val="1844668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7</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8</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9</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10</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solidFill>
                  <a:prstClr val="black"/>
                </a:solidFill>
                <a:latin typeface="Calibri"/>
                <a:ea typeface="宋体"/>
              </a:rPr>
              <a:pPr/>
              <a:t>11</a:t>
            </a:fld>
            <a:endParaRPr kumimoji="1" lang="zh-CN" altLang="en-US">
              <a:solidFill>
                <a:prstClr val="black"/>
              </a:solidFill>
              <a:latin typeface="Calibri"/>
              <a:ea typeface="宋体"/>
            </a:endParaRPr>
          </a:p>
        </p:txBody>
      </p:sp>
    </p:spTree>
    <p:extLst>
      <p:ext uri="{BB962C8B-B14F-4D97-AF65-F5344CB8AC3E}">
        <p14:creationId xmlns:p14="http://schemas.microsoft.com/office/powerpoint/2010/main" val="444976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12</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13</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14</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15</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16</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17</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18</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19</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20</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21</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22</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23</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24</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25</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solidFill>
                  <a:prstClr val="black"/>
                </a:solidFill>
                <a:latin typeface="Calibri"/>
                <a:ea typeface="宋体"/>
              </a:rPr>
              <a:pPr/>
              <a:t>26</a:t>
            </a:fld>
            <a:endParaRPr kumimoji="1" lang="zh-CN" altLang="en-US">
              <a:solidFill>
                <a:prstClr val="black"/>
              </a:solidFill>
              <a:latin typeface="Calibri"/>
              <a:ea typeface="宋体"/>
            </a:endParaRPr>
          </a:p>
        </p:txBody>
      </p:sp>
    </p:spTree>
    <p:extLst>
      <p:ext uri="{BB962C8B-B14F-4D97-AF65-F5344CB8AC3E}">
        <p14:creationId xmlns:p14="http://schemas.microsoft.com/office/powerpoint/2010/main" val="444976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28</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29</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30</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2863DDE-E268-D241-A46D-5F7888E658E3}" type="slidenum">
              <a:rPr kumimoji="1" lang="zh-CN" altLang="en-US" smtClean="0"/>
              <a:pPr/>
              <a:t>31</a:t>
            </a:fld>
            <a:endParaRPr kumimoji="1" lang="zh-CN" altLang="en-US"/>
          </a:p>
        </p:txBody>
      </p:sp>
    </p:spTree>
    <p:extLst>
      <p:ext uri="{BB962C8B-B14F-4D97-AF65-F5344CB8AC3E}">
        <p14:creationId xmlns:p14="http://schemas.microsoft.com/office/powerpoint/2010/main" val="3577885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ront Page">
    <p:spTree>
      <p:nvGrpSpPr>
        <p:cNvPr id="1" name=""/>
        <p:cNvGrpSpPr/>
        <p:nvPr/>
      </p:nvGrpSpPr>
      <p:grpSpPr>
        <a:xfrm>
          <a:off x="0" y="0"/>
          <a:ext cx="0" cy="0"/>
          <a:chOff x="0" y="0"/>
          <a:chExt cx="0" cy="0"/>
        </a:xfrm>
      </p:grpSpPr>
      <p:sp>
        <p:nvSpPr>
          <p:cNvPr id="8" name="Rectangle 7"/>
          <p:cNvSpPr/>
          <p:nvPr userDrawn="1"/>
        </p:nvSpPr>
        <p:spPr>
          <a:xfrm>
            <a:off x="0" y="0"/>
            <a:ext cx="12193488" cy="602128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标题 1"/>
          <p:cNvSpPr>
            <a:spLocks noGrp="1"/>
          </p:cNvSpPr>
          <p:nvPr>
            <p:ph type="ctrTitle"/>
          </p:nvPr>
        </p:nvSpPr>
        <p:spPr>
          <a:xfrm>
            <a:off x="914400" y="1709441"/>
            <a:ext cx="10363200" cy="988281"/>
          </a:xfrm>
          <a:prstGeom prst="rect">
            <a:avLst/>
          </a:prstGeom>
        </p:spPr>
        <p:txBody>
          <a:bodyPr anchor="ctr">
            <a:noAutofit/>
          </a:bodyPr>
          <a:lstStyle>
            <a:lvl1pPr algn="ctr">
              <a:defRPr sz="6000">
                <a:solidFill>
                  <a:schemeClr val="bg1"/>
                </a:solidFill>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828800" y="2882455"/>
            <a:ext cx="8534400" cy="816681"/>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a:xfrm>
            <a:off x="9072331" y="6307039"/>
            <a:ext cx="2844800" cy="365125"/>
          </a:xfrm>
        </p:spPr>
        <p:txBody>
          <a:bodyPr/>
          <a:lstStyle>
            <a:lvl1pPr>
              <a:defRPr>
                <a:solidFill>
                  <a:schemeClr val="tx2">
                    <a:lumMod val="75000"/>
                  </a:schemeClr>
                </a:solidFill>
              </a:defRPr>
            </a:lvl1pPr>
          </a:lstStyle>
          <a:p>
            <a:pPr algn="ctr"/>
            <a:r>
              <a:rPr lang="en-US" altLang="zh-CN" smtClean="0"/>
              <a:t>November 17, 2015</a:t>
            </a:r>
            <a:endParaRPr lang="zh-CN" altLang="en-US" dirty="0"/>
          </a:p>
        </p:txBody>
      </p:sp>
      <p:pic>
        <p:nvPicPr>
          <p:cNvPr id="10" name="Picture 2"/>
          <p:cNvPicPr>
            <a:picLocks noChangeAspect="1" noChangeArrowheads="1"/>
          </p:cNvPicPr>
          <p:nvPr userDrawn="1"/>
        </p:nvPicPr>
        <p:blipFill>
          <a:blip r:embed="rId2" cstate="print"/>
          <a:srcRect/>
          <a:stretch>
            <a:fillRect/>
          </a:stretch>
        </p:blipFill>
        <p:spPr bwMode="auto">
          <a:xfrm>
            <a:off x="4711695" y="6367933"/>
            <a:ext cx="2768608" cy="243335"/>
          </a:xfrm>
          <a:prstGeom prst="rect">
            <a:avLst/>
          </a:prstGeom>
          <a:noFill/>
          <a:ln w="9525">
            <a:noFill/>
            <a:miter lim="800000"/>
            <a:headEnd/>
            <a:tailEnd/>
          </a:ln>
          <a:effectLst/>
        </p:spPr>
      </p:pic>
      <p:sp>
        <p:nvSpPr>
          <p:cNvPr id="11" name="Rectangle 10"/>
          <p:cNvSpPr/>
          <p:nvPr userDrawn="1"/>
        </p:nvSpPr>
        <p:spPr>
          <a:xfrm>
            <a:off x="0" y="5517232"/>
            <a:ext cx="12193488" cy="50405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Microsoft YaHei" charset="0"/>
                <a:ea typeface="Microsoft YaHei" charset="0"/>
                <a:cs typeface="Microsoft YaHei" charset="0"/>
              </a:rPr>
              <a:t>平台 </a:t>
            </a:r>
            <a:r>
              <a:rPr lang="en-US" altLang="zh-CN" sz="1800" dirty="0" smtClean="0">
                <a:latin typeface="Microsoft YaHei" charset="0"/>
                <a:ea typeface="Microsoft YaHei" charset="0"/>
                <a:cs typeface="Microsoft YaHei" charset="0"/>
              </a:rPr>
              <a:t>·</a:t>
            </a:r>
            <a:r>
              <a:rPr lang="zh-CN" altLang="en-US" sz="1800" baseline="0" dirty="0" smtClean="0">
                <a:latin typeface="Microsoft YaHei" charset="0"/>
                <a:ea typeface="Microsoft YaHei" charset="0"/>
                <a:cs typeface="Microsoft YaHei" charset="0"/>
              </a:rPr>
              <a:t> 让创新无限</a:t>
            </a:r>
            <a:endParaRPr lang="en-US" sz="1800" dirty="0">
              <a:latin typeface="Microsoft YaHei" charset="0"/>
              <a:ea typeface="Microsoft YaHei" charset="0"/>
              <a:cs typeface="Microsoft YaHei" charset="0"/>
            </a:endParaRPr>
          </a:p>
        </p:txBody>
      </p:sp>
    </p:spTree>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7" name="内容占位符 2"/>
          <p:cNvSpPr>
            <a:spLocks noGrp="1"/>
          </p:cNvSpPr>
          <p:nvPr>
            <p:ph idx="13" hasCustomPrompt="1"/>
          </p:nvPr>
        </p:nvSpPr>
        <p:spPr>
          <a:xfrm>
            <a:off x="612605" y="1052737"/>
            <a:ext cx="10972800" cy="5040560"/>
          </a:xfrm>
          <a:prstGeom prst="rect">
            <a:avLst/>
          </a:prstGeom>
        </p:spPr>
        <p:txBody>
          <a:bodyPr>
            <a:normAutofit/>
          </a:bodyPr>
          <a:lstStyle>
            <a:lvl1pPr marL="342900" marR="0" indent="-342900" algn="l" defTabSz="914400" rtl="0" eaLnBrk="1" fontAlgn="auto" latinLnBrk="0" hangingPunct="1">
              <a:lnSpc>
                <a:spcPct val="100000"/>
              </a:lnSpc>
              <a:spcBef>
                <a:spcPts val="1000"/>
              </a:spcBef>
              <a:spcAft>
                <a:spcPts val="0"/>
              </a:spcAft>
              <a:buClrTx/>
              <a:buSzTx/>
              <a:buFont typeface="Arial" charset="0"/>
              <a:buChar char="•"/>
              <a:tabLst/>
              <a:defRPr sz="2800">
                <a:solidFill>
                  <a:schemeClr val="tx2">
                    <a:lumMod val="75000"/>
                  </a:schemeClr>
                </a:solidFill>
              </a:defRPr>
            </a:lvl1pPr>
            <a:lvl2pPr marL="742950" indent="-285750">
              <a:spcBef>
                <a:spcPts val="1000"/>
              </a:spcBef>
              <a:buFont typeface="Arial"/>
              <a:buChar char="•"/>
              <a:defRPr sz="2400">
                <a:solidFill>
                  <a:schemeClr val="tx2">
                    <a:lumMod val="75000"/>
                  </a:schemeClr>
                </a:solidFill>
              </a:defRPr>
            </a:lvl2pPr>
            <a:lvl3pPr marL="1143000" indent="-228600">
              <a:spcBef>
                <a:spcPts val="1000"/>
              </a:spcBef>
              <a:buFont typeface="Symbol" charset="2"/>
              <a:buChar char="-"/>
              <a:defRPr sz="2000">
                <a:solidFill>
                  <a:schemeClr val="tx2">
                    <a:lumMod val="75000"/>
                  </a:schemeClr>
                </a:solidFill>
              </a:defRPr>
            </a:lvl3pPr>
            <a:lvl4pPr marL="1600200" indent="-228600">
              <a:buFont typeface="Arial"/>
              <a:buChar char="•"/>
              <a:defRPr sz="1600"/>
            </a:lvl4pPr>
            <a:lvl5pPr>
              <a:defRPr sz="1600"/>
            </a:lvl5pPr>
          </a:lstStyle>
          <a:p>
            <a:pPr lvl="0"/>
            <a:r>
              <a:rPr lang="zh-CN" altLang="en-US" dirty="0" smtClean="0"/>
              <a:t>一级正文</a:t>
            </a:r>
            <a:r>
              <a:rPr lang="en-US" altLang="zh-CN" dirty="0" smtClean="0"/>
              <a:t>28P</a:t>
            </a:r>
            <a:r>
              <a:rPr lang="zh-CN" altLang="en-US" dirty="0" smtClean="0"/>
              <a:t>微软雅黑</a:t>
            </a:r>
            <a:endParaRPr lang="en-US" altLang="zh-CN" dirty="0" smtClean="0"/>
          </a:p>
          <a:p>
            <a:pPr lvl="1"/>
            <a:r>
              <a:rPr lang="zh-CN" altLang="en-US" dirty="0" smtClean="0"/>
              <a:t>二级正文</a:t>
            </a:r>
            <a:r>
              <a:rPr lang="en-US" altLang="zh-CN" dirty="0" smtClean="0"/>
              <a:t>24P</a:t>
            </a:r>
            <a:r>
              <a:rPr lang="zh-CN" altLang="en-US" dirty="0" smtClean="0"/>
              <a:t>微软雅黑</a:t>
            </a:r>
            <a:endParaRPr lang="en-US" altLang="zh-CN" dirty="0" smtClean="0"/>
          </a:p>
          <a:p>
            <a:pPr lvl="2"/>
            <a:r>
              <a:rPr lang="zh-CN" altLang="en-US" dirty="0" smtClean="0"/>
              <a:t>三级正文</a:t>
            </a:r>
            <a:r>
              <a:rPr lang="en-US" altLang="zh-CN" dirty="0" smtClean="0"/>
              <a:t>20P</a:t>
            </a:r>
            <a:r>
              <a:rPr lang="zh-CN" altLang="en-US" dirty="0" smtClean="0"/>
              <a:t>微软雅黑</a:t>
            </a:r>
            <a:endParaRPr lang="en-US" altLang="zh-CN" dirty="0" smtClean="0"/>
          </a:p>
        </p:txBody>
      </p:sp>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pPr/>
              <a:t>‹#›</a:t>
            </a:fld>
            <a:endParaRPr lang="zh-CN" altLang="en-US"/>
          </a:p>
        </p:txBody>
      </p:sp>
      <p:sp>
        <p:nvSpPr>
          <p:cNvPr id="12" name="Rectangle 11"/>
          <p:cNvSpPr/>
          <p:nvPr userDrawn="1"/>
        </p:nvSpPr>
        <p:spPr>
          <a:xfrm>
            <a:off x="0"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itle 2"/>
          <p:cNvSpPr>
            <a:spLocks noGrp="1"/>
          </p:cNvSpPr>
          <p:nvPr>
            <p:ph type="title"/>
          </p:nvPr>
        </p:nvSpPr>
        <p:spPr>
          <a:xfrm>
            <a:off x="142595" y="85722"/>
            <a:ext cx="11905321" cy="546544"/>
          </a:xfrm>
          <a:prstGeom prst="rect">
            <a:avLst/>
          </a:prstGeom>
        </p:spPr>
        <p:txBody>
          <a:bodyPr/>
          <a:lstStyle>
            <a:lvl1pPr>
              <a:defRPr sz="3200">
                <a:solidFill>
                  <a:schemeClr val="bg1"/>
                </a:solidFill>
                <a:latin typeface="Microsoft YaHei" charset="0"/>
                <a:ea typeface="Microsoft YaHei" charset="0"/>
                <a:cs typeface="Microsoft YaHei" charset="0"/>
              </a:defRPr>
            </a:lvl1pPr>
          </a:lstStyle>
          <a:p>
            <a:r>
              <a:rPr lang="en-US" altLang="zh-CN" dirty="0" smtClean="0"/>
              <a:t>Click to edit Master title style</a:t>
            </a:r>
            <a:endParaRPr lang="en-US" dirty="0"/>
          </a:p>
        </p:txBody>
      </p:sp>
      <p:sp>
        <p:nvSpPr>
          <p:cNvPr id="9" name="Rectangle 8"/>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icrosoft YaHei" charset="0"/>
              <a:ea typeface="Microsoft YaHei" charset="0"/>
              <a:cs typeface="Microsoft YaHei" charset="0"/>
            </a:endParaRPr>
          </a:p>
        </p:txBody>
      </p:sp>
    </p:spTree>
    <p:extLst>
      <p:ext uri="{BB962C8B-B14F-4D97-AF65-F5344CB8AC3E}">
        <p14:creationId xmlns:p14="http://schemas.microsoft.com/office/powerpoint/2010/main" val="3272950805"/>
      </p:ext>
    </p:extLst>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7" name="Rectangle 6"/>
          <p:cNvSpPr/>
          <p:nvPr userDrawn="1"/>
        </p:nvSpPr>
        <p:spPr>
          <a:xfrm>
            <a:off x="-1489"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Rectangle 11"/>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icrosoft YaHei" charset="0"/>
              <a:ea typeface="Microsoft YaHei" charset="0"/>
              <a:cs typeface="Microsoft YaHei" charset="0"/>
            </a:endParaRPr>
          </a:p>
        </p:txBody>
      </p:sp>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pPr/>
              <a:t>‹#›</a:t>
            </a:fld>
            <a:endParaRPr lang="zh-CN" altLang="en-US"/>
          </a:p>
        </p:txBody>
      </p:sp>
      <p:sp>
        <p:nvSpPr>
          <p:cNvPr id="14" name="Title 2"/>
          <p:cNvSpPr>
            <a:spLocks noGrp="1"/>
          </p:cNvSpPr>
          <p:nvPr>
            <p:ph type="title"/>
          </p:nvPr>
        </p:nvSpPr>
        <p:spPr>
          <a:xfrm>
            <a:off x="142595" y="85722"/>
            <a:ext cx="11905321" cy="546544"/>
          </a:xfrm>
          <a:prstGeom prst="rect">
            <a:avLst/>
          </a:prstGeom>
        </p:spPr>
        <p:txBody>
          <a:bodyPr/>
          <a:lstStyle>
            <a:lvl1pPr>
              <a:defRPr sz="3200">
                <a:solidFill>
                  <a:schemeClr val="bg1"/>
                </a:solidFill>
                <a:latin typeface="Microsoft YaHei" charset="0"/>
                <a:ea typeface="Microsoft YaHei" charset="0"/>
                <a:cs typeface="Microsoft YaHei" charset="0"/>
              </a:defRPr>
            </a:lvl1pPr>
          </a:lstStyle>
          <a:p>
            <a:r>
              <a:rPr lang="en-US" altLang="zh-CN" dirty="0" smtClean="0"/>
              <a:t>Click to edit Master title style</a:t>
            </a:r>
            <a:endParaRPr lang="en-US" dirty="0"/>
          </a:p>
        </p:txBody>
      </p:sp>
    </p:spTree>
    <p:extLst>
      <p:ext uri="{BB962C8B-B14F-4D97-AF65-F5344CB8AC3E}">
        <p14:creationId xmlns:p14="http://schemas.microsoft.com/office/powerpoint/2010/main" val="1421779725"/>
      </p:ext>
    </p:extLst>
  </p:cSld>
  <p:clrMapOvr>
    <a:masterClrMapping/>
  </p:clrMapOvr>
  <p:timing>
    <p:tnLst>
      <p:par>
        <p:cTn xmlns:p14="http://schemas.microsoft.com/office/powerpoint/2010/mai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10" name="Rectangle 9"/>
          <p:cNvSpPr/>
          <p:nvPr userDrawn="1"/>
        </p:nvSpPr>
        <p:spPr>
          <a:xfrm>
            <a:off x="0" y="0"/>
            <a:ext cx="12193488" cy="602128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600" dirty="0" smtClean="0">
                <a:latin typeface="Microsoft YaHei" charset="0"/>
                <a:ea typeface="Microsoft YaHei" charset="0"/>
                <a:cs typeface="Microsoft YaHei" charset="0"/>
              </a:rPr>
              <a:t>谢谢</a:t>
            </a:r>
          </a:p>
          <a:p>
            <a:pPr algn="ctr"/>
            <a:endParaRPr lang="en-US" altLang="zh-CN" sz="6600" dirty="0" smtClean="0">
              <a:latin typeface="Microsoft YaHei" charset="0"/>
              <a:ea typeface="Microsoft YaHei" charset="0"/>
              <a:cs typeface="Microsoft YaHei" charset="0"/>
            </a:endParaRPr>
          </a:p>
          <a:p>
            <a:pPr algn="ctr"/>
            <a:r>
              <a:rPr lang="zh-CN" altLang="en-US" sz="2400" dirty="0" smtClean="0">
                <a:latin typeface="Microsoft YaHei" charset="0"/>
                <a:ea typeface="Microsoft YaHei" charset="0"/>
                <a:cs typeface="Microsoft YaHei" charset="0"/>
              </a:rPr>
              <a:t>平台 </a:t>
            </a:r>
            <a:r>
              <a:rPr lang="en-US" altLang="zh-CN" sz="2400" dirty="0" smtClean="0">
                <a:latin typeface="Microsoft YaHei" charset="0"/>
                <a:ea typeface="Microsoft YaHei" charset="0"/>
                <a:cs typeface="Microsoft YaHei" charset="0"/>
              </a:rPr>
              <a:t>·</a:t>
            </a:r>
            <a:r>
              <a:rPr lang="zh-CN" altLang="en-US" sz="2400" dirty="0" smtClean="0">
                <a:latin typeface="Microsoft YaHei" charset="0"/>
                <a:ea typeface="Microsoft YaHei" charset="0"/>
                <a:cs typeface="Microsoft YaHei" charset="0"/>
              </a:rPr>
              <a:t> 让创新无限</a:t>
            </a:r>
          </a:p>
        </p:txBody>
      </p:sp>
      <p:pic>
        <p:nvPicPr>
          <p:cNvPr id="8" name="Picture 2"/>
          <p:cNvPicPr>
            <a:picLocks noChangeAspect="1" noChangeArrowheads="1"/>
          </p:cNvPicPr>
          <p:nvPr userDrawn="1"/>
        </p:nvPicPr>
        <p:blipFill>
          <a:blip r:embed="rId2" cstate="print"/>
          <a:srcRect/>
          <a:stretch>
            <a:fillRect/>
          </a:stretch>
        </p:blipFill>
        <p:spPr bwMode="auto">
          <a:xfrm>
            <a:off x="4711695" y="6367933"/>
            <a:ext cx="2768608" cy="243335"/>
          </a:xfrm>
          <a:prstGeom prst="rect">
            <a:avLst/>
          </a:prstGeom>
          <a:noFill/>
          <a:ln w="9525">
            <a:noFill/>
            <a:miter lim="800000"/>
            <a:headEnd/>
            <a:tailEnd/>
          </a:ln>
          <a:effectLst/>
        </p:spPr>
      </p:pic>
      <p:sp>
        <p:nvSpPr>
          <p:cNvPr id="12" name="日期占位符 3"/>
          <p:cNvSpPr>
            <a:spLocks noGrp="1"/>
          </p:cNvSpPr>
          <p:nvPr>
            <p:ph type="dt" sz="half" idx="10"/>
          </p:nvPr>
        </p:nvSpPr>
        <p:spPr>
          <a:xfrm>
            <a:off x="9072331" y="6307039"/>
            <a:ext cx="2844800" cy="365125"/>
          </a:xfrm>
        </p:spPr>
        <p:txBody>
          <a:bodyPr/>
          <a:lstStyle>
            <a:lvl1pPr>
              <a:defRPr>
                <a:solidFill>
                  <a:schemeClr val="tx2">
                    <a:lumMod val="75000"/>
                  </a:schemeClr>
                </a:solidFill>
              </a:defRPr>
            </a:lvl1pPr>
          </a:lstStyle>
          <a:p>
            <a:pPr algn="ctr"/>
            <a:r>
              <a:rPr lang="en-US" altLang="zh-CN" smtClean="0"/>
              <a:t>November 17, 2015</a:t>
            </a:r>
            <a:endParaRPr lang="zh-CN" altLang="en-US" dirty="0"/>
          </a:p>
        </p:txBody>
      </p:sp>
      <p:sp>
        <p:nvSpPr>
          <p:cNvPr id="4" name="Rectangle 3"/>
          <p:cNvSpPr/>
          <p:nvPr userDrawn="1"/>
        </p:nvSpPr>
        <p:spPr>
          <a:xfrm>
            <a:off x="0" y="5517232"/>
            <a:ext cx="12193488" cy="50405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Microsoft YaHei" charset="0"/>
                <a:ea typeface="Microsoft YaHei" charset="0"/>
                <a:cs typeface="Microsoft YaHei" charset="0"/>
              </a:rPr>
              <a:t>上海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北京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广州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西安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武汉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成都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 </a:t>
            </a:r>
            <a:r>
              <a:rPr lang="en-US" altLang="zh-CN" sz="1800" dirty="0" smtClean="0">
                <a:latin typeface="Microsoft YaHei" charset="0"/>
                <a:ea typeface="Microsoft YaHei" charset="0"/>
                <a:cs typeface="Microsoft YaHei" charset="0"/>
              </a:rPr>
              <a:t>400</a:t>
            </a:r>
            <a:r>
              <a:rPr lang="zh-CN" altLang="en-US" sz="1800" baseline="0" dirty="0" smtClean="0">
                <a:latin typeface="Microsoft YaHei" charset="0"/>
                <a:ea typeface="Microsoft YaHei" charset="0"/>
                <a:cs typeface="Microsoft YaHei" charset="0"/>
              </a:rPr>
              <a:t> </a:t>
            </a:r>
            <a:r>
              <a:rPr lang="en-US" altLang="zh-CN" sz="1800" baseline="0" dirty="0" smtClean="0">
                <a:latin typeface="Microsoft YaHei" charset="0"/>
                <a:ea typeface="Microsoft YaHei" charset="0"/>
                <a:cs typeface="Microsoft YaHei" charset="0"/>
              </a:rPr>
              <a:t>820</a:t>
            </a:r>
            <a:r>
              <a:rPr lang="zh-CN" altLang="en-US" sz="1800" baseline="0" dirty="0" smtClean="0">
                <a:latin typeface="Microsoft YaHei" charset="0"/>
                <a:ea typeface="Microsoft YaHei" charset="0"/>
                <a:cs typeface="Microsoft YaHei" charset="0"/>
              </a:rPr>
              <a:t> </a:t>
            </a:r>
            <a:r>
              <a:rPr lang="en-US" altLang="zh-CN" sz="1800" baseline="0" dirty="0" smtClean="0">
                <a:latin typeface="Microsoft YaHei" charset="0"/>
                <a:ea typeface="Microsoft YaHei" charset="0"/>
                <a:cs typeface="Microsoft YaHei" charset="0"/>
              </a:rPr>
              <a:t>5821</a:t>
            </a:r>
            <a:r>
              <a:rPr lang="zh-CN" altLang="en-US" sz="1800" baseline="0" dirty="0" smtClean="0">
                <a:latin typeface="Microsoft YaHei" charset="0"/>
                <a:ea typeface="Microsoft YaHei" charset="0"/>
                <a:cs typeface="Microsoft YaHei" charset="0"/>
              </a:rPr>
              <a:t> </a:t>
            </a:r>
            <a:r>
              <a:rPr lang="en-US" altLang="zh-CN" sz="1800" baseline="0" dirty="0" smtClean="0">
                <a:latin typeface="Microsoft YaHei" charset="0"/>
                <a:ea typeface="Microsoft YaHei" charset="0"/>
                <a:cs typeface="Microsoft YaHei" charset="0"/>
              </a:rPr>
              <a:t>|</a:t>
            </a:r>
            <a:r>
              <a:rPr lang="zh-CN" altLang="en-US" sz="1800" baseline="0" dirty="0" smtClean="0">
                <a:latin typeface="Microsoft YaHei" charset="0"/>
                <a:ea typeface="Microsoft YaHei" charset="0"/>
                <a:cs typeface="Microsoft YaHei" charset="0"/>
              </a:rPr>
              <a:t>      普元软件 </a:t>
            </a:r>
            <a:r>
              <a:rPr lang="en-US" altLang="zh-CN" sz="1800" baseline="0" dirty="0" smtClean="0">
                <a:latin typeface="Microsoft YaHei" charset="0"/>
                <a:ea typeface="Microsoft YaHei" charset="0"/>
                <a:cs typeface="Microsoft YaHei" charset="0"/>
              </a:rPr>
              <a:t>|</a:t>
            </a:r>
            <a:r>
              <a:rPr lang="zh-CN" altLang="en-US" sz="1800" baseline="0" dirty="0" smtClean="0">
                <a:latin typeface="Microsoft YaHei" charset="0"/>
                <a:ea typeface="Microsoft YaHei" charset="0"/>
                <a:cs typeface="Microsoft YaHei" charset="0"/>
              </a:rPr>
              <a:t>      普元信息</a:t>
            </a:r>
            <a:endParaRPr lang="en-US" sz="1800" dirty="0">
              <a:latin typeface="Microsoft YaHei" charset="0"/>
              <a:ea typeface="Microsoft YaHei" charset="0"/>
              <a:cs typeface="Microsoft YaHei" charset="0"/>
            </a:endParaRPr>
          </a:p>
        </p:txBody>
      </p:sp>
      <p:pic>
        <p:nvPicPr>
          <p:cNvPr id="2" name="Picture 1"/>
          <p:cNvPicPr>
            <a:picLocks noChangeAspect="1"/>
          </p:cNvPicPr>
          <p:nvPr userDrawn="1"/>
        </p:nvPicPr>
        <p:blipFill>
          <a:blip r:embed="rId3">
            <a:lum bright="70000" contrast="-70000"/>
          </a:blip>
          <a:stretch>
            <a:fillRect/>
          </a:stretch>
        </p:blipFill>
        <p:spPr>
          <a:xfrm>
            <a:off x="9192344" y="5638087"/>
            <a:ext cx="270249" cy="270249"/>
          </a:xfrm>
          <a:prstGeom prst="rect">
            <a:avLst/>
          </a:prstGeom>
          <a:noFill/>
        </p:spPr>
      </p:pic>
      <p:pic>
        <p:nvPicPr>
          <p:cNvPr id="3" name="Picture 2"/>
          <p:cNvPicPr>
            <a:picLocks noChangeAspect="1"/>
          </p:cNvPicPr>
          <p:nvPr userDrawn="1"/>
        </p:nvPicPr>
        <p:blipFill>
          <a:blip r:embed="rId4">
            <a:lum bright="70000" contrast="-70000"/>
          </a:blip>
          <a:stretch>
            <a:fillRect/>
          </a:stretch>
        </p:blipFill>
        <p:spPr>
          <a:xfrm>
            <a:off x="7752184" y="5630248"/>
            <a:ext cx="274320" cy="274320"/>
          </a:xfrm>
          <a:prstGeom prst="rect">
            <a:avLst/>
          </a:prstGeom>
        </p:spPr>
      </p:pic>
    </p:spTree>
    <p:extLst>
      <p:ext uri="{BB962C8B-B14F-4D97-AF65-F5344CB8AC3E}">
        <p14:creationId xmlns:p14="http://schemas.microsoft.com/office/powerpoint/2010/main" val="1084781747"/>
      </p:ext>
    </p:extLst>
  </p:cSld>
  <p:clrMapOvr>
    <a:masterClrMapping/>
  </p:clrMapOvr>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Rectangle 8"/>
          <p:cNvSpPr/>
          <p:nvPr userDrawn="1"/>
        </p:nvSpPr>
        <p:spPr>
          <a:xfrm>
            <a:off x="0" y="872078"/>
            <a:ext cx="3503712" cy="598592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EFFFF"/>
              </a:solidFill>
              <a:latin typeface="Calibri"/>
            </a:endParaRPr>
          </a:p>
        </p:txBody>
      </p:sp>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7" name="Rectangle 6"/>
          <p:cNvSpPr/>
          <p:nvPr userDrawn="1"/>
        </p:nvSpPr>
        <p:spPr>
          <a:xfrm>
            <a:off x="-1489"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smtClean="0">
                <a:solidFill>
                  <a:srgbClr val="FEFFFF"/>
                </a:solidFill>
                <a:latin typeface="Microsoft YaHei" charset="0"/>
                <a:ea typeface="Microsoft YaHei" charset="0"/>
                <a:cs typeface="Microsoft YaHei" charset="0"/>
              </a:rPr>
              <a:t> 目录</a:t>
            </a:r>
            <a:endParaRPr lang="en-US" sz="3200" dirty="0">
              <a:solidFill>
                <a:srgbClr val="FEFFFF"/>
              </a:solidFill>
              <a:latin typeface="Microsoft YaHei" charset="0"/>
              <a:ea typeface="Microsoft YaHei" charset="0"/>
              <a:cs typeface="Microsoft YaHei" charset="0"/>
            </a:endParaRPr>
          </a:p>
        </p:txBody>
      </p:sp>
      <p:sp>
        <p:nvSpPr>
          <p:cNvPr id="12" name="Rectangle 11"/>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EFFFF"/>
              </a:solidFill>
              <a:latin typeface="Microsoft YaHei" charset="0"/>
              <a:ea typeface="Microsoft YaHei" charset="0"/>
              <a:cs typeface="Microsoft YaHei" charset="0"/>
            </a:endParaRPr>
          </a:p>
        </p:txBody>
      </p:sp>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solidFill>
                  <a:srgbClr val="1F497D">
                    <a:lumMod val="75000"/>
                  </a:srgbClr>
                </a:solidFill>
              </a:rPr>
              <a:pPr/>
              <a:t>‹#›</a:t>
            </a:fld>
            <a:endParaRPr lang="zh-CN" altLang="en-US">
              <a:solidFill>
                <a:srgbClr val="1F497D">
                  <a:lumMod val="75000"/>
                </a:srgbClr>
              </a:solidFill>
            </a:endParaRPr>
          </a:p>
        </p:txBody>
      </p:sp>
      <p:sp>
        <p:nvSpPr>
          <p:cNvPr id="3" name="Content Placeholder 2"/>
          <p:cNvSpPr>
            <a:spLocks noGrp="1"/>
          </p:cNvSpPr>
          <p:nvPr>
            <p:ph sz="quarter" idx="13"/>
          </p:nvPr>
        </p:nvSpPr>
        <p:spPr>
          <a:xfrm>
            <a:off x="3648074" y="1341438"/>
            <a:ext cx="7920534" cy="4607842"/>
          </a:xfrm>
          <a:prstGeom prst="rect">
            <a:avLst/>
          </a:prstGeom>
        </p:spPr>
        <p:txBody>
          <a:bodyPr/>
          <a:lstStyle>
            <a:lvl1pPr marL="342900" indent="-342900">
              <a:buFont typeface="Arial" charset="0"/>
              <a:buChar char="•"/>
              <a:defRPr>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altLang="zh-CN" dirty="0" smtClean="0"/>
              <a:t>Click to edit Master text styles</a:t>
            </a:r>
            <a:endParaRPr lang="zh-CN" altLang="en-US" dirty="0" smtClean="0"/>
          </a:p>
          <a:p>
            <a:pPr lvl="0"/>
            <a:endParaRPr lang="zh-CN" altLang="en-US" dirty="0" smtClean="0"/>
          </a:p>
          <a:p>
            <a:pPr lvl="0"/>
            <a:endParaRPr lang="en-US" altLang="zh-CN" dirty="0" smtClean="0"/>
          </a:p>
        </p:txBody>
      </p:sp>
    </p:spTree>
    <p:extLst>
      <p:ext uri="{BB962C8B-B14F-4D97-AF65-F5344CB8AC3E}">
        <p14:creationId xmlns:p14="http://schemas.microsoft.com/office/powerpoint/2010/main" val="353891159"/>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微软雅黑"/>
                <a:ea typeface="微软雅黑"/>
                <a:cs typeface="微软雅黑"/>
              </a:defRPr>
            </a:lvl1pPr>
          </a:lstStyle>
          <a:p>
            <a:fld id="{120C7143-BB4D-47C6-9008-44C955299D49}" type="datetimeFigureOut">
              <a:rPr lang="zh-CN" altLang="en-US" smtClean="0"/>
              <a:pPr/>
              <a:t>16/4/19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a:ea typeface="微软雅黑"/>
                <a:cs typeface="微软雅黑"/>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微软雅黑"/>
                <a:ea typeface="微软雅黑"/>
                <a:cs typeface="微软雅黑"/>
              </a:defRPr>
            </a:lvl1pPr>
          </a:lstStyle>
          <a:p>
            <a:fld id="{8222EC5C-8AE4-417F-927C-71FD1BF6CFB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7" r:id="rId3"/>
    <p:sldLayoutId id="2147483656" r:id="rId4"/>
    <p:sldLayoutId id="2147483664" r:id="rId5"/>
  </p:sldLayoutIdLst>
  <p:timing>
    <p:tnLst>
      <p:par>
        <p:cTn xmlns:p14="http://schemas.microsoft.com/office/powerpoint/2010/main" id="1" dur="indefinite" restart="never" nodeType="tmRoot"/>
      </p:par>
    </p:tnLst>
  </p:timing>
  <p:txStyles>
    <p:titleStyle>
      <a:lvl1pPr algn="l" defTabSz="914400" rtl="0" eaLnBrk="1" latinLnBrk="0" hangingPunct="1">
        <a:spcBef>
          <a:spcPct val="0"/>
        </a:spcBef>
        <a:buNone/>
        <a:defRPr sz="4000" b="1" kern="1200">
          <a:solidFill>
            <a:schemeClr val="tx1"/>
          </a:solidFill>
          <a:latin typeface="微软雅黑"/>
          <a:ea typeface="微软雅黑"/>
          <a:cs typeface="微软雅黑"/>
        </a:defRPr>
      </a:lvl1pPr>
    </p:titleStyle>
    <p:bodyStyle>
      <a:lvl1pPr marL="0" indent="0" algn="l" defTabSz="914400" rtl="0" eaLnBrk="1" latinLnBrk="0" hangingPunct="1">
        <a:spcBef>
          <a:spcPct val="20000"/>
        </a:spcBef>
        <a:buFont typeface="Arial" pitchFamily="34" charset="0"/>
        <a:buNone/>
        <a:defRPr sz="2400" kern="1200">
          <a:solidFill>
            <a:schemeClr val="tx1"/>
          </a:solidFill>
          <a:latin typeface="微软雅黑"/>
          <a:ea typeface="微软雅黑"/>
          <a:cs typeface="微软雅黑"/>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a:ea typeface="微软雅黑"/>
          <a:cs typeface="微软雅黑"/>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a:ea typeface="微软雅黑"/>
          <a:cs typeface="微软雅黑"/>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a:ea typeface="微软雅黑"/>
          <a:cs typeface="微软雅黑"/>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a:ea typeface="微软雅黑"/>
          <a:cs typeface="微软雅黑"/>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oleObject" Target="../embeddings/oleObject1.bin"/><Relationship Id="rId7" Type="http://schemas.openxmlformats.org/officeDocument/2006/relationships/image" Target="../media/image12.emf"/><Relationship Id="rId8" Type="http://schemas.openxmlformats.org/officeDocument/2006/relationships/oleObject" Target="../embeddings/oleObject2.bin"/><Relationship Id="rId9" Type="http://schemas.openxmlformats.org/officeDocument/2006/relationships/oleObject" Target="../embeddings/oleObject3.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gif"/><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gif"/><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1" Type="http://schemas.openxmlformats.org/officeDocument/2006/relationships/image" Target="../media/image30.wmf"/><Relationship Id="rId12" Type="http://schemas.openxmlformats.org/officeDocument/2006/relationships/image" Target="../media/image31.wmf"/><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wmf"/><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slideLayout" Target="../slideLayouts/slideLayout2.xml"/><Relationship Id="rId6" Type="http://schemas.openxmlformats.org/officeDocument/2006/relationships/notesSlide" Target="../notesSlides/notesSlide12.xml"/><Relationship Id="rId7" Type="http://schemas.openxmlformats.org/officeDocument/2006/relationships/image" Target="../media/image26.png"/><Relationship Id="rId8" Type="http://schemas.openxmlformats.org/officeDocument/2006/relationships/image" Target="../media/image27.jpe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1" Type="http://schemas.openxmlformats.org/officeDocument/2006/relationships/diagramColors" Target="../diagrams/colors2.xml"/><Relationship Id="rId12"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diagramData" Target="../diagrams/data2.xml"/><Relationship Id="rId9" Type="http://schemas.openxmlformats.org/officeDocument/2006/relationships/diagramLayout" Target="../diagrams/layout2.xml"/><Relationship Id="rId10"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4"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1" Type="http://schemas.openxmlformats.org/officeDocument/2006/relationships/slideLayout" Target="../slideLayouts/slideLayout3.xml"/><Relationship Id="rId2" Type="http://schemas.openxmlformats.org/officeDocument/2006/relationships/diagramData" Target="../diagrams/data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1837364"/>
            <a:ext cx="10363200" cy="1591636"/>
          </a:xfrm>
        </p:spPr>
        <p:txBody>
          <a:bodyPr anchor="ctr">
            <a:noAutofit/>
          </a:bodyPr>
          <a:lstStyle/>
          <a:p>
            <a:r>
              <a:rPr lang="zh-CN" altLang="en-US" sz="4800" dirty="0" smtClean="0"/>
              <a:t>统</a:t>
            </a:r>
            <a:r>
              <a:rPr lang="zh-CN" altLang="en-US" sz="4800" dirty="0"/>
              <a:t>一流程平台建设方</a:t>
            </a:r>
            <a:r>
              <a:rPr lang="zh-CN" altLang="en-US" sz="4800" dirty="0" smtClean="0"/>
              <a:t>案</a:t>
            </a:r>
            <a:endParaRPr lang="en-US" sz="4800" dirty="0"/>
          </a:p>
        </p:txBody>
      </p:sp>
      <p:pic>
        <p:nvPicPr>
          <p:cNvPr id="3" name="Picture 4" descr="http://www.ycwb.com/ePaper/xkb/res/1/121/2011-12/30/T09/res13_attpic_brief.jpg"/>
          <p:cNvPicPr>
            <a:picLocks noChangeAspect="1" noChangeArrowheads="1"/>
          </p:cNvPicPr>
          <p:nvPr/>
        </p:nvPicPr>
        <p:blipFill>
          <a:blip r:embed="rId3" cstate="print"/>
          <a:stretch>
            <a:fillRect/>
          </a:stretch>
        </p:blipFill>
        <p:spPr bwMode="auto">
          <a:xfrm>
            <a:off x="3465888" y="778350"/>
            <a:ext cx="5238752" cy="1258826"/>
          </a:xfrm>
          <a:prstGeom prst="rect">
            <a:avLst/>
          </a:prstGeom>
          <a:ln>
            <a:noFill/>
          </a:ln>
          <a:effectLst>
            <a:softEdge rad="112500"/>
          </a:effectLst>
        </p:spPr>
      </p:pic>
    </p:spTree>
    <p:extLst>
      <p:ext uri="{BB962C8B-B14F-4D97-AF65-F5344CB8AC3E}">
        <p14:creationId xmlns:p14="http://schemas.microsoft.com/office/powerpoint/2010/main" val="1713516899"/>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3575720" y="947617"/>
            <a:ext cx="7920534" cy="5688632"/>
          </a:xfrm>
        </p:spPr>
        <p:txBody>
          <a:bodyPr anchor="ctr"/>
          <a:lstStyle/>
          <a:p>
            <a:pPr marL="571500" indent="-571500">
              <a:lnSpc>
                <a:spcPct val="150000"/>
              </a:lnSpc>
              <a:buFont typeface="Wingdings" charset="2"/>
              <a:buAutoNum type="circleNumWdBlackPlain"/>
            </a:pPr>
            <a:r>
              <a:rPr lang="zh-CN" altLang="en-US" sz="3600" dirty="0" smtClean="0">
                <a:solidFill>
                  <a:srgbClr val="FF6600"/>
                </a:solidFill>
              </a:rPr>
              <a:t>统一流程平台建设方法</a:t>
            </a:r>
            <a:endParaRPr lang="en-US" altLang="zh-CN" sz="3600" dirty="0">
              <a:solidFill>
                <a:srgbClr val="FF6600"/>
              </a:solidFill>
            </a:endParaRPr>
          </a:p>
          <a:p>
            <a:pPr marL="571500" indent="-571500">
              <a:lnSpc>
                <a:spcPct val="150000"/>
              </a:lnSpc>
              <a:buFont typeface="Wingdings" charset="2"/>
              <a:buAutoNum type="circleNumWdBlackPlain"/>
            </a:pPr>
            <a:r>
              <a:rPr lang="zh-CN" altLang="en-US" sz="3600" dirty="0" smtClean="0"/>
              <a:t>案例：浦发银行统一流程平台</a:t>
            </a:r>
            <a:endParaRPr lang="en-US" altLang="zh-CN" sz="3600" dirty="0" smtClean="0"/>
          </a:p>
          <a:p>
            <a:pPr marL="571500" indent="-571500">
              <a:lnSpc>
                <a:spcPct val="150000"/>
              </a:lnSpc>
              <a:buFont typeface="Wingdings" charset="2"/>
              <a:buAutoNum type="circleNumWdBlackPlain"/>
            </a:pPr>
            <a:r>
              <a:rPr lang="zh-CN" altLang="en-US" sz="3600" dirty="0" smtClean="0"/>
              <a:t>邮储统一流程平台实施建议 </a:t>
            </a:r>
            <a:endParaRPr lang="en-US" altLang="zh-CN" sz="3600" dirty="0" smtClean="0"/>
          </a:p>
        </p:txBody>
      </p:sp>
    </p:spTree>
    <p:extLst>
      <p:ext uri="{BB962C8B-B14F-4D97-AF65-F5344CB8AC3E}">
        <p14:creationId xmlns:p14="http://schemas.microsoft.com/office/powerpoint/2010/main" val="104742629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业务流程在银行业的重要性日益凸现</a:t>
            </a:r>
            <a:endParaRPr kumimoji="1" lang="zh-CN" altLang="en-US" dirty="0"/>
          </a:p>
        </p:txBody>
      </p:sp>
      <p:sp>
        <p:nvSpPr>
          <p:cNvPr id="5" name="内容占位符 12"/>
          <p:cNvSpPr>
            <a:spLocks noGrp="1"/>
          </p:cNvSpPr>
          <p:nvPr>
            <p:ph sz="half" idx="4294967295"/>
          </p:nvPr>
        </p:nvSpPr>
        <p:spPr>
          <a:xfrm>
            <a:off x="457200" y="1125538"/>
            <a:ext cx="4846711" cy="5427662"/>
          </a:xfrm>
          <a:prstGeom prst="rect">
            <a:avLst/>
          </a:prstGeom>
        </p:spPr>
        <p:txBody>
          <a:bodyPr/>
          <a:lstStyle/>
          <a:p>
            <a:pPr marL="342900" indent="-342900">
              <a:lnSpc>
                <a:spcPct val="125000"/>
              </a:lnSpc>
              <a:buFont typeface="Heiti SC Light"/>
              <a:buChar char="+"/>
            </a:pPr>
            <a:r>
              <a:rPr lang="zh-CN" altLang="en-US" sz="2000" b="1" dirty="0" smtClean="0">
                <a:latin typeface="华文仿宋"/>
                <a:ea typeface="华文仿宋"/>
                <a:cs typeface="华文仿宋"/>
              </a:rPr>
              <a:t>业务逐渐融合</a:t>
            </a:r>
            <a:endParaRPr lang="en-US" altLang="zh-CN" sz="2000" b="1" dirty="0">
              <a:latin typeface="华文仿宋"/>
              <a:ea typeface="华文仿宋"/>
              <a:cs typeface="华文仿宋"/>
            </a:endParaRPr>
          </a:p>
          <a:p>
            <a:pPr>
              <a:lnSpc>
                <a:spcPct val="125000"/>
              </a:lnSpc>
            </a:pPr>
            <a:r>
              <a:rPr lang="zh-CN" altLang="en-US" sz="2000" b="1" dirty="0" smtClean="0">
                <a:latin typeface="华文仿宋"/>
                <a:ea typeface="华文仿宋"/>
                <a:cs typeface="华文仿宋"/>
              </a:rPr>
              <a:t>  </a:t>
            </a:r>
            <a:r>
              <a:rPr lang="zh-CN" altLang="en-US" sz="1600" dirty="0" smtClean="0">
                <a:latin typeface="华文仿宋"/>
                <a:ea typeface="华文仿宋"/>
                <a:cs typeface="华文仿宋"/>
              </a:rPr>
              <a:t>面向“全业务运营”的流程银行时代来临</a:t>
            </a:r>
            <a:endParaRPr lang="en-US" sz="2000" dirty="0" smtClean="0">
              <a:latin typeface="华文仿宋"/>
              <a:ea typeface="华文仿宋"/>
              <a:cs typeface="华文仿宋"/>
            </a:endParaRPr>
          </a:p>
          <a:p>
            <a:pPr lvl="1">
              <a:lnSpc>
                <a:spcPct val="125000"/>
              </a:lnSpc>
            </a:pPr>
            <a:r>
              <a:rPr lang="zh-CN" altLang="en-US" sz="1600" dirty="0" smtClean="0">
                <a:latin typeface="华文仿宋"/>
                <a:ea typeface="华文仿宋"/>
                <a:cs typeface="华文仿宋"/>
              </a:rPr>
              <a:t>例如兴业银行、交通银行已经对其信用卡和零售业务的全方位整合。</a:t>
            </a:r>
            <a:endParaRPr lang="en-US" sz="1600" dirty="0" smtClean="0">
              <a:latin typeface="华文仿宋"/>
              <a:ea typeface="华文仿宋"/>
              <a:cs typeface="华文仿宋"/>
            </a:endParaRPr>
          </a:p>
          <a:p>
            <a:pPr lvl="1">
              <a:lnSpc>
                <a:spcPct val="125000"/>
              </a:lnSpc>
            </a:pPr>
            <a:r>
              <a:rPr lang="zh-CN" altLang="en-US" sz="1600" dirty="0" smtClean="0">
                <a:latin typeface="华文仿宋"/>
                <a:ea typeface="华文仿宋"/>
                <a:cs typeface="华文仿宋"/>
              </a:rPr>
              <a:t>以业务流程为核心进行业务的重造</a:t>
            </a:r>
            <a:endParaRPr lang="en-US" altLang="zh-CN" sz="1600" dirty="0" smtClean="0">
              <a:latin typeface="华文仿宋"/>
              <a:ea typeface="华文仿宋"/>
              <a:cs typeface="华文仿宋"/>
            </a:endParaRPr>
          </a:p>
          <a:p>
            <a:pPr lvl="1">
              <a:lnSpc>
                <a:spcPct val="125000"/>
              </a:lnSpc>
            </a:pPr>
            <a:r>
              <a:rPr lang="zh-CN" altLang="en-US" sz="1600" dirty="0" smtClean="0">
                <a:latin typeface="华文仿宋"/>
                <a:ea typeface="华文仿宋"/>
                <a:cs typeface="华文仿宋"/>
              </a:rPr>
              <a:t>在</a:t>
            </a:r>
            <a:r>
              <a:rPr lang="en-US" sz="1600" dirty="0" smtClean="0">
                <a:latin typeface="华文仿宋"/>
                <a:ea typeface="华文仿宋"/>
                <a:cs typeface="华文仿宋"/>
              </a:rPr>
              <a:t>IT</a:t>
            </a:r>
            <a:r>
              <a:rPr lang="zh-CN" altLang="en-US" sz="1600" dirty="0" smtClean="0">
                <a:latin typeface="华文仿宋"/>
                <a:ea typeface="华文仿宋"/>
                <a:cs typeface="华文仿宋"/>
              </a:rPr>
              <a:t>战略层面上要求提供业务集成能力与能力开放，并已开始落地。</a:t>
            </a:r>
            <a:endParaRPr lang="en-US" sz="1600" dirty="0" smtClean="0">
              <a:latin typeface="华文仿宋"/>
              <a:ea typeface="华文仿宋"/>
              <a:cs typeface="华文仿宋"/>
            </a:endParaRPr>
          </a:p>
          <a:p>
            <a:pPr marL="342900" indent="-342900">
              <a:lnSpc>
                <a:spcPct val="125000"/>
              </a:lnSpc>
              <a:buFont typeface="Heiti SC Light"/>
              <a:buChar char="+"/>
            </a:pPr>
            <a:r>
              <a:rPr lang="zh-CN" altLang="en-US" sz="2000" b="1" dirty="0" smtClean="0">
                <a:latin typeface="华文仿宋"/>
                <a:ea typeface="华文仿宋"/>
                <a:cs typeface="华文仿宋"/>
              </a:rPr>
              <a:t>业务加速交付</a:t>
            </a:r>
            <a:endParaRPr lang="en-US" altLang="zh-CN" sz="2000" b="1" dirty="0" smtClean="0">
              <a:latin typeface="华文仿宋"/>
              <a:ea typeface="华文仿宋"/>
              <a:cs typeface="华文仿宋"/>
            </a:endParaRPr>
          </a:p>
          <a:p>
            <a:pPr>
              <a:lnSpc>
                <a:spcPct val="125000"/>
              </a:lnSpc>
            </a:pPr>
            <a:r>
              <a:rPr lang="zh-CN" altLang="en-US" sz="1600" dirty="0">
                <a:latin typeface="华文仿宋"/>
                <a:ea typeface="华文仿宋"/>
                <a:cs typeface="华文仿宋"/>
              </a:rPr>
              <a:t>同业竞争及互联网技术的应用，带来了新的业务创新机遇，改变了企业的</a:t>
            </a:r>
            <a:r>
              <a:rPr lang="en-US" sz="1600" dirty="0">
                <a:latin typeface="华文仿宋"/>
                <a:ea typeface="华文仿宋"/>
                <a:cs typeface="华文仿宋"/>
              </a:rPr>
              <a:t>IT</a:t>
            </a:r>
            <a:r>
              <a:rPr lang="zh-CN" altLang="en-US" sz="1600" dirty="0">
                <a:latin typeface="华文仿宋"/>
                <a:ea typeface="华文仿宋"/>
                <a:cs typeface="华文仿宋"/>
              </a:rPr>
              <a:t>系统建设模式，更加强调业务的快速交付。</a:t>
            </a:r>
            <a:endParaRPr lang="en-US" sz="1600" dirty="0">
              <a:latin typeface="华文仿宋"/>
              <a:ea typeface="华文仿宋"/>
              <a:cs typeface="华文仿宋"/>
            </a:endParaRPr>
          </a:p>
          <a:p>
            <a:pPr lvl="1">
              <a:lnSpc>
                <a:spcPct val="125000"/>
              </a:lnSpc>
            </a:pPr>
            <a:r>
              <a:rPr lang="zh-CN" altLang="en-US" sz="1600" dirty="0" smtClean="0">
                <a:latin typeface="华文仿宋"/>
                <a:ea typeface="华文仿宋"/>
                <a:cs typeface="华文仿宋"/>
              </a:rPr>
              <a:t>根据调查数据显示，业务创新速度提升</a:t>
            </a:r>
            <a:r>
              <a:rPr lang="en-US" sz="1600" dirty="0" smtClean="0">
                <a:latin typeface="华文仿宋"/>
                <a:ea typeface="华文仿宋"/>
                <a:cs typeface="华文仿宋"/>
              </a:rPr>
              <a:t>3-5</a:t>
            </a:r>
            <a:r>
              <a:rPr lang="zh-CN" altLang="en-US" sz="1600" dirty="0" smtClean="0">
                <a:latin typeface="华文仿宋"/>
                <a:ea typeface="华文仿宋"/>
                <a:cs typeface="华文仿宋"/>
              </a:rPr>
              <a:t>倍，由原来的半年变为现在的</a:t>
            </a:r>
            <a:r>
              <a:rPr lang="en-US" sz="1600" dirty="0" smtClean="0">
                <a:latin typeface="华文仿宋"/>
                <a:ea typeface="华文仿宋"/>
                <a:cs typeface="华文仿宋"/>
              </a:rPr>
              <a:t>2</a:t>
            </a:r>
            <a:r>
              <a:rPr lang="zh-CN" altLang="en-US" sz="1600" dirty="0" smtClean="0">
                <a:latin typeface="华文仿宋"/>
                <a:ea typeface="华文仿宋"/>
                <a:cs typeface="华文仿宋"/>
              </a:rPr>
              <a:t>周到</a:t>
            </a:r>
            <a:r>
              <a:rPr lang="en-US" sz="1600" dirty="0" smtClean="0">
                <a:latin typeface="华文仿宋"/>
                <a:ea typeface="华文仿宋"/>
                <a:cs typeface="华文仿宋"/>
              </a:rPr>
              <a:t>2</a:t>
            </a:r>
            <a:r>
              <a:rPr lang="zh-CN" altLang="en-US" sz="1600" dirty="0" smtClean="0">
                <a:latin typeface="华文仿宋"/>
                <a:ea typeface="华文仿宋"/>
                <a:cs typeface="华文仿宋"/>
              </a:rPr>
              <a:t>个月。</a:t>
            </a:r>
          </a:p>
          <a:p>
            <a:pPr lvl="1"/>
            <a:endParaRPr lang="zh-CN" altLang="en-US" dirty="0">
              <a:latin typeface="华文仿宋"/>
              <a:ea typeface="华文仿宋"/>
              <a:cs typeface="华文仿宋"/>
            </a:endParaRPr>
          </a:p>
        </p:txBody>
      </p:sp>
      <p:sp>
        <p:nvSpPr>
          <p:cNvPr id="6" name="内容占位符 14"/>
          <p:cNvSpPr>
            <a:spLocks noGrp="1"/>
          </p:cNvSpPr>
          <p:nvPr>
            <p:ph sz="half" idx="4294967295"/>
          </p:nvPr>
        </p:nvSpPr>
        <p:spPr>
          <a:xfrm>
            <a:off x="5663952" y="3710136"/>
            <a:ext cx="5651921" cy="2383160"/>
          </a:xfrm>
          <a:prstGeom prst="rect">
            <a:avLst/>
          </a:prstGeom>
        </p:spPr>
        <p:txBody>
          <a:bodyPr/>
          <a:lstStyle/>
          <a:p>
            <a:r>
              <a:rPr lang="zh-CN" altLang="en-US" sz="2400" dirty="0" smtClean="0">
                <a:solidFill>
                  <a:srgbClr val="FF0000"/>
                </a:solidFill>
                <a:latin typeface="华文仿宋"/>
                <a:ea typeface="华文仿宋"/>
                <a:cs typeface="华文仿宋"/>
              </a:rPr>
              <a:t>挑战：市场需求与服务产品交付不同步</a:t>
            </a:r>
            <a:endParaRPr lang="en-US" altLang="zh-CN" sz="2400" dirty="0" smtClean="0">
              <a:solidFill>
                <a:srgbClr val="FF0000"/>
              </a:solidFill>
              <a:latin typeface="华文仿宋"/>
              <a:ea typeface="华文仿宋"/>
              <a:cs typeface="华文仿宋"/>
            </a:endParaRPr>
          </a:p>
          <a:p>
            <a:endParaRPr lang="en-US" altLang="zh-CN" sz="2400" b="1" dirty="0" smtClean="0">
              <a:latin typeface="华文仿宋"/>
              <a:ea typeface="华文仿宋"/>
              <a:cs typeface="华文仿宋"/>
            </a:endParaRPr>
          </a:p>
          <a:p>
            <a:pPr marL="342900" indent="-342900">
              <a:buFont typeface="Heiti SC Light"/>
              <a:buChar char="+"/>
            </a:pPr>
            <a:r>
              <a:rPr lang="zh-CN" altLang="en-US" sz="2000" b="1" dirty="0" smtClean="0">
                <a:latin typeface="华文仿宋"/>
                <a:ea typeface="华文仿宋"/>
                <a:cs typeface="华文仿宋"/>
              </a:rPr>
              <a:t>业务流程：</a:t>
            </a:r>
            <a:endParaRPr lang="en-US" altLang="zh-CN" sz="2400" b="1" dirty="0" smtClean="0">
              <a:latin typeface="华文仿宋"/>
              <a:ea typeface="华文仿宋"/>
              <a:cs typeface="华文仿宋"/>
            </a:endParaRPr>
          </a:p>
          <a:p>
            <a:pPr lvl="1"/>
            <a:r>
              <a:rPr lang="zh-CN" altLang="en-US" sz="1600" dirty="0" smtClean="0">
                <a:latin typeface="华文仿宋"/>
                <a:ea typeface="华文仿宋"/>
                <a:cs typeface="华文仿宋"/>
              </a:rPr>
              <a:t>以业务流程为中心，打破原有的部门壁垒、以关键业务活动为主体，实现业务变革</a:t>
            </a:r>
            <a:endParaRPr lang="en-US" altLang="zh-CN" sz="1600" dirty="0" smtClean="0">
              <a:latin typeface="华文仿宋"/>
              <a:ea typeface="华文仿宋"/>
              <a:cs typeface="华文仿宋"/>
            </a:endParaRPr>
          </a:p>
          <a:p>
            <a:pPr lvl="1"/>
            <a:r>
              <a:rPr lang="zh-CN" altLang="en-US" sz="1600" dirty="0" smtClean="0">
                <a:latin typeface="华文仿宋"/>
                <a:ea typeface="华文仿宋"/>
                <a:cs typeface="华文仿宋"/>
              </a:rPr>
              <a:t>流程应可量化可优化</a:t>
            </a:r>
            <a:endParaRPr lang="en-US" altLang="zh-CN" sz="1600" dirty="0" smtClean="0">
              <a:latin typeface="华文仿宋"/>
              <a:ea typeface="华文仿宋"/>
              <a:cs typeface="华文仿宋"/>
            </a:endParaRPr>
          </a:p>
          <a:p>
            <a:pPr lvl="1"/>
            <a:r>
              <a:rPr lang="zh-CN" altLang="en-US" sz="1600" dirty="0" smtClean="0">
                <a:latin typeface="华文仿宋"/>
                <a:ea typeface="华文仿宋"/>
                <a:cs typeface="华文仿宋"/>
              </a:rPr>
              <a:t>基于流程的调整更简单</a:t>
            </a:r>
            <a:endParaRPr lang="en-US" altLang="zh-CN" sz="2000" dirty="0" smtClean="0">
              <a:latin typeface="华文仿宋"/>
              <a:ea typeface="华文仿宋"/>
              <a:cs typeface="华文仿宋"/>
            </a:endParaRPr>
          </a:p>
        </p:txBody>
      </p:sp>
      <p:pic>
        <p:nvPicPr>
          <p:cNvPr id="7" name="Picture 2"/>
          <p:cNvPicPr>
            <a:picLocks noChangeAspect="1" noChangeArrowheads="1"/>
          </p:cNvPicPr>
          <p:nvPr/>
        </p:nvPicPr>
        <p:blipFill>
          <a:blip r:embed="rId3"/>
          <a:srcRect/>
          <a:stretch>
            <a:fillRect/>
          </a:stretch>
        </p:blipFill>
        <p:spPr bwMode="auto">
          <a:xfrm>
            <a:off x="5807968" y="857529"/>
            <a:ext cx="5507905" cy="2816696"/>
          </a:xfrm>
          <a:prstGeom prst="rect">
            <a:avLst/>
          </a:prstGeom>
          <a:noFill/>
          <a:ln w="9525">
            <a:noFill/>
            <a:miter lim="800000"/>
            <a:headEnd/>
            <a:tailEnd/>
          </a:ln>
          <a:effectLst/>
        </p:spPr>
      </p:pic>
    </p:spTree>
    <p:extLst>
      <p:ext uri="{BB962C8B-B14F-4D97-AF65-F5344CB8AC3E}">
        <p14:creationId xmlns:p14="http://schemas.microsoft.com/office/powerpoint/2010/main" val="384289595"/>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3"/>
          <p:cNvSpPr>
            <a:spLocks noChangeArrowheads="1"/>
          </p:cNvSpPr>
          <p:nvPr/>
        </p:nvSpPr>
        <p:spPr bwMode="gray">
          <a:xfrm>
            <a:off x="506450" y="4437112"/>
            <a:ext cx="11279806" cy="1812063"/>
          </a:xfrm>
          <a:prstGeom prst="rect">
            <a:avLst/>
          </a:prstGeom>
          <a:solidFill>
            <a:srgbClr val="FFFFFF"/>
          </a:solidFill>
          <a:ln w="25400" algn="ctr">
            <a:solidFill>
              <a:srgbClr val="60B5CC"/>
            </a:solidFill>
            <a:miter lim="800000"/>
            <a:headEnd/>
            <a:tailEnd/>
          </a:ln>
        </p:spPr>
        <p:txBody>
          <a:bodyPr wrap="none" lIns="72000" tIns="72000" rIns="72000" bIns="72000" anchor="ctr"/>
          <a:lstStyle/>
          <a:p>
            <a:pPr marL="0" marR="0" lvl="0" indent="0" algn="ctr" defTabSz="914400" eaLnBrk="0" fontAlgn="auto" latinLnBrk="0" hangingPunct="0">
              <a:lnSpc>
                <a:spcPct val="100000"/>
              </a:lnSpc>
              <a:spcBef>
                <a:spcPct val="20000"/>
              </a:spcBef>
              <a:spcAft>
                <a:spcPts val="0"/>
              </a:spcAft>
              <a:buClrTx/>
              <a:buSzPct val="100000"/>
              <a:buFont typeface="Wingdings" pitchFamily="2" charset="2"/>
              <a:buNone/>
              <a:tabLst/>
              <a:defRPr/>
            </a:pPr>
            <a:endParaRPr kumimoji="0" lang="zh-CN" altLang="en-US" sz="1400" b="1" i="0" u="none" strike="noStrike" kern="0" cap="none" spc="0" normalizeH="0" baseline="0" noProof="0">
              <a:ln>
                <a:noFill/>
              </a:ln>
              <a:solidFill>
                <a:srgbClr val="000000"/>
              </a:solidFill>
              <a:effectLst/>
              <a:uLnTx/>
              <a:uFillTx/>
              <a:latin typeface="华文细黑" pitchFamily="2" charset="-122"/>
            </a:endParaRPr>
          </a:p>
        </p:txBody>
      </p:sp>
      <p:sp>
        <p:nvSpPr>
          <p:cNvPr id="3" name="标题 2"/>
          <p:cNvSpPr>
            <a:spLocks noGrp="1"/>
          </p:cNvSpPr>
          <p:nvPr>
            <p:ph type="title"/>
          </p:nvPr>
        </p:nvSpPr>
        <p:spPr/>
        <p:txBody>
          <a:bodyPr/>
          <a:lstStyle/>
          <a:p>
            <a:r>
              <a:rPr lang="zh-CN" altLang="en-US" dirty="0" smtClean="0"/>
              <a:t>银行业务流程类应用现状分析</a:t>
            </a:r>
            <a:endParaRPr kumimoji="1" lang="zh-CN" altLang="en-US" dirty="0"/>
          </a:p>
        </p:txBody>
      </p:sp>
      <p:sp>
        <p:nvSpPr>
          <p:cNvPr id="15" name="Rectangle 4"/>
          <p:cNvSpPr>
            <a:spLocks noChangeArrowheads="1"/>
          </p:cNvSpPr>
          <p:nvPr/>
        </p:nvSpPr>
        <p:spPr bwMode="gray">
          <a:xfrm>
            <a:off x="493712" y="4025306"/>
            <a:ext cx="11292544" cy="363537"/>
          </a:xfrm>
          <a:prstGeom prst="rect">
            <a:avLst/>
          </a:prstGeom>
          <a:solidFill>
            <a:srgbClr val="288FC8"/>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45720" rIns="45720" anchor="ctr" anchorCtr="1"/>
          <a:lstStyle/>
          <a:p>
            <a:pPr marL="457200" indent="-457200" defTabSz="155575" eaLnBrk="0" hangingPunct="0"/>
            <a:r>
              <a:rPr lang="zh-CN" altLang="en-US" sz="1600" b="1" dirty="0" smtClean="0">
                <a:solidFill>
                  <a:srgbClr val="FFFFFF"/>
                </a:solidFill>
                <a:latin typeface="华文仿宋"/>
                <a:ea typeface="华文仿宋"/>
                <a:cs typeface="华文仿宋"/>
              </a:rPr>
              <a:t>业务维度存</a:t>
            </a:r>
            <a:r>
              <a:rPr lang="zh-CN" altLang="en-US" sz="1600" b="1" dirty="0">
                <a:solidFill>
                  <a:srgbClr val="FFFFFF"/>
                </a:solidFill>
                <a:latin typeface="华文仿宋"/>
                <a:ea typeface="华文仿宋"/>
                <a:cs typeface="华文仿宋"/>
              </a:rPr>
              <a:t>在</a:t>
            </a:r>
            <a:r>
              <a:rPr lang="zh-CN" altLang="en-US" sz="1600" b="1" dirty="0" smtClean="0">
                <a:solidFill>
                  <a:srgbClr val="FFFFFF"/>
                </a:solidFill>
                <a:latin typeface="华文仿宋"/>
                <a:ea typeface="华文仿宋"/>
                <a:cs typeface="华文仿宋"/>
              </a:rPr>
              <a:t>的主要问</a:t>
            </a:r>
            <a:r>
              <a:rPr lang="zh-CN" altLang="en-US" sz="1600" b="1" dirty="0">
                <a:solidFill>
                  <a:srgbClr val="FFFFFF"/>
                </a:solidFill>
                <a:latin typeface="华文仿宋"/>
                <a:ea typeface="华文仿宋"/>
                <a:cs typeface="华文仿宋"/>
              </a:rPr>
              <a:t>题</a:t>
            </a:r>
          </a:p>
        </p:txBody>
      </p:sp>
      <p:sp>
        <p:nvSpPr>
          <p:cNvPr id="16" name="Text Box 5"/>
          <p:cNvSpPr txBox="1">
            <a:spLocks noChangeArrowheads="1"/>
          </p:cNvSpPr>
          <p:nvPr/>
        </p:nvSpPr>
        <p:spPr bwMode="gray">
          <a:xfrm>
            <a:off x="579439" y="4480916"/>
            <a:ext cx="10989169" cy="156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2000" tIns="72000" rIns="72000" bIns="72000">
            <a:spAutoFit/>
          </a:bodyPr>
          <a:lstStyle>
            <a:lvl1pPr marL="266700" indent="-266700"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对以用户为中心服务的无缝融合支撑不足：</a:t>
            </a:r>
            <a:r>
              <a:rPr lang="zh-CN" altLang="en-US" sz="1400" dirty="0" smtClean="0">
                <a:solidFill>
                  <a:srgbClr val="000000"/>
                </a:solidFill>
                <a:latin typeface="华文仿宋"/>
                <a:ea typeface="华文仿宋"/>
                <a:cs typeface="华文仿宋"/>
              </a:rPr>
              <a:t>随着业务流程在银行应用建设重要性凸显，越来越多的银行客户希望以用户为中心的视角使用现有系统的服务，进行业务融合及创新，并提出了针对现有业务部门服务能力优化的要求。传统的工作流对业务化建模分析、业务创新、业务集成及持续优化的支持不足，无法对客户提供及时快捷的响应。</a:t>
            </a:r>
            <a:endParaRPr lang="zh-CN" altLang="en-US" sz="1400" b="1" dirty="0">
              <a:solidFill>
                <a:srgbClr val="000000"/>
              </a:solidFill>
              <a:latin typeface="华文仿宋"/>
              <a:ea typeface="华文仿宋"/>
              <a:cs typeface="华文仿宋"/>
            </a:endParaRPr>
          </a:p>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业务演进持续发展，业务创新面临支持不足的压力</a:t>
            </a:r>
            <a:r>
              <a:rPr lang="zh-CN" altLang="en-US" sz="1400" dirty="0" smtClean="0">
                <a:solidFill>
                  <a:srgbClr val="000000"/>
                </a:solidFill>
                <a:latin typeface="华文仿宋"/>
                <a:ea typeface="华文仿宋"/>
                <a:cs typeface="华文仿宋"/>
              </a:rPr>
              <a:t>：随着互联网技术和金融消费理念的持续演进和发展，前端对后台</a:t>
            </a:r>
            <a:r>
              <a:rPr lang="en-US" altLang="zh-CN" sz="1400" dirty="0" smtClean="0">
                <a:solidFill>
                  <a:srgbClr val="000000"/>
                </a:solidFill>
                <a:latin typeface="华文仿宋"/>
                <a:ea typeface="华文仿宋"/>
                <a:cs typeface="华文仿宋"/>
              </a:rPr>
              <a:t>IT</a:t>
            </a:r>
            <a:r>
              <a:rPr lang="zh-CN" altLang="en-US" sz="1400" dirty="0" smtClean="0">
                <a:solidFill>
                  <a:srgbClr val="000000"/>
                </a:solidFill>
                <a:latin typeface="华文仿宋"/>
                <a:ea typeface="华文仿宋"/>
                <a:cs typeface="华文仿宋"/>
              </a:rPr>
              <a:t>支撑平台的变更需求越来越多，响应速度要求也越来越高。与现有系统之间的矛盾越来越尖锐。</a:t>
            </a:r>
            <a:endParaRPr lang="en-US" altLang="zh-CN" sz="1400" dirty="0">
              <a:solidFill>
                <a:srgbClr val="000000"/>
              </a:solidFill>
              <a:latin typeface="华文仿宋"/>
              <a:ea typeface="华文仿宋"/>
              <a:cs typeface="华文仿宋"/>
            </a:endParaRPr>
          </a:p>
        </p:txBody>
      </p:sp>
      <p:sp>
        <p:nvSpPr>
          <p:cNvPr id="17" name="云形标注 16"/>
          <p:cNvSpPr/>
          <p:nvPr/>
        </p:nvSpPr>
        <p:spPr bwMode="gray">
          <a:xfrm>
            <a:off x="683568" y="1412779"/>
            <a:ext cx="1935571" cy="1077575"/>
          </a:xfrm>
          <a:prstGeom prst="cloudCallout">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smtClean="0">
                <a:ln>
                  <a:noFill/>
                </a:ln>
                <a:solidFill>
                  <a:sysClr val="windowText" lastClr="000000"/>
                </a:solidFill>
                <a:effectLst/>
                <a:uLnTx/>
                <a:uFillTx/>
                <a:latin typeface="华文仿宋"/>
                <a:ea typeface="华文仿宋"/>
                <a:cs typeface="华文仿宋"/>
              </a:rPr>
              <a:t>全业务</a:t>
            </a:r>
            <a:endParaRPr kumimoji="0" lang="en-US" altLang="zh-CN" sz="2000" b="0" i="0" u="none" strike="noStrike" kern="0" cap="none" spc="0" normalizeH="0" baseline="0" noProof="0" smtClean="0">
              <a:ln>
                <a:noFill/>
              </a:ln>
              <a:solidFill>
                <a:sysClr val="windowText" lastClr="000000"/>
              </a:solidFill>
              <a:effectLst/>
              <a:uLnTx/>
              <a:uFillTx/>
              <a:latin typeface="华文仿宋"/>
              <a:ea typeface="华文仿宋"/>
              <a:cs typeface="华文仿宋"/>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a:ln>
                  <a:noFill/>
                </a:ln>
                <a:solidFill>
                  <a:sysClr val="windowText" lastClr="000000"/>
                </a:solidFill>
                <a:effectLst/>
                <a:uLnTx/>
                <a:uFillTx/>
                <a:latin typeface="华文仿宋"/>
                <a:ea typeface="华文仿宋"/>
                <a:cs typeface="华文仿宋"/>
              </a:rPr>
              <a:t>运营</a:t>
            </a:r>
            <a:endParaRPr kumimoji="0" lang="en-US" altLang="zh-CN" sz="2000" b="0" i="0" u="none" strike="noStrike" kern="0" cap="none" spc="0" normalizeH="0" baseline="0" noProof="0" smtClean="0">
              <a:ln>
                <a:noFill/>
              </a:ln>
              <a:solidFill>
                <a:sysClr val="windowText" lastClr="000000"/>
              </a:solidFill>
              <a:effectLst/>
              <a:uLnTx/>
              <a:uFillTx/>
              <a:latin typeface="华文仿宋"/>
              <a:ea typeface="华文仿宋"/>
              <a:cs typeface="华文仿宋"/>
            </a:endParaRPr>
          </a:p>
        </p:txBody>
      </p:sp>
      <p:sp>
        <p:nvSpPr>
          <p:cNvPr id="18" name="云形标注 17"/>
          <p:cNvSpPr/>
          <p:nvPr/>
        </p:nvSpPr>
        <p:spPr bwMode="gray">
          <a:xfrm>
            <a:off x="5009964" y="1412778"/>
            <a:ext cx="1935571" cy="1077575"/>
          </a:xfrm>
          <a:prstGeom prst="cloudCallout">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sysClr val="windowText" lastClr="000000"/>
                </a:solidFill>
                <a:effectLst/>
                <a:uLnTx/>
                <a:uFillTx/>
                <a:latin typeface="华文仿宋"/>
                <a:ea typeface="华文仿宋"/>
                <a:cs typeface="华文仿宋"/>
              </a:rPr>
              <a:t>以用户</a:t>
            </a:r>
            <a:endParaRPr kumimoji="0" lang="en-US" altLang="zh-CN" sz="2000" b="0" i="0" u="none" strike="noStrike" kern="0" cap="none" spc="0" normalizeH="0" baseline="0" noProof="0" dirty="0" smtClean="0">
              <a:ln>
                <a:noFill/>
              </a:ln>
              <a:solidFill>
                <a:sysClr val="windowText" lastClr="000000"/>
              </a:solidFill>
              <a:effectLst/>
              <a:uLnTx/>
              <a:uFillTx/>
              <a:latin typeface="华文仿宋"/>
              <a:ea typeface="华文仿宋"/>
              <a:cs typeface="华文仿宋"/>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sysClr val="windowText" lastClr="000000"/>
                </a:solidFill>
                <a:effectLst/>
                <a:uLnTx/>
                <a:uFillTx/>
                <a:latin typeface="华文仿宋"/>
                <a:ea typeface="华文仿宋"/>
                <a:cs typeface="华文仿宋"/>
              </a:rPr>
              <a:t>为中心</a:t>
            </a:r>
            <a:endParaRPr kumimoji="0" lang="en-US" altLang="zh-CN" sz="2000" b="0" i="0" u="none" strike="noStrike" kern="0" cap="none" spc="0" normalizeH="0" baseline="0" noProof="0" dirty="0" smtClean="0">
              <a:ln>
                <a:noFill/>
              </a:ln>
              <a:solidFill>
                <a:sysClr val="windowText" lastClr="000000"/>
              </a:solidFill>
              <a:effectLst/>
              <a:uLnTx/>
              <a:uFillTx/>
              <a:latin typeface="华文仿宋"/>
              <a:ea typeface="华文仿宋"/>
              <a:cs typeface="华文仿宋"/>
            </a:endParaRPr>
          </a:p>
        </p:txBody>
      </p:sp>
      <p:sp>
        <p:nvSpPr>
          <p:cNvPr id="19" name="云形标注 18"/>
          <p:cNvSpPr/>
          <p:nvPr/>
        </p:nvSpPr>
        <p:spPr bwMode="gray">
          <a:xfrm>
            <a:off x="9336360" y="1412780"/>
            <a:ext cx="1935571" cy="1077575"/>
          </a:xfrm>
          <a:prstGeom prst="cloudCallout">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smtClean="0">
                <a:ln>
                  <a:noFill/>
                </a:ln>
                <a:solidFill>
                  <a:sysClr val="windowText" lastClr="000000"/>
                </a:solidFill>
                <a:effectLst/>
                <a:uLnTx/>
                <a:uFillTx/>
                <a:latin typeface="华文仿宋"/>
                <a:ea typeface="华文仿宋"/>
                <a:cs typeface="华文仿宋"/>
              </a:rPr>
              <a:t>无缝</a:t>
            </a:r>
            <a:endParaRPr kumimoji="0" lang="en-US" altLang="zh-CN" sz="2000" b="0" i="0" u="none" strike="noStrike" kern="0" cap="none" spc="0" normalizeH="0" baseline="0" noProof="0" smtClean="0">
              <a:ln>
                <a:noFill/>
              </a:ln>
              <a:solidFill>
                <a:sysClr val="windowText" lastClr="000000"/>
              </a:solidFill>
              <a:effectLst/>
              <a:uLnTx/>
              <a:uFillTx/>
              <a:latin typeface="华文仿宋"/>
              <a:ea typeface="华文仿宋"/>
              <a:cs typeface="华文仿宋"/>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smtClean="0">
                <a:ln>
                  <a:noFill/>
                </a:ln>
                <a:solidFill>
                  <a:sysClr val="windowText" lastClr="000000"/>
                </a:solidFill>
                <a:effectLst/>
                <a:uLnTx/>
                <a:uFillTx/>
                <a:latin typeface="华文仿宋"/>
                <a:ea typeface="华文仿宋"/>
                <a:cs typeface="华文仿宋"/>
              </a:rPr>
              <a:t>融合</a:t>
            </a:r>
            <a:endParaRPr kumimoji="0" lang="en-US" altLang="zh-CN" sz="2000" b="0" i="0" u="none" strike="noStrike" kern="0" cap="none" spc="0" normalizeH="0" baseline="0" noProof="0" smtClean="0">
              <a:ln>
                <a:noFill/>
              </a:ln>
              <a:solidFill>
                <a:sysClr val="windowText" lastClr="000000"/>
              </a:solidFill>
              <a:effectLst/>
              <a:uLnTx/>
              <a:uFillTx/>
              <a:latin typeface="华文仿宋"/>
              <a:ea typeface="华文仿宋"/>
              <a:cs typeface="华文仿宋"/>
            </a:endParaRPr>
          </a:p>
        </p:txBody>
      </p:sp>
      <p:sp>
        <p:nvSpPr>
          <p:cNvPr id="20" name="圆角矩形 19"/>
          <p:cNvSpPr/>
          <p:nvPr/>
        </p:nvSpPr>
        <p:spPr bwMode="gray">
          <a:xfrm>
            <a:off x="493712" y="2851665"/>
            <a:ext cx="11292544" cy="408623"/>
          </a:xfrm>
          <a:prstGeom prst="roundRect">
            <a:avLst/>
          </a:prstGeom>
          <a:solidFill>
            <a:srgbClr val="F0AD00">
              <a:lumMod val="90000"/>
            </a:srgbClr>
          </a:solidFill>
          <a:ln w="38100" algn="ctr">
            <a:noFill/>
            <a:round/>
            <a:headEnd/>
            <a:tailEnd/>
          </a:ln>
          <a:effectLst/>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smtClean="0">
                <a:ln>
                  <a:noFill/>
                </a:ln>
                <a:solidFill>
                  <a:srgbClr val="000000"/>
                </a:solidFill>
                <a:effectLst/>
                <a:uLnTx/>
                <a:uFillTx/>
                <a:latin typeface="华文仿宋"/>
                <a:ea typeface="华文仿宋"/>
                <a:cs typeface="华文仿宋"/>
              </a:rPr>
              <a:t>银行业的领军者已开始基于上述要素开始了流程银行的全局规划和尝试性建设</a:t>
            </a:r>
            <a:endParaRPr kumimoji="0" lang="zh-CN" altLang="en-US" sz="18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21" name="下箭头 20"/>
          <p:cNvSpPr/>
          <p:nvPr/>
        </p:nvSpPr>
        <p:spPr bwMode="gray">
          <a:xfrm>
            <a:off x="5031466" y="3423692"/>
            <a:ext cx="2072952" cy="490776"/>
          </a:xfrm>
          <a:prstGeom prst="downArrow">
            <a:avLst/>
          </a:prstGeom>
          <a:solidFill>
            <a:srgbClr val="FF9900"/>
          </a:solidFill>
          <a:ln w="38100" algn="ctr">
            <a:noFill/>
            <a:round/>
            <a:headEnd/>
            <a:tailEnd/>
          </a:ln>
          <a:effectLst/>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Tree>
    <p:extLst>
      <p:ext uri="{BB962C8B-B14F-4D97-AF65-F5344CB8AC3E}">
        <p14:creationId xmlns:p14="http://schemas.microsoft.com/office/powerpoint/2010/main" val="3788481487"/>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银行业务流程类应用现状分析</a:t>
            </a:r>
            <a:endParaRPr kumimoji="1" lang="zh-CN" altLang="en-US" dirty="0"/>
          </a:p>
        </p:txBody>
      </p:sp>
      <p:pic>
        <p:nvPicPr>
          <p:cNvPr id="82" name="Rectangle 1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1392" y="1700506"/>
            <a:ext cx="286385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Rectangle 10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0198" y="1461296"/>
            <a:ext cx="29146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7"/>
          <p:cNvSpPr>
            <a:spLocks noChangeArrowheads="1"/>
          </p:cNvSpPr>
          <p:nvPr/>
        </p:nvSpPr>
        <p:spPr bwMode="gray">
          <a:xfrm>
            <a:off x="493714" y="1281909"/>
            <a:ext cx="11290917" cy="3108325"/>
          </a:xfrm>
          <a:prstGeom prst="rect">
            <a:avLst/>
          </a:prstGeom>
          <a:noFill/>
          <a:ln w="19050" algn="ctr">
            <a:solidFill>
              <a:srgbClr val="168BBA"/>
            </a:solidFill>
            <a:miter lim="800000"/>
            <a:headEnd/>
            <a:tailEnd/>
          </a:ln>
          <a:extLst>
            <a:ext uri="{909E8E84-426E-40dd-AFC4-6F175D3DCCD1}">
              <a14:hiddenFill xmlns:a14="http://schemas.microsoft.com/office/drawing/2010/main">
                <a:solidFill>
                  <a:srgbClr val="FFFFFF"/>
                </a:solidFill>
              </a14:hiddenFill>
            </a:ext>
          </a:extLst>
        </p:spPr>
        <p:txBody>
          <a:bodyPr wrap="none" tIns="0" rIns="0" bIns="0" anchor="ctr"/>
          <a:lstStyle/>
          <a:p>
            <a:pPr marL="0" marR="0" lvl="0" indent="0" algn="ctr" defTabSz="914400" eaLnBrk="0" fontAlgn="auto" latinLnBrk="0" hangingPunct="0">
              <a:lnSpc>
                <a:spcPct val="100000"/>
              </a:lnSpc>
              <a:spcBef>
                <a:spcPct val="20000"/>
              </a:spcBef>
              <a:spcAft>
                <a:spcPts val="0"/>
              </a:spcAft>
              <a:buClrTx/>
              <a:buSzPct val="100000"/>
              <a:buFont typeface="Wingdings" pitchFamily="2" charset="2"/>
              <a:buNone/>
              <a:tabLst/>
              <a:defRPr/>
            </a:pPr>
            <a:endParaRPr kumimoji="0" lang="zh-CN" altLang="en-US" sz="1400" b="1" i="0" u="none" strike="noStrike" kern="0" cap="none" spc="0" normalizeH="0" baseline="0" noProof="0">
              <a:ln>
                <a:noFill/>
              </a:ln>
              <a:solidFill>
                <a:srgbClr val="000000"/>
              </a:solidFill>
              <a:effectLst/>
              <a:uLnTx/>
              <a:uFillTx/>
              <a:latin typeface="华文细黑" pitchFamily="2" charset="-122"/>
            </a:endParaRPr>
          </a:p>
        </p:txBody>
      </p:sp>
      <p:sp>
        <p:nvSpPr>
          <p:cNvPr id="85" name="Rectangle 8"/>
          <p:cNvSpPr>
            <a:spLocks noChangeArrowheads="1"/>
          </p:cNvSpPr>
          <p:nvPr/>
        </p:nvSpPr>
        <p:spPr bwMode="gray">
          <a:xfrm>
            <a:off x="650876" y="1124744"/>
            <a:ext cx="1104900" cy="363538"/>
          </a:xfrm>
          <a:prstGeom prst="rect">
            <a:avLst/>
          </a:prstGeom>
          <a:solidFill>
            <a:srgbClr val="288FC8"/>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45720" rIns="45720" anchor="ctr"/>
          <a:lstStyle/>
          <a:p>
            <a:pPr algn="ctr" defTabSz="155575" eaLnBrk="0" hangingPunct="0"/>
            <a:r>
              <a:rPr lang="zh-CN" altLang="en-US" sz="1400" b="1">
                <a:solidFill>
                  <a:srgbClr val="FFFFFF"/>
                </a:solidFill>
                <a:latin typeface="华文仿宋"/>
                <a:ea typeface="华文仿宋"/>
                <a:cs typeface="华文仿宋"/>
              </a:rPr>
              <a:t>现状</a:t>
            </a:r>
            <a:r>
              <a:rPr lang="zh-CN" altLang="en-GB" sz="1400" b="1" smtClean="0">
                <a:solidFill>
                  <a:srgbClr val="FFFFFF"/>
                </a:solidFill>
                <a:latin typeface="华文仿宋"/>
                <a:ea typeface="华文仿宋"/>
                <a:cs typeface="华文仿宋"/>
              </a:rPr>
              <a:t>举例</a:t>
            </a:r>
            <a:endParaRPr lang="zh-CN" altLang="en-GB" sz="1400" b="1">
              <a:solidFill>
                <a:srgbClr val="FFFFFF"/>
              </a:solidFill>
              <a:latin typeface="华文仿宋"/>
              <a:ea typeface="华文仿宋"/>
              <a:cs typeface="华文仿宋"/>
            </a:endParaRPr>
          </a:p>
        </p:txBody>
      </p:sp>
      <p:sp>
        <p:nvSpPr>
          <p:cNvPr id="86" name="Rectangle 60"/>
          <p:cNvSpPr>
            <a:spLocks noChangeAspect="1" noChangeArrowheads="1"/>
          </p:cNvSpPr>
          <p:nvPr/>
        </p:nvSpPr>
        <p:spPr bwMode="auto">
          <a:xfrm rot="16200000">
            <a:off x="7363867" y="2229144"/>
            <a:ext cx="257175" cy="257175"/>
          </a:xfrm>
          <a:prstGeom prst="rect">
            <a:avLst/>
          </a:prstGeom>
          <a:gradFill rotWithShape="0">
            <a:gsLst>
              <a:gs pos="0">
                <a:srgbClr val="CC0000"/>
              </a:gs>
              <a:gs pos="100000">
                <a:srgbClr val="8000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87" name="Rectangle 61"/>
          <p:cNvSpPr>
            <a:spLocks noChangeAspect="1" noChangeArrowheads="1"/>
          </p:cNvSpPr>
          <p:nvPr/>
        </p:nvSpPr>
        <p:spPr bwMode="auto">
          <a:xfrm rot="16200000">
            <a:off x="8978355" y="2229144"/>
            <a:ext cx="257175"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88" name="Rectangle 153"/>
          <p:cNvSpPr>
            <a:spLocks noChangeAspect="1" noChangeArrowheads="1"/>
          </p:cNvSpPr>
          <p:nvPr/>
        </p:nvSpPr>
        <p:spPr bwMode="auto">
          <a:xfrm rot="16200000">
            <a:off x="6825705" y="2229144"/>
            <a:ext cx="257175"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89" name="Rectangle 157"/>
          <p:cNvSpPr>
            <a:spLocks noChangeAspect="1" noChangeArrowheads="1"/>
          </p:cNvSpPr>
          <p:nvPr/>
        </p:nvSpPr>
        <p:spPr bwMode="auto">
          <a:xfrm rot="16200000">
            <a:off x="8440192" y="2229144"/>
            <a:ext cx="257175" cy="257175"/>
          </a:xfrm>
          <a:prstGeom prst="rect">
            <a:avLst/>
          </a:prstGeom>
          <a:gradFill rotWithShape="0">
            <a:gsLst>
              <a:gs pos="0">
                <a:srgbClr val="CC0000"/>
              </a:gs>
              <a:gs pos="100000">
                <a:srgbClr val="8000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90" name="Rectangle 158"/>
          <p:cNvSpPr>
            <a:spLocks noChangeAspect="1" noChangeArrowheads="1"/>
          </p:cNvSpPr>
          <p:nvPr/>
        </p:nvSpPr>
        <p:spPr bwMode="auto">
          <a:xfrm rot="16200000">
            <a:off x="7902030" y="2229144"/>
            <a:ext cx="257175"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pic>
        <p:nvPicPr>
          <p:cNvPr id="91"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5274" y="339486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Rectangle 56"/>
          <p:cNvSpPr>
            <a:spLocks noChangeAspect="1" noChangeArrowheads="1"/>
          </p:cNvSpPr>
          <p:nvPr/>
        </p:nvSpPr>
        <p:spPr bwMode="auto">
          <a:xfrm rot="16200000">
            <a:off x="3242793" y="3532190"/>
            <a:ext cx="255587"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93" name="TextBox 51"/>
          <p:cNvSpPr txBox="1">
            <a:spLocks noChangeArrowheads="1"/>
          </p:cNvSpPr>
          <p:nvPr/>
        </p:nvSpPr>
        <p:spPr bwMode="auto">
          <a:xfrm>
            <a:off x="2913385" y="3836194"/>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zh-CN" altLang="en-US" sz="1400" b="1" dirty="0">
                <a:solidFill>
                  <a:srgbClr val="000000"/>
                </a:solidFill>
                <a:latin typeface="华文仿宋"/>
                <a:ea typeface="华文仿宋"/>
                <a:cs typeface="华文仿宋"/>
              </a:rPr>
              <a:t>信贷</a:t>
            </a:r>
            <a:endParaRPr lang="en-US" altLang="zh-CN" sz="1400" b="1" dirty="0">
              <a:solidFill>
                <a:srgbClr val="000000"/>
              </a:solidFill>
              <a:latin typeface="华文仿宋"/>
              <a:ea typeface="华文仿宋"/>
              <a:cs typeface="华文仿宋"/>
            </a:endParaRPr>
          </a:p>
        </p:txBody>
      </p:sp>
      <p:pic>
        <p:nvPicPr>
          <p:cNvPr id="94"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5224" y="339486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Rectangle 54"/>
          <p:cNvSpPr>
            <a:spLocks noChangeAspect="1" noChangeArrowheads="1"/>
          </p:cNvSpPr>
          <p:nvPr/>
        </p:nvSpPr>
        <p:spPr bwMode="auto">
          <a:xfrm rot="16200000">
            <a:off x="4113536" y="3532981"/>
            <a:ext cx="254000" cy="257175"/>
          </a:xfrm>
          <a:prstGeom prst="rect">
            <a:avLst/>
          </a:prstGeom>
          <a:gradFill rotWithShape="0">
            <a:gsLst>
              <a:gs pos="0">
                <a:srgbClr val="CC0000"/>
              </a:gs>
              <a:gs pos="100000">
                <a:srgbClr val="800000"/>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96" name="TextBox 52"/>
          <p:cNvSpPr txBox="1">
            <a:spLocks noChangeArrowheads="1"/>
          </p:cNvSpPr>
          <p:nvPr/>
        </p:nvSpPr>
        <p:spPr bwMode="auto">
          <a:xfrm>
            <a:off x="3783335" y="3836194"/>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en-US" altLang="zh-CN" sz="1400" b="1" dirty="0" smtClean="0">
                <a:solidFill>
                  <a:srgbClr val="000000"/>
                </a:solidFill>
                <a:latin typeface="华文仿宋"/>
                <a:ea typeface="华文仿宋"/>
                <a:cs typeface="华文仿宋"/>
              </a:rPr>
              <a:t>CRM</a:t>
            </a:r>
            <a:endParaRPr lang="en-US" altLang="zh-CN" sz="1400" b="1" dirty="0">
              <a:solidFill>
                <a:srgbClr val="000000"/>
              </a:solidFill>
              <a:latin typeface="华文仿宋"/>
              <a:ea typeface="华文仿宋"/>
              <a:cs typeface="华文仿宋"/>
            </a:endParaRPr>
          </a:p>
        </p:txBody>
      </p:sp>
      <p:pic>
        <p:nvPicPr>
          <p:cNvPr id="97"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5174" y="339486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Rectangle 149"/>
          <p:cNvSpPr>
            <a:spLocks noChangeAspect="1" noChangeArrowheads="1"/>
          </p:cNvSpPr>
          <p:nvPr/>
        </p:nvSpPr>
        <p:spPr bwMode="auto">
          <a:xfrm rot="16200000">
            <a:off x="4982693" y="3532190"/>
            <a:ext cx="255587"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99" name="TextBox 53"/>
          <p:cNvSpPr txBox="1">
            <a:spLocks noChangeArrowheads="1"/>
          </p:cNvSpPr>
          <p:nvPr/>
        </p:nvSpPr>
        <p:spPr bwMode="auto">
          <a:xfrm>
            <a:off x="4654873" y="3836194"/>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en-US" altLang="zh-CN" sz="1400" b="1" dirty="0" smtClean="0">
                <a:solidFill>
                  <a:srgbClr val="000000"/>
                </a:solidFill>
                <a:latin typeface="华文仿宋"/>
                <a:ea typeface="华文仿宋"/>
                <a:cs typeface="华文仿宋"/>
              </a:rPr>
              <a:t>…</a:t>
            </a:r>
            <a:endParaRPr lang="en-US" altLang="zh-CN" sz="1400" b="1" dirty="0">
              <a:solidFill>
                <a:srgbClr val="000000"/>
              </a:solidFill>
              <a:latin typeface="华文仿宋"/>
              <a:ea typeface="华文仿宋"/>
              <a:cs typeface="华文仿宋"/>
            </a:endParaRPr>
          </a:p>
        </p:txBody>
      </p:sp>
      <p:pic>
        <p:nvPicPr>
          <p:cNvPr id="100" name="Picture 152" descr="division"/>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1010" y="1794669"/>
            <a:ext cx="83185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Rectangle 153"/>
          <p:cNvSpPr>
            <a:spLocks noChangeAspect="1" noChangeArrowheads="1"/>
          </p:cNvSpPr>
          <p:nvPr/>
        </p:nvSpPr>
        <p:spPr bwMode="auto">
          <a:xfrm rot="16200000">
            <a:off x="3248349" y="1994696"/>
            <a:ext cx="257175"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02" name="Rectangle 153"/>
          <p:cNvSpPr>
            <a:spLocks noChangeAspect="1" noChangeArrowheads="1"/>
          </p:cNvSpPr>
          <p:nvPr/>
        </p:nvSpPr>
        <p:spPr bwMode="auto">
          <a:xfrm rot="16200000">
            <a:off x="3248349" y="2375696"/>
            <a:ext cx="257175"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03" name="Rectangle 153"/>
          <p:cNvSpPr>
            <a:spLocks noChangeAspect="1" noChangeArrowheads="1"/>
          </p:cNvSpPr>
          <p:nvPr/>
        </p:nvSpPr>
        <p:spPr bwMode="auto">
          <a:xfrm rot="16200000">
            <a:off x="3248349" y="2790034"/>
            <a:ext cx="257175"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pic>
        <p:nvPicPr>
          <p:cNvPr id="104" name="Picture 152" descr="division"/>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9373" y="1794669"/>
            <a:ext cx="830262"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Rectangle 60"/>
          <p:cNvSpPr>
            <a:spLocks noChangeAspect="1" noChangeArrowheads="1"/>
          </p:cNvSpPr>
          <p:nvPr/>
        </p:nvSpPr>
        <p:spPr bwMode="auto">
          <a:xfrm rot="16200000">
            <a:off x="4116711" y="1994696"/>
            <a:ext cx="257175" cy="257175"/>
          </a:xfrm>
          <a:prstGeom prst="rect">
            <a:avLst/>
          </a:prstGeom>
          <a:gradFill rotWithShape="0">
            <a:gsLst>
              <a:gs pos="0">
                <a:srgbClr val="CC0000"/>
              </a:gs>
              <a:gs pos="100000">
                <a:srgbClr val="8000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06" name="Rectangle 60"/>
          <p:cNvSpPr>
            <a:spLocks noChangeAspect="1" noChangeArrowheads="1"/>
          </p:cNvSpPr>
          <p:nvPr/>
        </p:nvSpPr>
        <p:spPr bwMode="auto">
          <a:xfrm rot="16200000">
            <a:off x="4116711" y="2375696"/>
            <a:ext cx="257175" cy="257175"/>
          </a:xfrm>
          <a:prstGeom prst="rect">
            <a:avLst/>
          </a:prstGeom>
          <a:gradFill rotWithShape="0">
            <a:gsLst>
              <a:gs pos="0">
                <a:srgbClr val="CC0000"/>
              </a:gs>
              <a:gs pos="100000">
                <a:srgbClr val="8000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07" name="Rectangle 60"/>
          <p:cNvSpPr>
            <a:spLocks noChangeAspect="1" noChangeArrowheads="1"/>
          </p:cNvSpPr>
          <p:nvPr/>
        </p:nvSpPr>
        <p:spPr bwMode="auto">
          <a:xfrm rot="16200000">
            <a:off x="4116711" y="2790034"/>
            <a:ext cx="257175" cy="257175"/>
          </a:xfrm>
          <a:prstGeom prst="rect">
            <a:avLst/>
          </a:prstGeom>
          <a:gradFill rotWithShape="0">
            <a:gsLst>
              <a:gs pos="0">
                <a:srgbClr val="CC0000"/>
              </a:gs>
              <a:gs pos="100000">
                <a:srgbClr val="8000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pic>
        <p:nvPicPr>
          <p:cNvPr id="108" name="Picture 152" descr="division"/>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5198" y="1794669"/>
            <a:ext cx="830262"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Rectangle 61"/>
          <p:cNvSpPr>
            <a:spLocks noChangeAspect="1" noChangeArrowheads="1"/>
          </p:cNvSpPr>
          <p:nvPr/>
        </p:nvSpPr>
        <p:spPr bwMode="auto">
          <a:xfrm rot="16200000">
            <a:off x="5002536" y="1994696"/>
            <a:ext cx="257175"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10" name="Rectangle 61"/>
          <p:cNvSpPr>
            <a:spLocks noChangeAspect="1" noChangeArrowheads="1"/>
          </p:cNvSpPr>
          <p:nvPr/>
        </p:nvSpPr>
        <p:spPr bwMode="auto">
          <a:xfrm rot="16200000">
            <a:off x="5002536" y="2375696"/>
            <a:ext cx="257175"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11" name="Rectangle 61"/>
          <p:cNvSpPr>
            <a:spLocks noChangeAspect="1" noChangeArrowheads="1"/>
          </p:cNvSpPr>
          <p:nvPr/>
        </p:nvSpPr>
        <p:spPr bwMode="auto">
          <a:xfrm rot="16200000">
            <a:off x="5002536" y="2790034"/>
            <a:ext cx="257175"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cxnSp>
        <p:nvCxnSpPr>
          <p:cNvPr id="112" name="Straight Connector 86"/>
          <p:cNvCxnSpPr>
            <a:stCxn id="101" idx="1"/>
            <a:endCxn id="102" idx="3"/>
          </p:cNvCxnSpPr>
          <p:nvPr/>
        </p:nvCxnSpPr>
        <p:spPr>
          <a:xfrm rot="5400000">
            <a:off x="3315023" y="2313782"/>
            <a:ext cx="123825" cy="0"/>
          </a:xfrm>
          <a:prstGeom prst="line">
            <a:avLst/>
          </a:prstGeom>
          <a:noFill/>
          <a:ln w="12700" cap="flat" cmpd="sng" algn="ctr">
            <a:solidFill>
              <a:srgbClr val="000000"/>
            </a:solidFill>
            <a:prstDash val="solid"/>
          </a:ln>
          <a:effectLst/>
        </p:spPr>
      </p:cxnSp>
      <p:cxnSp>
        <p:nvCxnSpPr>
          <p:cNvPr id="113" name="Straight Connector 88"/>
          <p:cNvCxnSpPr>
            <a:stCxn id="102" idx="1"/>
            <a:endCxn id="103" idx="3"/>
          </p:cNvCxnSpPr>
          <p:nvPr/>
        </p:nvCxnSpPr>
        <p:spPr>
          <a:xfrm rot="5400000">
            <a:off x="3298354" y="2711451"/>
            <a:ext cx="157163" cy="0"/>
          </a:xfrm>
          <a:prstGeom prst="line">
            <a:avLst/>
          </a:prstGeom>
          <a:noFill/>
          <a:ln w="12700" cap="flat" cmpd="sng" algn="ctr">
            <a:solidFill>
              <a:srgbClr val="000000"/>
            </a:solidFill>
            <a:prstDash val="solid"/>
          </a:ln>
          <a:effectLst/>
        </p:spPr>
      </p:cxnSp>
      <p:cxnSp>
        <p:nvCxnSpPr>
          <p:cNvPr id="114" name="Straight Connector 93"/>
          <p:cNvCxnSpPr/>
          <p:nvPr/>
        </p:nvCxnSpPr>
        <p:spPr>
          <a:xfrm rot="5400000" flipH="1" flipV="1">
            <a:off x="3199135" y="3328195"/>
            <a:ext cx="349250" cy="6350"/>
          </a:xfrm>
          <a:prstGeom prst="line">
            <a:avLst/>
          </a:prstGeom>
          <a:noFill/>
          <a:ln w="12700" cap="flat" cmpd="sng" algn="ctr">
            <a:solidFill>
              <a:srgbClr val="000000"/>
            </a:solidFill>
            <a:prstDash val="solid"/>
          </a:ln>
          <a:effectLst/>
        </p:spPr>
      </p:cxnSp>
      <p:cxnSp>
        <p:nvCxnSpPr>
          <p:cNvPr id="115" name="Straight Connector 94"/>
          <p:cNvCxnSpPr>
            <a:stCxn id="106" idx="3"/>
            <a:endCxn id="105" idx="1"/>
          </p:cNvCxnSpPr>
          <p:nvPr/>
        </p:nvCxnSpPr>
        <p:spPr>
          <a:xfrm rot="5400000" flipH="1" flipV="1">
            <a:off x="4183386" y="2313782"/>
            <a:ext cx="123825" cy="0"/>
          </a:xfrm>
          <a:prstGeom prst="line">
            <a:avLst/>
          </a:prstGeom>
          <a:noFill/>
          <a:ln w="12700" cap="flat" cmpd="sng" algn="ctr">
            <a:solidFill>
              <a:srgbClr val="000000"/>
            </a:solidFill>
            <a:prstDash val="solid"/>
          </a:ln>
          <a:effectLst/>
        </p:spPr>
      </p:cxnSp>
      <p:cxnSp>
        <p:nvCxnSpPr>
          <p:cNvPr id="116" name="Straight Connector 95"/>
          <p:cNvCxnSpPr>
            <a:stCxn id="106" idx="1"/>
            <a:endCxn id="107" idx="3"/>
          </p:cNvCxnSpPr>
          <p:nvPr/>
        </p:nvCxnSpPr>
        <p:spPr>
          <a:xfrm rot="5400000">
            <a:off x="4166717" y="2711451"/>
            <a:ext cx="157163" cy="0"/>
          </a:xfrm>
          <a:prstGeom prst="line">
            <a:avLst/>
          </a:prstGeom>
          <a:noFill/>
          <a:ln w="12700" cap="flat" cmpd="sng" algn="ctr">
            <a:solidFill>
              <a:srgbClr val="000000"/>
            </a:solidFill>
            <a:prstDash val="solid"/>
          </a:ln>
          <a:effectLst/>
        </p:spPr>
      </p:cxnSp>
      <p:cxnSp>
        <p:nvCxnSpPr>
          <p:cNvPr id="117" name="Straight Connector 96"/>
          <p:cNvCxnSpPr/>
          <p:nvPr/>
        </p:nvCxnSpPr>
        <p:spPr>
          <a:xfrm rot="5400000" flipH="1" flipV="1">
            <a:off x="4072260" y="3328195"/>
            <a:ext cx="349250" cy="6350"/>
          </a:xfrm>
          <a:prstGeom prst="line">
            <a:avLst/>
          </a:prstGeom>
          <a:noFill/>
          <a:ln w="12700" cap="flat" cmpd="sng" algn="ctr">
            <a:solidFill>
              <a:srgbClr val="000000"/>
            </a:solidFill>
            <a:prstDash val="solid"/>
          </a:ln>
          <a:effectLst/>
        </p:spPr>
      </p:cxnSp>
      <p:cxnSp>
        <p:nvCxnSpPr>
          <p:cNvPr id="118" name="Straight Connector 97"/>
          <p:cNvCxnSpPr>
            <a:stCxn id="110" idx="3"/>
            <a:endCxn id="109" idx="1"/>
          </p:cNvCxnSpPr>
          <p:nvPr/>
        </p:nvCxnSpPr>
        <p:spPr>
          <a:xfrm rot="5400000" flipH="1" flipV="1">
            <a:off x="5069211" y="2313782"/>
            <a:ext cx="123825" cy="0"/>
          </a:xfrm>
          <a:prstGeom prst="line">
            <a:avLst/>
          </a:prstGeom>
          <a:noFill/>
          <a:ln w="12700" cap="flat" cmpd="sng" algn="ctr">
            <a:solidFill>
              <a:srgbClr val="000000"/>
            </a:solidFill>
            <a:prstDash val="solid"/>
          </a:ln>
          <a:effectLst/>
        </p:spPr>
      </p:cxnSp>
      <p:cxnSp>
        <p:nvCxnSpPr>
          <p:cNvPr id="119" name="Straight Connector 98"/>
          <p:cNvCxnSpPr>
            <a:stCxn id="110" idx="1"/>
            <a:endCxn id="111" idx="3"/>
          </p:cNvCxnSpPr>
          <p:nvPr/>
        </p:nvCxnSpPr>
        <p:spPr>
          <a:xfrm rot="5400000">
            <a:off x="5052542" y="2711451"/>
            <a:ext cx="157163" cy="0"/>
          </a:xfrm>
          <a:prstGeom prst="line">
            <a:avLst/>
          </a:prstGeom>
          <a:noFill/>
          <a:ln w="12700" cap="flat" cmpd="sng" algn="ctr">
            <a:solidFill>
              <a:srgbClr val="000000"/>
            </a:solidFill>
            <a:prstDash val="solid"/>
          </a:ln>
          <a:effectLst/>
        </p:spPr>
      </p:cxnSp>
      <p:cxnSp>
        <p:nvCxnSpPr>
          <p:cNvPr id="120" name="Straight Connector 99"/>
          <p:cNvCxnSpPr/>
          <p:nvPr/>
        </p:nvCxnSpPr>
        <p:spPr>
          <a:xfrm rot="5400000" flipH="1" flipV="1">
            <a:off x="4948560" y="3328195"/>
            <a:ext cx="349250" cy="6350"/>
          </a:xfrm>
          <a:prstGeom prst="line">
            <a:avLst/>
          </a:prstGeom>
          <a:noFill/>
          <a:ln w="12700" cap="flat" cmpd="sng" algn="ctr">
            <a:solidFill>
              <a:srgbClr val="000000"/>
            </a:solidFill>
            <a:prstDash val="solid"/>
          </a:ln>
          <a:effectLst/>
        </p:spPr>
      </p:cxnSp>
      <p:pic>
        <p:nvPicPr>
          <p:cNvPr id="121"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8054" y="343087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Rectangle 56"/>
          <p:cNvSpPr>
            <a:spLocks noChangeAspect="1" noChangeArrowheads="1"/>
          </p:cNvSpPr>
          <p:nvPr/>
        </p:nvSpPr>
        <p:spPr bwMode="auto">
          <a:xfrm rot="16200000">
            <a:off x="7045574" y="3568199"/>
            <a:ext cx="255587" cy="257175"/>
          </a:xfrm>
          <a:prstGeom prst="rect">
            <a:avLst/>
          </a:prstGeom>
          <a:gradFill rotWithShape="1">
            <a:gsLst>
              <a:gs pos="0">
                <a:srgbClr val="99CCFF"/>
              </a:gs>
              <a:gs pos="100000">
                <a:srgbClr val="336699"/>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23" name="TextBox 108"/>
          <p:cNvSpPr txBox="1">
            <a:spLocks noChangeArrowheads="1"/>
          </p:cNvSpPr>
          <p:nvPr/>
        </p:nvSpPr>
        <p:spPr bwMode="auto">
          <a:xfrm>
            <a:off x="6716167" y="3872204"/>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zh-CN" altLang="en-US" sz="1400" b="1" dirty="0">
                <a:solidFill>
                  <a:srgbClr val="000000"/>
                </a:solidFill>
                <a:latin typeface="华文仿宋"/>
                <a:ea typeface="华文仿宋"/>
                <a:cs typeface="华文仿宋"/>
              </a:rPr>
              <a:t>信贷</a:t>
            </a:r>
            <a:endParaRPr lang="en-US" altLang="zh-CN" sz="1400" b="1" dirty="0">
              <a:solidFill>
                <a:srgbClr val="000000"/>
              </a:solidFill>
              <a:latin typeface="华文仿宋"/>
              <a:ea typeface="华文仿宋"/>
              <a:cs typeface="华文仿宋"/>
            </a:endParaRPr>
          </a:p>
        </p:txBody>
      </p:sp>
      <p:pic>
        <p:nvPicPr>
          <p:cNvPr id="124"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8004" y="343087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Rectangle 54"/>
          <p:cNvSpPr>
            <a:spLocks noChangeAspect="1" noChangeArrowheads="1"/>
          </p:cNvSpPr>
          <p:nvPr/>
        </p:nvSpPr>
        <p:spPr bwMode="auto">
          <a:xfrm rot="16200000">
            <a:off x="7916317" y="3568993"/>
            <a:ext cx="254000" cy="257175"/>
          </a:xfrm>
          <a:prstGeom prst="rect">
            <a:avLst/>
          </a:prstGeom>
          <a:gradFill rotWithShape="0">
            <a:gsLst>
              <a:gs pos="0">
                <a:srgbClr val="CC0000"/>
              </a:gs>
              <a:gs pos="100000">
                <a:srgbClr val="800000"/>
              </a:gs>
            </a:gsLst>
            <a:path path="shape">
              <a:fillToRect l="50000" t="50000" r="50000" b="50000"/>
            </a:path>
          </a:gradFill>
          <a:ln w="9525">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26" name="TextBox 113"/>
          <p:cNvSpPr txBox="1">
            <a:spLocks noChangeArrowheads="1"/>
          </p:cNvSpPr>
          <p:nvPr/>
        </p:nvSpPr>
        <p:spPr bwMode="auto">
          <a:xfrm>
            <a:off x="7586117" y="3872204"/>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en-US" altLang="zh-CN" sz="1400" b="1" dirty="0" smtClean="0">
                <a:solidFill>
                  <a:srgbClr val="000000"/>
                </a:solidFill>
                <a:latin typeface="华文仿宋"/>
                <a:ea typeface="华文仿宋"/>
                <a:cs typeface="华文仿宋"/>
              </a:rPr>
              <a:t>CRM</a:t>
            </a:r>
            <a:endParaRPr lang="en-US" altLang="zh-CN" sz="1400" b="1" dirty="0">
              <a:solidFill>
                <a:srgbClr val="000000"/>
              </a:solidFill>
              <a:latin typeface="华文仿宋"/>
              <a:ea typeface="华文仿宋"/>
              <a:cs typeface="华文仿宋"/>
            </a:endParaRPr>
          </a:p>
        </p:txBody>
      </p:sp>
      <p:pic>
        <p:nvPicPr>
          <p:cNvPr id="127" name="Picture 44" descr="division"/>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7954" y="3430879"/>
            <a:ext cx="1190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 name="Rectangle 149"/>
          <p:cNvSpPr>
            <a:spLocks noChangeAspect="1" noChangeArrowheads="1"/>
          </p:cNvSpPr>
          <p:nvPr/>
        </p:nvSpPr>
        <p:spPr bwMode="auto">
          <a:xfrm rot="16200000">
            <a:off x="8785474" y="3568199"/>
            <a:ext cx="255587" cy="257175"/>
          </a:xfrm>
          <a:prstGeom prst="rect">
            <a:avLst/>
          </a:prstGeom>
          <a:gradFill rotWithShape="0">
            <a:gsLst>
              <a:gs pos="0">
                <a:srgbClr val="99CC00"/>
              </a:gs>
              <a:gs pos="100000">
                <a:srgbClr val="006600"/>
              </a:gs>
            </a:gsLst>
            <a:path path="shape">
              <a:fillToRect l="50000" t="50000" r="50000" b="50000"/>
            </a:path>
          </a:gradFill>
          <a:ln w="9525" algn="ctr">
            <a:solidFill>
              <a:srgbClr val="FFFFFF"/>
            </a:solidFill>
            <a:miter lim="800000"/>
            <a:headEnd/>
            <a:tailEnd/>
          </a:ln>
          <a:effectLst>
            <a:outerShdw dist="53882" dir="2700000" algn="ctr" rotWithShape="0">
              <a:srgbClr val="001D3A"/>
            </a:outerShdw>
          </a:effectLst>
        </p:spPr>
        <p:txBody>
          <a:bodyPr rot="10800000" lIns="45691" tIns="45691" rIns="45691" bIns="45691"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29" name="TextBox 118"/>
          <p:cNvSpPr txBox="1">
            <a:spLocks noChangeArrowheads="1"/>
          </p:cNvSpPr>
          <p:nvPr/>
        </p:nvSpPr>
        <p:spPr bwMode="auto">
          <a:xfrm>
            <a:off x="8664029" y="3872204"/>
            <a:ext cx="70802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eaLnBrk="1" hangingPunct="1"/>
            <a:r>
              <a:rPr lang="en-US" altLang="zh-CN" sz="1400" b="1" dirty="0" smtClean="0">
                <a:solidFill>
                  <a:srgbClr val="000000"/>
                </a:solidFill>
                <a:latin typeface="华文仿宋"/>
                <a:ea typeface="华文仿宋"/>
                <a:cs typeface="华文仿宋"/>
              </a:rPr>
              <a:t>…</a:t>
            </a:r>
            <a:endParaRPr lang="en-US" altLang="zh-CN" sz="1400" b="1" dirty="0">
              <a:solidFill>
                <a:srgbClr val="000000"/>
              </a:solidFill>
              <a:latin typeface="华文仿宋"/>
              <a:ea typeface="华文仿宋"/>
              <a:cs typeface="华文仿宋"/>
            </a:endParaRPr>
          </a:p>
        </p:txBody>
      </p:sp>
      <p:cxnSp>
        <p:nvCxnSpPr>
          <p:cNvPr id="130" name="Straight Arrow Connector 120"/>
          <p:cNvCxnSpPr>
            <a:stCxn id="88" idx="2"/>
            <a:endCxn id="86" idx="0"/>
          </p:cNvCxnSpPr>
          <p:nvPr/>
        </p:nvCxnSpPr>
        <p:spPr>
          <a:xfrm>
            <a:off x="7082879" y="2357729"/>
            <a:ext cx="280987" cy="1588"/>
          </a:xfrm>
          <a:prstGeom prst="straightConnector1">
            <a:avLst/>
          </a:prstGeom>
          <a:noFill/>
          <a:ln w="12700" cap="flat" cmpd="sng" algn="ctr">
            <a:solidFill>
              <a:srgbClr val="000000"/>
            </a:solidFill>
            <a:prstDash val="solid"/>
            <a:tailEnd type="arrow"/>
          </a:ln>
          <a:effectLst/>
        </p:spPr>
      </p:cxnSp>
      <p:cxnSp>
        <p:nvCxnSpPr>
          <p:cNvPr id="131" name="Straight Arrow Connector 123"/>
          <p:cNvCxnSpPr>
            <a:stCxn id="86" idx="2"/>
            <a:endCxn id="90" idx="0"/>
          </p:cNvCxnSpPr>
          <p:nvPr/>
        </p:nvCxnSpPr>
        <p:spPr>
          <a:xfrm>
            <a:off x="7621042" y="2357729"/>
            <a:ext cx="280988" cy="1588"/>
          </a:xfrm>
          <a:prstGeom prst="straightConnector1">
            <a:avLst/>
          </a:prstGeom>
          <a:noFill/>
          <a:ln w="12700" cap="flat" cmpd="sng" algn="ctr">
            <a:solidFill>
              <a:srgbClr val="000000"/>
            </a:solidFill>
            <a:prstDash val="solid"/>
            <a:tailEnd type="arrow"/>
          </a:ln>
          <a:effectLst/>
        </p:spPr>
      </p:cxnSp>
      <p:cxnSp>
        <p:nvCxnSpPr>
          <p:cNvPr id="132" name="Straight Arrow Connector 125"/>
          <p:cNvCxnSpPr>
            <a:stCxn id="90" idx="2"/>
            <a:endCxn id="89" idx="0"/>
          </p:cNvCxnSpPr>
          <p:nvPr/>
        </p:nvCxnSpPr>
        <p:spPr>
          <a:xfrm>
            <a:off x="8159204" y="2357729"/>
            <a:ext cx="280987" cy="1588"/>
          </a:xfrm>
          <a:prstGeom prst="straightConnector1">
            <a:avLst/>
          </a:prstGeom>
          <a:noFill/>
          <a:ln w="12700" cap="flat" cmpd="sng" algn="ctr">
            <a:solidFill>
              <a:srgbClr val="000000"/>
            </a:solidFill>
            <a:prstDash val="solid"/>
            <a:tailEnd type="arrow"/>
          </a:ln>
          <a:effectLst/>
        </p:spPr>
      </p:cxnSp>
      <p:cxnSp>
        <p:nvCxnSpPr>
          <p:cNvPr id="133" name="Straight Arrow Connector 127"/>
          <p:cNvCxnSpPr>
            <a:stCxn id="89" idx="2"/>
            <a:endCxn id="87" idx="0"/>
          </p:cNvCxnSpPr>
          <p:nvPr/>
        </p:nvCxnSpPr>
        <p:spPr>
          <a:xfrm>
            <a:off x="8697366" y="2357729"/>
            <a:ext cx="280988" cy="1588"/>
          </a:xfrm>
          <a:prstGeom prst="straightConnector1">
            <a:avLst/>
          </a:prstGeom>
          <a:noFill/>
          <a:ln w="12700" cap="flat" cmpd="sng" algn="ctr">
            <a:solidFill>
              <a:srgbClr val="000000"/>
            </a:solidFill>
            <a:prstDash val="solid"/>
            <a:tailEnd type="arrow"/>
          </a:ln>
          <a:effectLst/>
        </p:spPr>
      </p:cxnSp>
      <p:cxnSp>
        <p:nvCxnSpPr>
          <p:cNvPr id="134" name="Curved Connector 129"/>
          <p:cNvCxnSpPr>
            <a:endCxn id="88" idx="1"/>
          </p:cNvCxnSpPr>
          <p:nvPr/>
        </p:nvCxnSpPr>
        <p:spPr>
          <a:xfrm rot="16200000" flipV="1">
            <a:off x="6522492" y="2918119"/>
            <a:ext cx="1082675" cy="219075"/>
          </a:xfrm>
          <a:prstGeom prst="curvedConnector3">
            <a:avLst>
              <a:gd name="adj1" fmla="val 50000"/>
            </a:avLst>
          </a:prstGeom>
          <a:noFill/>
          <a:ln w="12700" cap="flat" cmpd="sng" algn="ctr">
            <a:solidFill>
              <a:srgbClr val="000000"/>
            </a:solidFill>
            <a:prstDash val="solid"/>
          </a:ln>
          <a:effectLst/>
        </p:spPr>
      </p:cxnSp>
      <p:cxnSp>
        <p:nvCxnSpPr>
          <p:cNvPr id="135" name="Curved Connector 131"/>
          <p:cNvCxnSpPr>
            <a:endCxn id="90" idx="1"/>
          </p:cNvCxnSpPr>
          <p:nvPr/>
        </p:nvCxnSpPr>
        <p:spPr>
          <a:xfrm rot="5400000" flipH="1" flipV="1">
            <a:off x="7129710" y="2529974"/>
            <a:ext cx="944562" cy="857250"/>
          </a:xfrm>
          <a:prstGeom prst="curvedConnector3">
            <a:avLst>
              <a:gd name="adj1" fmla="val 50000"/>
            </a:avLst>
          </a:prstGeom>
          <a:noFill/>
          <a:ln w="12700" cap="flat" cmpd="sng" algn="ctr">
            <a:solidFill>
              <a:srgbClr val="000000"/>
            </a:solidFill>
            <a:prstDash val="solid"/>
          </a:ln>
          <a:effectLst/>
        </p:spPr>
      </p:cxnSp>
      <p:cxnSp>
        <p:nvCxnSpPr>
          <p:cNvPr id="136" name="Curved Connector 133"/>
          <p:cNvCxnSpPr>
            <a:endCxn id="86" idx="1"/>
          </p:cNvCxnSpPr>
          <p:nvPr/>
        </p:nvCxnSpPr>
        <p:spPr>
          <a:xfrm rot="16200000" flipV="1">
            <a:off x="7225754" y="2753018"/>
            <a:ext cx="1084262" cy="550862"/>
          </a:xfrm>
          <a:prstGeom prst="curvedConnector3">
            <a:avLst>
              <a:gd name="adj1" fmla="val 50000"/>
            </a:avLst>
          </a:prstGeom>
          <a:noFill/>
          <a:ln w="12700" cap="flat" cmpd="sng" algn="ctr">
            <a:solidFill>
              <a:srgbClr val="000000"/>
            </a:solidFill>
            <a:prstDash val="solid"/>
          </a:ln>
          <a:effectLst/>
        </p:spPr>
      </p:cxnSp>
      <p:cxnSp>
        <p:nvCxnSpPr>
          <p:cNvPr id="137" name="Curved Connector 135"/>
          <p:cNvCxnSpPr>
            <a:endCxn id="89" idx="1"/>
          </p:cNvCxnSpPr>
          <p:nvPr/>
        </p:nvCxnSpPr>
        <p:spPr>
          <a:xfrm rot="5400000" flipH="1" flipV="1">
            <a:off x="7763917" y="2765718"/>
            <a:ext cx="1084262" cy="525463"/>
          </a:xfrm>
          <a:prstGeom prst="curvedConnector3">
            <a:avLst>
              <a:gd name="adj1" fmla="val 50000"/>
            </a:avLst>
          </a:prstGeom>
          <a:noFill/>
          <a:ln w="12700" cap="flat" cmpd="sng" algn="ctr">
            <a:solidFill>
              <a:srgbClr val="000000"/>
            </a:solidFill>
            <a:prstDash val="solid"/>
          </a:ln>
          <a:effectLst/>
        </p:spPr>
      </p:cxnSp>
      <p:cxnSp>
        <p:nvCxnSpPr>
          <p:cNvPr id="138" name="Curved Connector 137"/>
          <p:cNvCxnSpPr>
            <a:endCxn id="87" idx="1"/>
          </p:cNvCxnSpPr>
          <p:nvPr/>
        </p:nvCxnSpPr>
        <p:spPr>
          <a:xfrm rot="5400000" flipH="1" flipV="1">
            <a:off x="8468767" y="2930818"/>
            <a:ext cx="1082675" cy="193675"/>
          </a:xfrm>
          <a:prstGeom prst="curvedConnector3">
            <a:avLst>
              <a:gd name="adj1" fmla="val 50000"/>
            </a:avLst>
          </a:prstGeom>
          <a:noFill/>
          <a:ln w="12700" cap="flat" cmpd="sng" algn="ctr">
            <a:solidFill>
              <a:srgbClr val="000000"/>
            </a:solidFill>
            <a:prstDash val="solid"/>
          </a:ln>
          <a:effectLst/>
        </p:spPr>
      </p:cxnSp>
      <p:sp>
        <p:nvSpPr>
          <p:cNvPr id="139" name="Rectangle 147"/>
          <p:cNvSpPr/>
          <p:nvPr/>
        </p:nvSpPr>
        <p:spPr>
          <a:xfrm>
            <a:off x="2703835" y="1399384"/>
            <a:ext cx="3032125" cy="2014537"/>
          </a:xfrm>
          <a:prstGeom prst="rect">
            <a:avLst/>
          </a:prstGeom>
          <a:noFill/>
          <a:ln w="25400" cap="flat" cmpd="sng" algn="ctr">
            <a:solidFill>
              <a:srgbClr val="56A4B9">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华文仿宋"/>
              <a:ea typeface="华文仿宋"/>
              <a:cs typeface="华文仿宋"/>
            </a:endParaRPr>
          </a:p>
        </p:txBody>
      </p:sp>
      <p:sp>
        <p:nvSpPr>
          <p:cNvPr id="140" name="Rectangle 148"/>
          <p:cNvSpPr/>
          <p:nvPr/>
        </p:nvSpPr>
        <p:spPr>
          <a:xfrm>
            <a:off x="6528048" y="1434695"/>
            <a:ext cx="3030537" cy="1995487"/>
          </a:xfrm>
          <a:prstGeom prst="rect">
            <a:avLst/>
          </a:prstGeom>
          <a:solidFill>
            <a:srgbClr val="FFFFFF">
              <a:lumMod val="75000"/>
              <a:alpha val="60000"/>
            </a:srgbClr>
          </a:solidFill>
          <a:ln w="25400" cap="flat" cmpd="sng" algn="ctr">
            <a:solidFill>
              <a:srgbClr val="56A4B9">
                <a:lumMod val="7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华文仿宋"/>
              <a:ea typeface="华文仿宋"/>
              <a:cs typeface="华文仿宋"/>
            </a:endParaRPr>
          </a:p>
        </p:txBody>
      </p:sp>
      <p:sp>
        <p:nvSpPr>
          <p:cNvPr id="141" name="Text Box 73"/>
          <p:cNvSpPr txBox="1">
            <a:spLocks noChangeArrowheads="1"/>
          </p:cNvSpPr>
          <p:nvPr/>
        </p:nvSpPr>
        <p:spPr bwMode="auto">
          <a:xfrm>
            <a:off x="3019747" y="1489869"/>
            <a:ext cx="24450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ctr" eaLnBrk="1" hangingPunct="1"/>
            <a:r>
              <a:rPr lang="zh-CN" altLang="en-US" sz="1800" dirty="0" smtClean="0">
                <a:solidFill>
                  <a:srgbClr val="000000"/>
                </a:solidFill>
                <a:latin typeface="华文仿宋"/>
                <a:ea typeface="华文仿宋"/>
                <a:cs typeface="华文仿宋"/>
              </a:rPr>
              <a:t>流程类应用现</a:t>
            </a:r>
            <a:r>
              <a:rPr lang="zh-CN" altLang="en-US" sz="1800" dirty="0">
                <a:solidFill>
                  <a:srgbClr val="000000"/>
                </a:solidFill>
                <a:latin typeface="华文仿宋"/>
                <a:ea typeface="华文仿宋"/>
                <a:cs typeface="华文仿宋"/>
              </a:rPr>
              <a:t>状</a:t>
            </a:r>
          </a:p>
        </p:txBody>
      </p:sp>
      <p:sp>
        <p:nvSpPr>
          <p:cNvPr id="142" name="Text Box 74"/>
          <p:cNvSpPr txBox="1">
            <a:spLocks noChangeArrowheads="1"/>
          </p:cNvSpPr>
          <p:nvPr/>
        </p:nvSpPr>
        <p:spPr bwMode="auto">
          <a:xfrm>
            <a:off x="7246768" y="1391735"/>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eaLnBrk="1" hangingPunct="1"/>
            <a:r>
              <a:rPr lang="zh-CN" altLang="en-US" sz="1800" dirty="0" smtClean="0">
                <a:solidFill>
                  <a:srgbClr val="000000"/>
                </a:solidFill>
                <a:latin typeface="华文仿宋"/>
                <a:ea typeface="华文仿宋"/>
                <a:cs typeface="华文仿宋"/>
              </a:rPr>
              <a:t>统一流程平台</a:t>
            </a:r>
            <a:endParaRPr lang="zh-CN" altLang="en-US" sz="1800" dirty="0">
              <a:solidFill>
                <a:srgbClr val="000000"/>
              </a:solidFill>
              <a:latin typeface="华文仿宋"/>
              <a:ea typeface="华文仿宋"/>
              <a:cs typeface="华文仿宋"/>
            </a:endParaRPr>
          </a:p>
        </p:txBody>
      </p:sp>
      <p:sp>
        <p:nvSpPr>
          <p:cNvPr id="143" name="云形 142"/>
          <p:cNvSpPr/>
          <p:nvPr/>
        </p:nvSpPr>
        <p:spPr bwMode="gray">
          <a:xfrm>
            <a:off x="767408" y="1861345"/>
            <a:ext cx="1828800" cy="1295400"/>
          </a:xfrm>
          <a:prstGeom prst="cloud">
            <a:avLst/>
          </a:prstGeom>
          <a:solidFill>
            <a:srgbClr val="FFFF99"/>
          </a:solidFill>
          <a:ln w="6350" cap="flat" cmpd="sng" algn="ctr">
            <a:solidFill>
              <a:srgbClr val="FFC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srgbClr val="191966"/>
                </a:solidFill>
                <a:effectLst/>
                <a:uLnTx/>
                <a:uFillTx/>
                <a:latin typeface="华文仿宋"/>
                <a:ea typeface="华文仿宋"/>
                <a:cs typeface="华文仿宋"/>
              </a:rPr>
              <a:t>系统各自为战，流程分散无序，缺乏统一的管理</a:t>
            </a:r>
            <a:endParaRPr kumimoji="0" lang="zh-CN" altLang="en-US" sz="1400" b="1" i="0" u="none" strike="noStrike" kern="0" cap="none" spc="0" normalizeH="0" baseline="0" noProof="0" dirty="0">
              <a:ln>
                <a:noFill/>
              </a:ln>
              <a:solidFill>
                <a:srgbClr val="191966"/>
              </a:solidFill>
              <a:effectLst/>
              <a:uLnTx/>
              <a:uFillTx/>
              <a:latin typeface="华文仿宋"/>
              <a:ea typeface="华文仿宋"/>
              <a:cs typeface="华文仿宋"/>
            </a:endParaRPr>
          </a:p>
        </p:txBody>
      </p:sp>
      <p:sp>
        <p:nvSpPr>
          <p:cNvPr id="144" name="Rectangle 3"/>
          <p:cNvSpPr>
            <a:spLocks noChangeArrowheads="1"/>
          </p:cNvSpPr>
          <p:nvPr/>
        </p:nvSpPr>
        <p:spPr bwMode="gray">
          <a:xfrm>
            <a:off x="493712" y="4898244"/>
            <a:ext cx="11290920" cy="1650248"/>
          </a:xfrm>
          <a:prstGeom prst="rect">
            <a:avLst/>
          </a:prstGeom>
          <a:solidFill>
            <a:srgbClr val="FFFFFF"/>
          </a:solidFill>
          <a:ln w="25400" algn="ctr">
            <a:solidFill>
              <a:srgbClr val="60B5CC"/>
            </a:solidFill>
            <a:miter lim="800000"/>
            <a:headEnd/>
            <a:tailEnd/>
          </a:ln>
        </p:spPr>
        <p:txBody>
          <a:bodyPr wrap="none" lIns="72000" tIns="72000" rIns="72000" bIns="72000" anchor="ctr"/>
          <a:lstStyle/>
          <a:p>
            <a:pPr marL="0" marR="0" lvl="0" indent="0" algn="ctr" defTabSz="914400" eaLnBrk="0" fontAlgn="auto" latinLnBrk="0" hangingPunct="0">
              <a:lnSpc>
                <a:spcPct val="100000"/>
              </a:lnSpc>
              <a:spcBef>
                <a:spcPct val="20000"/>
              </a:spcBef>
              <a:spcAft>
                <a:spcPts val="0"/>
              </a:spcAft>
              <a:buClrTx/>
              <a:buSzPct val="100000"/>
              <a:buFont typeface="Wingdings" pitchFamily="2" charset="2"/>
              <a:buNone/>
              <a:tabLst/>
              <a:defRPr/>
            </a:pPr>
            <a:endParaRPr kumimoji="0" lang="zh-CN" altLang="en-US" sz="1400" b="1" i="0" u="none" strike="noStrike" kern="0" cap="none" spc="0" normalizeH="0" baseline="0" noProof="0">
              <a:ln>
                <a:noFill/>
              </a:ln>
              <a:solidFill>
                <a:srgbClr val="000000"/>
              </a:solidFill>
              <a:effectLst/>
              <a:uLnTx/>
              <a:uFillTx/>
              <a:latin typeface="华文细黑" pitchFamily="2" charset="-122"/>
            </a:endParaRPr>
          </a:p>
        </p:txBody>
      </p:sp>
      <p:sp>
        <p:nvSpPr>
          <p:cNvPr id="145" name="Rectangle 4"/>
          <p:cNvSpPr>
            <a:spLocks noChangeArrowheads="1"/>
          </p:cNvSpPr>
          <p:nvPr/>
        </p:nvSpPr>
        <p:spPr bwMode="gray">
          <a:xfrm>
            <a:off x="493712" y="4537658"/>
            <a:ext cx="11290919" cy="363537"/>
          </a:xfrm>
          <a:prstGeom prst="rect">
            <a:avLst/>
          </a:prstGeom>
          <a:solidFill>
            <a:srgbClr val="288FC8"/>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45720" rIns="45720" anchor="ctr" anchorCtr="1"/>
          <a:lstStyle/>
          <a:p>
            <a:pPr marL="457200" indent="-457200" defTabSz="155575" eaLnBrk="0" hangingPunct="0"/>
            <a:r>
              <a:rPr lang="zh-CN" altLang="en-US" sz="1600" b="1" dirty="0" smtClean="0">
                <a:solidFill>
                  <a:srgbClr val="FFFFFF"/>
                </a:solidFill>
                <a:latin typeface="华文仿宋"/>
                <a:ea typeface="华文仿宋"/>
                <a:cs typeface="华文仿宋"/>
              </a:rPr>
              <a:t>技术维度存在的主要问题</a:t>
            </a:r>
            <a:endParaRPr lang="zh-CN" altLang="en-US" sz="1600" b="1" dirty="0">
              <a:solidFill>
                <a:srgbClr val="FFFFFF"/>
              </a:solidFill>
              <a:latin typeface="华文仿宋"/>
              <a:ea typeface="华文仿宋"/>
              <a:cs typeface="华文仿宋"/>
            </a:endParaRPr>
          </a:p>
        </p:txBody>
      </p:sp>
      <p:sp>
        <p:nvSpPr>
          <p:cNvPr id="146" name="Text Box 5"/>
          <p:cNvSpPr txBox="1">
            <a:spLocks noChangeArrowheads="1"/>
          </p:cNvSpPr>
          <p:nvPr/>
        </p:nvSpPr>
        <p:spPr bwMode="gray">
          <a:xfrm>
            <a:off x="579439" y="4981157"/>
            <a:ext cx="11061177" cy="1567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2000" tIns="72000" rIns="72000" bIns="72000">
            <a:spAutoFit/>
          </a:bodyPr>
          <a:lstStyle>
            <a:lvl1pPr marL="266700" indent="-266700"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对流程类应用的管理定</a:t>
            </a:r>
            <a:r>
              <a:rPr lang="zh-CN" altLang="en-US" sz="1400" b="1" dirty="0">
                <a:solidFill>
                  <a:srgbClr val="000000"/>
                </a:solidFill>
                <a:latin typeface="华文仿宋"/>
                <a:ea typeface="华文仿宋"/>
                <a:cs typeface="华文仿宋"/>
              </a:rPr>
              <a:t>位不清晰</a:t>
            </a:r>
            <a:r>
              <a:rPr lang="zh-CN" altLang="en-US" sz="1400" b="1" dirty="0" smtClean="0">
                <a:solidFill>
                  <a:srgbClr val="000000"/>
                </a:solidFill>
                <a:latin typeface="华文仿宋"/>
                <a:ea typeface="华文仿宋"/>
                <a:cs typeface="华文仿宋"/>
              </a:rPr>
              <a:t>：</a:t>
            </a:r>
            <a:r>
              <a:rPr lang="zh-CN" altLang="en-US" sz="1400" dirty="0" smtClean="0">
                <a:solidFill>
                  <a:srgbClr val="000000"/>
                </a:solidFill>
                <a:latin typeface="华文仿宋"/>
                <a:ea typeface="华文仿宋"/>
                <a:cs typeface="华文仿宋"/>
              </a:rPr>
              <a:t>各类业务应用系统的流程组件单独采购或独立研发，造成重复投资，由于缺乏统筹规划，无法建立全局的统一流程视图和集中管控能力</a:t>
            </a:r>
            <a:endParaRPr lang="zh-CN" altLang="en-US" sz="1400" b="1" dirty="0">
              <a:solidFill>
                <a:srgbClr val="000000"/>
              </a:solidFill>
              <a:latin typeface="华文仿宋"/>
              <a:ea typeface="华文仿宋"/>
              <a:cs typeface="华文仿宋"/>
            </a:endParaRPr>
          </a:p>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流程类应用间各自为战，集成</a:t>
            </a:r>
            <a:r>
              <a:rPr lang="zh-CN" altLang="en-US" sz="1400" b="1" dirty="0">
                <a:solidFill>
                  <a:srgbClr val="000000"/>
                </a:solidFill>
                <a:latin typeface="华文仿宋"/>
                <a:ea typeface="华文仿宋"/>
                <a:cs typeface="华文仿宋"/>
              </a:rPr>
              <a:t>能力</a:t>
            </a:r>
            <a:r>
              <a:rPr lang="zh-CN" altLang="en-US" sz="1400" b="1" dirty="0" smtClean="0">
                <a:solidFill>
                  <a:srgbClr val="000000"/>
                </a:solidFill>
                <a:latin typeface="华文仿宋"/>
                <a:ea typeface="华文仿宋"/>
                <a:cs typeface="华文仿宋"/>
              </a:rPr>
              <a:t>较弱，</a:t>
            </a:r>
            <a:r>
              <a:rPr lang="zh-CN" altLang="en-US" sz="1400" b="1" dirty="0">
                <a:solidFill>
                  <a:srgbClr val="000000"/>
                </a:solidFill>
                <a:latin typeface="华文仿宋"/>
                <a:ea typeface="华文仿宋"/>
                <a:cs typeface="华文仿宋"/>
              </a:rPr>
              <a:t>无法有效支撑跨应</a:t>
            </a:r>
            <a:r>
              <a:rPr lang="zh-CN" altLang="en-US" sz="1400" b="1" dirty="0" smtClean="0">
                <a:solidFill>
                  <a:srgbClr val="000000"/>
                </a:solidFill>
                <a:latin typeface="华文仿宋"/>
                <a:ea typeface="华文仿宋"/>
                <a:cs typeface="华文仿宋"/>
              </a:rPr>
              <a:t>用的流</a:t>
            </a:r>
            <a:r>
              <a:rPr lang="zh-CN" altLang="en-US" sz="1400" b="1" dirty="0">
                <a:solidFill>
                  <a:srgbClr val="000000"/>
                </a:solidFill>
                <a:latin typeface="华文仿宋"/>
                <a:ea typeface="华文仿宋"/>
                <a:cs typeface="华文仿宋"/>
              </a:rPr>
              <a:t>程衔接</a:t>
            </a:r>
            <a:r>
              <a:rPr lang="zh-CN" altLang="en-US" sz="1400" b="1" dirty="0" smtClean="0">
                <a:solidFill>
                  <a:srgbClr val="000000"/>
                </a:solidFill>
                <a:latin typeface="华文仿宋"/>
                <a:ea typeface="华文仿宋"/>
                <a:cs typeface="华文仿宋"/>
              </a:rPr>
              <a:t>：</a:t>
            </a:r>
            <a:r>
              <a:rPr lang="zh-CN" altLang="en-US" sz="1400" dirty="0" smtClean="0">
                <a:solidFill>
                  <a:srgbClr val="000000"/>
                </a:solidFill>
                <a:latin typeface="华文仿宋"/>
                <a:ea typeface="华文仿宋"/>
                <a:cs typeface="华文仿宋"/>
              </a:rPr>
              <a:t>随着创新类业务的持续开展，银行业务的相关系统间以流程为中心的业务创新和集成</a:t>
            </a:r>
            <a:r>
              <a:rPr lang="zh-CN" altLang="zh-CN" sz="1400" dirty="0" smtClean="0">
                <a:solidFill>
                  <a:srgbClr val="000000"/>
                </a:solidFill>
                <a:latin typeface="华文仿宋"/>
                <a:ea typeface="华文仿宋"/>
                <a:cs typeface="华文仿宋"/>
              </a:rPr>
              <a:t>越</a:t>
            </a:r>
            <a:r>
              <a:rPr lang="zh-CN" altLang="zh-CN" sz="1400" dirty="0">
                <a:solidFill>
                  <a:srgbClr val="000000"/>
                </a:solidFill>
                <a:latin typeface="华文仿宋"/>
                <a:ea typeface="华文仿宋"/>
                <a:cs typeface="华文仿宋"/>
              </a:rPr>
              <a:t>来越</a:t>
            </a:r>
            <a:r>
              <a:rPr lang="zh-CN" altLang="zh-CN" sz="1400" dirty="0" smtClean="0">
                <a:solidFill>
                  <a:srgbClr val="000000"/>
                </a:solidFill>
                <a:latin typeface="华文仿宋"/>
                <a:ea typeface="华文仿宋"/>
                <a:cs typeface="华文仿宋"/>
              </a:rPr>
              <a:t>多</a:t>
            </a:r>
            <a:r>
              <a:rPr lang="zh-CN" altLang="en-US" sz="1400" dirty="0" smtClean="0">
                <a:solidFill>
                  <a:srgbClr val="000000"/>
                </a:solidFill>
                <a:latin typeface="华文仿宋"/>
                <a:ea typeface="华文仿宋"/>
                <a:cs typeface="华文仿宋"/>
              </a:rPr>
              <a:t>，</a:t>
            </a:r>
            <a:r>
              <a:rPr lang="zh-CN" altLang="zh-CN" sz="1400" dirty="0" smtClean="0">
                <a:solidFill>
                  <a:srgbClr val="000000"/>
                </a:solidFill>
                <a:latin typeface="华文仿宋"/>
                <a:ea typeface="华文仿宋"/>
                <a:cs typeface="华文仿宋"/>
              </a:rPr>
              <a:t>需要</a:t>
            </a:r>
            <a:r>
              <a:rPr lang="zh-CN" altLang="en-US" sz="1400" dirty="0" smtClean="0">
                <a:solidFill>
                  <a:srgbClr val="000000"/>
                </a:solidFill>
                <a:latin typeface="华文仿宋"/>
                <a:ea typeface="华文仿宋"/>
                <a:cs typeface="华文仿宋"/>
              </a:rPr>
              <a:t>一个统一的流程平台，支持</a:t>
            </a:r>
            <a:r>
              <a:rPr lang="zh-CN" altLang="zh-CN" sz="1400" dirty="0" smtClean="0">
                <a:solidFill>
                  <a:srgbClr val="000000"/>
                </a:solidFill>
                <a:latin typeface="华文仿宋"/>
                <a:ea typeface="华文仿宋"/>
                <a:cs typeface="华文仿宋"/>
              </a:rPr>
              <a:t>跨</a:t>
            </a:r>
            <a:r>
              <a:rPr lang="zh-CN" altLang="zh-CN" sz="1400" dirty="0">
                <a:solidFill>
                  <a:srgbClr val="000000"/>
                </a:solidFill>
                <a:latin typeface="华文仿宋"/>
                <a:ea typeface="华文仿宋"/>
                <a:cs typeface="华文仿宋"/>
              </a:rPr>
              <a:t>系统和跨部门的服务</a:t>
            </a:r>
            <a:r>
              <a:rPr lang="zh-CN" altLang="zh-CN" sz="1400" dirty="0" smtClean="0">
                <a:solidFill>
                  <a:srgbClr val="000000"/>
                </a:solidFill>
                <a:latin typeface="华文仿宋"/>
                <a:ea typeface="华文仿宋"/>
                <a:cs typeface="华文仿宋"/>
              </a:rPr>
              <a:t>、</a:t>
            </a:r>
            <a:r>
              <a:rPr lang="zh-CN" altLang="en-US" sz="1400" dirty="0" smtClean="0">
                <a:solidFill>
                  <a:srgbClr val="000000"/>
                </a:solidFill>
                <a:latin typeface="华文仿宋"/>
                <a:ea typeface="华文仿宋"/>
                <a:cs typeface="华文仿宋"/>
              </a:rPr>
              <a:t>流程</a:t>
            </a:r>
            <a:r>
              <a:rPr lang="zh-CN" altLang="zh-CN" sz="1400" dirty="0" smtClean="0">
                <a:solidFill>
                  <a:srgbClr val="000000"/>
                </a:solidFill>
                <a:latin typeface="华文仿宋"/>
                <a:ea typeface="华文仿宋"/>
                <a:cs typeface="华文仿宋"/>
              </a:rPr>
              <a:t>的</a:t>
            </a:r>
            <a:r>
              <a:rPr lang="zh-CN" altLang="zh-CN" sz="1400" dirty="0">
                <a:solidFill>
                  <a:srgbClr val="000000"/>
                </a:solidFill>
                <a:latin typeface="华文仿宋"/>
                <a:ea typeface="华文仿宋"/>
                <a:cs typeface="华文仿宋"/>
              </a:rPr>
              <a:t>整合</a:t>
            </a:r>
            <a:r>
              <a:rPr lang="zh-CN" altLang="zh-CN" sz="1400" dirty="0" smtClean="0">
                <a:solidFill>
                  <a:srgbClr val="000000"/>
                </a:solidFill>
                <a:latin typeface="华文仿宋"/>
                <a:ea typeface="华文仿宋"/>
                <a:cs typeface="华文仿宋"/>
              </a:rPr>
              <a:t>能力</a:t>
            </a:r>
            <a:r>
              <a:rPr lang="zh-CN" altLang="en-US" sz="1400" dirty="0" smtClean="0">
                <a:solidFill>
                  <a:srgbClr val="000000"/>
                </a:solidFill>
                <a:latin typeface="华文仿宋"/>
                <a:ea typeface="华文仿宋"/>
                <a:cs typeface="华文仿宋"/>
              </a:rPr>
              <a:t>，以提升业务创新能力。</a:t>
            </a:r>
            <a:endParaRPr lang="en-US" altLang="zh-CN" sz="1400" dirty="0">
              <a:solidFill>
                <a:srgbClr val="000000"/>
              </a:solidFill>
              <a:latin typeface="华文仿宋"/>
              <a:ea typeface="华文仿宋"/>
              <a:cs typeface="华文仿宋"/>
            </a:endParaRPr>
          </a:p>
        </p:txBody>
      </p:sp>
      <p:sp>
        <p:nvSpPr>
          <p:cNvPr id="148" name="云形 147"/>
          <p:cNvSpPr/>
          <p:nvPr/>
        </p:nvSpPr>
        <p:spPr bwMode="gray">
          <a:xfrm>
            <a:off x="9696400" y="1772816"/>
            <a:ext cx="1828800" cy="1295400"/>
          </a:xfrm>
          <a:prstGeom prst="cloud">
            <a:avLst/>
          </a:prstGeom>
          <a:solidFill>
            <a:srgbClr val="FFFF99"/>
          </a:solidFill>
          <a:ln w="6350" cap="flat" cmpd="sng" algn="ctr">
            <a:solidFill>
              <a:srgbClr val="FFC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0" i="0" u="none" strike="noStrike" kern="0" cap="none" spc="0" normalizeH="0" baseline="0" noProof="0" dirty="0">
                <a:ln>
                  <a:noFill/>
                </a:ln>
                <a:solidFill>
                  <a:srgbClr val="000000"/>
                </a:solidFill>
                <a:effectLst/>
                <a:uLnTx/>
                <a:uFillTx/>
                <a:latin typeface="华文仿宋"/>
                <a:ea typeface="华文仿宋"/>
                <a:cs typeface="华文仿宋"/>
              </a:rPr>
              <a:t>跨系统和跨部门的服务、</a:t>
            </a:r>
            <a:r>
              <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rPr>
              <a:t>流程</a:t>
            </a:r>
            <a:r>
              <a:rPr kumimoji="0" lang="zh-CN" altLang="zh-CN" sz="1400" b="0" i="0" u="none" strike="noStrike" kern="0" cap="none" spc="0" normalizeH="0" baseline="0" noProof="0" dirty="0">
                <a:ln>
                  <a:noFill/>
                </a:ln>
                <a:solidFill>
                  <a:srgbClr val="000000"/>
                </a:solidFill>
                <a:effectLst/>
                <a:uLnTx/>
                <a:uFillTx/>
                <a:latin typeface="华文仿宋"/>
                <a:ea typeface="华文仿宋"/>
                <a:cs typeface="华文仿宋"/>
              </a:rPr>
              <a:t>的整合能力</a:t>
            </a:r>
            <a:r>
              <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rPr>
              <a:t>，以提升业务创新能力</a:t>
            </a:r>
            <a:endParaRPr kumimoji="0" lang="zh-CN" altLang="en-US" sz="1400" b="1" i="0" u="none" strike="noStrike" kern="0" cap="none" spc="0" normalizeH="0" baseline="0" noProof="0" dirty="0">
              <a:ln>
                <a:noFill/>
              </a:ln>
              <a:solidFill>
                <a:srgbClr val="191966"/>
              </a:solidFill>
              <a:effectLst/>
              <a:uLnTx/>
              <a:uFillTx/>
              <a:latin typeface="华文仿宋"/>
              <a:ea typeface="华文仿宋"/>
              <a:cs typeface="华文仿宋"/>
            </a:endParaRPr>
          </a:p>
        </p:txBody>
      </p:sp>
    </p:spTree>
    <p:extLst>
      <p:ext uri="{BB962C8B-B14F-4D97-AF65-F5344CB8AC3E}">
        <p14:creationId xmlns:p14="http://schemas.microsoft.com/office/powerpoint/2010/main" val="291640047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银行业务流程类应用现状分析</a:t>
            </a:r>
            <a:endParaRPr kumimoji="1" lang="zh-CN" altLang="en-US" dirty="0"/>
          </a:p>
        </p:txBody>
      </p:sp>
      <p:sp>
        <p:nvSpPr>
          <p:cNvPr id="197" name="圆角矩形 15"/>
          <p:cNvSpPr>
            <a:spLocks noChangeArrowheads="1"/>
          </p:cNvSpPr>
          <p:nvPr/>
        </p:nvSpPr>
        <p:spPr bwMode="auto">
          <a:xfrm>
            <a:off x="1039037" y="2088739"/>
            <a:ext cx="1002644" cy="471488"/>
          </a:xfrm>
          <a:prstGeom prst="roundRect">
            <a:avLst>
              <a:gd name="adj" fmla="val 16667"/>
            </a:avLst>
          </a:prstGeom>
          <a:solidFill>
            <a:srgbClr val="F0AD00">
              <a:lumMod val="75000"/>
            </a:srgbClr>
          </a:solidFill>
          <a:ln w="6350" cap="flat" cmpd="sng" algn="ctr">
            <a:solidFill>
              <a:srgbClr val="56A4B9">
                <a:lumMod val="60000"/>
                <a:lumOff val="40000"/>
              </a:srgbClr>
            </a:solidFill>
            <a:prstDash val="solid"/>
            <a:round/>
            <a:headEnd type="triangle" w="med" len="med"/>
            <a:tailEnd type="triangle" w="med" len="med"/>
          </a:ln>
          <a:effectLst>
            <a:softEdge rad="12700"/>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流程产品</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设计方法</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A</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98" name="剪去对角的矩形 197"/>
          <p:cNvSpPr/>
          <p:nvPr/>
        </p:nvSpPr>
        <p:spPr bwMode="auto">
          <a:xfrm>
            <a:off x="5200819" y="2086918"/>
            <a:ext cx="1030048" cy="471488"/>
          </a:xfrm>
          <a:prstGeom prst="snip2DiagRect">
            <a:avLst/>
          </a:prstGeom>
          <a:solidFill>
            <a:srgbClr val="F0AD00">
              <a:lumMod val="75000"/>
            </a:srgbClr>
          </a:solidFill>
          <a:ln w="6350" cap="flat" cmpd="sng" algn="ctr">
            <a:solidFill>
              <a:srgbClr val="56A4B9">
                <a:lumMod val="60000"/>
                <a:lumOff val="40000"/>
              </a:srgbClr>
            </a:solidFill>
            <a:prstDash val="solid"/>
            <a:round/>
            <a:headEnd type="triangle" w="med" len="med"/>
            <a:tailEnd type="triangle" w="med" len="med"/>
          </a:ln>
          <a:effectLst>
            <a:softEdge rad="12700"/>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流程产品</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B</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设计方法</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B</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99" name="单圆角矩形 40"/>
          <p:cNvSpPr/>
          <p:nvPr/>
        </p:nvSpPr>
        <p:spPr bwMode="auto">
          <a:xfrm>
            <a:off x="9200396" y="2080769"/>
            <a:ext cx="990910" cy="485775"/>
          </a:xfrm>
          <a:prstGeom prst="snipRoundRect">
            <a:avLst/>
          </a:prstGeom>
          <a:solidFill>
            <a:srgbClr val="F0AD00">
              <a:lumMod val="75000"/>
            </a:srgbClr>
          </a:solidFill>
          <a:ln w="6350" cap="flat" cmpd="sng" algn="ctr">
            <a:solidFill>
              <a:srgbClr val="56A4B9">
                <a:lumMod val="60000"/>
                <a:lumOff val="40000"/>
              </a:srgbClr>
            </a:solidFill>
            <a:prstDash val="solid"/>
            <a:round/>
            <a:headEnd type="triangle" w="med" len="med"/>
            <a:tailEnd type="triangle" w="med" len="med"/>
          </a:ln>
          <a:effectLst>
            <a:softEdge rad="12700"/>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流程产品</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C</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设计方法</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C</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00" name="圆角矩形 21"/>
          <p:cNvSpPr>
            <a:spLocks noChangeArrowheads="1"/>
          </p:cNvSpPr>
          <p:nvPr/>
        </p:nvSpPr>
        <p:spPr bwMode="auto">
          <a:xfrm>
            <a:off x="1039037" y="3062696"/>
            <a:ext cx="1002644" cy="471488"/>
          </a:xfrm>
          <a:prstGeom prst="roundRect">
            <a:avLst>
              <a:gd name="adj" fmla="val 16667"/>
            </a:avLst>
          </a:prstGeom>
          <a:gradFill flip="none" rotWithShape="1">
            <a:gsLst>
              <a:gs pos="0">
                <a:srgbClr val="F0AD00">
                  <a:shade val="30000"/>
                  <a:satMod val="115000"/>
                </a:srgbClr>
              </a:gs>
              <a:gs pos="50000">
                <a:srgbClr val="F0AD00">
                  <a:shade val="67500"/>
                  <a:satMod val="115000"/>
                </a:srgbClr>
              </a:gs>
              <a:gs pos="100000">
                <a:srgbClr val="F0AD00">
                  <a:shade val="100000"/>
                  <a:satMod val="115000"/>
                </a:srgbClr>
              </a:gs>
            </a:gsLst>
            <a:lin ang="16200000" scaled="1"/>
            <a:tileRect/>
          </a:gradFill>
          <a:ln w="6350" cap="flat" cmpd="sng" algn="ctr">
            <a:solidFill>
              <a:srgbClr val="F0AD00">
                <a:lumMod val="75000"/>
              </a:srgbClr>
            </a:solidFill>
            <a:prstDash val="solid"/>
            <a:round/>
            <a:headEnd type="triangle" w="med" len="med"/>
            <a:tailEnd type="triangle" w="med" len="med"/>
          </a:ln>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项目</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A</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01" name="剪去对角的矩形 200"/>
          <p:cNvSpPr/>
          <p:nvPr/>
        </p:nvSpPr>
        <p:spPr bwMode="auto">
          <a:xfrm>
            <a:off x="5200819" y="3060875"/>
            <a:ext cx="976259" cy="471488"/>
          </a:xfrm>
          <a:prstGeom prst="snip2DiagRect">
            <a:avLst/>
          </a:prstGeom>
          <a:gradFill flip="none" rotWithShape="1">
            <a:gsLst>
              <a:gs pos="0">
                <a:srgbClr val="F0AD00">
                  <a:shade val="30000"/>
                  <a:satMod val="115000"/>
                </a:srgbClr>
              </a:gs>
              <a:gs pos="50000">
                <a:srgbClr val="F0AD00">
                  <a:shade val="67500"/>
                  <a:satMod val="115000"/>
                </a:srgbClr>
              </a:gs>
              <a:gs pos="100000">
                <a:srgbClr val="F0AD00">
                  <a:shade val="100000"/>
                  <a:satMod val="115000"/>
                </a:srgbClr>
              </a:gs>
            </a:gsLst>
            <a:lin ang="16200000" scaled="1"/>
            <a:tileRect/>
          </a:gradFill>
          <a:ln w="6350" cap="flat" cmpd="sng" algn="ctr">
            <a:solidFill>
              <a:srgbClr val="F0AD00">
                <a:lumMod val="75000"/>
              </a:srgbClr>
            </a:solidFill>
            <a:prstDash val="solid"/>
            <a:round/>
            <a:headEnd type="triangle" w="med" len="med"/>
            <a:tailEnd type="triangle" w="med" len="med"/>
          </a:ln>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项目</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B</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02" name="单圆角矩形 44"/>
          <p:cNvSpPr/>
          <p:nvPr/>
        </p:nvSpPr>
        <p:spPr bwMode="auto">
          <a:xfrm>
            <a:off x="9183194" y="3054725"/>
            <a:ext cx="910296" cy="485775"/>
          </a:xfrm>
          <a:prstGeom prst="snipRoundRect">
            <a:avLst/>
          </a:prstGeom>
          <a:gradFill flip="none" rotWithShape="1">
            <a:gsLst>
              <a:gs pos="0">
                <a:srgbClr val="F0AD00">
                  <a:shade val="30000"/>
                  <a:satMod val="115000"/>
                </a:srgbClr>
              </a:gs>
              <a:gs pos="50000">
                <a:srgbClr val="F0AD00">
                  <a:shade val="67500"/>
                  <a:satMod val="115000"/>
                </a:srgbClr>
              </a:gs>
              <a:gs pos="100000">
                <a:srgbClr val="F0AD00">
                  <a:shade val="100000"/>
                  <a:satMod val="115000"/>
                </a:srgbClr>
              </a:gs>
            </a:gsLst>
            <a:lin ang="16200000" scaled="1"/>
            <a:tileRect/>
          </a:gradFill>
          <a:ln w="6350" cap="flat" cmpd="sng" algn="ctr">
            <a:solidFill>
              <a:srgbClr val="F0AD00">
                <a:lumMod val="75000"/>
              </a:srgbClr>
            </a:solidFill>
            <a:prstDash val="solid"/>
            <a:round/>
            <a:headEnd type="triangle" w="med" len="med"/>
            <a:tailEnd type="triangle" w="med" len="med"/>
          </a:ln>
          <a:effectLst/>
          <a:scene3d>
            <a:camera prst="orthographicFront"/>
            <a:lightRig rig="threePt" dir="t"/>
          </a:scene3d>
          <a:sp3d>
            <a:bevelT w="38100" h="38100"/>
          </a:sp3d>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项目</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C</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pic>
        <p:nvPicPr>
          <p:cNvPr id="20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382514" y="1171851"/>
            <a:ext cx="32543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pic>
        <p:nvPicPr>
          <p:cNvPr id="20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534501" y="1170030"/>
            <a:ext cx="32543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pic>
        <p:nvPicPr>
          <p:cNvPr id="205"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9506470" y="1170228"/>
            <a:ext cx="32543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206" name="矩形 205"/>
          <p:cNvSpPr>
            <a:spLocks noChangeArrowheads="1"/>
          </p:cNvSpPr>
          <p:nvPr/>
        </p:nvSpPr>
        <p:spPr bwMode="auto">
          <a:xfrm>
            <a:off x="1691681" y="1165200"/>
            <a:ext cx="8435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rPr>
              <a:t>开发商</a:t>
            </a:r>
            <a:r>
              <a:rPr kumimoji="0" lang="en-US" altLang="zh-CN" sz="1400" b="0" i="0" u="none" strike="noStrike" kern="0" cap="none" spc="0" normalizeH="0" baseline="0" noProof="0" dirty="0">
                <a:ln>
                  <a:noFill/>
                </a:ln>
                <a:solidFill>
                  <a:srgbClr val="000000"/>
                </a:solidFill>
                <a:effectLst/>
                <a:uLnTx/>
                <a:uFillTx/>
                <a:latin typeface="华文仿宋"/>
                <a:ea typeface="华文仿宋"/>
                <a:cs typeface="华文仿宋"/>
              </a:rPr>
              <a:t>A</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207" name="矩形 206"/>
          <p:cNvSpPr>
            <a:spLocks noChangeArrowheads="1"/>
          </p:cNvSpPr>
          <p:nvPr/>
        </p:nvSpPr>
        <p:spPr bwMode="auto">
          <a:xfrm>
            <a:off x="5819952" y="1160505"/>
            <a:ext cx="8435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开发商</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B</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08" name="矩形 207"/>
          <p:cNvSpPr>
            <a:spLocks noChangeArrowheads="1"/>
          </p:cNvSpPr>
          <p:nvPr/>
        </p:nvSpPr>
        <p:spPr bwMode="auto">
          <a:xfrm>
            <a:off x="9810312" y="1170030"/>
            <a:ext cx="8531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开发商</a:t>
            </a:r>
            <a:r>
              <a:rPr kumimoji="0" lang="en-US" altLang="zh-CN" sz="1400" b="0" i="0" u="none" strike="noStrike" kern="0" cap="none" spc="0" normalizeH="0" baseline="0" noProof="0">
                <a:ln>
                  <a:noFill/>
                </a:ln>
                <a:solidFill>
                  <a:srgbClr val="000000"/>
                </a:solidFill>
                <a:effectLst/>
                <a:uLnTx/>
                <a:uFillTx/>
                <a:latin typeface="华文仿宋"/>
                <a:ea typeface="华文仿宋"/>
                <a:cs typeface="华文仿宋"/>
              </a:rPr>
              <a:t>C</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09" name="上下箭头 30"/>
          <p:cNvSpPr>
            <a:spLocks noChangeArrowheads="1"/>
          </p:cNvSpPr>
          <p:nvPr/>
        </p:nvSpPr>
        <p:spPr bwMode="auto">
          <a:xfrm>
            <a:off x="1409503" y="1577030"/>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
        <p:nvSpPr>
          <p:cNvPr id="210" name="上下箭头 31"/>
          <p:cNvSpPr>
            <a:spLocks noChangeArrowheads="1"/>
          </p:cNvSpPr>
          <p:nvPr/>
        </p:nvSpPr>
        <p:spPr bwMode="auto">
          <a:xfrm>
            <a:off x="5563076" y="1575210"/>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
        <p:nvSpPr>
          <p:cNvPr id="211" name="上下箭头 32"/>
          <p:cNvSpPr>
            <a:spLocks noChangeArrowheads="1"/>
          </p:cNvSpPr>
          <p:nvPr/>
        </p:nvSpPr>
        <p:spPr bwMode="auto">
          <a:xfrm>
            <a:off x="9492181" y="1575407"/>
            <a:ext cx="268288"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
        <p:nvSpPr>
          <p:cNvPr id="212" name="上下箭头 33"/>
          <p:cNvSpPr>
            <a:spLocks noChangeArrowheads="1"/>
          </p:cNvSpPr>
          <p:nvPr/>
        </p:nvSpPr>
        <p:spPr bwMode="auto">
          <a:xfrm>
            <a:off x="1429501" y="2599381"/>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
        <p:nvSpPr>
          <p:cNvPr id="213" name="上下箭头 34"/>
          <p:cNvSpPr>
            <a:spLocks noChangeArrowheads="1"/>
          </p:cNvSpPr>
          <p:nvPr/>
        </p:nvSpPr>
        <p:spPr bwMode="auto">
          <a:xfrm>
            <a:off x="5583074" y="2597560"/>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sp>
        <p:nvSpPr>
          <p:cNvPr id="214" name="上下箭头 35"/>
          <p:cNvSpPr>
            <a:spLocks noChangeArrowheads="1"/>
          </p:cNvSpPr>
          <p:nvPr/>
        </p:nvSpPr>
        <p:spPr bwMode="auto">
          <a:xfrm>
            <a:off x="9525827" y="2597758"/>
            <a:ext cx="268288"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pic>
        <p:nvPicPr>
          <p:cNvPr id="2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654" y="4051633"/>
            <a:ext cx="809411" cy="548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6" name="矩形 48"/>
          <p:cNvSpPr>
            <a:spLocks noChangeArrowheads="1"/>
          </p:cNvSpPr>
          <p:nvPr/>
        </p:nvSpPr>
        <p:spPr bwMode="auto">
          <a:xfrm>
            <a:off x="2005704" y="3952043"/>
            <a:ext cx="72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smtClean="0">
                <a:ln>
                  <a:noFill/>
                </a:ln>
                <a:solidFill>
                  <a:srgbClr val="000000"/>
                </a:solidFill>
                <a:effectLst/>
                <a:uLnTx/>
                <a:uFillTx/>
                <a:latin typeface="华文仿宋"/>
                <a:ea typeface="华文仿宋"/>
                <a:cs typeface="华文仿宋"/>
              </a:rPr>
              <a:t>组件库</a:t>
            </a:r>
            <a:endParaRPr kumimoji="0" lang="en-US" altLang="zh-CN" sz="1400" b="0" i="0" u="none" strike="noStrike" kern="0" cap="none" spc="0" normalizeH="0" baseline="0" noProof="0" smtClean="0">
              <a:ln>
                <a:noFill/>
              </a:ln>
              <a:solidFill>
                <a:srgbClr val="000000"/>
              </a:solidFill>
              <a:effectLst/>
              <a:uLnTx/>
              <a:uFillTx/>
              <a:latin typeface="华文仿宋"/>
              <a:ea typeface="华文仿宋"/>
              <a:cs typeface="华文仿宋"/>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smtClean="0">
                <a:ln>
                  <a:noFill/>
                </a:ln>
                <a:solidFill>
                  <a:srgbClr val="000000"/>
                </a:solidFill>
                <a:effectLst/>
                <a:uLnTx/>
                <a:uFillTx/>
                <a:latin typeface="华文仿宋"/>
                <a:ea typeface="华文仿宋"/>
                <a:cs typeface="华文仿宋"/>
              </a:rPr>
              <a:t>知识库</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17" name="上下箭头 33"/>
          <p:cNvSpPr>
            <a:spLocks noChangeArrowheads="1"/>
          </p:cNvSpPr>
          <p:nvPr/>
        </p:nvSpPr>
        <p:spPr bwMode="auto">
          <a:xfrm>
            <a:off x="1444593" y="3547476"/>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pic>
        <p:nvPicPr>
          <p:cNvPr id="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6771" y="4051633"/>
            <a:ext cx="809411" cy="548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 name="矩形 48"/>
          <p:cNvSpPr>
            <a:spLocks noChangeArrowheads="1"/>
          </p:cNvSpPr>
          <p:nvPr/>
        </p:nvSpPr>
        <p:spPr bwMode="auto">
          <a:xfrm>
            <a:off x="6236821" y="3952043"/>
            <a:ext cx="72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smtClean="0">
                <a:ln>
                  <a:noFill/>
                </a:ln>
                <a:solidFill>
                  <a:srgbClr val="000000"/>
                </a:solidFill>
                <a:effectLst/>
                <a:uLnTx/>
                <a:uFillTx/>
                <a:latin typeface="华文仿宋"/>
                <a:ea typeface="华文仿宋"/>
                <a:cs typeface="华文仿宋"/>
              </a:rPr>
              <a:t>组件库</a:t>
            </a:r>
            <a:endParaRPr kumimoji="0" lang="en-US" altLang="zh-CN" sz="1400" b="0" i="0" u="none" strike="noStrike" kern="0" cap="none" spc="0" normalizeH="0" baseline="0" noProof="0" smtClean="0">
              <a:ln>
                <a:noFill/>
              </a:ln>
              <a:solidFill>
                <a:srgbClr val="000000"/>
              </a:solidFill>
              <a:effectLst/>
              <a:uLnTx/>
              <a:uFillTx/>
              <a:latin typeface="华文仿宋"/>
              <a:ea typeface="华文仿宋"/>
              <a:cs typeface="华文仿宋"/>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smtClean="0">
                <a:ln>
                  <a:noFill/>
                </a:ln>
                <a:solidFill>
                  <a:srgbClr val="000000"/>
                </a:solidFill>
                <a:effectLst/>
                <a:uLnTx/>
                <a:uFillTx/>
                <a:latin typeface="华文仿宋"/>
                <a:ea typeface="华文仿宋"/>
                <a:cs typeface="华文仿宋"/>
              </a:rPr>
              <a:t>知识库</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20" name="上下箭头 219"/>
          <p:cNvSpPr>
            <a:spLocks noChangeArrowheads="1"/>
          </p:cNvSpPr>
          <p:nvPr/>
        </p:nvSpPr>
        <p:spPr bwMode="auto">
          <a:xfrm>
            <a:off x="5602540" y="3544628"/>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pic>
        <p:nvPicPr>
          <p:cNvPr id="2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7211" y="4051633"/>
            <a:ext cx="809411" cy="548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2" name="矩形 48"/>
          <p:cNvSpPr>
            <a:spLocks noChangeArrowheads="1"/>
          </p:cNvSpPr>
          <p:nvPr/>
        </p:nvSpPr>
        <p:spPr bwMode="auto">
          <a:xfrm>
            <a:off x="10197261" y="3952043"/>
            <a:ext cx="72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rPr>
              <a:t>组件库</a:t>
            </a:r>
            <a:endParaRPr kumimoji="0" lang="en-US" altLang="zh-CN" sz="1400" b="0" i="0" u="none" strike="noStrike" kern="0" cap="none" spc="0" normalizeH="0" baseline="0" noProof="0" smtClean="0">
              <a:ln>
                <a:noFill/>
              </a:ln>
              <a:solidFill>
                <a:srgbClr val="000000"/>
              </a:solidFill>
              <a:effectLst/>
              <a:uLnTx/>
              <a:uFillTx/>
              <a:latin typeface="华文仿宋"/>
              <a:ea typeface="华文仿宋"/>
              <a:cs typeface="华文仿宋"/>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smtClean="0">
                <a:ln>
                  <a:noFill/>
                </a:ln>
                <a:solidFill>
                  <a:srgbClr val="000000"/>
                </a:solidFill>
                <a:effectLst/>
                <a:uLnTx/>
                <a:uFillTx/>
                <a:latin typeface="华文仿宋"/>
                <a:ea typeface="华文仿宋"/>
                <a:cs typeface="华文仿宋"/>
              </a:rPr>
              <a:t>知识库</a:t>
            </a:r>
            <a:endParaRPr kumimoji="0" lang="zh-CN" altLang="en-US" sz="14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23" name="上下箭头 222"/>
          <p:cNvSpPr>
            <a:spLocks noChangeArrowheads="1"/>
          </p:cNvSpPr>
          <p:nvPr/>
        </p:nvSpPr>
        <p:spPr bwMode="auto">
          <a:xfrm>
            <a:off x="9562980" y="3568255"/>
            <a:ext cx="268287" cy="479425"/>
          </a:xfrm>
          <a:prstGeom prst="upDownArrow">
            <a:avLst>
              <a:gd name="adj1" fmla="val 50000"/>
              <a:gd name="adj2" fmla="val 50005"/>
            </a:avLst>
          </a:prstGeom>
          <a:solidFill>
            <a:srgbClr val="F0AD00"/>
          </a:solidFill>
          <a:ln w="6350" algn="ctr">
            <a:solidFill>
              <a:srgbClr val="F0AD00">
                <a:lumMod val="75000"/>
              </a:srgbClr>
            </a:solidFill>
            <a:round/>
            <a:headEnd type="triangle" w="med" len="med"/>
            <a:tailEnd type="triangle" w="med" len="med"/>
          </a:ln>
        </p:spPr>
        <p:txBody>
          <a:bodyPr lIns="36000" rIns="36000" anchor="ctr" anchorCtr="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华文仿宋"/>
              <a:ea typeface="华文仿宋"/>
              <a:cs typeface="华文仿宋"/>
            </a:endParaRPr>
          </a:p>
        </p:txBody>
      </p:sp>
      <p:cxnSp>
        <p:nvCxnSpPr>
          <p:cNvPr id="224" name="直接连接符 66"/>
          <p:cNvCxnSpPr/>
          <p:nvPr/>
        </p:nvCxnSpPr>
        <p:spPr bwMode="auto">
          <a:xfrm>
            <a:off x="3719736" y="1052738"/>
            <a:ext cx="0" cy="3548137"/>
          </a:xfrm>
          <a:prstGeom prst="line">
            <a:avLst/>
          </a:prstGeom>
          <a:noFill/>
          <a:ln w="25400" cap="flat" cmpd="sng" algn="ctr">
            <a:solidFill>
              <a:srgbClr val="FF0000"/>
            </a:solidFill>
            <a:prstDash val="dash"/>
            <a:round/>
            <a:headEnd type="none" w="med" len="med"/>
            <a:tailEnd type="none" w="med" len="med"/>
          </a:ln>
          <a:effectLst/>
        </p:spPr>
      </p:cxnSp>
      <p:cxnSp>
        <p:nvCxnSpPr>
          <p:cNvPr id="225" name="直接连接符 67"/>
          <p:cNvCxnSpPr/>
          <p:nvPr/>
        </p:nvCxnSpPr>
        <p:spPr bwMode="auto">
          <a:xfrm>
            <a:off x="8040216" y="1072483"/>
            <a:ext cx="0" cy="3548137"/>
          </a:xfrm>
          <a:prstGeom prst="line">
            <a:avLst/>
          </a:prstGeom>
          <a:noFill/>
          <a:ln w="25400" cap="flat" cmpd="sng" algn="ctr">
            <a:solidFill>
              <a:srgbClr val="FF0000"/>
            </a:solidFill>
            <a:prstDash val="dash"/>
            <a:round/>
            <a:headEnd type="none" w="med" len="med"/>
            <a:tailEnd type="none" w="med" len="med"/>
          </a:ln>
          <a:effectLst/>
        </p:spPr>
      </p:cxnSp>
      <p:sp>
        <p:nvSpPr>
          <p:cNvPr id="226" name="Rectangle 3"/>
          <p:cNvSpPr>
            <a:spLocks noChangeArrowheads="1"/>
          </p:cNvSpPr>
          <p:nvPr/>
        </p:nvSpPr>
        <p:spPr bwMode="gray">
          <a:xfrm>
            <a:off x="406648" y="5029200"/>
            <a:ext cx="11377984" cy="1424136"/>
          </a:xfrm>
          <a:prstGeom prst="rect">
            <a:avLst/>
          </a:prstGeom>
          <a:solidFill>
            <a:srgbClr val="FFFFFF"/>
          </a:solidFill>
          <a:ln w="25400" algn="ctr">
            <a:solidFill>
              <a:srgbClr val="60B5CC"/>
            </a:solidFill>
            <a:miter lim="800000"/>
            <a:headEnd/>
            <a:tailEnd/>
          </a:ln>
        </p:spPr>
        <p:txBody>
          <a:bodyPr wrap="none" lIns="72000" tIns="72000" rIns="72000" bIns="72000" anchor="ctr"/>
          <a:lstStyle/>
          <a:p>
            <a:pPr marL="0" marR="0" lvl="0" indent="0" algn="ctr" defTabSz="914400" eaLnBrk="0" fontAlgn="auto" latinLnBrk="0" hangingPunct="0">
              <a:lnSpc>
                <a:spcPct val="100000"/>
              </a:lnSpc>
              <a:spcBef>
                <a:spcPct val="20000"/>
              </a:spcBef>
              <a:spcAft>
                <a:spcPts val="0"/>
              </a:spcAft>
              <a:buClrTx/>
              <a:buSzPct val="100000"/>
              <a:buFont typeface="Wingdings" pitchFamily="2" charset="2"/>
              <a:buNone/>
              <a:tabLst/>
              <a:defRPr/>
            </a:pPr>
            <a:endParaRPr kumimoji="0" lang="zh-CN" altLang="en-US" sz="1400" b="1"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227" name="Rectangle 4"/>
          <p:cNvSpPr>
            <a:spLocks noChangeArrowheads="1"/>
          </p:cNvSpPr>
          <p:nvPr/>
        </p:nvSpPr>
        <p:spPr bwMode="gray">
          <a:xfrm>
            <a:off x="395536" y="4667407"/>
            <a:ext cx="11389096" cy="363537"/>
          </a:xfrm>
          <a:prstGeom prst="rect">
            <a:avLst/>
          </a:prstGeom>
          <a:solidFill>
            <a:srgbClr val="288FC8"/>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45720" rIns="45720" anchor="ctr" anchorCtr="1"/>
          <a:lstStyle/>
          <a:p>
            <a:pPr marL="457200" indent="-457200" defTabSz="155575" eaLnBrk="0" hangingPunct="0"/>
            <a:r>
              <a:rPr lang="zh-CN" altLang="en-US" sz="1600" b="1" smtClean="0">
                <a:solidFill>
                  <a:srgbClr val="FFFFFF"/>
                </a:solidFill>
                <a:latin typeface="华文仿宋"/>
                <a:ea typeface="华文仿宋"/>
                <a:cs typeface="华文仿宋"/>
              </a:rPr>
              <a:t>在管理方面主要</a:t>
            </a:r>
            <a:r>
              <a:rPr lang="zh-CN" altLang="en-US" sz="1600" b="1">
                <a:solidFill>
                  <a:srgbClr val="FFFFFF"/>
                </a:solidFill>
                <a:latin typeface="华文仿宋"/>
                <a:ea typeface="华文仿宋"/>
                <a:cs typeface="华文仿宋"/>
              </a:rPr>
              <a:t>存在的问题</a:t>
            </a:r>
          </a:p>
        </p:txBody>
      </p:sp>
      <p:sp>
        <p:nvSpPr>
          <p:cNvPr id="228" name="Text Box 5"/>
          <p:cNvSpPr txBox="1">
            <a:spLocks noChangeArrowheads="1"/>
          </p:cNvSpPr>
          <p:nvPr/>
        </p:nvSpPr>
        <p:spPr bwMode="gray">
          <a:xfrm>
            <a:off x="481013" y="5029200"/>
            <a:ext cx="11159603" cy="1301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2000" tIns="72000" rIns="72000" bIns="72000">
            <a:spAutoFit/>
          </a:bodyPr>
          <a:lstStyle>
            <a:lvl1pPr marL="266700" indent="-266700" eaLnBrk="0" hangingPunct="0">
              <a:defRPr sz="2000">
                <a:solidFill>
                  <a:schemeClr val="tx1"/>
                </a:solidFill>
                <a:latin typeface="Arial" pitchFamily="34" charset="0"/>
                <a:ea typeface="宋体" pitchFamily="2" charset="-122"/>
              </a:defRPr>
            </a:lvl1pPr>
            <a:lvl2pPr marL="742950" indent="-285750" eaLnBrk="0" hangingPunct="0">
              <a:defRPr sz="2000">
                <a:solidFill>
                  <a:schemeClr val="tx1"/>
                </a:solidFill>
                <a:latin typeface="Arial" pitchFamily="34" charset="0"/>
                <a:ea typeface="宋体" pitchFamily="2" charset="-122"/>
              </a:defRPr>
            </a:lvl2pPr>
            <a:lvl3pPr marL="1143000" indent="-228600" eaLnBrk="0" hangingPunct="0">
              <a:defRPr sz="2000">
                <a:solidFill>
                  <a:schemeClr val="tx1"/>
                </a:solidFill>
                <a:latin typeface="Arial" pitchFamily="34" charset="0"/>
                <a:ea typeface="宋体" pitchFamily="2" charset="-122"/>
              </a:defRPr>
            </a:lvl3pPr>
            <a:lvl4pPr marL="1600200" indent="-228600" eaLnBrk="0" hangingPunct="0">
              <a:defRPr sz="2000">
                <a:solidFill>
                  <a:schemeClr val="tx1"/>
                </a:solidFill>
                <a:latin typeface="Arial" pitchFamily="34" charset="0"/>
                <a:ea typeface="宋体" pitchFamily="2" charset="-122"/>
              </a:defRPr>
            </a:lvl4pPr>
            <a:lvl5pPr marL="2057400" indent="-228600" eaLnBrk="0" hangingPunct="0">
              <a:defRPr sz="20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itchFamily="34" charset="0"/>
                <a:ea typeface="宋体" pitchFamily="2" charset="-122"/>
              </a:defRPr>
            </a:lvl9pPr>
          </a:lstStyle>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应用开发方法论和规范不统一：</a:t>
            </a:r>
            <a:r>
              <a:rPr lang="zh-CN" altLang="en-US" sz="1400" dirty="0">
                <a:solidFill>
                  <a:srgbClr val="000000"/>
                </a:solidFill>
                <a:latin typeface="华文仿宋"/>
                <a:ea typeface="华文仿宋"/>
                <a:cs typeface="华文仿宋"/>
              </a:rPr>
              <a:t>现有应用实施方法论和规范由各个厂商</a:t>
            </a:r>
            <a:r>
              <a:rPr lang="zh-CN" altLang="en-US" sz="1400" dirty="0" smtClean="0">
                <a:solidFill>
                  <a:srgbClr val="000000"/>
                </a:solidFill>
                <a:latin typeface="华文仿宋"/>
                <a:ea typeface="华文仿宋"/>
                <a:cs typeface="华文仿宋"/>
              </a:rPr>
              <a:t>控制，每家厂商对流程的理解不同，开发的流程类应用质量参差不齐。方法论和规范各异，导致流程类应用的实施过程难于管理和监控。</a:t>
            </a:r>
            <a:r>
              <a:rPr lang="zh-HK" altLang="en-US" sz="1400" dirty="0" smtClean="0">
                <a:solidFill>
                  <a:srgbClr val="000000"/>
                </a:solidFill>
                <a:latin typeface="华文仿宋"/>
                <a:ea typeface="华文仿宋"/>
                <a:cs typeface="华文仿宋"/>
              </a:rPr>
              <a:t> </a:t>
            </a:r>
            <a:endParaRPr lang="zh-CN" altLang="en-US" sz="1400" b="1" dirty="0">
              <a:solidFill>
                <a:srgbClr val="000000"/>
              </a:solidFill>
              <a:latin typeface="华文仿宋"/>
              <a:ea typeface="华文仿宋"/>
              <a:cs typeface="华文仿宋"/>
            </a:endParaRPr>
          </a:p>
          <a:p>
            <a:pPr algn="l">
              <a:lnSpc>
                <a:spcPct val="120000"/>
              </a:lnSpc>
              <a:spcBef>
                <a:spcPct val="60000"/>
              </a:spcBef>
              <a:buClr>
                <a:srgbClr val="0000CC"/>
              </a:buClr>
              <a:buFont typeface="Wingdings" pitchFamily="2" charset="2"/>
              <a:buChar char="Ø"/>
            </a:pPr>
            <a:r>
              <a:rPr lang="zh-CN" altLang="en-US" sz="1400" b="1" dirty="0" smtClean="0">
                <a:solidFill>
                  <a:srgbClr val="000000"/>
                </a:solidFill>
                <a:latin typeface="华文仿宋"/>
                <a:ea typeface="华文仿宋"/>
                <a:cs typeface="华文仿宋"/>
              </a:rPr>
              <a:t>流程应用间相对独立，没有有效的复用机制：</a:t>
            </a:r>
            <a:r>
              <a:rPr lang="zh-CN" altLang="en-US" sz="1400" dirty="0" smtClean="0">
                <a:solidFill>
                  <a:srgbClr val="000000"/>
                </a:solidFill>
                <a:latin typeface="华文仿宋"/>
                <a:ea typeface="华文仿宋"/>
                <a:cs typeface="华文仿宋"/>
              </a:rPr>
              <a:t>流程应用之间没有复用机制，流程类基础组件重复开发</a:t>
            </a:r>
            <a:r>
              <a:rPr lang="zh-CN" altLang="en-US" sz="1400" dirty="0">
                <a:solidFill>
                  <a:srgbClr val="000000"/>
                </a:solidFill>
                <a:latin typeface="华文仿宋"/>
                <a:ea typeface="华文仿宋"/>
                <a:cs typeface="华文仿宋"/>
              </a:rPr>
              <a:t>，</a:t>
            </a:r>
            <a:r>
              <a:rPr lang="zh-CN" altLang="en-US" sz="1400" dirty="0" smtClean="0">
                <a:solidFill>
                  <a:srgbClr val="000000"/>
                </a:solidFill>
                <a:latin typeface="华文仿宋"/>
                <a:ea typeface="华文仿宋"/>
                <a:cs typeface="华文仿宋"/>
              </a:rPr>
              <a:t>流程应用开发周期较长，同时项目成本也较高。</a:t>
            </a:r>
            <a:endParaRPr lang="en-US" altLang="zh-CN" sz="1400" dirty="0">
              <a:solidFill>
                <a:srgbClr val="000000"/>
              </a:solidFill>
              <a:latin typeface="华文仿宋"/>
              <a:ea typeface="华文仿宋"/>
              <a:cs typeface="华文仿宋"/>
            </a:endParaRPr>
          </a:p>
        </p:txBody>
      </p:sp>
    </p:spTree>
    <p:extLst>
      <p:ext uri="{BB962C8B-B14F-4D97-AF65-F5344CB8AC3E}">
        <p14:creationId xmlns:p14="http://schemas.microsoft.com/office/powerpoint/2010/main" val="2243601292"/>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统一流程平台三步法：共享、整合与优化</a:t>
            </a:r>
            <a:endParaRPr kumimoji="1" lang="zh-CN" altLang="en-US" dirty="0"/>
          </a:p>
        </p:txBody>
      </p:sp>
      <p:grpSp>
        <p:nvGrpSpPr>
          <p:cNvPr id="37" name="组合 43011"/>
          <p:cNvGrpSpPr/>
          <p:nvPr/>
        </p:nvGrpSpPr>
        <p:grpSpPr>
          <a:xfrm>
            <a:off x="623009" y="4562200"/>
            <a:ext cx="5400984" cy="1219587"/>
            <a:chOff x="467255" y="4801701"/>
            <a:chExt cx="4050738" cy="1219587"/>
          </a:xfrm>
        </p:grpSpPr>
        <p:sp>
          <p:nvSpPr>
            <p:cNvPr id="38" name="Freeform 357"/>
            <p:cNvSpPr>
              <a:spLocks/>
            </p:cNvSpPr>
            <p:nvPr/>
          </p:nvSpPr>
          <p:spPr bwMode="auto">
            <a:xfrm>
              <a:off x="478429" y="4801701"/>
              <a:ext cx="3048957" cy="480556"/>
            </a:xfrm>
            <a:custGeom>
              <a:avLst/>
              <a:gdLst>
                <a:gd name="T0" fmla="*/ 2147483647 w 577"/>
                <a:gd name="T1" fmla="*/ 2147483647 h 80"/>
                <a:gd name="T2" fmla="*/ 2147483647 w 577"/>
                <a:gd name="T3" fmla="*/ 0 h 80"/>
                <a:gd name="T4" fmla="*/ 2147483647 w 577"/>
                <a:gd name="T5" fmla="*/ 0 h 80"/>
                <a:gd name="T6" fmla="*/ 0 w 577"/>
                <a:gd name="T7" fmla="*/ 2147483647 h 80"/>
                <a:gd name="T8" fmla="*/ 0 w 577"/>
                <a:gd name="T9" fmla="*/ 2147483647 h 80"/>
                <a:gd name="T10" fmla="*/ 2147483647 w 577"/>
                <a:gd name="T11" fmla="*/ 2147483647 h 80"/>
                <a:gd name="T12" fmla="*/ 2147483647 w 577"/>
                <a:gd name="T13" fmla="*/ 2147483647 h 80"/>
                <a:gd name="T14" fmla="*/ 2147483647 w 577"/>
                <a:gd name="T15" fmla="*/ 2147483647 h 80"/>
                <a:gd name="T16" fmla="*/ 2147483647 w 577"/>
                <a:gd name="T17" fmla="*/ 2147483647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
                <a:gd name="T28" fmla="*/ 0 h 80"/>
                <a:gd name="T29" fmla="*/ 577 w 577"/>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 h="80">
                  <a:moveTo>
                    <a:pt x="526" y="5"/>
                  </a:moveTo>
                  <a:cubicBezTo>
                    <a:pt x="524" y="3"/>
                    <a:pt x="520" y="0"/>
                    <a:pt x="517" y="0"/>
                  </a:cubicBezTo>
                  <a:cubicBezTo>
                    <a:pt x="5" y="0"/>
                    <a:pt x="5" y="0"/>
                    <a:pt x="5" y="0"/>
                  </a:cubicBezTo>
                  <a:cubicBezTo>
                    <a:pt x="2" y="0"/>
                    <a:pt x="0" y="3"/>
                    <a:pt x="0" y="6"/>
                  </a:cubicBezTo>
                  <a:cubicBezTo>
                    <a:pt x="0" y="75"/>
                    <a:pt x="0" y="75"/>
                    <a:pt x="0" y="75"/>
                  </a:cubicBezTo>
                  <a:cubicBezTo>
                    <a:pt x="0" y="78"/>
                    <a:pt x="2" y="80"/>
                    <a:pt x="5" y="80"/>
                  </a:cubicBezTo>
                  <a:cubicBezTo>
                    <a:pt x="573" y="80"/>
                    <a:pt x="573" y="80"/>
                    <a:pt x="573" y="80"/>
                  </a:cubicBezTo>
                  <a:cubicBezTo>
                    <a:pt x="576" y="80"/>
                    <a:pt x="577" y="78"/>
                    <a:pt x="575" y="76"/>
                  </a:cubicBezTo>
                  <a:lnTo>
                    <a:pt x="526" y="5"/>
                  </a:lnTo>
                  <a:close/>
                </a:path>
              </a:pathLst>
            </a:custGeom>
            <a:solidFill>
              <a:srgbClr val="FFFF00"/>
            </a:solidFill>
            <a:ln w="19050" algn="ctr">
              <a:solidFill>
                <a:srgbClr val="006699"/>
              </a:solidFill>
              <a:round/>
              <a:headEnd/>
              <a:tailEnd/>
            </a:ln>
          </p:spPr>
          <p:txBody>
            <a:bodyPr lIns="36000" tIns="36000" rIns="0" bIns="0"/>
            <a:lstStyle/>
            <a:p>
              <a:pPr fontAlgn="base">
                <a:lnSpc>
                  <a:spcPct val="115000"/>
                </a:lnSpc>
                <a:spcBef>
                  <a:spcPct val="0"/>
                </a:spcBef>
                <a:spcAft>
                  <a:spcPct val="0"/>
                </a:spcAft>
                <a:buClr>
                  <a:srgbClr val="333333"/>
                </a:buClr>
                <a:buSzPct val="80000"/>
                <a:buFont typeface="Wingdings" pitchFamily="2" charset="2"/>
                <a:buNone/>
              </a:pP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三</a:t>
              </a: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 </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实时监控与持续优化</a:t>
              </a:r>
              <a:endParaRPr lang="en-US" altLang="en-US" sz="16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39" name="AutoShape 7"/>
            <p:cNvSpPr>
              <a:spLocks noChangeArrowheads="1"/>
            </p:cNvSpPr>
            <p:nvPr/>
          </p:nvSpPr>
          <p:spPr bwMode="gray">
            <a:xfrm>
              <a:off x="467255" y="5126773"/>
              <a:ext cx="4050738" cy="894515"/>
            </a:xfrm>
            <a:prstGeom prst="homePlate">
              <a:avLst>
                <a:gd name="adj" fmla="val 24465"/>
              </a:avLst>
            </a:prstGeom>
            <a:solidFill>
              <a:srgbClr val="006699"/>
            </a:solidFill>
            <a:ln w="3175" algn="ctr">
              <a:solidFill>
                <a:srgbClr val="000000"/>
              </a:solidFill>
              <a:miter lim="800000"/>
              <a:headEnd/>
              <a:tailEnd/>
            </a:ln>
            <a:effectLst>
              <a:outerShdw dist="35921" dir="2700000" algn="ctr" rotWithShape="0">
                <a:srgbClr val="727272"/>
              </a:outerShdw>
            </a:effectLst>
          </p:spPr>
          <p:txBody>
            <a:bodyPr wrap="square" lIns="90000" tIns="46800" rIns="90000" bIns="46800" anchor="ctr"/>
            <a:lstStyle/>
            <a:p>
              <a:pPr>
                <a:lnSpc>
                  <a:spcPct val="150000"/>
                </a:lnSpc>
              </a:pPr>
              <a:r>
                <a:rPr lang="zh-CN" altLang="en-US" sz="1400" kern="0" dirty="0">
                  <a:solidFill>
                    <a:srgbClr val="FFFFFF"/>
                  </a:solidFill>
                  <a:latin typeface="华文仿宋"/>
                  <a:ea typeface="华文仿宋"/>
                  <a:cs typeface="华文仿宋"/>
                </a:rPr>
                <a:t>实现流程绩效与业务指标的实时监控与分析，提升对流程改进与业务创新的支撑能力</a:t>
              </a:r>
            </a:p>
          </p:txBody>
        </p:sp>
      </p:grpSp>
      <p:grpSp>
        <p:nvGrpSpPr>
          <p:cNvPr id="40" name="组合 43010"/>
          <p:cNvGrpSpPr/>
          <p:nvPr/>
        </p:nvGrpSpPr>
        <p:grpSpPr>
          <a:xfrm>
            <a:off x="622756" y="3069477"/>
            <a:ext cx="5401236" cy="1276836"/>
            <a:chOff x="467065" y="3308981"/>
            <a:chExt cx="4050927" cy="1276836"/>
          </a:xfrm>
        </p:grpSpPr>
        <p:sp>
          <p:nvSpPr>
            <p:cNvPr id="41" name="Freeform 357"/>
            <p:cNvSpPr>
              <a:spLocks/>
            </p:cNvSpPr>
            <p:nvPr/>
          </p:nvSpPr>
          <p:spPr bwMode="auto">
            <a:xfrm>
              <a:off x="477950" y="3308981"/>
              <a:ext cx="3048957" cy="480556"/>
            </a:xfrm>
            <a:custGeom>
              <a:avLst/>
              <a:gdLst>
                <a:gd name="T0" fmla="*/ 2147483647 w 577"/>
                <a:gd name="T1" fmla="*/ 2147483647 h 80"/>
                <a:gd name="T2" fmla="*/ 2147483647 w 577"/>
                <a:gd name="T3" fmla="*/ 0 h 80"/>
                <a:gd name="T4" fmla="*/ 2147483647 w 577"/>
                <a:gd name="T5" fmla="*/ 0 h 80"/>
                <a:gd name="T6" fmla="*/ 0 w 577"/>
                <a:gd name="T7" fmla="*/ 2147483647 h 80"/>
                <a:gd name="T8" fmla="*/ 0 w 577"/>
                <a:gd name="T9" fmla="*/ 2147483647 h 80"/>
                <a:gd name="T10" fmla="*/ 2147483647 w 577"/>
                <a:gd name="T11" fmla="*/ 2147483647 h 80"/>
                <a:gd name="T12" fmla="*/ 2147483647 w 577"/>
                <a:gd name="T13" fmla="*/ 2147483647 h 80"/>
                <a:gd name="T14" fmla="*/ 2147483647 w 577"/>
                <a:gd name="T15" fmla="*/ 2147483647 h 80"/>
                <a:gd name="T16" fmla="*/ 2147483647 w 577"/>
                <a:gd name="T17" fmla="*/ 2147483647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
                <a:gd name="T28" fmla="*/ 0 h 80"/>
                <a:gd name="T29" fmla="*/ 577 w 577"/>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 h="80">
                  <a:moveTo>
                    <a:pt x="526" y="5"/>
                  </a:moveTo>
                  <a:cubicBezTo>
                    <a:pt x="524" y="3"/>
                    <a:pt x="520" y="0"/>
                    <a:pt x="517" y="0"/>
                  </a:cubicBezTo>
                  <a:cubicBezTo>
                    <a:pt x="5" y="0"/>
                    <a:pt x="5" y="0"/>
                    <a:pt x="5" y="0"/>
                  </a:cubicBezTo>
                  <a:cubicBezTo>
                    <a:pt x="2" y="0"/>
                    <a:pt x="0" y="3"/>
                    <a:pt x="0" y="6"/>
                  </a:cubicBezTo>
                  <a:cubicBezTo>
                    <a:pt x="0" y="75"/>
                    <a:pt x="0" y="75"/>
                    <a:pt x="0" y="75"/>
                  </a:cubicBezTo>
                  <a:cubicBezTo>
                    <a:pt x="0" y="78"/>
                    <a:pt x="2" y="80"/>
                    <a:pt x="5" y="80"/>
                  </a:cubicBezTo>
                  <a:cubicBezTo>
                    <a:pt x="573" y="80"/>
                    <a:pt x="573" y="80"/>
                    <a:pt x="573" y="80"/>
                  </a:cubicBezTo>
                  <a:cubicBezTo>
                    <a:pt x="576" y="80"/>
                    <a:pt x="577" y="78"/>
                    <a:pt x="575" y="76"/>
                  </a:cubicBezTo>
                  <a:lnTo>
                    <a:pt x="526" y="5"/>
                  </a:lnTo>
                  <a:close/>
                </a:path>
              </a:pathLst>
            </a:custGeom>
            <a:solidFill>
              <a:srgbClr val="FFFF00"/>
            </a:solidFill>
            <a:ln w="19050" algn="ctr">
              <a:solidFill>
                <a:srgbClr val="006699"/>
              </a:solidFill>
              <a:round/>
              <a:headEnd/>
              <a:tailEnd/>
            </a:ln>
          </p:spPr>
          <p:txBody>
            <a:bodyPr lIns="36000" tIns="36000" rIns="0" bIns="0"/>
            <a:lstStyle/>
            <a:p>
              <a:pPr fontAlgn="base">
                <a:lnSpc>
                  <a:spcPct val="115000"/>
                </a:lnSpc>
                <a:spcBef>
                  <a:spcPct val="0"/>
                </a:spcBef>
                <a:spcAft>
                  <a:spcPct val="0"/>
                </a:spcAft>
                <a:buClr>
                  <a:srgbClr val="333333"/>
                </a:buClr>
                <a:buSzPct val="80000"/>
                <a:buFont typeface="Wingdings" pitchFamily="2" charset="2"/>
                <a:buNone/>
              </a:pP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二</a:t>
              </a: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 </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以流程为中心的整合</a:t>
              </a:r>
              <a:endParaRPr lang="en-US" altLang="en-US" sz="16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42" name="AutoShape 7"/>
            <p:cNvSpPr>
              <a:spLocks noChangeArrowheads="1"/>
            </p:cNvSpPr>
            <p:nvPr/>
          </p:nvSpPr>
          <p:spPr bwMode="gray">
            <a:xfrm>
              <a:off x="467065" y="3645024"/>
              <a:ext cx="4050927" cy="940793"/>
            </a:xfrm>
            <a:prstGeom prst="homePlate">
              <a:avLst>
                <a:gd name="adj" fmla="val 24465"/>
              </a:avLst>
            </a:prstGeom>
            <a:solidFill>
              <a:srgbClr val="006699"/>
            </a:solidFill>
            <a:ln w="3175" algn="ctr">
              <a:solidFill>
                <a:srgbClr val="000000"/>
              </a:solidFill>
              <a:miter lim="800000"/>
              <a:headEnd/>
              <a:tailEnd/>
            </a:ln>
            <a:effectLst>
              <a:outerShdw dist="35921" dir="2700000" algn="ctr" rotWithShape="0">
                <a:srgbClr val="727272"/>
              </a:outerShdw>
            </a:effectLst>
          </p:spPr>
          <p:txBody>
            <a:bodyPr wrap="square" lIns="90000" tIns="46800" rIns="90000" bIns="46800" anchor="ctr"/>
            <a:lstStyle/>
            <a:p>
              <a:pPr>
                <a:lnSpc>
                  <a:spcPct val="150000"/>
                </a:lnSpc>
              </a:pPr>
              <a:r>
                <a:rPr lang="zh-CN" altLang="en-US" sz="1400" kern="0" dirty="0">
                  <a:solidFill>
                    <a:srgbClr val="FFFFFF"/>
                  </a:solidFill>
                  <a:latin typeface="华文仿宋"/>
                  <a:ea typeface="华文仿宋"/>
                  <a:cs typeface="华文仿宋"/>
                </a:rPr>
                <a:t>实现以流程为中心的流程</a:t>
              </a:r>
              <a:r>
                <a:rPr lang="en-US" altLang="zh-CN" sz="1400" kern="0" dirty="0">
                  <a:solidFill>
                    <a:srgbClr val="FFFFFF"/>
                  </a:solidFill>
                  <a:latin typeface="华文仿宋"/>
                  <a:ea typeface="华文仿宋"/>
                  <a:cs typeface="华文仿宋"/>
                </a:rPr>
                <a:t>/</a:t>
              </a:r>
              <a:r>
                <a:rPr lang="zh-CN" altLang="en-US" sz="1400" kern="0" dirty="0">
                  <a:solidFill>
                    <a:srgbClr val="FFFFFF"/>
                  </a:solidFill>
                  <a:latin typeface="华文仿宋"/>
                  <a:ea typeface="华文仿宋"/>
                  <a:cs typeface="华文仿宋"/>
                </a:rPr>
                <a:t>服务</a:t>
              </a:r>
              <a:r>
                <a:rPr lang="en-US" altLang="zh-CN" sz="1400" kern="0" dirty="0">
                  <a:solidFill>
                    <a:srgbClr val="FFFFFF"/>
                  </a:solidFill>
                  <a:latin typeface="华文仿宋"/>
                  <a:ea typeface="华文仿宋"/>
                  <a:cs typeface="华文仿宋"/>
                </a:rPr>
                <a:t>/UI</a:t>
              </a:r>
              <a:r>
                <a:rPr lang="zh-CN" altLang="en-US" sz="1400" kern="0" dirty="0">
                  <a:solidFill>
                    <a:srgbClr val="FFFFFF"/>
                  </a:solidFill>
                  <a:latin typeface="华文仿宋"/>
                  <a:ea typeface="华文仿宋"/>
                  <a:cs typeface="华文仿宋"/>
                </a:rPr>
                <a:t>的整合，形成以客户为中心的统一视图，为企业业务创新与敏捷响应奠定基础</a:t>
              </a:r>
            </a:p>
          </p:txBody>
        </p:sp>
      </p:grpSp>
      <p:grpSp>
        <p:nvGrpSpPr>
          <p:cNvPr id="43" name="组合 43008"/>
          <p:cNvGrpSpPr/>
          <p:nvPr/>
        </p:nvGrpSpPr>
        <p:grpSpPr>
          <a:xfrm>
            <a:off x="623394" y="1412776"/>
            <a:ext cx="5400598" cy="1416680"/>
            <a:chOff x="467544" y="1652280"/>
            <a:chExt cx="4050449" cy="1416680"/>
          </a:xfrm>
        </p:grpSpPr>
        <p:sp>
          <p:nvSpPr>
            <p:cNvPr id="44" name="Freeform 357"/>
            <p:cNvSpPr>
              <a:spLocks/>
            </p:cNvSpPr>
            <p:nvPr/>
          </p:nvSpPr>
          <p:spPr bwMode="auto">
            <a:xfrm>
              <a:off x="477950" y="1652280"/>
              <a:ext cx="3048957" cy="480556"/>
            </a:xfrm>
            <a:custGeom>
              <a:avLst/>
              <a:gdLst>
                <a:gd name="T0" fmla="*/ 2147483647 w 577"/>
                <a:gd name="T1" fmla="*/ 2147483647 h 80"/>
                <a:gd name="T2" fmla="*/ 2147483647 w 577"/>
                <a:gd name="T3" fmla="*/ 0 h 80"/>
                <a:gd name="T4" fmla="*/ 2147483647 w 577"/>
                <a:gd name="T5" fmla="*/ 0 h 80"/>
                <a:gd name="T6" fmla="*/ 0 w 577"/>
                <a:gd name="T7" fmla="*/ 2147483647 h 80"/>
                <a:gd name="T8" fmla="*/ 0 w 577"/>
                <a:gd name="T9" fmla="*/ 2147483647 h 80"/>
                <a:gd name="T10" fmla="*/ 2147483647 w 577"/>
                <a:gd name="T11" fmla="*/ 2147483647 h 80"/>
                <a:gd name="T12" fmla="*/ 2147483647 w 577"/>
                <a:gd name="T13" fmla="*/ 2147483647 h 80"/>
                <a:gd name="T14" fmla="*/ 2147483647 w 577"/>
                <a:gd name="T15" fmla="*/ 2147483647 h 80"/>
                <a:gd name="T16" fmla="*/ 2147483647 w 577"/>
                <a:gd name="T17" fmla="*/ 2147483647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
                <a:gd name="T28" fmla="*/ 0 h 80"/>
                <a:gd name="T29" fmla="*/ 577 w 577"/>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 h="80">
                  <a:moveTo>
                    <a:pt x="526" y="5"/>
                  </a:moveTo>
                  <a:cubicBezTo>
                    <a:pt x="524" y="3"/>
                    <a:pt x="520" y="0"/>
                    <a:pt x="517" y="0"/>
                  </a:cubicBezTo>
                  <a:cubicBezTo>
                    <a:pt x="5" y="0"/>
                    <a:pt x="5" y="0"/>
                    <a:pt x="5" y="0"/>
                  </a:cubicBezTo>
                  <a:cubicBezTo>
                    <a:pt x="2" y="0"/>
                    <a:pt x="0" y="3"/>
                    <a:pt x="0" y="6"/>
                  </a:cubicBezTo>
                  <a:cubicBezTo>
                    <a:pt x="0" y="75"/>
                    <a:pt x="0" y="75"/>
                    <a:pt x="0" y="75"/>
                  </a:cubicBezTo>
                  <a:cubicBezTo>
                    <a:pt x="0" y="78"/>
                    <a:pt x="2" y="80"/>
                    <a:pt x="5" y="80"/>
                  </a:cubicBezTo>
                  <a:cubicBezTo>
                    <a:pt x="573" y="80"/>
                    <a:pt x="573" y="80"/>
                    <a:pt x="573" y="80"/>
                  </a:cubicBezTo>
                  <a:cubicBezTo>
                    <a:pt x="576" y="80"/>
                    <a:pt x="577" y="78"/>
                    <a:pt x="575" y="76"/>
                  </a:cubicBezTo>
                  <a:lnTo>
                    <a:pt x="526" y="5"/>
                  </a:lnTo>
                  <a:close/>
                </a:path>
              </a:pathLst>
            </a:custGeom>
            <a:solidFill>
              <a:srgbClr val="FFFF00"/>
            </a:solidFill>
            <a:ln w="19050" algn="ctr">
              <a:solidFill>
                <a:srgbClr val="006699"/>
              </a:solidFill>
              <a:round/>
              <a:headEnd/>
              <a:tailEnd/>
            </a:ln>
          </p:spPr>
          <p:txBody>
            <a:bodyPr lIns="36000" tIns="36000" rIns="0" bIns="0"/>
            <a:lstStyle/>
            <a:p>
              <a:pPr fontAlgn="base">
                <a:lnSpc>
                  <a:spcPct val="115000"/>
                </a:lnSpc>
                <a:spcBef>
                  <a:spcPct val="0"/>
                </a:spcBef>
                <a:spcAft>
                  <a:spcPct val="0"/>
                </a:spcAft>
                <a:buClr>
                  <a:srgbClr val="333333"/>
                </a:buClr>
                <a:buSzPct val="80000"/>
                <a:buFont typeface="Wingdings" pitchFamily="2" charset="2"/>
                <a:buNone/>
              </a:pP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一</a:t>
              </a:r>
              <a:r>
                <a:rPr lang="en-US" altLang="zh-CN"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 </a:t>
              </a:r>
              <a:r>
                <a:rPr lang="zh-CN" altLang="en-US" sz="1600" dirty="0" smtClean="0">
                  <a:solidFill>
                    <a:srgbClr val="000000"/>
                  </a:solidFill>
                  <a:effectLst>
                    <a:outerShdw blurRad="38100" dist="38100" dir="2700000" algn="tl">
                      <a:srgbClr val="000000">
                        <a:alpha val="43137"/>
                      </a:srgbClr>
                    </a:outerShdw>
                  </a:effectLst>
                  <a:latin typeface="华文仿宋"/>
                  <a:ea typeface="华文仿宋"/>
                  <a:cs typeface="华文仿宋"/>
                </a:rPr>
                <a:t>共享平台，统一架构与规范</a:t>
              </a:r>
              <a:endParaRPr lang="en-US" altLang="en-US" sz="16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45" name="AutoShape 6"/>
            <p:cNvSpPr>
              <a:spLocks noChangeArrowheads="1"/>
            </p:cNvSpPr>
            <p:nvPr/>
          </p:nvSpPr>
          <p:spPr bwMode="gray">
            <a:xfrm>
              <a:off x="467544" y="2010280"/>
              <a:ext cx="4050449" cy="1058680"/>
            </a:xfrm>
            <a:prstGeom prst="homePlate">
              <a:avLst>
                <a:gd name="adj" fmla="val 26551"/>
              </a:avLst>
            </a:prstGeom>
            <a:solidFill>
              <a:srgbClr val="006699"/>
            </a:solidFill>
            <a:ln w="3175" algn="ctr">
              <a:solidFill>
                <a:srgbClr val="000000"/>
              </a:solidFill>
              <a:miter lim="800000"/>
              <a:headEnd/>
              <a:tailEnd/>
            </a:ln>
            <a:effectLst>
              <a:outerShdw dist="35921" dir="2700000" algn="ctr" rotWithShape="0">
                <a:srgbClr val="727272"/>
              </a:outerShdw>
            </a:effectLst>
          </p:spPr>
          <p:txBody>
            <a:bodyPr wrap="square" lIns="90000" tIns="46800" rIns="90000" bIns="46800" anchor="ctr"/>
            <a:lstStyle/>
            <a:p>
              <a:pPr>
                <a:lnSpc>
                  <a:spcPct val="150000"/>
                </a:lnSpc>
              </a:pPr>
              <a:r>
                <a:rPr lang="zh-CN" altLang="en-US" sz="1400" kern="0" dirty="0">
                  <a:solidFill>
                    <a:srgbClr val="FFFFFF"/>
                  </a:solidFill>
                  <a:latin typeface="华文仿宋"/>
                  <a:ea typeface="华文仿宋"/>
                  <a:cs typeface="华文仿宋"/>
                </a:rPr>
                <a:t>建立企业级或业务域级共享的统一流程平台，统一技术架构与相关方法论和规范，提高质量与效率，降低管理和运维成本</a:t>
              </a:r>
            </a:p>
          </p:txBody>
        </p:sp>
      </p:grpSp>
      <p:grpSp>
        <p:nvGrpSpPr>
          <p:cNvPr id="46" name="组合 2"/>
          <p:cNvGrpSpPr/>
          <p:nvPr/>
        </p:nvGrpSpPr>
        <p:grpSpPr>
          <a:xfrm>
            <a:off x="8576207" y="1353789"/>
            <a:ext cx="2704369" cy="4392488"/>
            <a:chOff x="5360367" y="1844824"/>
            <a:chExt cx="2704369" cy="4392488"/>
          </a:xfrm>
        </p:grpSpPr>
        <p:grpSp>
          <p:nvGrpSpPr>
            <p:cNvPr id="47" name="Group 54"/>
            <p:cNvGrpSpPr>
              <a:grpSpLocks/>
            </p:cNvGrpSpPr>
            <p:nvPr/>
          </p:nvGrpSpPr>
          <p:grpSpPr bwMode="auto">
            <a:xfrm>
              <a:off x="5360367" y="1844824"/>
              <a:ext cx="2652712" cy="2782887"/>
              <a:chOff x="3656" y="1428"/>
              <a:chExt cx="1801" cy="1889"/>
            </a:xfrm>
          </p:grpSpPr>
          <p:sp>
            <p:nvSpPr>
              <p:cNvPr id="49" name="Arc 14"/>
              <p:cNvSpPr>
                <a:spLocks noChangeAspect="1"/>
              </p:cNvSpPr>
              <p:nvPr/>
            </p:nvSpPr>
            <p:spPr bwMode="auto">
              <a:xfrm rot="16200000">
                <a:off x="4399" y="1209"/>
                <a:ext cx="305" cy="743"/>
              </a:xfrm>
              <a:custGeom>
                <a:avLst/>
                <a:gdLst>
                  <a:gd name="G0" fmla="+- 185 0 0"/>
                  <a:gd name="G1" fmla="+- 21600 0 0"/>
                  <a:gd name="G2" fmla="+- 21600 0 0"/>
                  <a:gd name="T0" fmla="*/ 185 w 21785"/>
                  <a:gd name="T1" fmla="*/ 0 h 43200"/>
                  <a:gd name="T2" fmla="*/ 0 w 21785"/>
                  <a:gd name="T3" fmla="*/ 43199 h 43200"/>
                  <a:gd name="T4" fmla="*/ 185 w 21785"/>
                  <a:gd name="T5" fmla="*/ 21600 h 43200"/>
                </a:gdLst>
                <a:ahLst/>
                <a:cxnLst>
                  <a:cxn ang="0">
                    <a:pos x="T0" y="T1"/>
                  </a:cxn>
                  <a:cxn ang="0">
                    <a:pos x="T2" y="T3"/>
                  </a:cxn>
                  <a:cxn ang="0">
                    <a:pos x="T4" y="T5"/>
                  </a:cxn>
                </a:cxnLst>
                <a:rect l="0" t="0" r="r" b="b"/>
                <a:pathLst>
                  <a:path w="21785" h="43200" fill="none" extrusionOk="0">
                    <a:moveTo>
                      <a:pt x="184" y="0"/>
                    </a:moveTo>
                    <a:cubicBezTo>
                      <a:pt x="12114" y="0"/>
                      <a:pt x="21785" y="9670"/>
                      <a:pt x="21785" y="21600"/>
                    </a:cubicBezTo>
                    <a:cubicBezTo>
                      <a:pt x="21785" y="33529"/>
                      <a:pt x="12114" y="43200"/>
                      <a:pt x="185" y="43200"/>
                    </a:cubicBezTo>
                    <a:cubicBezTo>
                      <a:pt x="123" y="43200"/>
                      <a:pt x="61" y="43199"/>
                      <a:pt x="-1" y="43199"/>
                    </a:cubicBezTo>
                  </a:path>
                  <a:path w="21785" h="43200" stroke="0" extrusionOk="0">
                    <a:moveTo>
                      <a:pt x="184" y="0"/>
                    </a:moveTo>
                    <a:cubicBezTo>
                      <a:pt x="12114" y="0"/>
                      <a:pt x="21785" y="9670"/>
                      <a:pt x="21785" y="21600"/>
                    </a:cubicBezTo>
                    <a:cubicBezTo>
                      <a:pt x="21785" y="33529"/>
                      <a:pt x="12114" y="43200"/>
                      <a:pt x="185" y="43200"/>
                    </a:cubicBezTo>
                    <a:cubicBezTo>
                      <a:pt x="123" y="43200"/>
                      <a:pt x="61" y="43199"/>
                      <a:pt x="-1" y="43199"/>
                    </a:cubicBezTo>
                    <a:lnTo>
                      <a:pt x="185" y="21600"/>
                    </a:lnTo>
                    <a:close/>
                  </a:path>
                </a:pathLst>
              </a:custGeom>
              <a:solidFill>
                <a:srgbClr val="7889FB"/>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0" name="Text Box 15"/>
              <p:cNvSpPr txBox="1">
                <a:spLocks noChangeAspect="1" noChangeArrowheads="1"/>
              </p:cNvSpPr>
              <p:nvPr/>
            </p:nvSpPr>
            <p:spPr bwMode="auto">
              <a:xfrm>
                <a:off x="4402" y="1523"/>
                <a:ext cx="311"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0" fontAlgn="auto" latinLnBrk="0" hangingPunct="0">
                  <a:lnSpc>
                    <a:spcPct val="100000"/>
                  </a:lnSpc>
                  <a:spcBef>
                    <a:spcPct val="0"/>
                  </a:spcBef>
                  <a:spcAft>
                    <a:spcPts val="0"/>
                  </a:spcAft>
                  <a:buClrTx/>
                  <a:buSzTx/>
                  <a:buFontTx/>
                  <a:buNone/>
                  <a:tabLst/>
                  <a:defRPr/>
                </a:pPr>
                <a:r>
                  <a:rPr kumimoji="0" lang="zh-CN" altLang="en-US" sz="1800" b="0" i="0" u="none" strike="noStrike" kern="0" cap="none" spc="0" normalizeH="0" baseline="0" noProof="0" dirty="0" smtClean="0">
                    <a:ln>
                      <a:noFill/>
                    </a:ln>
                    <a:solidFill>
                      <a:srgbClr val="FFFFFF"/>
                    </a:solidFill>
                    <a:effectLst/>
                    <a:uLnTx/>
                    <a:uFillTx/>
                    <a:latin typeface="华文仿宋"/>
                    <a:ea typeface="华文仿宋"/>
                    <a:cs typeface="华文仿宋"/>
                  </a:rPr>
                  <a:t>愿景</a:t>
                </a:r>
              </a:p>
            </p:txBody>
          </p:sp>
          <p:grpSp>
            <p:nvGrpSpPr>
              <p:cNvPr id="51" name="Group 16"/>
              <p:cNvGrpSpPr>
                <a:grpSpLocks/>
              </p:cNvGrpSpPr>
              <p:nvPr/>
            </p:nvGrpSpPr>
            <p:grpSpPr bwMode="auto">
              <a:xfrm>
                <a:off x="3656" y="1730"/>
                <a:ext cx="1801" cy="1587"/>
                <a:chOff x="3814" y="1802"/>
                <a:chExt cx="1675" cy="1587"/>
              </a:xfrm>
            </p:grpSpPr>
            <p:sp>
              <p:nvSpPr>
                <p:cNvPr id="52" name="Arc 17"/>
                <p:cNvSpPr>
                  <a:spLocks noChangeAspect="1"/>
                </p:cNvSpPr>
                <p:nvPr/>
              </p:nvSpPr>
              <p:spPr bwMode="auto">
                <a:xfrm>
                  <a:off x="4319" y="1802"/>
                  <a:ext cx="681" cy="152"/>
                </a:xfrm>
                <a:custGeom>
                  <a:avLst/>
                  <a:gdLst>
                    <a:gd name="G0" fmla="+- 21600 0 0"/>
                    <a:gd name="G1" fmla="+- 0 0 0"/>
                    <a:gd name="G2" fmla="+- 21600 0 0"/>
                    <a:gd name="T0" fmla="*/ 43200 w 43200"/>
                    <a:gd name="T1" fmla="*/ 0 h 21600"/>
                    <a:gd name="T2" fmla="*/ 0 w 43200"/>
                    <a:gd name="T3" fmla="*/ 0 h 21600"/>
                    <a:gd name="T4" fmla="*/ 21600 w 43200"/>
                    <a:gd name="T5" fmla="*/ 0 h 21600"/>
                  </a:gdLst>
                  <a:ahLst/>
                  <a:cxnLst>
                    <a:cxn ang="0">
                      <a:pos x="T0" y="T1"/>
                    </a:cxn>
                    <a:cxn ang="0">
                      <a:pos x="T2" y="T3"/>
                    </a:cxn>
                    <a:cxn ang="0">
                      <a:pos x="T4" y="T5"/>
                    </a:cxn>
                  </a:cxnLst>
                  <a:rect l="0" t="0" r="r" b="b"/>
                  <a:pathLst>
                    <a:path w="43200" h="21600" fill="none" extrusionOk="0">
                      <a:moveTo>
                        <a:pt x="43200" y="0"/>
                      </a:moveTo>
                      <a:cubicBezTo>
                        <a:pt x="43200" y="11929"/>
                        <a:pt x="33529" y="21600"/>
                        <a:pt x="21600" y="21600"/>
                      </a:cubicBezTo>
                      <a:cubicBezTo>
                        <a:pt x="9670" y="21600"/>
                        <a:pt x="0" y="11929"/>
                        <a:pt x="0" y="0"/>
                      </a:cubicBezTo>
                    </a:path>
                    <a:path w="43200" h="21600" stroke="0" extrusionOk="0">
                      <a:moveTo>
                        <a:pt x="43200" y="0"/>
                      </a:moveTo>
                      <a:cubicBezTo>
                        <a:pt x="43200" y="11929"/>
                        <a:pt x="33529" y="21600"/>
                        <a:pt x="21600" y="21600"/>
                      </a:cubicBezTo>
                      <a:cubicBezTo>
                        <a:pt x="9670" y="21600"/>
                        <a:pt x="0" y="11929"/>
                        <a:pt x="0" y="0"/>
                      </a:cubicBezTo>
                      <a:lnTo>
                        <a:pt x="21600" y="0"/>
                      </a:lnTo>
                      <a:close/>
                    </a:path>
                  </a:pathLst>
                </a:custGeom>
                <a:solidFill>
                  <a:srgbClr val="FFFFFF"/>
                </a:solidFill>
                <a:ln w="635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3" name="Arc 18"/>
                <p:cNvSpPr>
                  <a:spLocks noChangeAspect="1"/>
                </p:cNvSpPr>
                <p:nvPr/>
              </p:nvSpPr>
              <p:spPr bwMode="auto">
                <a:xfrm>
                  <a:off x="3917" y="1802"/>
                  <a:ext cx="1478" cy="417"/>
                </a:xfrm>
                <a:custGeom>
                  <a:avLst/>
                  <a:gdLst>
                    <a:gd name="G0" fmla="+- 21600 0 0"/>
                    <a:gd name="G1" fmla="+- 493 0 0"/>
                    <a:gd name="G2" fmla="+- 21600 0 0"/>
                    <a:gd name="T0" fmla="*/ 43194 w 43200"/>
                    <a:gd name="T1" fmla="*/ 0 h 22093"/>
                    <a:gd name="T2" fmla="*/ 6 w 43200"/>
                    <a:gd name="T3" fmla="*/ 5 h 22093"/>
                    <a:gd name="T4" fmla="*/ 21600 w 43200"/>
                    <a:gd name="T5" fmla="*/ 493 h 22093"/>
                  </a:gdLst>
                  <a:ahLst/>
                  <a:cxnLst>
                    <a:cxn ang="0">
                      <a:pos x="T0" y="T1"/>
                    </a:cxn>
                    <a:cxn ang="0">
                      <a:pos x="T2" y="T3"/>
                    </a:cxn>
                    <a:cxn ang="0">
                      <a:pos x="T4" y="T5"/>
                    </a:cxn>
                  </a:cxnLst>
                  <a:rect l="0" t="0" r="r" b="b"/>
                  <a:pathLst>
                    <a:path w="43200" h="22093" fill="none" extrusionOk="0">
                      <a:moveTo>
                        <a:pt x="43194" y="-1"/>
                      </a:moveTo>
                      <a:cubicBezTo>
                        <a:pt x="43198" y="164"/>
                        <a:pt x="43200" y="328"/>
                        <a:pt x="43200" y="493"/>
                      </a:cubicBezTo>
                      <a:cubicBezTo>
                        <a:pt x="43200" y="12422"/>
                        <a:pt x="33529" y="22093"/>
                        <a:pt x="21600" y="22093"/>
                      </a:cubicBezTo>
                      <a:cubicBezTo>
                        <a:pt x="9670" y="22093"/>
                        <a:pt x="0" y="12422"/>
                        <a:pt x="0" y="493"/>
                      </a:cubicBezTo>
                      <a:cubicBezTo>
                        <a:pt x="-1" y="330"/>
                        <a:pt x="1" y="167"/>
                        <a:pt x="5" y="4"/>
                      </a:cubicBezTo>
                    </a:path>
                    <a:path w="43200" h="22093" stroke="0" extrusionOk="0">
                      <a:moveTo>
                        <a:pt x="43194" y="-1"/>
                      </a:moveTo>
                      <a:cubicBezTo>
                        <a:pt x="43198" y="164"/>
                        <a:pt x="43200" y="328"/>
                        <a:pt x="43200" y="493"/>
                      </a:cubicBezTo>
                      <a:cubicBezTo>
                        <a:pt x="43200" y="12422"/>
                        <a:pt x="33529" y="22093"/>
                        <a:pt x="21600" y="22093"/>
                      </a:cubicBezTo>
                      <a:cubicBezTo>
                        <a:pt x="9670" y="22093"/>
                        <a:pt x="0" y="12422"/>
                        <a:pt x="0" y="493"/>
                      </a:cubicBezTo>
                      <a:cubicBezTo>
                        <a:pt x="-1" y="330"/>
                        <a:pt x="1" y="167"/>
                        <a:pt x="5" y="4"/>
                      </a:cubicBezTo>
                      <a:lnTo>
                        <a:pt x="21600" y="493"/>
                      </a:lnTo>
                      <a:close/>
                    </a:path>
                  </a:pathLst>
                </a:custGeom>
                <a:solidFill>
                  <a:srgbClr val="FFFFFF"/>
                </a:solidFill>
                <a:ln w="6350">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4" name="Freeform 19"/>
                <p:cNvSpPr>
                  <a:spLocks noChangeAspect="1"/>
                </p:cNvSpPr>
                <p:nvPr/>
              </p:nvSpPr>
              <p:spPr bwMode="auto">
                <a:xfrm>
                  <a:off x="4578" y="1998"/>
                  <a:ext cx="147" cy="192"/>
                </a:xfrm>
                <a:custGeom>
                  <a:avLst/>
                  <a:gdLst>
                    <a:gd name="T0" fmla="*/ 48 w 432"/>
                    <a:gd name="T1" fmla="*/ 213 h 213"/>
                    <a:gd name="T2" fmla="*/ 408 w 432"/>
                    <a:gd name="T3" fmla="*/ 213 h 213"/>
                    <a:gd name="T4" fmla="*/ 288 w 432"/>
                    <a:gd name="T5" fmla="*/ 45 h 213"/>
                    <a:gd name="T6" fmla="*/ 432 w 432"/>
                    <a:gd name="T7" fmla="*/ 45 h 213"/>
                    <a:gd name="T8" fmla="*/ 215 w 432"/>
                    <a:gd name="T9" fmla="*/ 0 h 213"/>
                    <a:gd name="T10" fmla="*/ 0 w 432"/>
                    <a:gd name="T11" fmla="*/ 45 h 213"/>
                    <a:gd name="T12" fmla="*/ 144 w 432"/>
                    <a:gd name="T13" fmla="*/ 45 h 213"/>
                    <a:gd name="T14" fmla="*/ 48 w 43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2" h="213">
                      <a:moveTo>
                        <a:pt x="48" y="213"/>
                      </a:moveTo>
                      <a:lnTo>
                        <a:pt x="408" y="213"/>
                      </a:lnTo>
                      <a:lnTo>
                        <a:pt x="288" y="45"/>
                      </a:lnTo>
                      <a:lnTo>
                        <a:pt x="432" y="45"/>
                      </a:lnTo>
                      <a:lnTo>
                        <a:pt x="215" y="0"/>
                      </a:lnTo>
                      <a:lnTo>
                        <a:pt x="0" y="45"/>
                      </a:lnTo>
                      <a:lnTo>
                        <a:pt x="144" y="45"/>
                      </a:lnTo>
                      <a:lnTo>
                        <a:pt x="48" y="213"/>
                      </a:lnTo>
                      <a:close/>
                    </a:path>
                  </a:pathLst>
                </a:custGeom>
                <a:solidFill>
                  <a:srgbClr val="C7CDFD"/>
                </a:solidFill>
                <a:ln>
                  <a:noFill/>
                </a:ln>
                <a:extLst>
                  <a:ext uri="{91240B29-F687-4f45-9708-019B960494DF}">
                    <a14:hiddenLine xmlns:a14="http://schemas.microsoft.com/office/drawing/2010/main" w="6350"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5" name="Freeform 20"/>
                <p:cNvSpPr>
                  <a:spLocks noChangeAspect="1"/>
                </p:cNvSpPr>
                <p:nvPr/>
              </p:nvSpPr>
              <p:spPr bwMode="auto">
                <a:xfrm>
                  <a:off x="4290" y="1965"/>
                  <a:ext cx="255" cy="162"/>
                </a:xfrm>
                <a:custGeom>
                  <a:avLst/>
                  <a:gdLst>
                    <a:gd name="T0" fmla="*/ 96 w 248"/>
                    <a:gd name="T1" fmla="*/ 64 h 64"/>
                    <a:gd name="T2" fmla="*/ 0 w 248"/>
                    <a:gd name="T3" fmla="*/ 56 h 64"/>
                    <a:gd name="T4" fmla="*/ 120 w 248"/>
                    <a:gd name="T5" fmla="*/ 16 h 64"/>
                    <a:gd name="T6" fmla="*/ 64 w 248"/>
                    <a:gd name="T7" fmla="*/ 16 h 64"/>
                    <a:gd name="T8" fmla="*/ 184 w 248"/>
                    <a:gd name="T9" fmla="*/ 0 h 64"/>
                    <a:gd name="T10" fmla="*/ 248 w 248"/>
                    <a:gd name="T11" fmla="*/ 16 h 64"/>
                    <a:gd name="T12" fmla="*/ 192 w 248"/>
                    <a:gd name="T13" fmla="*/ 16 h 64"/>
                    <a:gd name="T14" fmla="*/ 96 w 248"/>
                    <a:gd name="T15" fmla="*/ 64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 h="64">
                      <a:moveTo>
                        <a:pt x="96" y="64"/>
                      </a:moveTo>
                      <a:lnTo>
                        <a:pt x="0" y="56"/>
                      </a:lnTo>
                      <a:lnTo>
                        <a:pt x="120" y="16"/>
                      </a:lnTo>
                      <a:lnTo>
                        <a:pt x="64" y="16"/>
                      </a:lnTo>
                      <a:lnTo>
                        <a:pt x="184" y="0"/>
                      </a:lnTo>
                      <a:lnTo>
                        <a:pt x="248" y="16"/>
                      </a:lnTo>
                      <a:lnTo>
                        <a:pt x="192" y="16"/>
                      </a:lnTo>
                      <a:lnTo>
                        <a:pt x="96" y="64"/>
                      </a:lnTo>
                      <a:close/>
                    </a:path>
                  </a:pathLst>
                </a:custGeom>
                <a:solidFill>
                  <a:srgbClr val="C7CDFD"/>
                </a:solidFill>
                <a:ln>
                  <a:noFill/>
                </a:ln>
                <a:extLst>
                  <a:ext uri="{91240B29-F687-4f45-9708-019B960494DF}">
                    <a14:hiddenLine xmlns:a14="http://schemas.microsoft.com/office/drawing/2010/main" w="6350"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6" name="Freeform 21"/>
                <p:cNvSpPr>
                  <a:spLocks noChangeAspect="1"/>
                </p:cNvSpPr>
                <p:nvPr/>
              </p:nvSpPr>
              <p:spPr bwMode="auto">
                <a:xfrm>
                  <a:off x="4741" y="1965"/>
                  <a:ext cx="255" cy="162"/>
                </a:xfrm>
                <a:custGeom>
                  <a:avLst/>
                  <a:gdLst>
                    <a:gd name="T0" fmla="*/ 152 w 248"/>
                    <a:gd name="T1" fmla="*/ 64 h 64"/>
                    <a:gd name="T2" fmla="*/ 248 w 248"/>
                    <a:gd name="T3" fmla="*/ 56 h 64"/>
                    <a:gd name="T4" fmla="*/ 128 w 248"/>
                    <a:gd name="T5" fmla="*/ 16 h 64"/>
                    <a:gd name="T6" fmla="*/ 184 w 248"/>
                    <a:gd name="T7" fmla="*/ 16 h 64"/>
                    <a:gd name="T8" fmla="*/ 64 w 248"/>
                    <a:gd name="T9" fmla="*/ 0 h 64"/>
                    <a:gd name="T10" fmla="*/ 0 w 248"/>
                    <a:gd name="T11" fmla="*/ 16 h 64"/>
                    <a:gd name="T12" fmla="*/ 56 w 248"/>
                    <a:gd name="T13" fmla="*/ 16 h 64"/>
                    <a:gd name="T14" fmla="*/ 152 w 248"/>
                    <a:gd name="T15" fmla="*/ 64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 h="64">
                      <a:moveTo>
                        <a:pt x="152" y="64"/>
                      </a:moveTo>
                      <a:lnTo>
                        <a:pt x="248" y="56"/>
                      </a:lnTo>
                      <a:lnTo>
                        <a:pt x="128" y="16"/>
                      </a:lnTo>
                      <a:lnTo>
                        <a:pt x="184" y="16"/>
                      </a:lnTo>
                      <a:lnTo>
                        <a:pt x="64" y="0"/>
                      </a:lnTo>
                      <a:lnTo>
                        <a:pt x="0" y="16"/>
                      </a:lnTo>
                      <a:lnTo>
                        <a:pt x="56" y="16"/>
                      </a:lnTo>
                      <a:lnTo>
                        <a:pt x="152" y="64"/>
                      </a:lnTo>
                      <a:close/>
                    </a:path>
                  </a:pathLst>
                </a:custGeom>
                <a:solidFill>
                  <a:srgbClr val="C7CDFD"/>
                </a:solidFill>
                <a:ln>
                  <a:noFill/>
                </a:ln>
                <a:extLst>
                  <a:ext uri="{91240B29-F687-4f45-9708-019B960494DF}">
                    <a14:hiddenLine xmlns:a14="http://schemas.microsoft.com/office/drawing/2010/main" w="6350"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7" name="Line 22"/>
                <p:cNvSpPr>
                  <a:spLocks noChangeAspect="1" noChangeShapeType="1"/>
                </p:cNvSpPr>
                <p:nvPr/>
              </p:nvSpPr>
              <p:spPr bwMode="auto">
                <a:xfrm>
                  <a:off x="3814" y="1802"/>
                  <a:ext cx="1675" cy="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8" name="Line 23"/>
                <p:cNvSpPr>
                  <a:spLocks noChangeAspect="1" noChangeShapeType="1"/>
                </p:cNvSpPr>
                <p:nvPr/>
              </p:nvSpPr>
              <p:spPr bwMode="auto">
                <a:xfrm flipV="1">
                  <a:off x="4060" y="1802"/>
                  <a:ext cx="592" cy="158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9" name="Line 24"/>
                <p:cNvSpPr>
                  <a:spLocks noChangeAspect="1" noChangeShapeType="1"/>
                </p:cNvSpPr>
                <p:nvPr/>
              </p:nvSpPr>
              <p:spPr bwMode="auto">
                <a:xfrm>
                  <a:off x="4652" y="1802"/>
                  <a:ext cx="583" cy="158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grpSp>
              <p:nvGrpSpPr>
                <p:cNvPr id="60" name="Group 25"/>
                <p:cNvGrpSpPr>
                  <a:grpSpLocks noChangeAspect="1"/>
                </p:cNvGrpSpPr>
                <p:nvPr/>
              </p:nvGrpSpPr>
              <p:grpSpPr bwMode="auto">
                <a:xfrm>
                  <a:off x="3822" y="1802"/>
                  <a:ext cx="1659" cy="488"/>
                  <a:chOff x="3552" y="1994"/>
                  <a:chExt cx="1616" cy="192"/>
                </a:xfrm>
              </p:grpSpPr>
              <p:sp>
                <p:nvSpPr>
                  <p:cNvPr id="67" name="Line 26"/>
                  <p:cNvSpPr>
                    <a:spLocks noChangeAspect="1" noChangeShapeType="1"/>
                  </p:cNvSpPr>
                  <p:nvPr/>
                </p:nvSpPr>
                <p:spPr bwMode="auto">
                  <a:xfrm flipV="1">
                    <a:off x="3552" y="1994"/>
                    <a:ext cx="808" cy="19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68" name="Line 27"/>
                  <p:cNvSpPr>
                    <a:spLocks noChangeAspect="1" noChangeShapeType="1"/>
                  </p:cNvSpPr>
                  <p:nvPr/>
                </p:nvSpPr>
                <p:spPr bwMode="auto">
                  <a:xfrm>
                    <a:off x="4360" y="1994"/>
                    <a:ext cx="808" cy="19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nvGrpSpPr>
                <p:cNvPr id="61" name="Group 28"/>
                <p:cNvGrpSpPr>
                  <a:grpSpLocks noChangeAspect="1"/>
                </p:cNvGrpSpPr>
                <p:nvPr/>
              </p:nvGrpSpPr>
              <p:grpSpPr bwMode="auto">
                <a:xfrm>
                  <a:off x="3822" y="1802"/>
                  <a:ext cx="1659" cy="244"/>
                  <a:chOff x="3552" y="1994"/>
                  <a:chExt cx="1616" cy="96"/>
                </a:xfrm>
              </p:grpSpPr>
              <p:sp>
                <p:nvSpPr>
                  <p:cNvPr id="65" name="Line 29"/>
                  <p:cNvSpPr>
                    <a:spLocks noChangeAspect="1" noChangeShapeType="1"/>
                  </p:cNvSpPr>
                  <p:nvPr/>
                </p:nvSpPr>
                <p:spPr bwMode="auto">
                  <a:xfrm flipV="1">
                    <a:off x="3552" y="1994"/>
                    <a:ext cx="808" cy="9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66" name="Line 30"/>
                  <p:cNvSpPr>
                    <a:spLocks noChangeAspect="1" noChangeShapeType="1"/>
                  </p:cNvSpPr>
                  <p:nvPr/>
                </p:nvSpPr>
                <p:spPr bwMode="auto">
                  <a:xfrm>
                    <a:off x="4360" y="1994"/>
                    <a:ext cx="808" cy="9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nvGrpSpPr>
                <p:cNvPr id="62" name="Group 31"/>
                <p:cNvGrpSpPr>
                  <a:grpSpLocks noChangeAspect="1"/>
                </p:cNvGrpSpPr>
                <p:nvPr/>
              </p:nvGrpSpPr>
              <p:grpSpPr bwMode="auto">
                <a:xfrm>
                  <a:off x="3822" y="1802"/>
                  <a:ext cx="1659" cy="81"/>
                  <a:chOff x="3552" y="1994"/>
                  <a:chExt cx="1616" cy="32"/>
                </a:xfrm>
              </p:grpSpPr>
              <p:sp>
                <p:nvSpPr>
                  <p:cNvPr id="63" name="Line 32"/>
                  <p:cNvSpPr>
                    <a:spLocks noChangeAspect="1" noChangeShapeType="1"/>
                  </p:cNvSpPr>
                  <p:nvPr/>
                </p:nvSpPr>
                <p:spPr bwMode="auto">
                  <a:xfrm flipV="1">
                    <a:off x="3552" y="1994"/>
                    <a:ext cx="808" cy="3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64" name="Line 33"/>
                  <p:cNvSpPr>
                    <a:spLocks noChangeAspect="1" noChangeShapeType="1"/>
                  </p:cNvSpPr>
                  <p:nvPr/>
                </p:nvSpPr>
                <p:spPr bwMode="auto">
                  <a:xfrm>
                    <a:off x="4360" y="1994"/>
                    <a:ext cx="808" cy="3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grpSp>
        <p:sp>
          <p:nvSpPr>
            <p:cNvPr id="48" name="Rectangle 35"/>
            <p:cNvSpPr>
              <a:spLocks noChangeArrowheads="1"/>
            </p:cNvSpPr>
            <p:nvPr/>
          </p:nvSpPr>
          <p:spPr bwMode="auto">
            <a:xfrm>
              <a:off x="5364088" y="4667652"/>
              <a:ext cx="2700648" cy="156966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zh-CN" altLang="en-US" sz="1600" i="1" kern="0" dirty="0">
                  <a:solidFill>
                    <a:sysClr val="windowText" lastClr="000000"/>
                  </a:solidFill>
                  <a:latin typeface="华文仿宋"/>
                  <a:ea typeface="华文仿宋"/>
                  <a:cs typeface="华文仿宋"/>
                </a:rPr>
                <a:t>建成基于</a:t>
              </a:r>
              <a:r>
                <a:rPr lang="en-US" altLang="zh-CN" sz="1600" i="1" kern="0" dirty="0">
                  <a:solidFill>
                    <a:srgbClr val="0000FF"/>
                  </a:solidFill>
                  <a:latin typeface="华文仿宋"/>
                  <a:ea typeface="华文仿宋"/>
                  <a:cs typeface="华文仿宋"/>
                </a:rPr>
                <a:t>PaaS/SaaS</a:t>
              </a:r>
              <a:r>
                <a:rPr lang="zh-CN" altLang="en-US" sz="1600" i="1" kern="0" dirty="0">
                  <a:solidFill>
                    <a:srgbClr val="0000FF"/>
                  </a:solidFill>
                  <a:latin typeface="华文仿宋"/>
                  <a:ea typeface="华文仿宋"/>
                  <a:cs typeface="华文仿宋"/>
                </a:rPr>
                <a:t>的企业级流程平台基础设施</a:t>
              </a:r>
              <a:r>
                <a:rPr lang="zh-CN" altLang="en-US" sz="1600" i="1" kern="0" dirty="0">
                  <a:solidFill>
                    <a:sysClr val="windowText" lastClr="000000"/>
                  </a:solidFill>
                  <a:latin typeface="华文仿宋"/>
                  <a:ea typeface="华文仿宋"/>
                  <a:cs typeface="华文仿宋"/>
                </a:rPr>
                <a:t>， 支撑企业业务流程信息化的持续建设与敏捷优化！</a:t>
              </a:r>
              <a:endParaRPr kumimoji="0" lang="en-US" altLang="zh-CN" sz="1600" b="0" i="1" u="none" strike="noStrike" kern="0" cap="none" spc="0" normalizeH="0" baseline="0" noProof="0" dirty="0" smtClean="0">
                <a:ln>
                  <a:noFill/>
                </a:ln>
                <a:solidFill>
                  <a:sysClr val="windowText" lastClr="000000"/>
                </a:solidFill>
                <a:effectLst/>
                <a:uLnTx/>
                <a:uFillTx/>
                <a:latin typeface="华文仿宋"/>
                <a:ea typeface="华文仿宋"/>
                <a:cs typeface="华文仿宋"/>
              </a:endParaRPr>
            </a:p>
          </p:txBody>
        </p:sp>
      </p:grpSp>
      <p:grpSp>
        <p:nvGrpSpPr>
          <p:cNvPr id="69" name="组合 25"/>
          <p:cNvGrpSpPr/>
          <p:nvPr/>
        </p:nvGrpSpPr>
        <p:grpSpPr>
          <a:xfrm>
            <a:off x="7362676" y="1412776"/>
            <a:ext cx="317505" cy="4537146"/>
            <a:chOff x="2310275" y="2885052"/>
            <a:chExt cx="183222" cy="1790697"/>
          </a:xfrm>
        </p:grpSpPr>
        <p:sp>
          <p:nvSpPr>
            <p:cNvPr id="70" name="AutoShape 43"/>
            <p:cNvSpPr>
              <a:spLocks noChangeArrowheads="1"/>
            </p:cNvSpPr>
            <p:nvPr/>
          </p:nvSpPr>
          <p:spPr bwMode="auto">
            <a:xfrm>
              <a:off x="2310275" y="3503269"/>
              <a:ext cx="81707" cy="547993"/>
            </a:xfrm>
            <a:prstGeom prst="chevron">
              <a:avLst>
                <a:gd name="adj" fmla="val 100000"/>
              </a:avLst>
            </a:prstGeom>
            <a:noFill/>
            <a:ln w="22225">
              <a:solidFill>
                <a:srgbClr val="061DC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71" name="AutoShape 44"/>
            <p:cNvSpPr>
              <a:spLocks noChangeArrowheads="1"/>
            </p:cNvSpPr>
            <p:nvPr/>
          </p:nvSpPr>
          <p:spPr bwMode="auto">
            <a:xfrm>
              <a:off x="2343288" y="3443077"/>
              <a:ext cx="99864" cy="668377"/>
            </a:xfrm>
            <a:prstGeom prst="chevron">
              <a:avLst>
                <a:gd name="adj" fmla="val 100000"/>
              </a:avLst>
            </a:prstGeom>
            <a:noFill/>
            <a:ln w="22225">
              <a:solidFill>
                <a:srgbClr val="061DC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72" name="Freeform 45"/>
            <p:cNvSpPr>
              <a:spLocks/>
            </p:cNvSpPr>
            <p:nvPr/>
          </p:nvSpPr>
          <p:spPr bwMode="auto">
            <a:xfrm>
              <a:off x="2377126" y="2885052"/>
              <a:ext cx="116371" cy="1790697"/>
            </a:xfrm>
            <a:custGeom>
              <a:avLst/>
              <a:gdLst>
                <a:gd name="T0" fmla="*/ 0 w 282"/>
                <a:gd name="T1" fmla="*/ 2856 h 2856"/>
                <a:gd name="T2" fmla="*/ 0 w 282"/>
                <a:gd name="T3" fmla="*/ 2021 h 2856"/>
                <a:gd name="T4" fmla="*/ 282 w 282"/>
                <a:gd name="T5" fmla="*/ 1423 h 2856"/>
                <a:gd name="T6" fmla="*/ 6 w 282"/>
                <a:gd name="T7" fmla="*/ 828 h 2856"/>
                <a:gd name="T8" fmla="*/ 6 w 282"/>
                <a:gd name="T9" fmla="*/ 0 h 2856"/>
              </a:gdLst>
              <a:ahLst/>
              <a:cxnLst>
                <a:cxn ang="0">
                  <a:pos x="T0" y="T1"/>
                </a:cxn>
                <a:cxn ang="0">
                  <a:pos x="T2" y="T3"/>
                </a:cxn>
                <a:cxn ang="0">
                  <a:pos x="T4" y="T5"/>
                </a:cxn>
                <a:cxn ang="0">
                  <a:pos x="T6" y="T7"/>
                </a:cxn>
                <a:cxn ang="0">
                  <a:pos x="T8" y="T9"/>
                </a:cxn>
              </a:cxnLst>
              <a:rect l="0" t="0" r="r" b="b"/>
              <a:pathLst>
                <a:path w="282" h="2856">
                  <a:moveTo>
                    <a:pt x="0" y="2856"/>
                  </a:moveTo>
                  <a:lnTo>
                    <a:pt x="0" y="2021"/>
                  </a:lnTo>
                  <a:lnTo>
                    <a:pt x="282" y="1423"/>
                  </a:lnTo>
                  <a:lnTo>
                    <a:pt x="6" y="828"/>
                  </a:lnTo>
                  <a:lnTo>
                    <a:pt x="6" y="0"/>
                  </a:lnTo>
                </a:path>
              </a:pathLst>
            </a:custGeom>
            <a:noFill/>
            <a:ln w="22225" cap="flat" cmpd="sng">
              <a:solidFill>
                <a:srgbClr val="061DC8"/>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ysClr val="windowText" lastClr="000000"/>
                </a:solidFill>
                <a:effectLst/>
                <a:uLnTx/>
                <a:uFillTx/>
              </a:endParaRPr>
            </a:p>
          </p:txBody>
        </p:sp>
      </p:grpSp>
    </p:spTree>
    <p:extLst>
      <p:ext uri="{BB962C8B-B14F-4D97-AF65-F5344CB8AC3E}">
        <p14:creationId xmlns:p14="http://schemas.microsoft.com/office/powerpoint/2010/main" val="103308858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共享平台：统一过程管控、提升交付效率</a:t>
            </a:r>
            <a:r>
              <a:rPr kumimoji="1" lang="zh-CN" altLang="zh-CN" dirty="0"/>
              <a:t>、</a:t>
            </a:r>
            <a:r>
              <a:rPr kumimoji="1" lang="zh-CN" altLang="en-US" dirty="0" smtClean="0"/>
              <a:t>降低运维成本</a:t>
            </a:r>
            <a:endParaRPr kumimoji="1" lang="zh-CN" altLang="en-US" dirty="0"/>
          </a:p>
        </p:txBody>
      </p:sp>
      <p:grpSp>
        <p:nvGrpSpPr>
          <p:cNvPr id="136" name="组合 90"/>
          <p:cNvGrpSpPr>
            <a:grpSpLocks/>
          </p:cNvGrpSpPr>
          <p:nvPr/>
        </p:nvGrpSpPr>
        <p:grpSpPr bwMode="auto">
          <a:xfrm>
            <a:off x="1631504" y="1124744"/>
            <a:ext cx="8424936" cy="592005"/>
            <a:chOff x="571500" y="1214422"/>
            <a:chExt cx="8104956" cy="928704"/>
          </a:xfrm>
        </p:grpSpPr>
        <p:sp>
          <p:nvSpPr>
            <p:cNvPr id="137" name="圆角矩形 136"/>
            <p:cNvSpPr/>
            <p:nvPr/>
          </p:nvSpPr>
          <p:spPr bwMode="auto">
            <a:xfrm>
              <a:off x="571500" y="1214422"/>
              <a:ext cx="8045450" cy="928704"/>
            </a:xfrm>
            <a:prstGeom prst="roundRect">
              <a:avLst>
                <a:gd name="adj" fmla="val 5706"/>
              </a:avLst>
            </a:prstGeom>
            <a:solidFill>
              <a:srgbClr val="E7F3F4"/>
            </a:solidFill>
            <a:ln w="9525" cap="flat" cmpd="sng" algn="ctr">
              <a:solidFill>
                <a:srgbClr val="D6D6D6"/>
              </a:solidFill>
              <a:prstDash val="solid"/>
            </a:ln>
            <a:effectLst>
              <a:outerShdw blurRad="40000" dist="20000" dir="5400000" rotWithShape="0">
                <a:srgbClr val="000000">
                  <a:alpha val="38000"/>
                </a:srgbClr>
              </a:outerShdw>
            </a:effectLst>
            <a:scene3d>
              <a:camera prst="obliqueTopRight"/>
              <a:lightRig rig="threePt" dir="t"/>
            </a:scene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38" name="矩形 38"/>
            <p:cNvSpPr>
              <a:spLocks noChangeArrowheads="1"/>
            </p:cNvSpPr>
            <p:nvPr/>
          </p:nvSpPr>
          <p:spPr bwMode="auto">
            <a:xfrm>
              <a:off x="7176174" y="1374017"/>
              <a:ext cx="1500282" cy="579387"/>
            </a:xfrm>
            <a:prstGeom prst="rect">
              <a:avLst/>
            </a:prstGeom>
            <a:noFill/>
            <a:ln w="9525">
              <a:noFill/>
              <a:miter lim="800000"/>
              <a:headEnd/>
              <a:tailEnd/>
            </a:ln>
            <a:scene3d>
              <a:camera prst="obliqueTopRight"/>
              <a:lightRig rig="threePt" dir="t"/>
            </a:scene3d>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华文仿宋"/>
                  <a:ea typeface="华文仿宋"/>
                  <a:cs typeface="华文仿宋"/>
                </a:rPr>
                <a:t>业务系统</a:t>
              </a:r>
            </a:p>
          </p:txBody>
        </p:sp>
      </p:grpSp>
      <p:sp>
        <p:nvSpPr>
          <p:cNvPr id="139" name="Rectangle 3"/>
          <p:cNvSpPr>
            <a:spLocks noChangeArrowheads="1"/>
          </p:cNvSpPr>
          <p:nvPr/>
        </p:nvSpPr>
        <p:spPr bwMode="auto">
          <a:xfrm>
            <a:off x="1786137" y="1237766"/>
            <a:ext cx="1281905" cy="375705"/>
          </a:xfrm>
          <a:prstGeom prst="rect">
            <a:avLst/>
          </a:prstGeom>
          <a:solidFill>
            <a:srgbClr val="D6D6D6"/>
          </a:solidFill>
          <a:ln w="9525"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kern="0" dirty="0" smtClean="0">
                <a:solidFill>
                  <a:srgbClr val="000000"/>
                </a:solidFill>
                <a:latin typeface="华文仿宋"/>
                <a:ea typeface="华文仿宋"/>
                <a:cs typeface="华文仿宋"/>
              </a:rPr>
              <a:t>企业</a:t>
            </a:r>
            <a:r>
              <a:rPr lang="en-US" altLang="en-US" sz="1600" kern="0" dirty="0" smtClean="0">
                <a:solidFill>
                  <a:srgbClr val="000000"/>
                </a:solidFill>
                <a:latin typeface="华文仿宋"/>
                <a:ea typeface="华文仿宋"/>
                <a:cs typeface="华文仿宋"/>
              </a:rPr>
              <a:t>信贷</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40" name="Rectangle 3"/>
          <p:cNvSpPr>
            <a:spLocks noChangeArrowheads="1"/>
          </p:cNvSpPr>
          <p:nvPr/>
        </p:nvSpPr>
        <p:spPr bwMode="auto">
          <a:xfrm>
            <a:off x="3493172" y="1237766"/>
            <a:ext cx="1160462" cy="375705"/>
          </a:xfrm>
          <a:prstGeom prst="rect">
            <a:avLst/>
          </a:prstGeom>
          <a:solidFill>
            <a:srgbClr val="D6D6D6"/>
          </a:solidFill>
          <a:ln w="9525"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kern="0" dirty="0" smtClean="0">
                <a:solidFill>
                  <a:srgbClr val="000000"/>
                </a:solidFill>
                <a:latin typeface="华文仿宋"/>
                <a:ea typeface="华文仿宋"/>
                <a:cs typeface="华文仿宋"/>
              </a:rPr>
              <a:t>零售信贷</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41" name="Rectangle 3"/>
          <p:cNvSpPr>
            <a:spLocks noChangeArrowheads="1"/>
          </p:cNvSpPr>
          <p:nvPr/>
        </p:nvSpPr>
        <p:spPr bwMode="auto">
          <a:xfrm>
            <a:off x="5078764" y="1237766"/>
            <a:ext cx="1160462" cy="375705"/>
          </a:xfrm>
          <a:prstGeom prst="rect">
            <a:avLst/>
          </a:prstGeom>
          <a:solidFill>
            <a:srgbClr val="D6D6D6"/>
          </a:solidFill>
          <a:ln w="9525"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600" kern="0" dirty="0" smtClean="0">
                <a:solidFill>
                  <a:srgbClr val="000000"/>
                </a:solidFill>
                <a:latin typeface="华文仿宋"/>
                <a:ea typeface="华文仿宋"/>
                <a:cs typeface="华文仿宋"/>
              </a:rPr>
              <a:t>CRM</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grpSp>
        <p:nvGrpSpPr>
          <p:cNvPr id="142" name="组合 41"/>
          <p:cNvGrpSpPr>
            <a:grpSpLocks/>
          </p:cNvGrpSpPr>
          <p:nvPr/>
        </p:nvGrpSpPr>
        <p:grpSpPr bwMode="auto">
          <a:xfrm>
            <a:off x="8165976" y="1988840"/>
            <a:ext cx="1745292" cy="3999225"/>
            <a:chOff x="6924253" y="2384424"/>
            <a:chExt cx="1895475" cy="3838522"/>
          </a:xfrm>
          <a:effectLst>
            <a:outerShdw blurRad="50800" dist="38100" dir="2700000" algn="tl" rotWithShape="0">
              <a:prstClr val="black">
                <a:alpha val="40000"/>
              </a:prstClr>
            </a:outerShdw>
          </a:effectLst>
        </p:grpSpPr>
        <p:sp>
          <p:nvSpPr>
            <p:cNvPr id="143" name="圆角矩形 142"/>
            <p:cNvSpPr/>
            <p:nvPr/>
          </p:nvSpPr>
          <p:spPr>
            <a:xfrm>
              <a:off x="6924253" y="2384424"/>
              <a:ext cx="1895475" cy="3829069"/>
            </a:xfrm>
            <a:prstGeom prst="roundRect">
              <a:avLst>
                <a:gd name="adj" fmla="val 0"/>
              </a:avLst>
            </a:prstGeom>
            <a:solidFill>
              <a:srgbClr val="FFFFCC"/>
            </a:solidFill>
            <a:ln w="12700" cap="flat" cmpd="sng" algn="ctr">
              <a:solidFill>
                <a:srgbClr val="0070C0"/>
              </a:solidFill>
              <a:prstDash val="soli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lumMod val="75000"/>
                  </a:srgbClr>
                </a:solidFill>
                <a:effectLst/>
                <a:uLnTx/>
                <a:uFillTx/>
                <a:latin typeface="华文仿宋"/>
                <a:ea typeface="华文仿宋"/>
                <a:cs typeface="华文仿宋"/>
              </a:endParaRPr>
            </a:p>
          </p:txBody>
        </p:sp>
        <p:sp>
          <p:nvSpPr>
            <p:cNvPr id="144" name="矩形 22"/>
            <p:cNvSpPr>
              <a:spLocks noChangeArrowheads="1"/>
            </p:cNvSpPr>
            <p:nvPr/>
          </p:nvSpPr>
          <p:spPr bwMode="auto">
            <a:xfrm>
              <a:off x="7183245" y="5868455"/>
              <a:ext cx="1454035" cy="354491"/>
            </a:xfrm>
            <a:prstGeom prst="rect">
              <a:avLst/>
            </a:prstGeom>
            <a:noFill/>
            <a:ln w="9525">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2060"/>
                  </a:solidFill>
                  <a:effectLst/>
                  <a:uLnTx/>
                  <a:uFillTx/>
                  <a:latin typeface="华文仿宋"/>
                  <a:ea typeface="华文仿宋"/>
                  <a:cs typeface="华文仿宋"/>
                </a:rPr>
                <a:t>资产与知识</a:t>
              </a:r>
            </a:p>
          </p:txBody>
        </p:sp>
        <p:sp>
          <p:nvSpPr>
            <p:cNvPr id="146" name="圆柱形 95"/>
            <p:cNvSpPr/>
            <p:nvPr/>
          </p:nvSpPr>
          <p:spPr>
            <a:xfrm>
              <a:off x="7242739" y="4803430"/>
              <a:ext cx="1353461" cy="663481"/>
            </a:xfrm>
            <a:prstGeom prst="can">
              <a:avLst/>
            </a:prstGeom>
            <a:gradFill rotWithShape="1">
              <a:gsLst>
                <a:gs pos="0">
                  <a:srgbClr val="F0AD00">
                    <a:tint val="50000"/>
                    <a:satMod val="300000"/>
                  </a:srgbClr>
                </a:gs>
                <a:gs pos="35000">
                  <a:srgbClr val="F0AD00">
                    <a:tint val="37000"/>
                    <a:satMod val="300000"/>
                  </a:srgbClr>
                </a:gs>
                <a:gs pos="100000">
                  <a:srgbClr val="F0AD00">
                    <a:tint val="15000"/>
                    <a:satMod val="350000"/>
                  </a:srgbClr>
                </a:gs>
              </a:gsLst>
              <a:lin ang="16200000" scaled="1"/>
            </a:gradFill>
            <a:ln w="9525" cap="flat" cmpd="sng" algn="ctr">
              <a:solidFill>
                <a:srgbClr val="F0AD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latin typeface="华文仿宋"/>
                  <a:ea typeface="华文仿宋"/>
                  <a:cs typeface="华文仿宋"/>
                </a:rPr>
                <a:t>业务组件库</a:t>
              </a:r>
            </a:p>
          </p:txBody>
        </p:sp>
        <p:sp>
          <p:nvSpPr>
            <p:cNvPr id="147" name="圆柱形 56"/>
            <p:cNvSpPr/>
            <p:nvPr/>
          </p:nvSpPr>
          <p:spPr>
            <a:xfrm>
              <a:off x="7242739" y="2829523"/>
              <a:ext cx="1353461" cy="644131"/>
            </a:xfrm>
            <a:prstGeom prst="can">
              <a:avLst/>
            </a:prstGeom>
            <a:gradFill rotWithShape="1">
              <a:gsLst>
                <a:gs pos="0">
                  <a:srgbClr val="F0AD00">
                    <a:tint val="50000"/>
                    <a:satMod val="300000"/>
                  </a:srgbClr>
                </a:gs>
                <a:gs pos="35000">
                  <a:srgbClr val="F0AD00">
                    <a:tint val="37000"/>
                    <a:satMod val="300000"/>
                  </a:srgbClr>
                </a:gs>
                <a:gs pos="100000">
                  <a:srgbClr val="F0AD00">
                    <a:tint val="15000"/>
                    <a:satMod val="350000"/>
                  </a:srgbClr>
                </a:gs>
              </a:gsLst>
              <a:lin ang="16200000" scaled="1"/>
            </a:gradFill>
            <a:ln w="9525" cap="flat" cmpd="sng" algn="ctr">
              <a:solidFill>
                <a:srgbClr val="F0AD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000000"/>
                  </a:solidFill>
                  <a:effectLst/>
                  <a:uLnTx/>
                  <a:uFillTx/>
                  <a:latin typeface="华文仿宋"/>
                  <a:ea typeface="华文仿宋"/>
                  <a:cs typeface="华文仿宋"/>
                </a:rPr>
                <a:t>专家知识库</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48" name="圆柱形 62"/>
            <p:cNvSpPr/>
            <p:nvPr/>
          </p:nvSpPr>
          <p:spPr>
            <a:xfrm>
              <a:off x="7242739" y="3816477"/>
              <a:ext cx="1353461" cy="644131"/>
            </a:xfrm>
            <a:prstGeom prst="can">
              <a:avLst/>
            </a:prstGeom>
            <a:gradFill rotWithShape="1">
              <a:gsLst>
                <a:gs pos="0">
                  <a:srgbClr val="F0AD00">
                    <a:tint val="50000"/>
                    <a:satMod val="300000"/>
                  </a:srgbClr>
                </a:gs>
                <a:gs pos="35000">
                  <a:srgbClr val="F0AD00">
                    <a:tint val="37000"/>
                    <a:satMod val="300000"/>
                  </a:srgbClr>
                </a:gs>
                <a:gs pos="100000">
                  <a:srgbClr val="F0AD00">
                    <a:tint val="15000"/>
                    <a:satMod val="350000"/>
                  </a:srgbClr>
                </a:gs>
              </a:gsLst>
              <a:lin ang="16200000" scaled="1"/>
            </a:gradFill>
            <a:ln w="9525" cap="flat" cmpd="sng" algn="ctr">
              <a:solidFill>
                <a:srgbClr val="F0AD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rPr>
                <a:t>服务</a:t>
              </a:r>
              <a:r>
                <a:rPr kumimoji="0" lang="zh-CN" altLang="en-US" sz="1600" b="0" i="0" u="none" strike="noStrike" kern="0" cap="none" spc="0" normalizeH="0" baseline="0" noProof="0" dirty="0" smtClean="0">
                  <a:ln>
                    <a:noFill/>
                  </a:ln>
                  <a:solidFill>
                    <a:srgbClr val="000000"/>
                  </a:solidFill>
                  <a:effectLst/>
                  <a:uLnTx/>
                  <a:uFillTx/>
                  <a:latin typeface="华文仿宋"/>
                  <a:ea typeface="华文仿宋"/>
                  <a:cs typeface="华文仿宋"/>
                </a:rPr>
                <a:t>库</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grpSp>
      <p:sp>
        <p:nvSpPr>
          <p:cNvPr id="149" name="Rectangle 3"/>
          <p:cNvSpPr>
            <a:spLocks noChangeArrowheads="1"/>
          </p:cNvSpPr>
          <p:nvPr/>
        </p:nvSpPr>
        <p:spPr bwMode="auto">
          <a:xfrm>
            <a:off x="6664357" y="1237766"/>
            <a:ext cx="1501619" cy="375705"/>
          </a:xfrm>
          <a:prstGeom prst="rect">
            <a:avLst/>
          </a:prstGeom>
          <a:solidFill>
            <a:srgbClr val="D6D6D6"/>
          </a:solidFill>
          <a:ln w="9525"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kern="0" dirty="0" smtClean="0">
                <a:solidFill>
                  <a:srgbClr val="000000"/>
                </a:solidFill>
                <a:latin typeface="华文仿宋"/>
                <a:ea typeface="华文仿宋"/>
                <a:cs typeface="华文仿宋"/>
              </a:rPr>
              <a:t>客户资产管理</a:t>
            </a:r>
            <a:endParaRPr kumimoji="0" lang="zh-CN" altLang="en-US" sz="16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50" name="上箭头 149"/>
          <p:cNvSpPr/>
          <p:nvPr/>
        </p:nvSpPr>
        <p:spPr>
          <a:xfrm>
            <a:off x="8342982" y="1727374"/>
            <a:ext cx="541337" cy="655638"/>
          </a:xfrm>
          <a:prstGeom prst="up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华文仿宋"/>
                <a:ea typeface="华文仿宋"/>
                <a:cs typeface="华文仿宋"/>
              </a:rPr>
              <a:t>复用</a:t>
            </a:r>
          </a:p>
        </p:txBody>
      </p:sp>
      <p:sp>
        <p:nvSpPr>
          <p:cNvPr id="151" name="下箭头 150"/>
          <p:cNvSpPr/>
          <p:nvPr/>
        </p:nvSpPr>
        <p:spPr>
          <a:xfrm>
            <a:off x="9082339" y="1757958"/>
            <a:ext cx="500062" cy="642938"/>
          </a:xfrm>
          <a:prstGeom prst="down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华文仿宋"/>
                <a:ea typeface="华文仿宋"/>
                <a:cs typeface="华文仿宋"/>
              </a:rPr>
              <a:t>沉淀</a:t>
            </a:r>
          </a:p>
        </p:txBody>
      </p:sp>
      <p:grpSp>
        <p:nvGrpSpPr>
          <p:cNvPr id="152" name="组合 6"/>
          <p:cNvGrpSpPr/>
          <p:nvPr/>
        </p:nvGrpSpPr>
        <p:grpSpPr>
          <a:xfrm>
            <a:off x="1631504" y="2013982"/>
            <a:ext cx="2304256" cy="3989378"/>
            <a:chOff x="683568" y="2304854"/>
            <a:chExt cx="2304256" cy="3989378"/>
          </a:xfrm>
        </p:grpSpPr>
        <p:grpSp>
          <p:nvGrpSpPr>
            <p:cNvPr id="153" name="组合 42"/>
            <p:cNvGrpSpPr>
              <a:grpSpLocks/>
            </p:cNvGrpSpPr>
            <p:nvPr/>
          </p:nvGrpSpPr>
          <p:grpSpPr bwMode="auto">
            <a:xfrm>
              <a:off x="683568" y="2304854"/>
              <a:ext cx="2304256" cy="3989378"/>
              <a:chOff x="1122363" y="2384424"/>
              <a:chExt cx="2338759" cy="3757631"/>
            </a:xfrm>
            <a:effectLst>
              <a:outerShdw blurRad="50800" dist="38100" dir="2700000" algn="tl" rotWithShape="0">
                <a:prstClr val="black">
                  <a:alpha val="40000"/>
                </a:prstClr>
              </a:outerShdw>
            </a:effectLst>
          </p:grpSpPr>
          <p:sp>
            <p:nvSpPr>
              <p:cNvPr id="161" name="圆角矩形 160"/>
              <p:cNvSpPr/>
              <p:nvPr/>
            </p:nvSpPr>
            <p:spPr>
              <a:xfrm>
                <a:off x="1122363" y="2384424"/>
                <a:ext cx="2338759" cy="3757631"/>
              </a:xfrm>
              <a:prstGeom prst="roundRect">
                <a:avLst>
                  <a:gd name="adj" fmla="val 0"/>
                </a:avLst>
              </a:prstGeom>
              <a:solidFill>
                <a:srgbClr val="FFFFCC"/>
              </a:solidFill>
              <a:ln w="12700" cap="flat" cmpd="sng" algn="ctr">
                <a:solidFill>
                  <a:srgbClr val="0070C0"/>
                </a:solidFill>
                <a:prstDash val="soli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lumMod val="75000"/>
                    </a:srgbClr>
                  </a:solidFill>
                  <a:effectLst/>
                  <a:uLnTx/>
                  <a:uFillTx/>
                  <a:latin typeface="华文仿宋"/>
                  <a:ea typeface="华文仿宋"/>
                  <a:cs typeface="华文仿宋"/>
                </a:endParaRPr>
              </a:p>
            </p:txBody>
          </p:sp>
          <p:sp>
            <p:nvSpPr>
              <p:cNvPr id="162" name="矩形 9"/>
              <p:cNvSpPr>
                <a:spLocks noChangeArrowheads="1"/>
              </p:cNvSpPr>
              <p:nvPr/>
            </p:nvSpPr>
            <p:spPr bwMode="auto">
              <a:xfrm>
                <a:off x="1560880" y="5740322"/>
                <a:ext cx="1358875" cy="347877"/>
              </a:xfrm>
              <a:prstGeom prst="rect">
                <a:avLst/>
              </a:prstGeom>
              <a:noFill/>
              <a:ln w="9525">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2060"/>
                    </a:solidFill>
                    <a:effectLst/>
                    <a:uLnTx/>
                    <a:uFillTx/>
                    <a:latin typeface="华文仿宋"/>
                    <a:ea typeface="华文仿宋"/>
                    <a:cs typeface="华文仿宋"/>
                  </a:rPr>
                  <a:t>标准与规范</a:t>
                </a:r>
              </a:p>
            </p:txBody>
          </p:sp>
        </p:grpSp>
        <p:sp>
          <p:nvSpPr>
            <p:cNvPr id="154" name="矩形 153"/>
            <p:cNvSpPr/>
            <p:nvPr/>
          </p:nvSpPr>
          <p:spPr bwMode="auto">
            <a:xfrm>
              <a:off x="839788" y="4436120"/>
              <a:ext cx="1989138" cy="341313"/>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smtClean="0">
                  <a:solidFill>
                    <a:srgbClr val="000000"/>
                  </a:solidFill>
                  <a:latin typeface="华文仿宋"/>
                  <a:ea typeface="华文仿宋"/>
                  <a:cs typeface="华文仿宋"/>
                </a:rPr>
                <a:t>业务流程运维规范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55" name="矩形 154"/>
            <p:cNvSpPr/>
            <p:nvPr/>
          </p:nvSpPr>
          <p:spPr bwMode="auto">
            <a:xfrm>
              <a:off x="838201" y="3591570"/>
              <a:ext cx="1989137" cy="341313"/>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smtClean="0">
                  <a:solidFill>
                    <a:srgbClr val="000000"/>
                  </a:solidFill>
                  <a:latin typeface="华文仿宋"/>
                  <a:ea typeface="华文仿宋"/>
                  <a:cs typeface="华文仿宋"/>
                </a:rPr>
                <a:t>流程平台接口规范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56" name="矩形 155"/>
            <p:cNvSpPr/>
            <p:nvPr/>
          </p:nvSpPr>
          <p:spPr bwMode="auto">
            <a:xfrm>
              <a:off x="839788" y="3140720"/>
              <a:ext cx="1989138" cy="361950"/>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smtClean="0">
                  <a:solidFill>
                    <a:srgbClr val="000000"/>
                  </a:solidFill>
                  <a:latin typeface="华文仿宋"/>
                  <a:ea typeface="华文仿宋"/>
                  <a:cs typeface="华文仿宋"/>
                </a:rPr>
                <a:t>业务流程设计规范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57" name="矩形 156"/>
            <p:cNvSpPr/>
            <p:nvPr/>
          </p:nvSpPr>
          <p:spPr bwMode="auto">
            <a:xfrm>
              <a:off x="838201" y="2708920"/>
              <a:ext cx="1989137" cy="339725"/>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smtClean="0">
                  <a:ln>
                    <a:noFill/>
                  </a:ln>
                  <a:solidFill>
                    <a:srgbClr val="000000"/>
                  </a:solidFill>
                  <a:effectLst/>
                  <a:uLnTx/>
                  <a:uFillTx/>
                  <a:latin typeface="华文仿宋"/>
                  <a:ea typeface="华文仿宋"/>
                  <a:cs typeface="华文仿宋"/>
                </a:rPr>
                <a:t>业务流程管理规范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58" name="矩形 157"/>
            <p:cNvSpPr/>
            <p:nvPr/>
          </p:nvSpPr>
          <p:spPr bwMode="auto">
            <a:xfrm>
              <a:off x="839788" y="4004320"/>
              <a:ext cx="1989138" cy="341313"/>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smtClean="0">
                  <a:solidFill>
                    <a:srgbClr val="000000"/>
                  </a:solidFill>
                  <a:latin typeface="华文仿宋"/>
                  <a:ea typeface="华文仿宋"/>
                  <a:cs typeface="华文仿宋"/>
                </a:rPr>
                <a:t>应用接入规范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60" name="矩形 159"/>
            <p:cNvSpPr/>
            <p:nvPr/>
          </p:nvSpPr>
          <p:spPr bwMode="auto">
            <a:xfrm>
              <a:off x="838201" y="4869508"/>
              <a:ext cx="1989137" cy="339725"/>
            </a:xfrm>
            <a:prstGeom prst="rect">
              <a:avLst/>
            </a:prstGeom>
            <a:solidFill>
              <a:schemeClr val="accent5">
                <a:lumMod val="60000"/>
                <a:lumOff val="40000"/>
              </a:schemeClr>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kern="0" dirty="0" smtClean="0">
                  <a:solidFill>
                    <a:srgbClr val="000000"/>
                  </a:solidFill>
                  <a:latin typeface="华文仿宋"/>
                  <a:ea typeface="华文仿宋"/>
                  <a:cs typeface="华文仿宋"/>
                </a:rPr>
                <a:t>….</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grpSp>
      <p:grpSp>
        <p:nvGrpSpPr>
          <p:cNvPr id="163" name="组合 7"/>
          <p:cNvGrpSpPr/>
          <p:nvPr/>
        </p:nvGrpSpPr>
        <p:grpSpPr>
          <a:xfrm>
            <a:off x="4151785" y="2014749"/>
            <a:ext cx="3673035" cy="3989357"/>
            <a:chOff x="2843809" y="2305621"/>
            <a:chExt cx="3519031" cy="3989357"/>
          </a:xfrm>
        </p:grpSpPr>
        <p:grpSp>
          <p:nvGrpSpPr>
            <p:cNvPr id="164" name="组合 89"/>
            <p:cNvGrpSpPr>
              <a:grpSpLocks/>
            </p:cNvGrpSpPr>
            <p:nvPr/>
          </p:nvGrpSpPr>
          <p:grpSpPr bwMode="auto">
            <a:xfrm>
              <a:off x="2843809" y="2305621"/>
              <a:ext cx="3519031" cy="3989357"/>
              <a:chOff x="3665539" y="2457450"/>
              <a:chExt cx="2682333" cy="3829070"/>
            </a:xfrm>
          </p:grpSpPr>
          <p:grpSp>
            <p:nvGrpSpPr>
              <p:cNvPr id="167" name="组合 40"/>
              <p:cNvGrpSpPr>
                <a:grpSpLocks/>
              </p:cNvGrpSpPr>
              <p:nvPr/>
            </p:nvGrpSpPr>
            <p:grpSpPr bwMode="auto">
              <a:xfrm>
                <a:off x="3665539" y="2457450"/>
                <a:ext cx="2682333" cy="3829070"/>
                <a:chOff x="3944938" y="2384425"/>
                <a:chExt cx="2327964" cy="3614739"/>
              </a:xfrm>
            </p:grpSpPr>
            <p:sp>
              <p:nvSpPr>
                <p:cNvPr id="173" name="圆角矩形 172"/>
                <p:cNvSpPr/>
                <p:nvPr/>
              </p:nvSpPr>
              <p:spPr>
                <a:xfrm>
                  <a:off x="3944938" y="2384425"/>
                  <a:ext cx="2327964" cy="3614739"/>
                </a:xfrm>
                <a:prstGeom prst="roundRect">
                  <a:avLst>
                    <a:gd name="adj" fmla="val 0"/>
                  </a:avLst>
                </a:prstGeom>
                <a:solidFill>
                  <a:srgbClr val="FFFFCC"/>
                </a:solidFill>
                <a:ln w="12700" cap="flat" cmpd="sng" algn="ctr">
                  <a:solidFill>
                    <a:srgbClr val="0070C0"/>
                  </a:solidFill>
                  <a:prstDash val="solid"/>
                </a:ln>
                <a:effectLst>
                  <a:outerShdw blurRad="50800" dist="38100" dir="2700000" algn="tl" rotWithShape="0">
                    <a:prstClr val="black">
                      <a:alpha val="40000"/>
                    </a:prstClr>
                  </a:outerShdw>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lumMod val="75000"/>
                      </a:srgbClr>
                    </a:solidFill>
                    <a:effectLst/>
                    <a:uLnTx/>
                    <a:uFillTx/>
                    <a:latin typeface="华文仿宋"/>
                    <a:ea typeface="华文仿宋"/>
                    <a:cs typeface="华文仿宋"/>
                  </a:endParaRPr>
                </a:p>
              </p:txBody>
            </p:sp>
            <p:sp>
              <p:nvSpPr>
                <p:cNvPr id="174" name="矩形 20"/>
                <p:cNvSpPr>
                  <a:spLocks noChangeArrowheads="1"/>
                </p:cNvSpPr>
                <p:nvPr/>
              </p:nvSpPr>
              <p:spPr bwMode="auto">
                <a:xfrm>
                  <a:off x="4310046" y="5650505"/>
                  <a:ext cx="1590271" cy="334650"/>
                </a:xfrm>
                <a:prstGeom prst="rect">
                  <a:avLst/>
                </a:prstGeom>
                <a:noFill/>
                <a:ln w="9525">
                  <a:noFill/>
                  <a:miter lim="800000"/>
                  <a:headEnd/>
                  <a:tailEnd/>
                </a:ln>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2060"/>
                      </a:solidFill>
                      <a:effectLst/>
                      <a:uLnTx/>
                      <a:uFillTx/>
                      <a:latin typeface="华文仿宋"/>
                      <a:ea typeface="华文仿宋"/>
                      <a:cs typeface="华文仿宋"/>
                    </a:rPr>
                    <a:t>平台与工具</a:t>
                  </a:r>
                </a:p>
              </p:txBody>
            </p:sp>
            <p:sp>
              <p:nvSpPr>
                <p:cNvPr id="175" name="圆角矩形 174"/>
                <p:cNvSpPr/>
                <p:nvPr/>
              </p:nvSpPr>
              <p:spPr>
                <a:xfrm>
                  <a:off x="4040210" y="4172563"/>
                  <a:ext cx="2140861" cy="1195940"/>
                </a:xfrm>
                <a:prstGeom prst="roundRect">
                  <a:avLst>
                    <a:gd name="adj" fmla="val 10076"/>
                  </a:avLst>
                </a:prstGeom>
                <a:solidFill>
                  <a:srgbClr val="BBDBE3"/>
                </a:solidFill>
                <a:ln w="19050" cap="flat" cmpd="sng" algn="ctr">
                  <a:solidFill>
                    <a:srgbClr val="4BACC6"/>
                  </a:solidFill>
                  <a:prstDash val="soli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smtClean="0">
                      <a:ln>
                        <a:noFill/>
                      </a:ln>
                      <a:solidFill>
                        <a:srgbClr val="000000"/>
                      </a:solidFill>
                      <a:effectLst/>
                      <a:uLnTx/>
                      <a:uFillTx/>
                      <a:latin typeface="华文仿宋"/>
                      <a:ea typeface="华文仿宋"/>
                      <a:cs typeface="华文仿宋"/>
                    </a:rPr>
                    <a:t>流程设计</a:t>
                  </a:r>
                  <a:r>
                    <a:rPr kumimoji="0" lang="en-US" altLang="zh-CN" sz="1100" b="0" i="0" u="none" strike="noStrike" kern="0" cap="none" spc="0" normalizeH="0" baseline="0" noProof="0" dirty="0" smtClean="0">
                      <a:ln>
                        <a:noFill/>
                      </a:ln>
                      <a:solidFill>
                        <a:srgbClr val="000000"/>
                      </a:solidFill>
                      <a:effectLst/>
                      <a:uLnTx/>
                      <a:uFillTx/>
                      <a:latin typeface="华文仿宋"/>
                      <a:ea typeface="华文仿宋"/>
                      <a:cs typeface="华文仿宋"/>
                    </a:rPr>
                    <a:t>/</a:t>
                  </a:r>
                  <a:r>
                    <a:rPr kumimoji="0" lang="zh-CN" altLang="en-US" sz="1100" b="0" i="0" u="none" strike="noStrike" kern="0" cap="none" spc="0" normalizeH="0" baseline="0" noProof="0" dirty="0" smtClean="0">
                      <a:ln>
                        <a:noFill/>
                      </a:ln>
                      <a:solidFill>
                        <a:srgbClr val="000000"/>
                      </a:solidFill>
                      <a:effectLst/>
                      <a:uLnTx/>
                      <a:uFillTx/>
                      <a:latin typeface="华文仿宋"/>
                      <a:ea typeface="华文仿宋"/>
                      <a:cs typeface="华文仿宋"/>
                    </a:rPr>
                    <a:t>开发</a:t>
                  </a:r>
                  <a:r>
                    <a:rPr kumimoji="0" lang="en-US" altLang="zh-CN" sz="1100" b="0" i="0" u="none" strike="noStrike" kern="0" cap="none" spc="0" normalizeH="0" baseline="0" noProof="0" dirty="0" smtClean="0">
                      <a:ln>
                        <a:noFill/>
                      </a:ln>
                      <a:solidFill>
                        <a:srgbClr val="000000"/>
                      </a:solidFill>
                      <a:effectLst/>
                      <a:uLnTx/>
                      <a:uFillTx/>
                      <a:latin typeface="华文仿宋"/>
                      <a:ea typeface="华文仿宋"/>
                      <a:cs typeface="华文仿宋"/>
                    </a:rPr>
                    <a:t>/</a:t>
                  </a:r>
                  <a:r>
                    <a:rPr kumimoji="0" lang="zh-CN" altLang="en-US" sz="1100" b="0" i="0" u="none" strike="noStrike" kern="0" cap="none" spc="0" normalizeH="0" baseline="0" noProof="0" dirty="0" smtClean="0">
                      <a:ln>
                        <a:noFill/>
                      </a:ln>
                      <a:solidFill>
                        <a:srgbClr val="000000"/>
                      </a:solidFill>
                      <a:effectLst/>
                      <a:uLnTx/>
                      <a:uFillTx/>
                      <a:latin typeface="华文仿宋"/>
                      <a:ea typeface="华文仿宋"/>
                      <a:cs typeface="华文仿宋"/>
                    </a:rPr>
                    <a:t>运行一体化平台</a:t>
                  </a:r>
                  <a:endParaRPr kumimoji="0" lang="zh-CN" altLang="en-US" sz="11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76" name="矩形 175"/>
                <p:cNvSpPr/>
                <p:nvPr/>
              </p:nvSpPr>
              <p:spPr>
                <a:xfrm>
                  <a:off x="5847650" y="4477006"/>
                  <a:ext cx="286578" cy="790195"/>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vert="eaVert" lIns="36000" tIns="36000" rIns="36000" bIns="36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rPr>
                    <a:t>管理监控</a:t>
                  </a:r>
                </a:p>
              </p:txBody>
            </p:sp>
            <p:sp>
              <p:nvSpPr>
                <p:cNvPr id="177" name="矩形 176"/>
                <p:cNvSpPr/>
                <p:nvPr/>
              </p:nvSpPr>
              <p:spPr>
                <a:xfrm>
                  <a:off x="4160317" y="4483851"/>
                  <a:ext cx="333422" cy="784004"/>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vert="eaVert" lIns="36000" tIns="36000" rIns="36000" bIns="36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smtClean="0">
                      <a:ln>
                        <a:noFill/>
                      </a:ln>
                      <a:solidFill>
                        <a:srgbClr val="000000"/>
                      </a:solidFill>
                      <a:effectLst/>
                      <a:uLnTx/>
                      <a:uFillTx/>
                      <a:latin typeface="华文仿宋"/>
                      <a:ea typeface="华文仿宋"/>
                      <a:cs typeface="华文仿宋"/>
                    </a:rPr>
                    <a:t>设计开发</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78" name="矩形 177"/>
                <p:cNvSpPr/>
                <p:nvPr/>
              </p:nvSpPr>
              <p:spPr>
                <a:xfrm>
                  <a:off x="4529547" y="4933058"/>
                  <a:ext cx="1256103" cy="350172"/>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kern="0" dirty="0" smtClean="0">
                      <a:solidFill>
                        <a:srgbClr val="000000"/>
                      </a:solidFill>
                      <a:latin typeface="华文仿宋"/>
                      <a:ea typeface="华文仿宋"/>
                      <a:cs typeface="华文仿宋"/>
                    </a:rPr>
                    <a:t>流程</a:t>
                  </a:r>
                  <a:r>
                    <a:rPr kumimoji="0" lang="zh-CN" altLang="en-US" sz="1400" b="0" i="0" u="none" strike="noStrike" kern="0" cap="none" spc="0" normalizeH="0" baseline="0" noProof="0" dirty="0" smtClean="0">
                      <a:ln>
                        <a:noFill/>
                      </a:ln>
                      <a:solidFill>
                        <a:srgbClr val="000000"/>
                      </a:solidFill>
                      <a:effectLst/>
                      <a:uLnTx/>
                      <a:uFillTx/>
                      <a:latin typeface="华文仿宋"/>
                      <a:ea typeface="华文仿宋"/>
                      <a:cs typeface="华文仿宋"/>
                    </a:rPr>
                    <a:t>运行环境</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79" name="矩形 178"/>
                <p:cNvSpPr/>
                <p:nvPr/>
              </p:nvSpPr>
              <p:spPr>
                <a:xfrm>
                  <a:off x="4529547" y="4497586"/>
                  <a:ext cx="1256104" cy="348776"/>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smtClean="0">
                      <a:ln>
                        <a:noFill/>
                      </a:ln>
                      <a:solidFill>
                        <a:srgbClr val="000000"/>
                      </a:solidFill>
                      <a:effectLst/>
                      <a:uLnTx/>
                      <a:uFillTx/>
                      <a:latin typeface="华文仿宋"/>
                      <a:ea typeface="华文仿宋"/>
                      <a:cs typeface="华文仿宋"/>
                    </a:rPr>
                    <a:t>流程基础服务</a:t>
                  </a:r>
                  <a:endParaRPr kumimoji="0" lang="zh-CN" altLang="en-US" sz="14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80" name="圆角矩形 179"/>
                <p:cNvSpPr/>
                <p:nvPr/>
              </p:nvSpPr>
              <p:spPr>
                <a:xfrm>
                  <a:off x="4040210" y="2555070"/>
                  <a:ext cx="2144996" cy="1171236"/>
                </a:xfrm>
                <a:prstGeom prst="roundRect">
                  <a:avLst>
                    <a:gd name="adj" fmla="val 10076"/>
                  </a:avLst>
                </a:prstGeom>
                <a:solidFill>
                  <a:srgbClr val="56A4B9">
                    <a:lumMod val="40000"/>
                    <a:lumOff val="60000"/>
                  </a:srgbClr>
                </a:solidFill>
                <a:ln w="19050" cap="flat" cmpd="sng" algn="ctr">
                  <a:solidFill>
                    <a:schemeClr val="accent5"/>
                  </a:solidFill>
                  <a:prstDash val="soli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srgbClr val="000000"/>
                      </a:solidFill>
                      <a:effectLst/>
                      <a:uLnTx/>
                      <a:uFillTx/>
                      <a:latin typeface="华文仿宋"/>
                      <a:ea typeface="华文仿宋"/>
                      <a:cs typeface="华文仿宋"/>
                    </a:rPr>
                    <a:t>统一</a:t>
                  </a:r>
                  <a:r>
                    <a:rPr kumimoji="0" lang="zh-CN" altLang="en-US" sz="1200" b="0" i="0" u="none" strike="noStrike" kern="0" cap="none" spc="0" normalizeH="0" baseline="0" noProof="0" smtClean="0">
                      <a:ln>
                        <a:noFill/>
                      </a:ln>
                      <a:solidFill>
                        <a:srgbClr val="000000"/>
                      </a:solidFill>
                      <a:effectLst/>
                      <a:uLnTx/>
                      <a:uFillTx/>
                      <a:latin typeface="华文仿宋"/>
                      <a:ea typeface="华文仿宋"/>
                      <a:cs typeface="华文仿宋"/>
                    </a:rPr>
                    <a:t>流程管理门户</a:t>
                  </a:r>
                  <a:endParaRPr kumimoji="0" lang="zh-CN" altLang="en-US" sz="1200" b="0" i="0" u="none" strike="noStrike" kern="0" cap="none" spc="0" normalizeH="0" baseline="0" noProof="0">
                    <a:ln>
                      <a:noFill/>
                    </a:ln>
                    <a:solidFill>
                      <a:srgbClr val="000000"/>
                    </a:solidFill>
                    <a:effectLst/>
                    <a:uLnTx/>
                    <a:uFillTx/>
                    <a:latin typeface="华文仿宋"/>
                    <a:ea typeface="华文仿宋"/>
                    <a:cs typeface="华文仿宋"/>
                  </a:endParaRPr>
                </a:p>
              </p:txBody>
            </p:sp>
          </p:grpSp>
          <p:sp>
            <p:nvSpPr>
              <p:cNvPr id="168" name="矩形 167"/>
              <p:cNvSpPr/>
              <p:nvPr/>
            </p:nvSpPr>
            <p:spPr bwMode="auto">
              <a:xfrm>
                <a:off x="3866854" y="2923039"/>
                <a:ext cx="978608" cy="428627"/>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业务流程定制</a:t>
                </a:r>
                <a:endPar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endParaRPr>
              </a:p>
            </p:txBody>
          </p:sp>
          <p:sp>
            <p:nvSpPr>
              <p:cNvPr id="169" name="矩形 168"/>
              <p:cNvSpPr/>
              <p:nvPr/>
            </p:nvSpPr>
            <p:spPr bwMode="auto">
              <a:xfrm>
                <a:off x="4931810" y="2923039"/>
                <a:ext cx="1256276" cy="403227"/>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业务流程监控及管理</a:t>
                </a:r>
                <a:endParaRPr kumimoji="0" lang="zh-CN" altLang="en-US" sz="12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70" name="矩形 169"/>
              <p:cNvSpPr/>
              <p:nvPr/>
            </p:nvSpPr>
            <p:spPr bwMode="auto">
              <a:xfrm>
                <a:off x="3866854" y="3397704"/>
                <a:ext cx="978608" cy="428627"/>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流程统计分析</a:t>
                </a:r>
                <a:endParaRPr kumimoji="0" lang="zh-CN" altLang="en-US" sz="120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71" name="矩形 170"/>
              <p:cNvSpPr/>
              <p:nvPr/>
            </p:nvSpPr>
            <p:spPr bwMode="auto">
              <a:xfrm>
                <a:off x="5910673" y="3397704"/>
                <a:ext cx="274207" cy="428627"/>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华文仿宋"/>
                    <a:ea typeface="华文仿宋"/>
                    <a:cs typeface="华文仿宋"/>
                  </a:rPr>
                  <a:t>…</a:t>
                </a:r>
                <a:endParaRPr kumimoji="0" lang="zh-CN" altLang="en-US" sz="1200" b="0" i="0" u="none" strike="noStrike" kern="0" cap="none" spc="0" normalizeH="0" baseline="0" noProof="0">
                  <a:ln>
                    <a:noFill/>
                  </a:ln>
                  <a:solidFill>
                    <a:srgbClr val="000000"/>
                  </a:solidFill>
                  <a:effectLst/>
                  <a:uLnTx/>
                  <a:uFillTx/>
                  <a:latin typeface="华文仿宋"/>
                  <a:ea typeface="华文仿宋"/>
                  <a:cs typeface="华文仿宋"/>
                </a:endParaRPr>
              </a:p>
            </p:txBody>
          </p:sp>
          <p:sp>
            <p:nvSpPr>
              <p:cNvPr id="172" name="矩形 171"/>
              <p:cNvSpPr/>
              <p:nvPr/>
            </p:nvSpPr>
            <p:spPr bwMode="auto">
              <a:xfrm>
                <a:off x="4931810" y="3408816"/>
                <a:ext cx="926077" cy="428627"/>
              </a:xfrm>
              <a:prstGeom prst="rect">
                <a:avLst/>
              </a:prstGeom>
              <a:solidFill>
                <a:schemeClr val="accent5"/>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smtClean="0">
                    <a:ln>
                      <a:noFill/>
                    </a:ln>
                    <a:solidFill>
                      <a:srgbClr val="000000"/>
                    </a:solidFill>
                    <a:effectLst/>
                    <a:uLnTx/>
                    <a:uFillTx/>
                    <a:latin typeface="华文仿宋"/>
                    <a:ea typeface="华文仿宋"/>
                    <a:cs typeface="华文仿宋"/>
                  </a:rPr>
                  <a:t>多引擎</a:t>
                </a:r>
                <a:r>
                  <a:rPr kumimoji="0" lang="en-US" altLang="zh-CN" sz="1000" b="0" i="0" u="none" strike="noStrike" kern="0" cap="none" spc="0" normalizeH="0" baseline="0" noProof="0" dirty="0">
                    <a:ln>
                      <a:noFill/>
                    </a:ln>
                    <a:solidFill>
                      <a:srgbClr val="000000"/>
                    </a:solidFill>
                    <a:effectLst/>
                    <a:uLnTx/>
                    <a:uFillTx/>
                    <a:latin typeface="华文仿宋"/>
                    <a:ea typeface="华文仿宋"/>
                    <a:cs typeface="华文仿宋"/>
                  </a:rPr>
                  <a:t>(</a:t>
                </a:r>
                <a:r>
                  <a:rPr kumimoji="0" lang="zh-CN" altLang="en-US" sz="1000" b="0" i="0" u="none" strike="noStrike" kern="0" cap="none" spc="0" normalizeH="0" baseline="0" noProof="0" dirty="0" smtClean="0">
                    <a:ln>
                      <a:noFill/>
                    </a:ln>
                    <a:solidFill>
                      <a:srgbClr val="000000"/>
                    </a:solidFill>
                    <a:effectLst/>
                    <a:uLnTx/>
                    <a:uFillTx/>
                    <a:latin typeface="华文仿宋"/>
                    <a:ea typeface="华文仿宋"/>
                    <a:cs typeface="华文仿宋"/>
                  </a:rPr>
                  <a:t>租户</a:t>
                </a:r>
                <a:r>
                  <a:rPr kumimoji="0" lang="en-US" altLang="zh-CN" sz="1000" b="0" i="0" u="none" strike="noStrike" kern="0" cap="none" spc="0" normalizeH="0" baseline="0" noProof="0" dirty="0" smtClean="0">
                    <a:ln>
                      <a:noFill/>
                    </a:ln>
                    <a:solidFill>
                      <a:srgbClr val="000000"/>
                    </a:solidFill>
                    <a:effectLst/>
                    <a:uLnTx/>
                    <a:uFillTx/>
                    <a:latin typeface="华文仿宋"/>
                    <a:ea typeface="华文仿宋"/>
                    <a:cs typeface="华文仿宋"/>
                  </a:rPr>
                  <a:t>)</a:t>
                </a:r>
                <a:r>
                  <a:rPr kumimoji="0" lang="zh-CN" altLang="en-US" sz="1000" b="0" i="0" u="none" strike="noStrike" kern="0" cap="none" spc="0" normalizeH="0" baseline="0" noProof="0" dirty="0" smtClean="0">
                    <a:ln>
                      <a:noFill/>
                    </a:ln>
                    <a:solidFill>
                      <a:srgbClr val="000000"/>
                    </a:solidFill>
                    <a:effectLst/>
                    <a:uLnTx/>
                    <a:uFillTx/>
                    <a:latin typeface="华文仿宋"/>
                    <a:ea typeface="华文仿宋"/>
                    <a:cs typeface="华文仿宋"/>
                  </a:rPr>
                  <a:t>管理</a:t>
                </a:r>
                <a:endParaRPr kumimoji="0" lang="zh-CN" altLang="en-US" sz="1000" b="0" i="0" u="none" strike="noStrike" kern="0" cap="none" spc="0" normalizeH="0" baseline="0" noProof="0" dirty="0">
                  <a:ln>
                    <a:noFill/>
                  </a:ln>
                  <a:solidFill>
                    <a:srgbClr val="000000"/>
                  </a:solidFill>
                  <a:effectLst/>
                  <a:uLnTx/>
                  <a:uFillTx/>
                  <a:latin typeface="华文仿宋"/>
                  <a:ea typeface="华文仿宋"/>
                  <a:cs typeface="华文仿宋"/>
                </a:endParaRPr>
              </a:p>
            </p:txBody>
          </p:sp>
        </p:grpSp>
        <p:sp>
          <p:nvSpPr>
            <p:cNvPr id="165" name="矩形 164"/>
            <p:cNvSpPr/>
            <p:nvPr/>
          </p:nvSpPr>
          <p:spPr bwMode="auto">
            <a:xfrm>
              <a:off x="2987826" y="5638800"/>
              <a:ext cx="3236198" cy="341463"/>
            </a:xfrm>
            <a:prstGeom prst="rect">
              <a:avLst/>
            </a:prstGeom>
            <a:solidFill>
              <a:srgbClr val="D6D6D6"/>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err="1" smtClean="0">
                  <a:ln>
                    <a:noFill/>
                  </a:ln>
                  <a:solidFill>
                    <a:srgbClr val="000000"/>
                  </a:solidFill>
                  <a:effectLst/>
                  <a:uLnTx/>
                  <a:uFillTx/>
                  <a:latin typeface="华文仿宋"/>
                  <a:ea typeface="华文仿宋"/>
                  <a:cs typeface="华文仿宋"/>
                </a:rPr>
                <a:t>Weblogic</a:t>
              </a:r>
              <a:r>
                <a:rPr kumimoji="0" lang="en-US" altLang="zh-CN" sz="1050" b="0" i="0" u="none" strike="noStrike" kern="0" cap="none" spc="0" normalizeH="0" baseline="0" noProof="0" dirty="0" smtClean="0">
                  <a:ln>
                    <a:noFill/>
                  </a:ln>
                  <a:solidFill>
                    <a:srgbClr val="000000"/>
                  </a:solidFill>
                  <a:effectLst/>
                  <a:uLnTx/>
                  <a:uFillTx/>
                  <a:latin typeface="华文仿宋"/>
                  <a:ea typeface="华文仿宋"/>
                  <a:cs typeface="华文仿宋"/>
                </a:rPr>
                <a:t>/WAS/JBOSS/Tomcat/BES</a:t>
              </a:r>
              <a:endParaRPr kumimoji="0" lang="zh-CN" altLang="en-US" sz="1050" b="0" i="0" u="none" strike="noStrike" kern="0" cap="none" spc="0" normalizeH="0" baseline="0" noProof="0" dirty="0">
                <a:ln>
                  <a:noFill/>
                </a:ln>
                <a:solidFill>
                  <a:srgbClr val="000000"/>
                </a:solidFill>
                <a:effectLst/>
                <a:uLnTx/>
                <a:uFillTx/>
                <a:latin typeface="华文仿宋"/>
                <a:ea typeface="华文仿宋"/>
                <a:cs typeface="华文仿宋"/>
              </a:endParaRPr>
            </a:p>
          </p:txBody>
        </p:sp>
        <p:sp>
          <p:nvSpPr>
            <p:cNvPr id="166" name="矩形 165"/>
            <p:cNvSpPr/>
            <p:nvPr/>
          </p:nvSpPr>
          <p:spPr bwMode="auto">
            <a:xfrm>
              <a:off x="2987825" y="3843068"/>
              <a:ext cx="3236200" cy="341463"/>
            </a:xfrm>
            <a:prstGeom prst="rect">
              <a:avLst/>
            </a:prstGeom>
            <a:solidFill>
              <a:srgbClr val="D6D6D6"/>
            </a:solidFill>
            <a:ln w="9525"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rgbClr val="000000"/>
                  </a:solidFill>
                  <a:effectLst/>
                  <a:uLnTx/>
                  <a:uFillTx/>
                  <a:latin typeface="华文仿宋"/>
                  <a:ea typeface="华文仿宋"/>
                  <a:cs typeface="华文仿宋"/>
                </a:rPr>
                <a:t>Portal</a:t>
              </a:r>
              <a:endParaRPr kumimoji="0" lang="zh-CN" altLang="en-US" sz="1050" b="0" i="0" u="none" strike="noStrike" kern="0" cap="none" spc="0" normalizeH="0" baseline="0" noProof="0" dirty="0">
                <a:ln>
                  <a:noFill/>
                </a:ln>
                <a:solidFill>
                  <a:srgbClr val="000000"/>
                </a:solidFill>
                <a:effectLst/>
                <a:uLnTx/>
                <a:uFillTx/>
                <a:latin typeface="华文仿宋"/>
                <a:ea typeface="华文仿宋"/>
                <a:cs typeface="华文仿宋"/>
              </a:endParaRPr>
            </a:p>
          </p:txBody>
        </p:sp>
      </p:grpSp>
      <p:sp>
        <p:nvSpPr>
          <p:cNvPr id="181" name="右箭头 180"/>
          <p:cNvSpPr/>
          <p:nvPr/>
        </p:nvSpPr>
        <p:spPr>
          <a:xfrm>
            <a:off x="3826208" y="2499828"/>
            <a:ext cx="651151" cy="576589"/>
          </a:xfrm>
          <a:prstGeom prst="rightArrow">
            <a:avLst>
              <a:gd name="adj1" fmla="val 46207"/>
              <a:gd name="adj2" fmla="val 40519"/>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华文仿宋"/>
                <a:ea typeface="华文仿宋"/>
                <a:cs typeface="华文仿宋"/>
              </a:rPr>
              <a:t>抽象</a:t>
            </a:r>
          </a:p>
        </p:txBody>
      </p:sp>
      <p:sp>
        <p:nvSpPr>
          <p:cNvPr id="182" name="左右箭头 181"/>
          <p:cNvSpPr/>
          <p:nvPr/>
        </p:nvSpPr>
        <p:spPr>
          <a:xfrm>
            <a:off x="7629786" y="2709335"/>
            <a:ext cx="764790" cy="504993"/>
          </a:xfrm>
          <a:prstGeom prst="leftRight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华文仿宋"/>
                <a:ea typeface="华文仿宋"/>
                <a:cs typeface="华文仿宋"/>
              </a:rPr>
              <a:t>沉淀</a:t>
            </a:r>
            <a:endParaRPr kumimoji="0" lang="zh-CN" altLang="en-US" sz="1200" b="0" i="0" u="none" strike="noStrike" kern="0" cap="none" spc="0" normalizeH="0" baseline="0" noProof="0" dirty="0">
              <a:ln>
                <a:noFill/>
              </a:ln>
              <a:solidFill>
                <a:srgbClr val="FFFFFF"/>
              </a:solidFill>
              <a:effectLst/>
              <a:uLnTx/>
              <a:uFillTx/>
              <a:latin typeface="华文仿宋"/>
              <a:ea typeface="华文仿宋"/>
              <a:cs typeface="华文仿宋"/>
            </a:endParaRPr>
          </a:p>
        </p:txBody>
      </p:sp>
      <p:sp>
        <p:nvSpPr>
          <p:cNvPr id="183" name="左右箭头 182"/>
          <p:cNvSpPr/>
          <p:nvPr/>
        </p:nvSpPr>
        <p:spPr>
          <a:xfrm>
            <a:off x="7670815" y="4616401"/>
            <a:ext cx="764790" cy="504993"/>
          </a:xfrm>
          <a:prstGeom prst="leftRight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华文仿宋"/>
                <a:ea typeface="华文仿宋"/>
                <a:cs typeface="华文仿宋"/>
              </a:rPr>
              <a:t>协同</a:t>
            </a:r>
            <a:endParaRPr kumimoji="0" lang="zh-CN" altLang="en-US" sz="1200" b="0" i="0" u="none" strike="noStrike" kern="0" cap="none" spc="0" normalizeH="0" baseline="0" noProof="0" dirty="0">
              <a:ln>
                <a:noFill/>
              </a:ln>
              <a:solidFill>
                <a:srgbClr val="FFFFFF"/>
              </a:solidFill>
              <a:effectLst/>
              <a:uLnTx/>
              <a:uFillTx/>
              <a:latin typeface="华文仿宋"/>
              <a:ea typeface="华文仿宋"/>
              <a:cs typeface="华文仿宋"/>
            </a:endParaRPr>
          </a:p>
        </p:txBody>
      </p:sp>
      <p:sp>
        <p:nvSpPr>
          <p:cNvPr id="184" name="右箭头 183"/>
          <p:cNvSpPr/>
          <p:nvPr/>
        </p:nvSpPr>
        <p:spPr>
          <a:xfrm>
            <a:off x="3866576" y="4580603"/>
            <a:ext cx="651151" cy="576589"/>
          </a:xfrm>
          <a:prstGeom prst="rightArrow">
            <a:avLst>
              <a:gd name="adj1" fmla="val 46207"/>
              <a:gd name="adj2" fmla="val 40519"/>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华文仿宋"/>
                <a:ea typeface="华文仿宋"/>
                <a:cs typeface="华文仿宋"/>
              </a:rPr>
              <a:t>固化</a:t>
            </a:r>
          </a:p>
        </p:txBody>
      </p:sp>
      <p:sp>
        <p:nvSpPr>
          <p:cNvPr id="185" name="上箭头 184"/>
          <p:cNvSpPr/>
          <p:nvPr/>
        </p:nvSpPr>
        <p:spPr>
          <a:xfrm>
            <a:off x="2493367" y="1700808"/>
            <a:ext cx="574675" cy="641350"/>
          </a:xfrm>
          <a:prstGeom prst="up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华文仿宋"/>
                <a:ea typeface="华文仿宋"/>
                <a:cs typeface="华文仿宋"/>
              </a:rPr>
              <a:t>规范</a:t>
            </a:r>
          </a:p>
        </p:txBody>
      </p:sp>
      <p:sp>
        <p:nvSpPr>
          <p:cNvPr id="186" name="上箭头 185"/>
          <p:cNvSpPr/>
          <p:nvPr/>
        </p:nvSpPr>
        <p:spPr>
          <a:xfrm>
            <a:off x="5699760" y="1713508"/>
            <a:ext cx="512763" cy="571500"/>
          </a:xfrm>
          <a:prstGeom prst="upArrow">
            <a:avLst/>
          </a:prstGeom>
          <a:solidFill>
            <a:srgbClr val="00B050"/>
          </a:soli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华文仿宋"/>
                <a:ea typeface="华文仿宋"/>
                <a:cs typeface="华文仿宋"/>
              </a:rPr>
              <a:t>支撑</a:t>
            </a:r>
          </a:p>
        </p:txBody>
      </p:sp>
    </p:spTree>
    <p:extLst>
      <p:ext uri="{BB962C8B-B14F-4D97-AF65-F5344CB8AC3E}">
        <p14:creationId xmlns:p14="http://schemas.microsoft.com/office/powerpoint/2010/main" val="2023684344"/>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以流程为中心整合：敏捷响应变化</a:t>
            </a:r>
            <a:endParaRPr kumimoji="1" lang="zh-CN" altLang="en-US" dirty="0"/>
          </a:p>
        </p:txBody>
      </p:sp>
      <p:sp>
        <p:nvSpPr>
          <p:cNvPr id="107" name="Rectangle 14"/>
          <p:cNvSpPr>
            <a:spLocks noChangeArrowheads="1"/>
          </p:cNvSpPr>
          <p:nvPr/>
        </p:nvSpPr>
        <p:spPr bwMode="auto">
          <a:xfrm>
            <a:off x="983432" y="4725000"/>
            <a:ext cx="7489064" cy="1584325"/>
          </a:xfrm>
          <a:prstGeom prst="rect">
            <a:avLst/>
          </a:prstGeom>
          <a:solidFill>
            <a:srgbClr val="D6D6D6"/>
          </a:solidFill>
          <a:ln w="9525" cap="flat" cmpd="sng" algn="ctr">
            <a:noFill/>
            <a:prstDash val="solid"/>
            <a:headEnd/>
            <a:tailEnd/>
          </a:ln>
          <a:effectLst>
            <a:outerShdw blurRad="40000" dist="20000" dir="5400000" rotWithShape="0">
              <a:srgbClr val="000000">
                <a:alpha val="38000"/>
              </a:srgbClr>
            </a:outerShdw>
          </a:effectLst>
        </p:spPr>
        <p:txBody>
          <a:bodyPr wrap="none">
            <a:flatTx/>
          </a:bodyPr>
          <a:lstStyle/>
          <a:p>
            <a:pPr algn="ctr" fontAlgn="base">
              <a:spcBef>
                <a:spcPct val="0"/>
              </a:spcBef>
              <a:spcAft>
                <a:spcPct val="0"/>
              </a:spcAft>
            </a:pPr>
            <a:endParaRPr lang="zh-CN" altLang="zh-CN" kern="0">
              <a:solidFill>
                <a:srgbClr val="000000"/>
              </a:solidFill>
              <a:latin typeface="华文仿宋"/>
              <a:ea typeface="华文仿宋"/>
              <a:cs typeface="华文仿宋"/>
            </a:endParaRPr>
          </a:p>
        </p:txBody>
      </p:sp>
      <p:sp>
        <p:nvSpPr>
          <p:cNvPr id="108" name="Rectangle 103"/>
          <p:cNvSpPr>
            <a:spLocks noChangeArrowheads="1"/>
          </p:cNvSpPr>
          <p:nvPr/>
        </p:nvSpPr>
        <p:spPr bwMode="blackWhite">
          <a:xfrm>
            <a:off x="1463917" y="4798024"/>
            <a:ext cx="6668699" cy="276999"/>
          </a:xfrm>
          <a:prstGeom prst="rect">
            <a:avLst/>
          </a:prstGeom>
          <a:solidFill>
            <a:srgbClr val="F0AD00">
              <a:alpha val="0"/>
            </a:srgbClr>
          </a:solidFill>
          <a:ln w="19050" algn="ctr">
            <a:solidFill>
              <a:srgbClr val="000000"/>
            </a:solidFill>
            <a:prstDash val="dash"/>
            <a:miter lim="800000"/>
            <a:headEnd/>
            <a:tailEnd/>
          </a:ln>
          <a:effectLst/>
        </p:spPr>
        <p:txBody>
          <a:bodyPr wrap="square" lIns="0" tIns="0" rIns="0" bIns="0"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latin typeface="华文仿宋"/>
              <a:ea typeface="华文仿宋"/>
              <a:cs typeface="华文仿宋"/>
            </a:endParaRPr>
          </a:p>
        </p:txBody>
      </p:sp>
      <p:sp>
        <p:nvSpPr>
          <p:cNvPr id="109" name="Rectangle 108"/>
          <p:cNvSpPr>
            <a:spLocks noChangeArrowheads="1"/>
          </p:cNvSpPr>
          <p:nvPr/>
        </p:nvSpPr>
        <p:spPr bwMode="blackWhite">
          <a:xfrm>
            <a:off x="1463917" y="5567963"/>
            <a:ext cx="6668699" cy="276999"/>
          </a:xfrm>
          <a:prstGeom prst="rect">
            <a:avLst/>
          </a:prstGeom>
          <a:solidFill>
            <a:srgbClr val="F0AD00">
              <a:alpha val="0"/>
            </a:srgbClr>
          </a:solidFill>
          <a:ln w="19050" algn="ctr">
            <a:solidFill>
              <a:srgbClr val="000000"/>
            </a:solidFill>
            <a:prstDash val="dash"/>
            <a:miter lim="800000"/>
            <a:headEnd/>
            <a:tailEnd/>
          </a:ln>
          <a:effectLst/>
        </p:spPr>
        <p:txBody>
          <a:bodyPr wrap="square" lIns="0" tIns="0" rIns="0" bIns="0"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latin typeface="华文仿宋"/>
              <a:ea typeface="华文仿宋"/>
              <a:cs typeface="华文仿宋"/>
            </a:endParaRPr>
          </a:p>
        </p:txBody>
      </p:sp>
      <p:sp>
        <p:nvSpPr>
          <p:cNvPr id="110" name="AutoShape 26"/>
          <p:cNvSpPr>
            <a:spLocks noChangeArrowheads="1"/>
          </p:cNvSpPr>
          <p:nvPr/>
        </p:nvSpPr>
        <p:spPr bwMode="auto">
          <a:xfrm>
            <a:off x="2519838" y="5580210"/>
            <a:ext cx="960967" cy="596874"/>
          </a:xfrm>
          <a:prstGeom prst="flowChartMagneticDisk">
            <a:avLst/>
          </a:prstGeom>
          <a:solidFill>
            <a:srgbClr val="4BACC6"/>
          </a:solidFill>
          <a:ln w="12700">
            <a:solidFill>
              <a:schemeClr val="accent5">
                <a:lumMod val="40000"/>
                <a:lumOff val="60000"/>
              </a:schemeClr>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ALS</a:t>
            </a:r>
          </a:p>
        </p:txBody>
      </p:sp>
      <p:sp>
        <p:nvSpPr>
          <p:cNvPr id="111" name="AutoShape 26"/>
          <p:cNvSpPr>
            <a:spLocks noChangeArrowheads="1"/>
          </p:cNvSpPr>
          <p:nvPr/>
        </p:nvSpPr>
        <p:spPr bwMode="auto">
          <a:xfrm>
            <a:off x="3765396" y="5588768"/>
            <a:ext cx="960967" cy="596874"/>
          </a:xfrm>
          <a:prstGeom prst="flowChartMagneticDisk">
            <a:avLst/>
          </a:prstGeom>
          <a:solidFill>
            <a:srgbClr val="4BACC6"/>
          </a:solidFill>
          <a:ln w="12700">
            <a:solidFill>
              <a:schemeClr val="accent5">
                <a:lumMod val="40000"/>
                <a:lumOff val="60000"/>
              </a:schemeClr>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CRM</a:t>
            </a:r>
          </a:p>
        </p:txBody>
      </p:sp>
      <p:sp>
        <p:nvSpPr>
          <p:cNvPr id="112" name="AutoShape 26"/>
          <p:cNvSpPr>
            <a:spLocks noChangeArrowheads="1"/>
          </p:cNvSpPr>
          <p:nvPr/>
        </p:nvSpPr>
        <p:spPr bwMode="auto">
          <a:xfrm>
            <a:off x="5014395" y="5588768"/>
            <a:ext cx="960967" cy="596874"/>
          </a:xfrm>
          <a:prstGeom prst="flowChartMagneticDisk">
            <a:avLst/>
          </a:prstGeom>
          <a:solidFill>
            <a:srgbClr val="4BACC6"/>
          </a:solidFill>
          <a:ln w="12700">
            <a:solidFill>
              <a:schemeClr val="accent5">
                <a:lumMod val="40000"/>
                <a:lumOff val="60000"/>
              </a:schemeClr>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RM</a:t>
            </a:r>
          </a:p>
        </p:txBody>
      </p:sp>
      <p:sp>
        <p:nvSpPr>
          <p:cNvPr id="113" name="AutoShape 26"/>
          <p:cNvSpPr>
            <a:spLocks noChangeArrowheads="1"/>
          </p:cNvSpPr>
          <p:nvPr/>
        </p:nvSpPr>
        <p:spPr bwMode="auto">
          <a:xfrm>
            <a:off x="6263394" y="5588768"/>
            <a:ext cx="960967" cy="596874"/>
          </a:xfrm>
          <a:prstGeom prst="flowChartMagneticDisk">
            <a:avLst/>
          </a:prstGeom>
          <a:solidFill>
            <a:srgbClr val="4BACC6"/>
          </a:solidFill>
          <a:ln w="12700">
            <a:solidFill>
              <a:schemeClr val="accent5">
                <a:lumMod val="40000"/>
                <a:lumOff val="60000"/>
              </a:schemeClr>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a:t>
            </a:r>
          </a:p>
        </p:txBody>
      </p:sp>
      <p:sp>
        <p:nvSpPr>
          <p:cNvPr id="114" name="矩形 113"/>
          <p:cNvSpPr/>
          <p:nvPr/>
        </p:nvSpPr>
        <p:spPr bwMode="gray">
          <a:xfrm>
            <a:off x="1367709" y="5816297"/>
            <a:ext cx="1158061" cy="276999"/>
          </a:xfrm>
          <a:prstGeom prst="rect">
            <a:avLst/>
          </a:prstGeom>
          <a:solidFill>
            <a:srgbClr val="FFFFFF">
              <a:alpha val="0"/>
            </a:srgbClr>
          </a:solidFill>
          <a:ln w="38100" algn="ctr">
            <a:noFill/>
            <a:round/>
            <a:headEnd/>
            <a:tailEnd/>
          </a:ln>
          <a:effectLst/>
        </p:spPr>
        <p:txBody>
          <a:bodyPr rtlCol="0"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应用部署</a:t>
            </a:r>
          </a:p>
        </p:txBody>
      </p:sp>
      <p:sp>
        <p:nvSpPr>
          <p:cNvPr id="115" name="矩形 114"/>
          <p:cNvSpPr/>
          <p:nvPr/>
        </p:nvSpPr>
        <p:spPr bwMode="gray">
          <a:xfrm>
            <a:off x="1398785" y="5046732"/>
            <a:ext cx="1158061" cy="276999"/>
          </a:xfrm>
          <a:prstGeom prst="rect">
            <a:avLst/>
          </a:prstGeom>
          <a:solidFill>
            <a:srgbClr val="FFFFFF">
              <a:alpha val="0"/>
            </a:srgbClr>
          </a:solidFill>
          <a:ln w="38100" algn="ctr">
            <a:noFill/>
            <a:round/>
            <a:headEnd/>
            <a:tailEnd/>
          </a:ln>
          <a:effectLst/>
        </p:spPr>
        <p:txBody>
          <a:bodyPr rtlCol="0"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业务功能</a:t>
            </a:r>
          </a:p>
        </p:txBody>
      </p:sp>
      <p:sp>
        <p:nvSpPr>
          <p:cNvPr id="117" name="流程图: 过程 22"/>
          <p:cNvSpPr>
            <a:spLocks/>
          </p:cNvSpPr>
          <p:nvPr/>
        </p:nvSpPr>
        <p:spPr bwMode="gray">
          <a:xfrm>
            <a:off x="2454903" y="4868688"/>
            <a:ext cx="1208547" cy="427384"/>
          </a:xfrm>
          <a:prstGeom prst="flowChartProcess">
            <a:avLst/>
          </a:prstGeom>
          <a:solidFill>
            <a:schemeClr val="accent5"/>
          </a:solidFill>
          <a:ln w="3175" algn="ctr">
            <a:noFill/>
            <a:round/>
            <a:headEnd/>
            <a:tailEnd/>
          </a:ln>
          <a:effectLst/>
        </p:spPr>
        <p:txBody>
          <a:bodyPr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  </a:t>
            </a: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贷款业务</a:t>
            </a:r>
          </a:p>
        </p:txBody>
      </p:sp>
      <p:sp>
        <p:nvSpPr>
          <p:cNvPr id="121" name="流程图: 过程 26"/>
          <p:cNvSpPr>
            <a:spLocks/>
          </p:cNvSpPr>
          <p:nvPr/>
        </p:nvSpPr>
        <p:spPr bwMode="gray">
          <a:xfrm>
            <a:off x="4287620" y="4868693"/>
            <a:ext cx="1208548" cy="417841"/>
          </a:xfrm>
          <a:prstGeom prst="flowChartProcess">
            <a:avLst/>
          </a:prstGeom>
          <a:solidFill>
            <a:schemeClr val="accent5"/>
          </a:solidFill>
          <a:ln w="3175" algn="ctr">
            <a:noFill/>
            <a:round/>
            <a:headEnd/>
            <a:tailEnd/>
          </a:ln>
          <a:effectLst/>
        </p:spPr>
        <p:txBody>
          <a:bodyPr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  客户住址</a:t>
            </a:r>
          </a:p>
        </p:txBody>
      </p:sp>
      <p:sp>
        <p:nvSpPr>
          <p:cNvPr id="125" name="流程图: 过程 30"/>
          <p:cNvSpPr>
            <a:spLocks/>
          </p:cNvSpPr>
          <p:nvPr/>
        </p:nvSpPr>
        <p:spPr bwMode="gray">
          <a:xfrm>
            <a:off x="6103310" y="4868693"/>
            <a:ext cx="1208548" cy="417841"/>
          </a:xfrm>
          <a:prstGeom prst="flowChartProcess">
            <a:avLst/>
          </a:prstGeom>
          <a:solidFill>
            <a:schemeClr val="accent5"/>
          </a:solidFill>
          <a:ln w="3175" algn="ctr">
            <a:noFill/>
            <a:round/>
            <a:headEnd/>
            <a:tailEnd/>
          </a:ln>
          <a:effectLst/>
        </p:spPr>
        <p:txBody>
          <a:bodyPr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  营销活动</a:t>
            </a:r>
          </a:p>
        </p:txBody>
      </p:sp>
      <p:sp>
        <p:nvSpPr>
          <p:cNvPr id="128" name="Rectangle 9"/>
          <p:cNvSpPr>
            <a:spLocks noChangeArrowheads="1"/>
          </p:cNvSpPr>
          <p:nvPr/>
        </p:nvSpPr>
        <p:spPr bwMode="auto">
          <a:xfrm>
            <a:off x="983432" y="2708922"/>
            <a:ext cx="7488932" cy="720725"/>
          </a:xfrm>
          <a:prstGeom prst="rect">
            <a:avLst/>
          </a:prstGeom>
          <a:solidFill>
            <a:srgbClr val="C5F0E1"/>
          </a:solidFill>
          <a:ln w="9525" cap="flat" cmpd="sng" algn="ctr">
            <a:noFill/>
            <a:prstDash val="solid"/>
            <a:headEnd/>
            <a:tailEnd/>
          </a:ln>
          <a:effectLst>
            <a:outerShdw blurRad="40000" dist="20000" dir="5400000" rotWithShape="0">
              <a:srgbClr val="000000">
                <a:alpha val="38000"/>
              </a:srgbClr>
            </a:outerShdw>
          </a:effectLst>
        </p:spPr>
        <p:txBody>
          <a:bodyPr wrap="none">
            <a:flatTx/>
          </a:bodyPr>
          <a:lstStyle/>
          <a:p>
            <a:pPr algn="ctr" fontAlgn="base">
              <a:spcBef>
                <a:spcPct val="0"/>
              </a:spcBef>
              <a:spcAft>
                <a:spcPct val="0"/>
              </a:spcAft>
            </a:pPr>
            <a:endParaRPr lang="zh-CN" altLang="zh-CN" kern="0">
              <a:solidFill>
                <a:srgbClr val="000000"/>
              </a:solidFill>
              <a:latin typeface="华文仿宋"/>
              <a:ea typeface="华文仿宋"/>
              <a:cs typeface="华文仿宋"/>
            </a:endParaRPr>
          </a:p>
        </p:txBody>
      </p:sp>
      <p:sp>
        <p:nvSpPr>
          <p:cNvPr id="129" name="Rectangle 10"/>
          <p:cNvSpPr>
            <a:spLocks noChangeArrowheads="1"/>
          </p:cNvSpPr>
          <p:nvPr/>
        </p:nvSpPr>
        <p:spPr bwMode="auto">
          <a:xfrm>
            <a:off x="1271433" y="2708925"/>
            <a:ext cx="3207341" cy="214313"/>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400" b="1">
                <a:solidFill>
                  <a:srgbClr val="000000"/>
                </a:solidFill>
                <a:latin typeface="华文仿宋"/>
                <a:ea typeface="华文仿宋"/>
                <a:cs typeface="华文仿宋"/>
              </a:rPr>
              <a:t>统一</a:t>
            </a:r>
            <a:r>
              <a:rPr lang="zh-CN" altLang="en-US" sz="1400" b="1" smtClean="0">
                <a:solidFill>
                  <a:srgbClr val="000000"/>
                </a:solidFill>
                <a:latin typeface="华文仿宋"/>
                <a:ea typeface="华文仿宋"/>
                <a:cs typeface="华文仿宋"/>
              </a:rPr>
              <a:t>流程平台</a:t>
            </a:r>
            <a:endParaRPr lang="zh-CN" altLang="en-US" sz="1400" b="1">
              <a:solidFill>
                <a:srgbClr val="000000"/>
              </a:solidFill>
              <a:latin typeface="华文仿宋"/>
              <a:ea typeface="华文仿宋"/>
              <a:cs typeface="华文仿宋"/>
            </a:endParaRPr>
          </a:p>
        </p:txBody>
      </p:sp>
      <p:sp>
        <p:nvSpPr>
          <p:cNvPr id="130" name="Rectangle 11"/>
          <p:cNvSpPr>
            <a:spLocks noChangeArrowheads="1"/>
          </p:cNvSpPr>
          <p:nvPr/>
        </p:nvSpPr>
        <p:spPr bwMode="auto">
          <a:xfrm>
            <a:off x="983432" y="3564588"/>
            <a:ext cx="7488932" cy="873125"/>
          </a:xfrm>
          <a:prstGeom prst="rect">
            <a:avLst/>
          </a:prstGeom>
          <a:solidFill>
            <a:srgbClr val="D6D6D6"/>
          </a:solidFill>
          <a:ln w="9525" cap="flat" cmpd="sng" algn="ctr">
            <a:noFill/>
            <a:prstDash val="solid"/>
            <a:headEnd/>
            <a:tailEnd/>
          </a:ln>
          <a:effectLst>
            <a:outerShdw blurRad="40000" dist="20000" dir="5400000" rotWithShape="0">
              <a:srgbClr val="000000">
                <a:alpha val="38000"/>
              </a:srgbClr>
            </a:outerShdw>
          </a:effectLst>
        </p:spPr>
        <p:txBody>
          <a:bodyPr wrap="none">
            <a:flatTx/>
          </a:bodyPr>
          <a:lstStyle/>
          <a:p>
            <a:pPr algn="ctr" fontAlgn="base">
              <a:spcBef>
                <a:spcPct val="0"/>
              </a:spcBef>
              <a:spcAft>
                <a:spcPct val="0"/>
              </a:spcAft>
            </a:pPr>
            <a:endParaRPr lang="zh-CN" altLang="zh-CN" kern="0">
              <a:solidFill>
                <a:srgbClr val="000000"/>
              </a:solidFill>
              <a:latin typeface="华文仿宋"/>
              <a:ea typeface="华文仿宋"/>
              <a:cs typeface="华文仿宋"/>
            </a:endParaRPr>
          </a:p>
        </p:txBody>
      </p:sp>
      <p:sp>
        <p:nvSpPr>
          <p:cNvPr id="131" name="Rectangle 12"/>
          <p:cNvSpPr>
            <a:spLocks noChangeArrowheads="1"/>
          </p:cNvSpPr>
          <p:nvPr/>
        </p:nvSpPr>
        <p:spPr bwMode="auto">
          <a:xfrm>
            <a:off x="1271433" y="3591570"/>
            <a:ext cx="2320204" cy="215900"/>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400" b="1" dirty="0" smtClean="0">
                <a:solidFill>
                  <a:srgbClr val="000000"/>
                </a:solidFill>
                <a:latin typeface="华文仿宋"/>
                <a:ea typeface="华文仿宋"/>
                <a:cs typeface="华文仿宋"/>
              </a:rPr>
              <a:t>服务网关</a:t>
            </a:r>
            <a:endParaRPr lang="zh-CN" altLang="en-US" sz="1400" b="1" dirty="0">
              <a:solidFill>
                <a:srgbClr val="000000"/>
              </a:solidFill>
              <a:latin typeface="华文仿宋"/>
              <a:ea typeface="华文仿宋"/>
              <a:cs typeface="华文仿宋"/>
            </a:endParaRPr>
          </a:p>
        </p:txBody>
      </p:sp>
      <p:sp>
        <p:nvSpPr>
          <p:cNvPr id="132" name="Rectangle 18"/>
          <p:cNvSpPr>
            <a:spLocks noChangeArrowheads="1"/>
          </p:cNvSpPr>
          <p:nvPr/>
        </p:nvSpPr>
        <p:spPr bwMode="auto">
          <a:xfrm>
            <a:off x="1403988" y="3033142"/>
            <a:ext cx="1796287" cy="323850"/>
          </a:xfrm>
          <a:prstGeom prst="rect">
            <a:avLst/>
          </a:prstGeom>
          <a:noFill/>
          <a:ln w="12700" algn="ctr">
            <a:noFill/>
            <a:miter lim="800000"/>
            <a:headEnd/>
            <a:tailEnd/>
          </a:ln>
          <a:effectLst/>
        </p:spPr>
        <p:txBody>
          <a:bodyPr wrap="none" anchor="ctr"/>
          <a:lstStyle/>
          <a:p>
            <a:pPr algn="ctr" fontAlgn="base">
              <a:spcBef>
                <a:spcPct val="0"/>
              </a:spcBef>
              <a:spcAft>
                <a:spcPct val="0"/>
              </a:spcAft>
            </a:pPr>
            <a:r>
              <a:rPr lang="zh-CN" altLang="en-US" sz="1200" dirty="0" smtClean="0">
                <a:solidFill>
                  <a:srgbClr val="000000"/>
                </a:solidFill>
                <a:latin typeface="华文仿宋"/>
                <a:ea typeface="华文仿宋"/>
                <a:cs typeface="华文仿宋"/>
              </a:rPr>
              <a:t>流程整合、服务编排</a:t>
            </a:r>
          </a:p>
          <a:p>
            <a:pPr fontAlgn="base">
              <a:spcBef>
                <a:spcPct val="0"/>
              </a:spcBef>
              <a:spcAft>
                <a:spcPct val="0"/>
              </a:spcAft>
            </a:pPr>
            <a:r>
              <a:rPr lang="zh-CN" altLang="en-US" sz="1200" dirty="0" smtClean="0">
                <a:solidFill>
                  <a:srgbClr val="000000"/>
                </a:solidFill>
                <a:latin typeface="华文仿宋"/>
                <a:ea typeface="华文仿宋"/>
                <a:cs typeface="华文仿宋"/>
              </a:rPr>
              <a:t>统计分析、管理监控</a:t>
            </a:r>
            <a:endParaRPr lang="zh-CN" altLang="en-US" sz="1200" dirty="0">
              <a:solidFill>
                <a:srgbClr val="000000"/>
              </a:solidFill>
              <a:latin typeface="华文仿宋"/>
              <a:ea typeface="华文仿宋"/>
              <a:cs typeface="华文仿宋"/>
            </a:endParaRPr>
          </a:p>
        </p:txBody>
      </p:sp>
      <p:sp>
        <p:nvSpPr>
          <p:cNvPr id="133" name="Rectangle 57"/>
          <p:cNvSpPr>
            <a:spLocks noChangeArrowheads="1"/>
          </p:cNvSpPr>
          <p:nvPr/>
        </p:nvSpPr>
        <p:spPr bwMode="auto">
          <a:xfrm>
            <a:off x="1403988" y="3848745"/>
            <a:ext cx="1901133" cy="546100"/>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200" dirty="0" smtClean="0">
                <a:solidFill>
                  <a:srgbClr val="000000"/>
                </a:solidFill>
                <a:latin typeface="华文仿宋"/>
                <a:ea typeface="华文仿宋"/>
                <a:cs typeface="华文仿宋"/>
              </a:rPr>
              <a:t>服务注册  服务管理   </a:t>
            </a:r>
            <a:endParaRPr lang="en-US" altLang="zh-CN" sz="1200" dirty="0" smtClean="0">
              <a:solidFill>
                <a:srgbClr val="000000"/>
              </a:solidFill>
              <a:latin typeface="华文仿宋"/>
              <a:ea typeface="华文仿宋"/>
              <a:cs typeface="华文仿宋"/>
            </a:endParaRPr>
          </a:p>
          <a:p>
            <a:pPr fontAlgn="base">
              <a:spcBef>
                <a:spcPct val="0"/>
              </a:spcBef>
              <a:spcAft>
                <a:spcPct val="0"/>
              </a:spcAft>
            </a:pPr>
            <a:r>
              <a:rPr lang="zh-CN" altLang="en-US" sz="1200" dirty="0" smtClean="0">
                <a:solidFill>
                  <a:srgbClr val="000000"/>
                </a:solidFill>
                <a:latin typeface="华文仿宋"/>
                <a:ea typeface="华文仿宋"/>
                <a:cs typeface="华文仿宋"/>
              </a:rPr>
              <a:t>服务路由  安全审计</a:t>
            </a:r>
            <a:endParaRPr lang="en-US" altLang="zh-CN" sz="1200" dirty="0" smtClean="0">
              <a:solidFill>
                <a:srgbClr val="000000"/>
              </a:solidFill>
              <a:latin typeface="华文仿宋"/>
              <a:ea typeface="华文仿宋"/>
              <a:cs typeface="华文仿宋"/>
            </a:endParaRPr>
          </a:p>
        </p:txBody>
      </p:sp>
      <p:cxnSp>
        <p:nvCxnSpPr>
          <p:cNvPr id="134" name="AutoShape 90"/>
          <p:cNvCxnSpPr>
            <a:cxnSpLocks noChangeShapeType="1"/>
            <a:stCxn id="194" idx="2"/>
            <a:endCxn id="117" idx="0"/>
          </p:cNvCxnSpPr>
          <p:nvPr/>
        </p:nvCxnSpPr>
        <p:spPr bwMode="auto">
          <a:xfrm rot="5400000">
            <a:off x="3121119" y="4077853"/>
            <a:ext cx="728892" cy="852781"/>
          </a:xfrm>
          <a:prstGeom prst="curvedConnector3">
            <a:avLst>
              <a:gd name="adj1" fmla="val 50000"/>
            </a:avLst>
          </a:prstGeom>
          <a:noFill/>
          <a:ln w="12700">
            <a:solidFill>
              <a:srgbClr val="BA0613"/>
            </a:solidFill>
            <a:round/>
            <a:headEnd type="triangle" w="med" len="med"/>
            <a:tailEnd/>
          </a:ln>
          <a:effectLst/>
        </p:spPr>
      </p:cxnSp>
      <p:sp>
        <p:nvSpPr>
          <p:cNvPr id="135" name="Rectangle 5"/>
          <p:cNvSpPr>
            <a:spLocks noChangeArrowheads="1"/>
          </p:cNvSpPr>
          <p:nvPr/>
        </p:nvSpPr>
        <p:spPr bwMode="auto">
          <a:xfrm>
            <a:off x="983432" y="1795984"/>
            <a:ext cx="7489065" cy="623888"/>
          </a:xfrm>
          <a:prstGeom prst="rect">
            <a:avLst/>
          </a:prstGeom>
          <a:solidFill>
            <a:srgbClr val="D6D6D6"/>
          </a:solidFill>
          <a:ln w="9525" cap="flat" cmpd="sng" algn="ctr">
            <a:noFill/>
            <a:prstDash val="solid"/>
            <a:headEnd/>
            <a:tailEnd/>
          </a:ln>
          <a:effectLst>
            <a:outerShdw blurRad="40000" dist="20000" dir="5400000" rotWithShape="0">
              <a:srgbClr val="000000">
                <a:alpha val="38000"/>
              </a:srgbClr>
            </a:outerShdw>
          </a:effectLst>
        </p:spPr>
        <p:txBody>
          <a:bodyPr wrap="none">
            <a:flatTx/>
          </a:bodyPr>
          <a:lstStyle/>
          <a:p>
            <a:pPr algn="ctr" fontAlgn="base">
              <a:spcBef>
                <a:spcPct val="0"/>
              </a:spcBef>
              <a:spcAft>
                <a:spcPct val="0"/>
              </a:spcAft>
            </a:pPr>
            <a:endParaRPr lang="zh-CN" altLang="zh-CN" kern="0">
              <a:solidFill>
                <a:srgbClr val="000000"/>
              </a:solidFill>
              <a:latin typeface="华文仿宋"/>
              <a:ea typeface="华文仿宋"/>
              <a:cs typeface="华文仿宋"/>
            </a:endParaRPr>
          </a:p>
        </p:txBody>
      </p:sp>
      <p:sp>
        <p:nvSpPr>
          <p:cNvPr id="159" name="Rectangle 8"/>
          <p:cNvSpPr>
            <a:spLocks noChangeArrowheads="1"/>
          </p:cNvSpPr>
          <p:nvPr/>
        </p:nvSpPr>
        <p:spPr bwMode="auto">
          <a:xfrm>
            <a:off x="1271433" y="1777752"/>
            <a:ext cx="1892627" cy="338138"/>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400" b="1" dirty="0" smtClean="0">
                <a:solidFill>
                  <a:srgbClr val="000000"/>
                </a:solidFill>
                <a:latin typeface="华文仿宋"/>
                <a:ea typeface="华文仿宋"/>
                <a:cs typeface="华文仿宋"/>
              </a:rPr>
              <a:t>前端业务系统</a:t>
            </a:r>
            <a:endParaRPr lang="en-US" altLang="zh-CN" sz="1400" b="1" dirty="0" smtClean="0">
              <a:solidFill>
                <a:srgbClr val="000000"/>
              </a:solidFill>
              <a:latin typeface="华文仿宋"/>
              <a:ea typeface="华文仿宋"/>
              <a:cs typeface="华文仿宋"/>
            </a:endParaRPr>
          </a:p>
        </p:txBody>
      </p:sp>
      <p:sp>
        <p:nvSpPr>
          <p:cNvPr id="187" name="Rectangle 98"/>
          <p:cNvSpPr>
            <a:spLocks noChangeArrowheads="1"/>
          </p:cNvSpPr>
          <p:nvPr/>
        </p:nvSpPr>
        <p:spPr bwMode="auto">
          <a:xfrm>
            <a:off x="3260333" y="1932944"/>
            <a:ext cx="1439333" cy="360363"/>
          </a:xfrm>
          <a:prstGeom prst="rect">
            <a:avLst/>
          </a:prstGeom>
          <a:solidFill>
            <a:schemeClr val="accent5">
              <a:lumMod val="20000"/>
              <a:lumOff val="80000"/>
            </a:schemeClr>
          </a:solidFill>
          <a:ln w="9525" cap="flat" cmpd="sng" algn="ctr">
            <a:no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基金销售</a:t>
            </a:r>
          </a:p>
        </p:txBody>
      </p:sp>
      <p:sp>
        <p:nvSpPr>
          <p:cNvPr id="188" name="Rectangle 98"/>
          <p:cNvSpPr>
            <a:spLocks noChangeArrowheads="1"/>
          </p:cNvSpPr>
          <p:nvPr/>
        </p:nvSpPr>
        <p:spPr bwMode="auto">
          <a:xfrm>
            <a:off x="4824685" y="1928712"/>
            <a:ext cx="1439333" cy="360363"/>
          </a:xfrm>
          <a:prstGeom prst="rect">
            <a:avLst/>
          </a:prstGeom>
          <a:solidFill>
            <a:schemeClr val="accent5">
              <a:lumMod val="20000"/>
              <a:lumOff val="80000"/>
            </a:schemeClr>
          </a:solidFill>
          <a:ln w="9525" cap="flat" cmpd="sng" algn="ctr">
            <a:no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rPr>
              <a:t>个人小额贷款</a:t>
            </a:r>
          </a:p>
        </p:txBody>
      </p:sp>
      <p:sp>
        <p:nvSpPr>
          <p:cNvPr id="189" name="Rectangle 98"/>
          <p:cNvSpPr>
            <a:spLocks noChangeArrowheads="1"/>
          </p:cNvSpPr>
          <p:nvPr/>
        </p:nvSpPr>
        <p:spPr bwMode="auto">
          <a:xfrm>
            <a:off x="6456866" y="1928712"/>
            <a:ext cx="1439333" cy="360363"/>
          </a:xfrm>
          <a:prstGeom prst="rect">
            <a:avLst/>
          </a:prstGeom>
          <a:solidFill>
            <a:schemeClr val="accent5">
              <a:lumMod val="20000"/>
              <a:lumOff val="80000"/>
            </a:schemeClr>
          </a:solidFill>
          <a:ln w="9525" cap="flat" cmpd="sng" algn="ctr">
            <a:noFill/>
            <a:prstDash val="solid"/>
            <a:headEnd/>
            <a:tailEn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华文仿宋"/>
                <a:ea typeface="华文仿宋"/>
                <a:cs typeface="华文仿宋"/>
              </a:rPr>
              <a:t>…</a:t>
            </a:r>
            <a:endParaRPr kumimoji="0" lang="zh-CN" altLang="en-US" sz="1200" b="0" i="0" u="none" strike="noStrike" kern="0" cap="none" spc="0" normalizeH="0" baseline="0" noProof="0" dirty="0" smtClean="0">
              <a:ln>
                <a:noFill/>
              </a:ln>
              <a:solidFill>
                <a:srgbClr val="000000"/>
              </a:solidFill>
              <a:effectLst/>
              <a:uLnTx/>
              <a:uFillTx/>
              <a:latin typeface="华文仿宋"/>
              <a:ea typeface="华文仿宋"/>
              <a:cs typeface="华文仿宋"/>
            </a:endParaRPr>
          </a:p>
        </p:txBody>
      </p:sp>
      <p:pic>
        <p:nvPicPr>
          <p:cNvPr id="1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8395" y="2756430"/>
            <a:ext cx="2727580" cy="62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 name="Line 25"/>
          <p:cNvSpPr>
            <a:spLocks noChangeShapeType="1"/>
          </p:cNvSpPr>
          <p:nvPr/>
        </p:nvSpPr>
        <p:spPr bwMode="auto">
          <a:xfrm flipH="1">
            <a:off x="2999656" y="5268955"/>
            <a:ext cx="0" cy="509192"/>
          </a:xfrm>
          <a:prstGeom prst="line">
            <a:avLst/>
          </a:prstGeom>
          <a:noFill/>
          <a:ln w="12700">
            <a:solidFill>
              <a:srgbClr val="BA0613"/>
            </a:solidFill>
            <a:round/>
            <a:headEnd type="triangle" w="med" len="med"/>
            <a:tailEnd/>
          </a:ln>
          <a:effectLst/>
        </p:spPr>
        <p:txBody>
          <a:bodyPr anchor="ctr"/>
          <a:lstStyle/>
          <a:p>
            <a:pPr fontAlgn="base">
              <a:spcBef>
                <a:spcPct val="0"/>
              </a:spcBef>
              <a:spcAft>
                <a:spcPct val="0"/>
              </a:spcAft>
            </a:pPr>
            <a:endParaRPr lang="zh-CN" altLang="en-US">
              <a:solidFill>
                <a:srgbClr val="000000"/>
              </a:solidFill>
              <a:latin typeface="华文仿宋"/>
              <a:ea typeface="华文仿宋"/>
              <a:cs typeface="华文仿宋"/>
            </a:endParaRPr>
          </a:p>
        </p:txBody>
      </p:sp>
      <p:sp>
        <p:nvSpPr>
          <p:cNvPr id="192" name="Line 25"/>
          <p:cNvSpPr>
            <a:spLocks noChangeShapeType="1"/>
          </p:cNvSpPr>
          <p:nvPr/>
        </p:nvSpPr>
        <p:spPr bwMode="auto">
          <a:xfrm flipH="1">
            <a:off x="4245876" y="5286529"/>
            <a:ext cx="552388" cy="491618"/>
          </a:xfrm>
          <a:prstGeom prst="line">
            <a:avLst/>
          </a:prstGeom>
          <a:noFill/>
          <a:ln w="12700">
            <a:solidFill>
              <a:srgbClr val="BA0613"/>
            </a:solidFill>
            <a:round/>
            <a:headEnd type="triangle" w="med" len="med"/>
            <a:tailEnd/>
          </a:ln>
          <a:effectLst/>
        </p:spPr>
        <p:txBody>
          <a:bodyPr anchor="ctr"/>
          <a:lstStyle/>
          <a:p>
            <a:pPr fontAlgn="base">
              <a:spcBef>
                <a:spcPct val="0"/>
              </a:spcBef>
              <a:spcAft>
                <a:spcPct val="0"/>
              </a:spcAft>
            </a:pPr>
            <a:endParaRPr lang="zh-CN" altLang="en-US">
              <a:solidFill>
                <a:srgbClr val="000000"/>
              </a:solidFill>
              <a:latin typeface="华文仿宋"/>
              <a:ea typeface="华文仿宋"/>
              <a:cs typeface="华文仿宋"/>
            </a:endParaRPr>
          </a:p>
        </p:txBody>
      </p:sp>
      <p:sp>
        <p:nvSpPr>
          <p:cNvPr id="193" name="Line 25"/>
          <p:cNvSpPr>
            <a:spLocks noChangeShapeType="1"/>
          </p:cNvSpPr>
          <p:nvPr/>
        </p:nvSpPr>
        <p:spPr bwMode="auto">
          <a:xfrm>
            <a:off x="6743874" y="5286529"/>
            <a:ext cx="1" cy="491618"/>
          </a:xfrm>
          <a:prstGeom prst="line">
            <a:avLst/>
          </a:prstGeom>
          <a:noFill/>
          <a:ln w="12700">
            <a:solidFill>
              <a:srgbClr val="BA0613"/>
            </a:solidFill>
            <a:round/>
            <a:headEnd type="triangle" w="med" len="med"/>
            <a:tailEnd/>
          </a:ln>
          <a:effectLst/>
        </p:spPr>
        <p:txBody>
          <a:bodyPr anchor="ctr"/>
          <a:lstStyle/>
          <a:p>
            <a:pPr fontAlgn="base">
              <a:spcBef>
                <a:spcPct val="0"/>
              </a:spcBef>
              <a:spcAft>
                <a:spcPct val="0"/>
              </a:spcAft>
            </a:pPr>
            <a:endParaRPr lang="zh-CN" altLang="en-US">
              <a:solidFill>
                <a:srgbClr val="000000"/>
              </a:solidFill>
              <a:latin typeface="华文仿宋"/>
              <a:ea typeface="华文仿宋"/>
              <a:cs typeface="华文仿宋"/>
            </a:endParaRPr>
          </a:p>
        </p:txBody>
      </p:sp>
      <p:pic>
        <p:nvPicPr>
          <p:cNvPr id="194" name="Picture 20" descr="subprocess"/>
          <p:cNvPicPr>
            <a:picLocks noChangeAspect="1" noChangeArrowheads="1"/>
          </p:cNvPicPr>
          <p:nvPr/>
        </p:nvPicPr>
        <p:blipFill>
          <a:blip r:embed="rId5"/>
          <a:srcRect/>
          <a:stretch>
            <a:fillRect/>
          </a:stretch>
        </p:blipFill>
        <p:spPr bwMode="auto">
          <a:xfrm>
            <a:off x="3759395" y="3934890"/>
            <a:ext cx="305127" cy="204906"/>
          </a:xfrm>
          <a:prstGeom prst="rect">
            <a:avLst/>
          </a:prstGeom>
          <a:gradFill rotWithShape="1">
            <a:gsLst>
              <a:gs pos="0">
                <a:srgbClr val="0066FF"/>
              </a:gs>
              <a:gs pos="100000">
                <a:srgbClr val="FFFFFF"/>
              </a:gs>
            </a:gsLst>
            <a:lin ang="5400000" scaled="1"/>
          </a:gradFill>
        </p:spPr>
      </p:pic>
      <p:pic>
        <p:nvPicPr>
          <p:cNvPr id="195" name="Picture 20" descr="subprocess"/>
          <p:cNvPicPr>
            <a:picLocks noChangeAspect="1" noChangeArrowheads="1"/>
          </p:cNvPicPr>
          <p:nvPr/>
        </p:nvPicPr>
        <p:blipFill>
          <a:blip r:embed="rId5"/>
          <a:srcRect/>
          <a:stretch>
            <a:fillRect/>
          </a:stretch>
        </p:blipFill>
        <p:spPr bwMode="auto">
          <a:xfrm>
            <a:off x="5014395" y="3898692"/>
            <a:ext cx="305127" cy="204906"/>
          </a:xfrm>
          <a:prstGeom prst="rect">
            <a:avLst/>
          </a:prstGeom>
          <a:gradFill rotWithShape="1">
            <a:gsLst>
              <a:gs pos="0">
                <a:srgbClr val="0066FF"/>
              </a:gs>
              <a:gs pos="100000">
                <a:srgbClr val="FFFFFF"/>
              </a:gs>
            </a:gsLst>
            <a:lin ang="5400000" scaled="1"/>
          </a:gradFill>
        </p:spPr>
      </p:pic>
      <p:pic>
        <p:nvPicPr>
          <p:cNvPr id="196" name="Picture 20" descr="subprocess"/>
          <p:cNvPicPr>
            <a:picLocks noChangeAspect="1" noChangeArrowheads="1"/>
          </p:cNvPicPr>
          <p:nvPr/>
        </p:nvPicPr>
        <p:blipFill>
          <a:blip r:embed="rId5"/>
          <a:srcRect/>
          <a:stretch>
            <a:fillRect/>
          </a:stretch>
        </p:blipFill>
        <p:spPr bwMode="auto">
          <a:xfrm>
            <a:off x="6456870" y="3882817"/>
            <a:ext cx="305127" cy="204906"/>
          </a:xfrm>
          <a:prstGeom prst="rect">
            <a:avLst/>
          </a:prstGeom>
          <a:gradFill rotWithShape="1">
            <a:gsLst>
              <a:gs pos="0">
                <a:srgbClr val="0066FF"/>
              </a:gs>
              <a:gs pos="100000">
                <a:srgbClr val="FFFFFF"/>
              </a:gs>
            </a:gsLst>
            <a:lin ang="5400000" scaled="1"/>
          </a:gradFill>
        </p:spPr>
      </p:pic>
      <p:cxnSp>
        <p:nvCxnSpPr>
          <p:cNvPr id="197" name="AutoShape 90"/>
          <p:cNvCxnSpPr>
            <a:cxnSpLocks noChangeShapeType="1"/>
            <a:stCxn id="195" idx="2"/>
            <a:endCxn id="121" idx="0"/>
          </p:cNvCxnSpPr>
          <p:nvPr/>
        </p:nvCxnSpPr>
        <p:spPr bwMode="auto">
          <a:xfrm rot="5400000">
            <a:off x="4646879" y="4348612"/>
            <a:ext cx="765090" cy="275064"/>
          </a:xfrm>
          <a:prstGeom prst="curvedConnector3">
            <a:avLst>
              <a:gd name="adj1" fmla="val 50000"/>
            </a:avLst>
          </a:prstGeom>
          <a:noFill/>
          <a:ln w="12700">
            <a:solidFill>
              <a:srgbClr val="BA0613"/>
            </a:solidFill>
            <a:round/>
            <a:headEnd type="triangle" w="med" len="med"/>
            <a:tailEnd/>
          </a:ln>
          <a:effectLst/>
        </p:spPr>
      </p:cxnSp>
      <p:cxnSp>
        <p:nvCxnSpPr>
          <p:cNvPr id="198" name="AutoShape 90"/>
          <p:cNvCxnSpPr>
            <a:cxnSpLocks noChangeShapeType="1"/>
            <a:stCxn id="196" idx="2"/>
            <a:endCxn id="125" idx="0"/>
          </p:cNvCxnSpPr>
          <p:nvPr/>
        </p:nvCxnSpPr>
        <p:spPr bwMode="auto">
          <a:xfrm rot="16200000" flipH="1">
            <a:off x="6268027" y="4429134"/>
            <a:ext cx="780965" cy="98151"/>
          </a:xfrm>
          <a:prstGeom prst="curvedConnector3">
            <a:avLst>
              <a:gd name="adj1" fmla="val 50000"/>
            </a:avLst>
          </a:prstGeom>
          <a:noFill/>
          <a:ln w="12700">
            <a:solidFill>
              <a:srgbClr val="BA0613"/>
            </a:solidFill>
            <a:round/>
            <a:headEnd type="triangle" w="med" len="med"/>
            <a:tailEnd/>
          </a:ln>
          <a:effectLst/>
        </p:spPr>
      </p:cxnSp>
      <p:cxnSp>
        <p:nvCxnSpPr>
          <p:cNvPr id="199" name="AutoShape 90"/>
          <p:cNvCxnSpPr>
            <a:cxnSpLocks noChangeShapeType="1"/>
            <a:endCxn id="194" idx="0"/>
          </p:cNvCxnSpPr>
          <p:nvPr/>
        </p:nvCxnSpPr>
        <p:spPr bwMode="auto">
          <a:xfrm rot="5400000">
            <a:off x="4004966" y="3047965"/>
            <a:ext cx="793923" cy="979935"/>
          </a:xfrm>
          <a:prstGeom prst="curvedConnector3">
            <a:avLst>
              <a:gd name="adj1" fmla="val 50000"/>
            </a:avLst>
          </a:prstGeom>
          <a:noFill/>
          <a:ln w="12700">
            <a:solidFill>
              <a:srgbClr val="BA0613"/>
            </a:solidFill>
            <a:round/>
            <a:headEnd type="triangle" w="med" len="med"/>
            <a:tailEnd/>
          </a:ln>
          <a:effectLst/>
        </p:spPr>
      </p:cxnSp>
      <p:cxnSp>
        <p:nvCxnSpPr>
          <p:cNvPr id="200" name="AutoShape 90"/>
          <p:cNvCxnSpPr>
            <a:cxnSpLocks noChangeShapeType="1"/>
            <a:endCxn id="195" idx="0"/>
          </p:cNvCxnSpPr>
          <p:nvPr/>
        </p:nvCxnSpPr>
        <p:spPr bwMode="auto">
          <a:xfrm rot="5400000">
            <a:off x="5240827" y="3157343"/>
            <a:ext cx="667484" cy="815225"/>
          </a:xfrm>
          <a:prstGeom prst="curvedConnector3">
            <a:avLst>
              <a:gd name="adj1" fmla="val 50000"/>
            </a:avLst>
          </a:prstGeom>
          <a:noFill/>
          <a:ln w="12700">
            <a:solidFill>
              <a:srgbClr val="BA0613"/>
            </a:solidFill>
            <a:round/>
            <a:headEnd type="triangle" w="med" len="med"/>
            <a:tailEnd/>
          </a:ln>
          <a:effectLst/>
        </p:spPr>
      </p:cxnSp>
      <p:cxnSp>
        <p:nvCxnSpPr>
          <p:cNvPr id="201" name="AutoShape 90"/>
          <p:cNvCxnSpPr>
            <a:cxnSpLocks noChangeShapeType="1"/>
            <a:endCxn id="196" idx="0"/>
          </p:cNvCxnSpPr>
          <p:nvPr/>
        </p:nvCxnSpPr>
        <p:spPr bwMode="auto">
          <a:xfrm rot="5400000">
            <a:off x="6353838" y="3396564"/>
            <a:ext cx="741849" cy="230656"/>
          </a:xfrm>
          <a:prstGeom prst="curvedConnector3">
            <a:avLst>
              <a:gd name="adj1" fmla="val 50000"/>
            </a:avLst>
          </a:prstGeom>
          <a:noFill/>
          <a:ln w="12700">
            <a:solidFill>
              <a:srgbClr val="BA0613"/>
            </a:solidFill>
            <a:round/>
            <a:headEnd type="triangle" w="med" len="med"/>
            <a:tailEnd/>
          </a:ln>
          <a:effectLst/>
        </p:spPr>
      </p:cxnSp>
      <p:cxnSp>
        <p:nvCxnSpPr>
          <p:cNvPr id="202" name="AutoShape 90"/>
          <p:cNvCxnSpPr>
            <a:cxnSpLocks noChangeShapeType="1"/>
            <a:endCxn id="190" idx="0"/>
          </p:cNvCxnSpPr>
          <p:nvPr/>
        </p:nvCxnSpPr>
        <p:spPr bwMode="auto">
          <a:xfrm rot="16200000" flipH="1">
            <a:off x="5548276" y="2322526"/>
            <a:ext cx="460200" cy="407613"/>
          </a:xfrm>
          <a:prstGeom prst="curvedConnector3">
            <a:avLst>
              <a:gd name="adj1" fmla="val 50000"/>
            </a:avLst>
          </a:prstGeom>
          <a:noFill/>
          <a:ln w="22225">
            <a:solidFill>
              <a:srgbClr val="000000"/>
            </a:solidFill>
            <a:round/>
            <a:headEnd type="triangle" w="med" len="med"/>
            <a:tailEnd/>
          </a:ln>
          <a:effectLst/>
        </p:spPr>
      </p:cxnSp>
      <p:graphicFrame>
        <p:nvGraphicFramePr>
          <p:cNvPr id="203" name="对象 202"/>
          <p:cNvGraphicFramePr>
            <a:graphicFrameLocks noChangeAspect="1"/>
          </p:cNvGraphicFramePr>
          <p:nvPr>
            <p:extLst>
              <p:ext uri="{D42A27DB-BD31-4B8C-83A1-F6EECF244321}">
                <p14:modId xmlns:p14="http://schemas.microsoft.com/office/powerpoint/2010/main" val="946408221"/>
              </p:ext>
            </p:extLst>
          </p:nvPr>
        </p:nvGraphicFramePr>
        <p:xfrm>
          <a:off x="1110584" y="980827"/>
          <a:ext cx="814764" cy="576064"/>
        </p:xfrm>
        <a:graphic>
          <a:graphicData uri="http://schemas.openxmlformats.org/presentationml/2006/ole">
            <mc:AlternateContent xmlns:mc="http://schemas.openxmlformats.org/markup-compatibility/2006">
              <mc:Choice xmlns:v="urn:schemas-microsoft-com:vml" Requires="v">
                <p:oleObj spid="_x0000_s96627" name="CorelDRAW" r:id="rId6" imgW="2530440" imgH="2385720" progId="">
                  <p:embed/>
                </p:oleObj>
              </mc:Choice>
              <mc:Fallback>
                <p:oleObj name="CorelDRAW" r:id="rId6" imgW="2530440" imgH="238572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0584" y="980827"/>
                        <a:ext cx="814764"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 name="Rectangle 8"/>
          <p:cNvSpPr>
            <a:spLocks noChangeArrowheads="1"/>
          </p:cNvSpPr>
          <p:nvPr/>
        </p:nvSpPr>
        <p:spPr bwMode="auto">
          <a:xfrm>
            <a:off x="2015348" y="1116459"/>
            <a:ext cx="1488364" cy="338138"/>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400" b="1" dirty="0" smtClean="0">
                <a:solidFill>
                  <a:srgbClr val="000000"/>
                </a:solidFill>
                <a:latin typeface="华文仿宋"/>
                <a:ea typeface="华文仿宋"/>
                <a:cs typeface="华文仿宋"/>
              </a:rPr>
              <a:t>合作伙伴</a:t>
            </a:r>
            <a:endParaRPr lang="zh-CN" altLang="en-US" sz="1400" b="1" dirty="0">
              <a:solidFill>
                <a:srgbClr val="000000"/>
              </a:solidFill>
              <a:latin typeface="华文仿宋"/>
              <a:ea typeface="华文仿宋"/>
              <a:cs typeface="华文仿宋"/>
            </a:endParaRPr>
          </a:p>
        </p:txBody>
      </p:sp>
      <p:graphicFrame>
        <p:nvGraphicFramePr>
          <p:cNvPr id="205" name="对象 204"/>
          <p:cNvGraphicFramePr>
            <a:graphicFrameLocks noChangeAspect="1"/>
          </p:cNvGraphicFramePr>
          <p:nvPr>
            <p:extLst>
              <p:ext uri="{D42A27DB-BD31-4B8C-83A1-F6EECF244321}">
                <p14:modId xmlns:p14="http://schemas.microsoft.com/office/powerpoint/2010/main" val="146788697"/>
              </p:ext>
            </p:extLst>
          </p:nvPr>
        </p:nvGraphicFramePr>
        <p:xfrm>
          <a:off x="3359696" y="980728"/>
          <a:ext cx="814917" cy="576262"/>
        </p:xfrm>
        <a:graphic>
          <a:graphicData uri="http://schemas.openxmlformats.org/presentationml/2006/ole">
            <mc:AlternateContent xmlns:mc="http://schemas.openxmlformats.org/markup-compatibility/2006">
              <mc:Choice xmlns:v="urn:schemas-microsoft-com:vml" Requires="v">
                <p:oleObj spid="_x0000_s96628" name="CorelDRAW" r:id="rId8" imgW="2530440" imgH="2385720" progId="">
                  <p:embed/>
                </p:oleObj>
              </mc:Choice>
              <mc:Fallback>
                <p:oleObj name="CorelDRAW" r:id="rId8" imgW="2530440" imgH="238572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9696" y="980728"/>
                        <a:ext cx="814917"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 name="Rectangle 8"/>
          <p:cNvSpPr>
            <a:spLocks noChangeArrowheads="1"/>
          </p:cNvSpPr>
          <p:nvPr/>
        </p:nvSpPr>
        <p:spPr bwMode="auto">
          <a:xfrm>
            <a:off x="4230661" y="1168152"/>
            <a:ext cx="1105143" cy="338138"/>
          </a:xfrm>
          <a:prstGeom prst="rect">
            <a:avLst/>
          </a:prstGeom>
          <a:noFill/>
          <a:ln w="12700" algn="ctr">
            <a:noFill/>
            <a:miter lim="800000"/>
            <a:headEnd/>
            <a:tailEnd/>
          </a:ln>
          <a:effectLst/>
        </p:spPr>
        <p:txBody>
          <a:bodyPr wrap="none" anchor="ctr"/>
          <a:lstStyle/>
          <a:p>
            <a:pPr fontAlgn="base">
              <a:spcBef>
                <a:spcPct val="0"/>
              </a:spcBef>
              <a:spcAft>
                <a:spcPct val="0"/>
              </a:spcAft>
            </a:pPr>
            <a:r>
              <a:rPr lang="zh-CN" altLang="en-US" sz="1400" b="1" dirty="0" smtClean="0">
                <a:solidFill>
                  <a:srgbClr val="000000"/>
                </a:solidFill>
                <a:latin typeface="华文仿宋"/>
                <a:ea typeface="华文仿宋"/>
                <a:cs typeface="华文仿宋"/>
              </a:rPr>
              <a:t>电子银行</a:t>
            </a:r>
            <a:endParaRPr lang="zh-CN" altLang="en-US" sz="1400" b="1" dirty="0">
              <a:solidFill>
                <a:srgbClr val="000000"/>
              </a:solidFill>
              <a:latin typeface="华文仿宋"/>
              <a:ea typeface="华文仿宋"/>
              <a:cs typeface="华文仿宋"/>
            </a:endParaRPr>
          </a:p>
        </p:txBody>
      </p:sp>
      <p:sp>
        <p:nvSpPr>
          <p:cNvPr id="207" name="Rectangle 18"/>
          <p:cNvSpPr>
            <a:spLocks noChangeArrowheads="1"/>
          </p:cNvSpPr>
          <p:nvPr/>
        </p:nvSpPr>
        <p:spPr bwMode="auto">
          <a:xfrm>
            <a:off x="1440990" y="2096022"/>
            <a:ext cx="1796287" cy="323850"/>
          </a:xfrm>
          <a:prstGeom prst="rect">
            <a:avLst/>
          </a:prstGeom>
          <a:noFill/>
          <a:ln w="12700" algn="ctr">
            <a:noFill/>
            <a:miter lim="800000"/>
            <a:headEnd/>
            <a:tailEnd/>
          </a:ln>
          <a:effectLst/>
        </p:spPr>
        <p:txBody>
          <a:bodyPr wrap="none" anchor="ctr"/>
          <a:lstStyle/>
          <a:p>
            <a:pPr fontAlgn="base">
              <a:spcBef>
                <a:spcPct val="0"/>
              </a:spcBef>
              <a:spcAft>
                <a:spcPct val="0"/>
              </a:spcAft>
            </a:pPr>
            <a:endParaRPr lang="zh-CN" altLang="en-US" sz="1200" dirty="0">
              <a:solidFill>
                <a:srgbClr val="000000"/>
              </a:solidFill>
              <a:latin typeface="华文仿宋"/>
              <a:ea typeface="华文仿宋"/>
              <a:cs typeface="华文仿宋"/>
            </a:endParaRPr>
          </a:p>
        </p:txBody>
      </p:sp>
      <p:graphicFrame>
        <p:nvGraphicFramePr>
          <p:cNvPr id="208" name="对象 207"/>
          <p:cNvGraphicFramePr>
            <a:graphicFrameLocks noChangeAspect="1"/>
          </p:cNvGraphicFramePr>
          <p:nvPr>
            <p:extLst>
              <p:ext uri="{D42A27DB-BD31-4B8C-83A1-F6EECF244321}">
                <p14:modId xmlns:p14="http://schemas.microsoft.com/office/powerpoint/2010/main" val="434737255"/>
              </p:ext>
            </p:extLst>
          </p:nvPr>
        </p:nvGraphicFramePr>
        <p:xfrm>
          <a:off x="5567941" y="980733"/>
          <a:ext cx="814917" cy="576263"/>
        </p:xfrm>
        <a:graphic>
          <a:graphicData uri="http://schemas.openxmlformats.org/presentationml/2006/ole">
            <mc:AlternateContent xmlns:mc="http://schemas.openxmlformats.org/markup-compatibility/2006">
              <mc:Choice xmlns:v="urn:schemas-microsoft-com:vml" Requires="v">
                <p:oleObj spid="_x0000_s96629" name="CorelDRAW" r:id="rId9" imgW="2530440" imgH="2385720" progId="">
                  <p:embed/>
                </p:oleObj>
              </mc:Choice>
              <mc:Fallback>
                <p:oleObj name="CorelDRAW" r:id="rId9" imgW="2530440" imgH="238572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7941" y="980733"/>
                        <a:ext cx="814917"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0" name="Rectangle 18"/>
          <p:cNvSpPr>
            <a:spLocks noChangeArrowheads="1"/>
          </p:cNvSpPr>
          <p:nvPr/>
        </p:nvSpPr>
        <p:spPr bwMode="auto">
          <a:xfrm>
            <a:off x="1403988" y="2082552"/>
            <a:ext cx="1796287" cy="323850"/>
          </a:xfrm>
          <a:prstGeom prst="rect">
            <a:avLst/>
          </a:prstGeom>
          <a:noFill/>
          <a:ln w="12700" algn="ctr">
            <a:noFill/>
            <a:miter lim="800000"/>
            <a:headEnd/>
            <a:tailEnd/>
          </a:ln>
          <a:effectLst/>
        </p:spPr>
        <p:txBody>
          <a:bodyPr wrap="none" anchor="ctr"/>
          <a:lstStyle/>
          <a:p>
            <a:pPr algn="ctr" fontAlgn="base">
              <a:spcBef>
                <a:spcPct val="0"/>
              </a:spcBef>
              <a:spcAft>
                <a:spcPct val="0"/>
              </a:spcAft>
            </a:pPr>
            <a:r>
              <a:rPr lang="zh-CN" altLang="en-US" sz="1200" dirty="0" smtClean="0">
                <a:solidFill>
                  <a:srgbClr val="000000"/>
                </a:solidFill>
                <a:latin typeface="华文仿宋"/>
                <a:ea typeface="华文仿宋"/>
                <a:cs typeface="华文仿宋"/>
              </a:rPr>
              <a:t>网上银行、柜面</a:t>
            </a:r>
            <a:endParaRPr lang="zh-CN" altLang="en-US" sz="1200" dirty="0">
              <a:solidFill>
                <a:srgbClr val="000000"/>
              </a:solidFill>
              <a:latin typeface="华文仿宋"/>
              <a:ea typeface="华文仿宋"/>
              <a:cs typeface="华文仿宋"/>
            </a:endParaRPr>
          </a:p>
        </p:txBody>
      </p:sp>
      <p:sp>
        <p:nvSpPr>
          <p:cNvPr id="2" name="文本框 1"/>
          <p:cNvSpPr txBox="1"/>
          <p:nvPr/>
        </p:nvSpPr>
        <p:spPr>
          <a:xfrm>
            <a:off x="8694328" y="2725415"/>
            <a:ext cx="3185487" cy="646331"/>
          </a:xfrm>
          <a:prstGeom prst="rect">
            <a:avLst/>
          </a:prstGeom>
          <a:noFill/>
        </p:spPr>
        <p:txBody>
          <a:bodyPr wrap="none" rtlCol="0">
            <a:spAutoFit/>
          </a:bodyPr>
          <a:lstStyle/>
          <a:p>
            <a:r>
              <a:rPr kumimoji="1" lang="zh-CN" altLang="en-US" dirty="0" smtClean="0">
                <a:latin typeface="华文仿宋"/>
                <a:ea typeface="华文仿宋"/>
                <a:cs typeface="华文仿宋"/>
              </a:rPr>
              <a:t>服务编排，快速组装新业务</a:t>
            </a:r>
            <a:endParaRPr kumimoji="1" lang="en-US" altLang="zh-CN" dirty="0" smtClean="0">
              <a:latin typeface="华文仿宋"/>
              <a:ea typeface="华文仿宋"/>
              <a:cs typeface="华文仿宋"/>
            </a:endParaRPr>
          </a:p>
          <a:p>
            <a:r>
              <a:rPr kumimoji="1" lang="zh-CN" altLang="en-US" dirty="0" smtClean="0">
                <a:latin typeface="华文仿宋"/>
                <a:ea typeface="华文仿宋"/>
                <a:cs typeface="华文仿宋"/>
              </a:rPr>
              <a:t>业务人员参与，流程持续优化</a:t>
            </a:r>
          </a:p>
        </p:txBody>
      </p:sp>
      <p:cxnSp>
        <p:nvCxnSpPr>
          <p:cNvPr id="5" name="直线连接符 4"/>
          <p:cNvCxnSpPr/>
          <p:nvPr/>
        </p:nvCxnSpPr>
        <p:spPr>
          <a:xfrm>
            <a:off x="983432" y="3429647"/>
            <a:ext cx="11208568" cy="0"/>
          </a:xfrm>
          <a:prstGeom prst="line">
            <a:avLst/>
          </a:prstGeom>
          <a:ln w="3175" cmpd="sng">
            <a:solidFill>
              <a:srgbClr val="00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1942960"/>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检测与分析</a:t>
            </a:r>
            <a:r>
              <a:rPr kumimoji="1" lang="zh-CN" altLang="en-US" dirty="0" smtClean="0"/>
              <a:t>：保障安全，持续优化业务</a:t>
            </a:r>
            <a:endParaRPr kumimoji="1" lang="zh-CN" altLang="en-US" dirty="0"/>
          </a:p>
        </p:txBody>
      </p:sp>
      <p:sp>
        <p:nvSpPr>
          <p:cNvPr id="49" name="梯形 48"/>
          <p:cNvSpPr/>
          <p:nvPr/>
        </p:nvSpPr>
        <p:spPr>
          <a:xfrm rot="5400000">
            <a:off x="901967" y="3614913"/>
            <a:ext cx="4391245" cy="673397"/>
          </a:xfrm>
          <a:prstGeom prst="trapezoid">
            <a:avLst>
              <a:gd name="adj" fmla="val 206393"/>
            </a:avLst>
          </a:prstGeom>
          <a:gradFill rotWithShape="1">
            <a:gsLst>
              <a:gs pos="0">
                <a:srgbClr val="C7CDFD"/>
              </a:gs>
              <a:gs pos="100000">
                <a:srgbClr val="C7CDFD">
                  <a:gamma/>
                  <a:tint val="33725"/>
                  <a:invGamma/>
                </a:srgbClr>
              </a:gs>
            </a:gsLst>
            <a:lin ang="5400000" scaled="1"/>
          </a:gradFill>
          <a:ln>
            <a:noFill/>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lIns="0" tIns="0" rIns="0" bIns="0" anchor="ctr"/>
          <a:lstStyle/>
          <a:p>
            <a:pPr algn="ctr"/>
            <a:r>
              <a:rPr lang="en-US" altLang="zh-CN" sz="1600" kern="0" dirty="0" smtClean="0">
                <a:solidFill>
                  <a:sysClr val="windowText" lastClr="000000"/>
                </a:solidFill>
                <a:latin typeface="华文仿宋"/>
                <a:ea typeface="华文仿宋"/>
                <a:cs typeface="华文仿宋"/>
              </a:rPr>
              <a:t>Enterprise Message Sources</a:t>
            </a:r>
            <a:endParaRPr lang="zh-CN" altLang="en-US" sz="1600" kern="0" dirty="0">
              <a:solidFill>
                <a:sysClr val="windowText" lastClr="000000"/>
              </a:solidFill>
              <a:latin typeface="华文仿宋"/>
              <a:ea typeface="华文仿宋"/>
              <a:cs typeface="华文仿宋"/>
            </a:endParaRPr>
          </a:p>
        </p:txBody>
      </p:sp>
      <p:sp>
        <p:nvSpPr>
          <p:cNvPr id="50" name="Rectangle 29"/>
          <p:cNvSpPr>
            <a:spLocks noChangeArrowheads="1"/>
          </p:cNvSpPr>
          <p:nvPr/>
        </p:nvSpPr>
        <p:spPr bwMode="auto">
          <a:xfrm>
            <a:off x="822252" y="2643302"/>
            <a:ext cx="1800448" cy="477999"/>
          </a:xfrm>
          <a:prstGeom prst="rect">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defRPr/>
            </a:pPr>
            <a:r>
              <a:rPr lang="zh-CN" altLang="en-US" sz="1200" kern="0" dirty="0" smtClean="0">
                <a:solidFill>
                  <a:sysClr val="windowText" lastClr="000000"/>
                </a:solidFill>
                <a:latin typeface="华文仿宋"/>
                <a:ea typeface="华文仿宋"/>
                <a:cs typeface="华文仿宋"/>
              </a:rPr>
              <a:t>套装软件数据源</a:t>
            </a:r>
            <a:endParaRPr lang="en-US" altLang="zh-CN" sz="1200" kern="0" baseline="30000" dirty="0" smtClean="0">
              <a:solidFill>
                <a:sysClr val="windowText" lastClr="000000"/>
              </a:solidFill>
              <a:latin typeface="华文仿宋"/>
              <a:ea typeface="华文仿宋"/>
              <a:cs typeface="华文仿宋"/>
            </a:endParaRPr>
          </a:p>
        </p:txBody>
      </p:sp>
      <p:sp>
        <p:nvSpPr>
          <p:cNvPr id="51" name="五边形 50"/>
          <p:cNvSpPr/>
          <p:nvPr/>
        </p:nvSpPr>
        <p:spPr>
          <a:xfrm>
            <a:off x="600347" y="1043187"/>
            <a:ext cx="3556984" cy="521413"/>
          </a:xfrm>
          <a:prstGeom prst="homePlate">
            <a:avLst>
              <a:gd name="adj" fmla="val 28082"/>
            </a:avLst>
          </a:prstGeom>
          <a:solidFill>
            <a:srgbClr val="00B050"/>
          </a:solidFill>
          <a:ln w="28575" algn="ctr">
            <a:solidFill>
              <a:srgbClr val="FFFFFF"/>
            </a:solidFill>
            <a:miter lim="800000"/>
            <a:headEnd/>
            <a:tailEnd/>
          </a:ln>
          <a:effectLst>
            <a:outerShdw dist="53882" dir="2700000" algn="ctr" rotWithShape="0">
              <a:srgbClr val="727272">
                <a:alpha val="50000"/>
              </a:srgbClr>
            </a:outerShdw>
          </a:effectLst>
        </p:spPr>
        <p:txBody>
          <a:bodyPr wrap="square" lIns="36000" tIns="36000" rIns="36000" bIns="36000" anchor="ctr"/>
          <a:lstStyle/>
          <a:p>
            <a:pPr>
              <a:lnSpc>
                <a:spcPct val="150000"/>
              </a:lnSpc>
            </a:pPr>
            <a:r>
              <a:rPr lang="zh-CN" altLang="en-US" b="1" kern="0" dirty="0">
                <a:solidFill>
                  <a:srgbClr val="FFFF00"/>
                </a:solidFill>
                <a:latin typeface="华文仿宋"/>
                <a:ea typeface="华文仿宋"/>
                <a:cs typeface="华文仿宋"/>
              </a:rPr>
              <a:t>监测</a:t>
            </a:r>
            <a:r>
              <a:rPr lang="zh-CN" altLang="en-US" sz="1400" b="1" kern="0" dirty="0">
                <a:solidFill>
                  <a:srgbClr val="FFFFFF"/>
                </a:solidFill>
                <a:latin typeface="华文仿宋"/>
                <a:ea typeface="华文仿宋"/>
                <a:cs typeface="华文仿宋"/>
              </a:rPr>
              <a:t>：实时数据采集</a:t>
            </a:r>
          </a:p>
        </p:txBody>
      </p:sp>
      <p:sp>
        <p:nvSpPr>
          <p:cNvPr id="52" name="燕尾形 51"/>
          <p:cNvSpPr/>
          <p:nvPr/>
        </p:nvSpPr>
        <p:spPr>
          <a:xfrm>
            <a:off x="4082905" y="1043187"/>
            <a:ext cx="3856031" cy="521413"/>
          </a:xfrm>
          <a:prstGeom prst="chevron">
            <a:avLst>
              <a:gd name="adj" fmla="val 25342"/>
            </a:avLst>
          </a:prstGeom>
          <a:solidFill>
            <a:srgbClr val="00B050"/>
          </a:solidFill>
          <a:ln w="28575" algn="ctr">
            <a:solidFill>
              <a:srgbClr val="FFFFFF"/>
            </a:solidFill>
            <a:miter lim="800000"/>
            <a:headEnd/>
            <a:tailEnd/>
          </a:ln>
          <a:effectLst>
            <a:outerShdw dist="53882" dir="2700000" algn="ctr" rotWithShape="0">
              <a:srgbClr val="727272">
                <a:alpha val="50000"/>
              </a:srgbClr>
            </a:outerShdw>
          </a:effectLst>
        </p:spPr>
        <p:txBody>
          <a:bodyPr wrap="square" lIns="36000" tIns="36000" rIns="36000" bIns="36000" anchor="ctr"/>
          <a:lstStyle/>
          <a:p>
            <a:pPr>
              <a:lnSpc>
                <a:spcPct val="150000"/>
              </a:lnSpc>
            </a:pPr>
            <a:r>
              <a:rPr lang="zh-CN" altLang="en-US" b="1" kern="0" dirty="0">
                <a:solidFill>
                  <a:srgbClr val="FFFF00"/>
                </a:solidFill>
                <a:latin typeface="华文仿宋"/>
                <a:ea typeface="华文仿宋"/>
                <a:cs typeface="华文仿宋"/>
              </a:rPr>
              <a:t>分析</a:t>
            </a:r>
            <a:r>
              <a:rPr lang="zh-CN" altLang="en-US" sz="1400" b="1" kern="0" dirty="0">
                <a:solidFill>
                  <a:srgbClr val="FFFFFF"/>
                </a:solidFill>
                <a:latin typeface="华文仿宋"/>
                <a:ea typeface="华文仿宋"/>
                <a:cs typeface="华文仿宋"/>
              </a:rPr>
              <a:t>：事件处理、过滤、分析</a:t>
            </a:r>
          </a:p>
        </p:txBody>
      </p:sp>
      <p:sp>
        <p:nvSpPr>
          <p:cNvPr id="53" name="燕尾形 52"/>
          <p:cNvSpPr/>
          <p:nvPr/>
        </p:nvSpPr>
        <p:spPr>
          <a:xfrm>
            <a:off x="7938935" y="1043186"/>
            <a:ext cx="3710076" cy="521413"/>
          </a:xfrm>
          <a:prstGeom prst="chevron">
            <a:avLst>
              <a:gd name="adj" fmla="val 25342"/>
            </a:avLst>
          </a:prstGeom>
          <a:solidFill>
            <a:srgbClr val="00B050"/>
          </a:solidFill>
          <a:ln w="28575" algn="ctr">
            <a:solidFill>
              <a:srgbClr val="FFFFFF"/>
            </a:solidFill>
            <a:miter lim="800000"/>
            <a:headEnd/>
            <a:tailEnd/>
          </a:ln>
          <a:effectLst>
            <a:outerShdw dist="53882" dir="2700000" algn="ctr" rotWithShape="0">
              <a:srgbClr val="727272">
                <a:alpha val="50000"/>
              </a:srgbClr>
            </a:outerShdw>
          </a:effectLst>
        </p:spPr>
        <p:txBody>
          <a:bodyPr wrap="square" lIns="36000" tIns="36000" rIns="36000" bIns="36000" anchor="ctr"/>
          <a:lstStyle/>
          <a:p>
            <a:pPr>
              <a:lnSpc>
                <a:spcPct val="150000"/>
              </a:lnSpc>
            </a:pPr>
            <a:r>
              <a:rPr lang="zh-CN" altLang="en-US" b="1" kern="0" dirty="0">
                <a:solidFill>
                  <a:srgbClr val="FFFF00"/>
                </a:solidFill>
                <a:latin typeface="华文仿宋"/>
                <a:ea typeface="华文仿宋"/>
                <a:cs typeface="华文仿宋"/>
              </a:rPr>
              <a:t>行动</a:t>
            </a:r>
            <a:r>
              <a:rPr lang="zh-CN" altLang="en-US" sz="1400" b="1" kern="0" dirty="0">
                <a:solidFill>
                  <a:srgbClr val="FFFFFF"/>
                </a:solidFill>
                <a:latin typeface="华文仿宋"/>
                <a:ea typeface="华文仿宋"/>
                <a:cs typeface="华文仿宋"/>
              </a:rPr>
              <a:t>：告警、决策</a:t>
            </a:r>
            <a:r>
              <a:rPr lang="zh-CN" altLang="en-US" sz="1400" b="1" kern="0" dirty="0" smtClean="0">
                <a:solidFill>
                  <a:srgbClr val="FFFFFF"/>
                </a:solidFill>
                <a:latin typeface="华文仿宋"/>
                <a:ea typeface="华文仿宋"/>
                <a:cs typeface="华文仿宋"/>
              </a:rPr>
              <a:t>与优化</a:t>
            </a:r>
            <a:endParaRPr lang="zh-CN" altLang="en-US" sz="1400" b="1" kern="0" dirty="0">
              <a:solidFill>
                <a:srgbClr val="FFFFFF"/>
              </a:solidFill>
              <a:latin typeface="华文仿宋"/>
              <a:ea typeface="华文仿宋"/>
              <a:cs typeface="华文仿宋"/>
            </a:endParaRPr>
          </a:p>
        </p:txBody>
      </p:sp>
      <p:sp>
        <p:nvSpPr>
          <p:cNvPr id="54" name="流程图: 磁盘 7"/>
          <p:cNvSpPr/>
          <p:nvPr/>
        </p:nvSpPr>
        <p:spPr>
          <a:xfrm>
            <a:off x="822252" y="1894205"/>
            <a:ext cx="1800448" cy="548558"/>
          </a:xfrm>
          <a:prstGeom prst="flowChartMagneticDisk">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r>
              <a:rPr lang="zh-CN" altLang="en-US" sz="1200" kern="0" dirty="0" smtClean="0">
                <a:solidFill>
                  <a:sysClr val="windowText" lastClr="000000"/>
                </a:solidFill>
                <a:latin typeface="华文仿宋"/>
                <a:ea typeface="华文仿宋"/>
                <a:cs typeface="华文仿宋"/>
              </a:rPr>
              <a:t>历史数据源</a:t>
            </a:r>
            <a:endParaRPr lang="zh-CN" altLang="en-US" sz="1200" kern="0" dirty="0">
              <a:solidFill>
                <a:sysClr val="windowText" lastClr="000000"/>
              </a:solidFill>
              <a:latin typeface="华文仿宋"/>
              <a:ea typeface="华文仿宋"/>
              <a:cs typeface="华文仿宋"/>
            </a:endParaRPr>
          </a:p>
        </p:txBody>
      </p:sp>
      <p:sp>
        <p:nvSpPr>
          <p:cNvPr id="55" name="Rectangle 29"/>
          <p:cNvSpPr>
            <a:spLocks noChangeArrowheads="1"/>
          </p:cNvSpPr>
          <p:nvPr/>
        </p:nvSpPr>
        <p:spPr bwMode="auto">
          <a:xfrm>
            <a:off x="822251" y="3291880"/>
            <a:ext cx="1800448" cy="477999"/>
          </a:xfrm>
          <a:prstGeom prst="rect">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defRPr/>
            </a:pPr>
            <a:r>
              <a:rPr lang="zh-CN" altLang="en-US" sz="1200" kern="0" dirty="0" smtClean="0">
                <a:solidFill>
                  <a:sysClr val="windowText" lastClr="000000"/>
                </a:solidFill>
                <a:latin typeface="华文仿宋"/>
                <a:ea typeface="华文仿宋"/>
                <a:cs typeface="华文仿宋"/>
              </a:rPr>
              <a:t>自开发应用</a:t>
            </a:r>
            <a:endParaRPr lang="en-US" altLang="zh-CN" sz="1200" kern="0" dirty="0" smtClean="0">
              <a:solidFill>
                <a:sysClr val="windowText" lastClr="000000"/>
              </a:solidFill>
              <a:latin typeface="华文仿宋"/>
              <a:ea typeface="华文仿宋"/>
              <a:cs typeface="华文仿宋"/>
            </a:endParaRPr>
          </a:p>
          <a:p>
            <a:pPr algn="ctr">
              <a:defRPr/>
            </a:pPr>
            <a:r>
              <a:rPr lang="zh-CN" altLang="en-US" sz="1200" kern="0" dirty="0" smtClean="0">
                <a:solidFill>
                  <a:sysClr val="windowText" lastClr="000000"/>
                </a:solidFill>
                <a:latin typeface="华文仿宋"/>
                <a:ea typeface="华文仿宋"/>
                <a:cs typeface="华文仿宋"/>
              </a:rPr>
              <a:t>数据源</a:t>
            </a:r>
            <a:endParaRPr lang="en-US" altLang="zh-CN" sz="1200" kern="0" baseline="30000" dirty="0" smtClean="0">
              <a:solidFill>
                <a:sysClr val="windowText" lastClr="000000"/>
              </a:solidFill>
              <a:latin typeface="华文仿宋"/>
              <a:ea typeface="华文仿宋"/>
              <a:cs typeface="华文仿宋"/>
            </a:endParaRPr>
          </a:p>
        </p:txBody>
      </p:sp>
      <p:sp>
        <p:nvSpPr>
          <p:cNvPr id="56" name="Rectangle 29"/>
          <p:cNvSpPr>
            <a:spLocks noChangeArrowheads="1"/>
          </p:cNvSpPr>
          <p:nvPr/>
        </p:nvSpPr>
        <p:spPr bwMode="auto">
          <a:xfrm>
            <a:off x="822249" y="4631601"/>
            <a:ext cx="1800448" cy="477999"/>
          </a:xfrm>
          <a:prstGeom prst="rect">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defRPr/>
            </a:pPr>
            <a:r>
              <a:rPr lang="zh-CN" altLang="en-US" sz="1200" kern="0" dirty="0" smtClean="0">
                <a:solidFill>
                  <a:sysClr val="windowText" lastClr="000000"/>
                </a:solidFill>
                <a:latin typeface="华文仿宋"/>
                <a:ea typeface="华文仿宋"/>
                <a:cs typeface="华文仿宋"/>
              </a:rPr>
              <a:t>第三方</a:t>
            </a:r>
            <a:r>
              <a:rPr lang="en-US" altLang="zh-CN" sz="1200" kern="0" dirty="0" smtClean="0">
                <a:solidFill>
                  <a:sysClr val="windowText" lastClr="000000"/>
                </a:solidFill>
                <a:latin typeface="华文仿宋"/>
                <a:ea typeface="华文仿宋"/>
                <a:cs typeface="华文仿宋"/>
              </a:rPr>
              <a:t>/</a:t>
            </a:r>
            <a:r>
              <a:rPr lang="zh-CN" altLang="en-US" sz="1200" kern="0" dirty="0" smtClean="0">
                <a:solidFill>
                  <a:sysClr val="windowText" lastClr="000000"/>
                </a:solidFill>
                <a:latin typeface="华文仿宋"/>
                <a:ea typeface="华文仿宋"/>
                <a:cs typeface="华文仿宋"/>
              </a:rPr>
              <a:t>外部</a:t>
            </a:r>
            <a:endParaRPr lang="en-US" altLang="zh-CN" sz="1200" kern="0" dirty="0" smtClean="0">
              <a:solidFill>
                <a:sysClr val="windowText" lastClr="000000"/>
              </a:solidFill>
              <a:latin typeface="华文仿宋"/>
              <a:ea typeface="华文仿宋"/>
              <a:cs typeface="华文仿宋"/>
            </a:endParaRPr>
          </a:p>
          <a:p>
            <a:pPr algn="ctr">
              <a:defRPr/>
            </a:pPr>
            <a:r>
              <a:rPr lang="zh-CN" altLang="en-US" sz="1200" kern="0" dirty="0" smtClean="0">
                <a:solidFill>
                  <a:sysClr val="windowText" lastClr="000000"/>
                </a:solidFill>
                <a:latin typeface="华文仿宋"/>
                <a:ea typeface="华文仿宋"/>
                <a:cs typeface="华文仿宋"/>
              </a:rPr>
              <a:t>数据源</a:t>
            </a:r>
            <a:endParaRPr lang="en-US" altLang="zh-CN" sz="1200" kern="0" baseline="30000" dirty="0" smtClean="0">
              <a:solidFill>
                <a:sysClr val="windowText" lastClr="000000"/>
              </a:solidFill>
              <a:latin typeface="华文仿宋"/>
              <a:ea typeface="华文仿宋"/>
              <a:cs typeface="华文仿宋"/>
            </a:endParaRPr>
          </a:p>
        </p:txBody>
      </p:sp>
      <p:sp>
        <p:nvSpPr>
          <p:cNvPr id="57" name="矩形 56"/>
          <p:cNvSpPr/>
          <p:nvPr/>
        </p:nvSpPr>
        <p:spPr>
          <a:xfrm>
            <a:off x="4125376" y="2095723"/>
            <a:ext cx="3459125" cy="2105247"/>
          </a:xfrm>
          <a:prstGeom prst="rect">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endParaRPr lang="zh-CN" altLang="en-US" kern="0" dirty="0">
              <a:solidFill>
                <a:sysClr val="windowText" lastClr="000000"/>
              </a:solidFill>
              <a:latin typeface="华文仿宋"/>
              <a:ea typeface="华文仿宋"/>
              <a:cs typeface="华文仿宋"/>
            </a:endParaRPr>
          </a:p>
        </p:txBody>
      </p:sp>
      <p:pic>
        <p:nvPicPr>
          <p:cNvPr id="58" name="Picture 62" descr="j0173958"/>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6509044" y="3302549"/>
            <a:ext cx="600391" cy="990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9" name="AutoShape 53"/>
          <p:cNvSpPr>
            <a:spLocks noChangeArrowheads="1"/>
          </p:cNvSpPr>
          <p:nvPr/>
        </p:nvSpPr>
        <p:spPr bwMode="auto">
          <a:xfrm>
            <a:off x="5897562" y="4762715"/>
            <a:ext cx="1799369" cy="941063"/>
          </a:xfrm>
          <a:prstGeom prst="can">
            <a:avLst>
              <a:gd name="adj" fmla="val 25000"/>
            </a:avLst>
          </a:prstGeom>
          <a:solidFill>
            <a:srgbClr val="4BACC6">
              <a:lumMod val="20000"/>
              <a:lumOff val="80000"/>
              <a:alpha val="39999"/>
            </a:srgbClr>
          </a:solidFill>
          <a:ln w="15875">
            <a:solidFill>
              <a:srgbClr val="4F81BD"/>
            </a:solidFill>
            <a:round/>
            <a:headEnd/>
            <a:tailEnd/>
          </a:ln>
        </p:spPr>
        <p:txBody>
          <a:bodyPr wrap="square" lIns="91307" tIns="45655" rIns="91307" bIns="45655" anchor="ctr">
            <a:noAutofit/>
          </a:bodyPr>
          <a:lstStyle/>
          <a:p>
            <a:endParaRPr lang="zh-CN" altLang="en-US" sz="1500" kern="0">
              <a:solidFill>
                <a:sysClr val="windowText" lastClr="000000"/>
              </a:solidFill>
              <a:latin typeface="华文仿宋"/>
              <a:ea typeface="华文仿宋"/>
              <a:cs typeface="华文仿宋"/>
            </a:endParaRPr>
          </a:p>
        </p:txBody>
      </p:sp>
      <p:sp>
        <p:nvSpPr>
          <p:cNvPr id="60" name="Text Box 54"/>
          <p:cNvSpPr txBox="1">
            <a:spLocks noChangeArrowheads="1"/>
          </p:cNvSpPr>
          <p:nvPr/>
        </p:nvSpPr>
        <p:spPr bwMode="auto">
          <a:xfrm>
            <a:off x="5982625" y="4759177"/>
            <a:ext cx="1261854" cy="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1425" tIns="45713" rIns="91425" bIns="45713">
            <a:spAutoFit/>
          </a:bodyPr>
          <a:lstStyle>
            <a:lvl1pPr defTabSz="1827213" eaLnBrk="0" hangingPunct="0">
              <a:defRPr>
                <a:solidFill>
                  <a:schemeClr val="tx1"/>
                </a:solidFill>
                <a:latin typeface="Arial" pitchFamily="34" charset="0"/>
                <a:ea typeface="宋体" pitchFamily="2" charset="-122"/>
              </a:defRPr>
            </a:lvl1pPr>
            <a:lvl2pPr marL="742950" indent="-285750" defTabSz="1827213" eaLnBrk="0" hangingPunct="0">
              <a:defRPr>
                <a:solidFill>
                  <a:schemeClr val="tx1"/>
                </a:solidFill>
                <a:latin typeface="Arial" pitchFamily="34" charset="0"/>
                <a:ea typeface="宋体" pitchFamily="2" charset="-122"/>
              </a:defRPr>
            </a:lvl2pPr>
            <a:lvl3pPr marL="1143000" indent="-228600" defTabSz="1827213" eaLnBrk="0" hangingPunct="0">
              <a:defRPr>
                <a:solidFill>
                  <a:schemeClr val="tx1"/>
                </a:solidFill>
                <a:latin typeface="Arial" pitchFamily="34" charset="0"/>
                <a:ea typeface="宋体" pitchFamily="2" charset="-122"/>
              </a:defRPr>
            </a:lvl3pPr>
            <a:lvl4pPr marL="1600200" indent="-228600" defTabSz="1827213" eaLnBrk="0" hangingPunct="0">
              <a:defRPr>
                <a:solidFill>
                  <a:schemeClr val="tx1"/>
                </a:solidFill>
                <a:latin typeface="Arial" pitchFamily="34" charset="0"/>
                <a:ea typeface="宋体" pitchFamily="2" charset="-122"/>
              </a:defRPr>
            </a:lvl4pPr>
            <a:lvl5pPr marL="2057400" indent="-228600" defTabSz="1827213" eaLnBrk="0" hangingPunct="0">
              <a:defRPr>
                <a:solidFill>
                  <a:schemeClr val="tx1"/>
                </a:solidFill>
                <a:latin typeface="Arial" pitchFamily="34" charset="0"/>
                <a:ea typeface="宋体" pitchFamily="2" charset="-122"/>
              </a:defRPr>
            </a:lvl5pPr>
            <a:lvl6pPr marL="2514600" indent="-228600" defTabSz="1827213"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1827213"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1827213"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1827213"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r>
              <a:rPr lang="zh-CN" altLang="en-US" sz="1200" kern="0" dirty="0" smtClean="0">
                <a:solidFill>
                  <a:srgbClr val="1F497D"/>
                </a:solidFill>
                <a:latin typeface="华文仿宋"/>
                <a:ea typeface="华文仿宋"/>
                <a:cs typeface="华文仿宋"/>
              </a:rPr>
              <a:t>分析监控</a:t>
            </a:r>
            <a:r>
              <a:rPr lang="zh-CN" altLang="en-US" sz="1200" kern="0" dirty="0">
                <a:solidFill>
                  <a:srgbClr val="1F497D"/>
                </a:solidFill>
                <a:latin typeface="华文仿宋"/>
                <a:ea typeface="华文仿宋"/>
                <a:cs typeface="华文仿宋"/>
              </a:rPr>
              <a:t>数据库</a:t>
            </a:r>
            <a:endParaRPr lang="en-US" altLang="zh-CN" sz="1200" kern="0" dirty="0">
              <a:solidFill>
                <a:srgbClr val="1F497D"/>
              </a:solidFill>
              <a:latin typeface="华文仿宋"/>
              <a:ea typeface="华文仿宋"/>
              <a:cs typeface="华文仿宋"/>
            </a:endParaRPr>
          </a:p>
        </p:txBody>
      </p:sp>
      <p:pic>
        <p:nvPicPr>
          <p:cNvPr id="61"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9236" y="5079143"/>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62"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4263" y="5165976"/>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63"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5285" y="5242176"/>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4" name="上下箭头 63"/>
          <p:cNvSpPr/>
          <p:nvPr/>
        </p:nvSpPr>
        <p:spPr>
          <a:xfrm>
            <a:off x="6520174" y="4200970"/>
            <a:ext cx="409951" cy="558207"/>
          </a:xfrm>
          <a:prstGeom prst="upDownArrow">
            <a:avLst/>
          </a:prstGeom>
          <a:solidFill>
            <a:srgbClr val="1F497D">
              <a:lumMod val="60000"/>
              <a:lumOff val="40000"/>
            </a:srgbClr>
          </a:solidFill>
          <a:ln>
            <a:noFill/>
          </a:ln>
          <a:effectLst/>
          <a:scene3d>
            <a:camera prst="orthographicFront"/>
            <a:lightRig rig="flat" dir="t"/>
          </a:scene3d>
          <a:sp3d>
            <a:bevelT/>
          </a:sp3d>
        </p:spPr>
        <p:txBody>
          <a:bodyPr lIns="60960" tIns="60960" rIns="60960" bIns="60960" spcCol="1270" rtlCol="0" anchor="ct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65" name="圆柱形 18"/>
          <p:cNvSpPr/>
          <p:nvPr/>
        </p:nvSpPr>
        <p:spPr>
          <a:xfrm rot="5400000">
            <a:off x="1478095" y="4638217"/>
            <a:ext cx="488759" cy="1800448"/>
          </a:xfrm>
          <a:prstGeom prst="can">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vert270" wrap="none" anchor="ctr"/>
          <a:lstStyle/>
          <a:p>
            <a:pPr algn="ctr"/>
            <a:r>
              <a:rPr lang="en-US" altLang="zh-CN" sz="1200" kern="0" dirty="0">
                <a:solidFill>
                  <a:sysClr val="windowText" lastClr="000000"/>
                </a:solidFill>
                <a:latin typeface="华文仿宋"/>
                <a:ea typeface="华文仿宋"/>
                <a:cs typeface="华文仿宋"/>
              </a:rPr>
              <a:t>ESB</a:t>
            </a:r>
            <a:endParaRPr lang="zh-CN" altLang="en-US" sz="1200" kern="0" dirty="0">
              <a:solidFill>
                <a:sysClr val="windowText" lastClr="000000"/>
              </a:solidFill>
              <a:latin typeface="华文仿宋"/>
              <a:ea typeface="华文仿宋"/>
              <a:cs typeface="华文仿宋"/>
            </a:endParaRPr>
          </a:p>
        </p:txBody>
      </p:sp>
      <p:sp>
        <p:nvSpPr>
          <p:cNvPr id="66" name="手杖形箭头 65"/>
          <p:cNvSpPr/>
          <p:nvPr/>
        </p:nvSpPr>
        <p:spPr>
          <a:xfrm rot="10800000">
            <a:off x="1055236" y="5838885"/>
            <a:ext cx="8483363" cy="542442"/>
          </a:xfrm>
          <a:prstGeom prst="uturnArrow">
            <a:avLst/>
          </a:prstGeom>
          <a:solidFill>
            <a:srgbClr val="1F497D">
              <a:lumMod val="60000"/>
              <a:lumOff val="40000"/>
            </a:srgbClr>
          </a:solidFill>
          <a:ln>
            <a:noFill/>
          </a:ln>
          <a:effectLst/>
          <a:scene3d>
            <a:camera prst="orthographicFront"/>
            <a:lightRig rig="flat" dir="t"/>
          </a:scene3d>
          <a:sp3d>
            <a:bevelT/>
          </a:sp3d>
        </p:spPr>
        <p:txBody>
          <a:bodyPr rot="0" spcFirstLastPara="0" vertOverflow="overflow" horzOverflow="overflow" vert="horz" wrap="square" lIns="60960" tIns="60960" rIns="60960" bIns="60960" numCol="1" spcCol="1270" rtlCol="0" fromWordArt="0" anchor="ctr" anchorCtr="0" forceAA="0" compatLnSpc="1">
            <a:prstTxWarp prst="textNoShape">
              <a:avLst/>
            </a:prstTxWarp>
            <a:noAutofit/>
          </a:bodyP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67" name="TextBox 20"/>
          <p:cNvSpPr txBox="1"/>
          <p:nvPr/>
        </p:nvSpPr>
        <p:spPr>
          <a:xfrm>
            <a:off x="4625513" y="5978563"/>
            <a:ext cx="2095515" cy="338554"/>
          </a:xfrm>
          <a:prstGeom prst="rect">
            <a:avLst/>
          </a:prstGeom>
          <a:noFill/>
        </p:spPr>
        <p:txBody>
          <a:bodyPr wrap="square" rtlCol="0">
            <a:spAutoFit/>
          </a:bodyPr>
          <a:lstStyle/>
          <a:p>
            <a:pPr algn="ctr" fontAlgn="base">
              <a:spcBef>
                <a:spcPct val="0"/>
              </a:spcBef>
              <a:spcAft>
                <a:spcPct val="0"/>
              </a:spcAft>
            </a:pPr>
            <a:r>
              <a:rPr lang="zh-CN" altLang="en-US" sz="1600" b="1" dirty="0" smtClean="0">
                <a:solidFill>
                  <a:srgbClr val="002060"/>
                </a:solidFill>
                <a:latin typeface="华文仿宋"/>
                <a:ea typeface="华文仿宋"/>
                <a:cs typeface="华文仿宋"/>
              </a:rPr>
              <a:t>执行和修正</a:t>
            </a:r>
            <a:endParaRPr lang="zh-CN" altLang="en-US" sz="1600" b="1" dirty="0">
              <a:solidFill>
                <a:srgbClr val="002060"/>
              </a:solidFill>
              <a:latin typeface="华文仿宋"/>
              <a:ea typeface="华文仿宋"/>
              <a:cs typeface="华文仿宋"/>
            </a:endParaRPr>
          </a:p>
        </p:txBody>
      </p:sp>
      <p:sp>
        <p:nvSpPr>
          <p:cNvPr id="68" name="TextBox 21"/>
          <p:cNvSpPr txBox="1"/>
          <p:nvPr/>
        </p:nvSpPr>
        <p:spPr>
          <a:xfrm>
            <a:off x="9008895" y="2804842"/>
            <a:ext cx="1992248" cy="307777"/>
          </a:xfrm>
          <a:prstGeom prst="rect">
            <a:avLst/>
          </a:prstGeom>
          <a:noFill/>
        </p:spPr>
        <p:txBody>
          <a:bodyPr wrap="square" rtlCol="0">
            <a:spAutoFit/>
          </a:bodyPr>
          <a:lstStyle>
            <a:defPPr>
              <a:defRPr lang="en-US"/>
            </a:defPPr>
            <a:lvl1pPr>
              <a:defRPr b="1">
                <a:solidFill>
                  <a:srgbClr val="002060"/>
                </a:solidFill>
                <a:latin typeface="华文中宋" pitchFamily="2" charset="-122"/>
                <a:ea typeface="华文中宋" pitchFamily="2" charset="-122"/>
              </a:defRPr>
            </a:lvl1pPr>
          </a:lstStyle>
          <a:p>
            <a:pPr algn="ctr">
              <a:defRPr/>
            </a:pPr>
            <a:r>
              <a:rPr lang="zh-CN" altLang="en-US" sz="1400" kern="0" dirty="0">
                <a:latin typeface="华文仿宋"/>
                <a:ea typeface="华文仿宋"/>
                <a:cs typeface="华文仿宋"/>
              </a:rPr>
              <a:t>决策与管理团队</a:t>
            </a:r>
          </a:p>
        </p:txBody>
      </p:sp>
      <p:pic>
        <p:nvPicPr>
          <p:cNvPr id="69" name="Picture 5"/>
          <p:cNvPicPr>
            <a:picLocks noChangeAspect="1" noChangeArrowheads="1"/>
          </p:cNvPicPr>
          <p:nvPr/>
        </p:nvPicPr>
        <p:blipFill>
          <a:blip r:embed="rId5"/>
          <a:srcRect/>
          <a:stretch>
            <a:fillRect/>
          </a:stretch>
        </p:blipFill>
        <p:spPr bwMode="auto">
          <a:xfrm>
            <a:off x="9253887" y="2174958"/>
            <a:ext cx="1190612" cy="702845"/>
          </a:xfrm>
          <a:prstGeom prst="rect">
            <a:avLst/>
          </a:prstGeom>
          <a:noFill/>
          <a:ln w="9525" cap="flat" cmpd="sng" algn="ctr">
            <a:noFill/>
            <a:prstDash val="solid"/>
            <a:miter lim="800000"/>
            <a:headEnd/>
            <a:tailEnd/>
          </a:ln>
          <a:effectLst/>
        </p:spPr>
      </p:pic>
      <p:sp>
        <p:nvSpPr>
          <p:cNvPr id="70" name="AutoShape 61"/>
          <p:cNvSpPr>
            <a:spLocks noChangeArrowheads="1"/>
          </p:cNvSpPr>
          <p:nvPr/>
        </p:nvSpPr>
        <p:spPr bwMode="auto">
          <a:xfrm>
            <a:off x="4460934" y="3484765"/>
            <a:ext cx="1379895" cy="581530"/>
          </a:xfrm>
          <a:prstGeom prst="can">
            <a:avLst>
              <a:gd name="adj" fmla="val 25000"/>
            </a:avLst>
          </a:prstGeom>
          <a:solidFill>
            <a:srgbClr val="FCBDB2">
              <a:alpha val="39999"/>
            </a:srgbClr>
          </a:solidFill>
          <a:ln w="15875">
            <a:solidFill>
              <a:srgbClr val="FCBDB2"/>
            </a:solidFill>
            <a:round/>
            <a:headEnd/>
            <a:tailEnd/>
          </a:ln>
        </p:spPr>
        <p:txBody>
          <a:bodyPr wrap="square" lIns="125218" tIns="62611" rIns="125218" bIns="62611" anchor="ctr">
            <a:noAutofit/>
          </a:bodyPr>
          <a:lstStyle/>
          <a:p>
            <a:pPr algn="ctr" defTabSz="912813" fontAlgn="base">
              <a:spcBef>
                <a:spcPct val="0"/>
              </a:spcBef>
              <a:spcAft>
                <a:spcPct val="0"/>
              </a:spcAft>
              <a:tabLst>
                <a:tab pos="2293938" algn="l"/>
              </a:tabLst>
            </a:pPr>
            <a:r>
              <a:rPr lang="zh-CN" altLang="en-US" sz="1200">
                <a:solidFill>
                  <a:srgbClr val="AC000F"/>
                </a:solidFill>
                <a:latin typeface="华文仿宋"/>
                <a:ea typeface="华文仿宋"/>
                <a:cs typeface="华文仿宋"/>
              </a:rPr>
              <a:t>业务规则</a:t>
            </a:r>
            <a:endParaRPr lang="en-US" altLang="zh-CN" sz="1200">
              <a:solidFill>
                <a:srgbClr val="AC000F"/>
              </a:solidFill>
              <a:latin typeface="华文仿宋"/>
              <a:ea typeface="华文仿宋"/>
              <a:cs typeface="华文仿宋"/>
            </a:endParaRPr>
          </a:p>
        </p:txBody>
      </p:sp>
      <p:sp>
        <p:nvSpPr>
          <p:cNvPr id="71" name="Text Box 54"/>
          <p:cNvSpPr txBox="1">
            <a:spLocks noChangeArrowheads="1"/>
          </p:cNvSpPr>
          <p:nvPr/>
        </p:nvSpPr>
        <p:spPr bwMode="auto">
          <a:xfrm>
            <a:off x="4144905" y="2111167"/>
            <a:ext cx="1107965" cy="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1425" tIns="45713" rIns="91425" bIns="45713">
            <a:spAutoFit/>
          </a:bodyPr>
          <a:lstStyle>
            <a:lvl1pPr defTabSz="1827213" eaLnBrk="0" hangingPunct="0">
              <a:defRPr>
                <a:solidFill>
                  <a:schemeClr val="tx1"/>
                </a:solidFill>
                <a:latin typeface="Arial" pitchFamily="34" charset="0"/>
                <a:ea typeface="宋体" pitchFamily="2" charset="-122"/>
              </a:defRPr>
            </a:lvl1pPr>
            <a:lvl2pPr marL="742950" indent="-285750" defTabSz="1827213" eaLnBrk="0" hangingPunct="0">
              <a:defRPr>
                <a:solidFill>
                  <a:schemeClr val="tx1"/>
                </a:solidFill>
                <a:latin typeface="Arial" pitchFamily="34" charset="0"/>
                <a:ea typeface="宋体" pitchFamily="2" charset="-122"/>
              </a:defRPr>
            </a:lvl2pPr>
            <a:lvl3pPr marL="1143000" indent="-228600" defTabSz="1827213" eaLnBrk="0" hangingPunct="0">
              <a:defRPr>
                <a:solidFill>
                  <a:schemeClr val="tx1"/>
                </a:solidFill>
                <a:latin typeface="Arial" pitchFamily="34" charset="0"/>
                <a:ea typeface="宋体" pitchFamily="2" charset="-122"/>
              </a:defRPr>
            </a:lvl3pPr>
            <a:lvl4pPr marL="1600200" indent="-228600" defTabSz="1827213" eaLnBrk="0" hangingPunct="0">
              <a:defRPr>
                <a:solidFill>
                  <a:schemeClr val="tx1"/>
                </a:solidFill>
                <a:latin typeface="Arial" pitchFamily="34" charset="0"/>
                <a:ea typeface="宋体" pitchFamily="2" charset="-122"/>
              </a:defRPr>
            </a:lvl4pPr>
            <a:lvl5pPr marL="2057400" indent="-228600" defTabSz="1827213" eaLnBrk="0" hangingPunct="0">
              <a:defRPr>
                <a:solidFill>
                  <a:schemeClr val="tx1"/>
                </a:solidFill>
                <a:latin typeface="Arial" pitchFamily="34" charset="0"/>
                <a:ea typeface="宋体" pitchFamily="2" charset="-122"/>
              </a:defRPr>
            </a:lvl5pPr>
            <a:lvl6pPr marL="2514600" indent="-228600" defTabSz="1827213"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1827213"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1827213"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1827213"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r>
              <a:rPr lang="zh-CN" altLang="en-US" sz="1200" kern="0" dirty="0" smtClean="0">
                <a:solidFill>
                  <a:srgbClr val="1F497D"/>
                </a:solidFill>
                <a:latin typeface="华文仿宋"/>
                <a:ea typeface="华文仿宋"/>
                <a:cs typeface="华文仿宋"/>
              </a:rPr>
              <a:t>业务监控引擎</a:t>
            </a:r>
            <a:endParaRPr lang="en-US" altLang="zh-CN" sz="1200" kern="0" dirty="0">
              <a:solidFill>
                <a:srgbClr val="1F497D"/>
              </a:solidFill>
              <a:latin typeface="华文仿宋"/>
              <a:ea typeface="华文仿宋"/>
              <a:cs typeface="华文仿宋"/>
            </a:endParaRPr>
          </a:p>
        </p:txBody>
      </p:sp>
      <p:sp>
        <p:nvSpPr>
          <p:cNvPr id="72" name="燕尾形箭头 71"/>
          <p:cNvSpPr/>
          <p:nvPr/>
        </p:nvSpPr>
        <p:spPr>
          <a:xfrm>
            <a:off x="3466187" y="3615788"/>
            <a:ext cx="576749" cy="483176"/>
          </a:xfrm>
          <a:prstGeom prst="notchedRightArrow">
            <a:avLst/>
          </a:prstGeom>
          <a:solidFill>
            <a:srgbClr val="1F497D">
              <a:lumMod val="60000"/>
              <a:lumOff val="40000"/>
            </a:srgbClr>
          </a:solidFill>
          <a:ln>
            <a:noFill/>
          </a:ln>
          <a:effectLst/>
          <a:scene3d>
            <a:camera prst="orthographicFront"/>
            <a:lightRig rig="flat" dir="t"/>
          </a:scene3d>
          <a:sp3d>
            <a:bevelT/>
          </a:sp3d>
        </p:spPr>
        <p:txBody>
          <a:bodyPr lIns="60960" tIns="60960" rIns="60960" bIns="60960" spcCol="1270" rtlCol="0" anchor="ct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73" name="燕尾形箭头 72"/>
          <p:cNvSpPr/>
          <p:nvPr/>
        </p:nvSpPr>
        <p:spPr>
          <a:xfrm>
            <a:off x="7674103" y="3671261"/>
            <a:ext cx="576749" cy="483176"/>
          </a:xfrm>
          <a:prstGeom prst="notchedRightArrow">
            <a:avLst/>
          </a:prstGeom>
          <a:solidFill>
            <a:srgbClr val="1F497D">
              <a:lumMod val="60000"/>
              <a:lumOff val="40000"/>
            </a:srgbClr>
          </a:solidFill>
          <a:ln>
            <a:noFill/>
          </a:ln>
          <a:effectLst/>
          <a:scene3d>
            <a:camera prst="orthographicFront"/>
            <a:lightRig rig="flat" dir="t"/>
          </a:scene3d>
          <a:sp3d>
            <a:bevelT/>
          </a:sp3d>
        </p:spPr>
        <p:txBody>
          <a:bodyPr lIns="60960" tIns="60960" rIns="60960" bIns="60960" spcCol="1270" rtlCol="0" anchor="ct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74" name="云形标注 73"/>
          <p:cNvSpPr/>
          <p:nvPr/>
        </p:nvSpPr>
        <p:spPr>
          <a:xfrm>
            <a:off x="8060565" y="1755987"/>
            <a:ext cx="1104283" cy="770384"/>
          </a:xfrm>
          <a:prstGeom prst="cloudCallout">
            <a:avLst>
              <a:gd name="adj1" fmla="val 63097"/>
              <a:gd name="adj2" fmla="val 60437"/>
            </a:avLst>
          </a:prstGeom>
          <a:solidFill>
            <a:srgbClr val="0070C0"/>
          </a:solidFill>
          <a:ln w="25400" cap="flat" cmpd="sng" algn="ctr">
            <a:solidFill>
              <a:srgbClr val="4F81BD">
                <a:shade val="50000"/>
              </a:srgbClr>
            </a:solidFill>
            <a:prstDash val="solid"/>
          </a:ln>
          <a:effectLst/>
        </p:spPr>
        <p:txBody>
          <a:bodyPr rtlCol="0" anchor="ctr"/>
          <a:lstStyle/>
          <a:p>
            <a:pPr algn="ctr">
              <a:defRPr/>
            </a:pPr>
            <a:r>
              <a:rPr lang="zh-CN" altLang="en-US" sz="1400" b="1" kern="0" dirty="0" smtClean="0">
                <a:solidFill>
                  <a:sysClr val="window" lastClr="FFFFFF"/>
                </a:solidFill>
                <a:latin typeface="华文仿宋"/>
                <a:ea typeface="华文仿宋"/>
                <a:cs typeface="华文仿宋"/>
              </a:rPr>
              <a:t>确定问题？</a:t>
            </a:r>
            <a:endParaRPr lang="zh-CN" altLang="en-US" sz="1400" b="1" kern="0" dirty="0">
              <a:solidFill>
                <a:sysClr val="window" lastClr="FFFFFF"/>
              </a:solidFill>
              <a:latin typeface="华文仿宋"/>
              <a:ea typeface="华文仿宋"/>
              <a:cs typeface="华文仿宋"/>
            </a:endParaRPr>
          </a:p>
        </p:txBody>
      </p:sp>
      <p:sp>
        <p:nvSpPr>
          <p:cNvPr id="75" name="云形标注 74"/>
          <p:cNvSpPr/>
          <p:nvPr/>
        </p:nvSpPr>
        <p:spPr>
          <a:xfrm>
            <a:off x="10529548" y="1755990"/>
            <a:ext cx="1119465" cy="770383"/>
          </a:xfrm>
          <a:prstGeom prst="cloudCallout">
            <a:avLst>
              <a:gd name="adj1" fmla="val -53957"/>
              <a:gd name="adj2" fmla="val 60437"/>
            </a:avLst>
          </a:prstGeom>
          <a:solidFill>
            <a:srgbClr val="0070C0"/>
          </a:solidFill>
          <a:ln w="25400" cap="flat" cmpd="sng" algn="ctr">
            <a:solidFill>
              <a:srgbClr val="4F81BD">
                <a:shade val="50000"/>
              </a:srgbClr>
            </a:solidFill>
            <a:prstDash val="solid"/>
          </a:ln>
          <a:effectLst/>
        </p:spPr>
        <p:txBody>
          <a:bodyPr rtlCol="0" anchor="ctr"/>
          <a:lstStyle/>
          <a:p>
            <a:pPr algn="ctr">
              <a:defRPr/>
            </a:pPr>
            <a:r>
              <a:rPr lang="zh-CN" altLang="en-US" sz="1400" b="1" kern="0" dirty="0">
                <a:solidFill>
                  <a:sysClr val="window" lastClr="FFFFFF"/>
                </a:solidFill>
                <a:latin typeface="华文仿宋"/>
                <a:ea typeface="华文仿宋"/>
                <a:cs typeface="华文仿宋"/>
              </a:rPr>
              <a:t>抓住机会？</a:t>
            </a:r>
          </a:p>
        </p:txBody>
      </p:sp>
      <p:sp>
        <p:nvSpPr>
          <p:cNvPr id="76" name="燕尾形箭头 75"/>
          <p:cNvSpPr/>
          <p:nvPr/>
        </p:nvSpPr>
        <p:spPr>
          <a:xfrm rot="16200000">
            <a:off x="9685855" y="2970039"/>
            <a:ext cx="432562" cy="644235"/>
          </a:xfrm>
          <a:prstGeom prst="notchedRightArrow">
            <a:avLst/>
          </a:prstGeom>
          <a:solidFill>
            <a:srgbClr val="1F497D">
              <a:lumMod val="60000"/>
              <a:lumOff val="40000"/>
            </a:srgbClr>
          </a:solidFill>
          <a:ln>
            <a:noFill/>
          </a:ln>
          <a:effectLst/>
          <a:scene3d>
            <a:camera prst="orthographicFront"/>
            <a:lightRig rig="flat" dir="t"/>
          </a:scene3d>
          <a:sp3d>
            <a:bevelT/>
          </a:sp3d>
        </p:spPr>
        <p:txBody>
          <a:bodyPr lIns="60960" tIns="60960" rIns="60960" bIns="60960" spcCol="1270" rtlCol="0" anchor="ct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77" name="圆角矩形 76"/>
          <p:cNvSpPr/>
          <p:nvPr/>
        </p:nvSpPr>
        <p:spPr>
          <a:xfrm>
            <a:off x="8392632" y="3508436"/>
            <a:ext cx="3228024" cy="738620"/>
          </a:xfrm>
          <a:prstGeom prst="roundRect">
            <a:avLst/>
          </a:prstGeom>
          <a:solidFill>
            <a:sysClr val="window" lastClr="FFFFFF"/>
          </a:solidFill>
          <a:ln w="19050">
            <a:solidFill>
              <a:srgbClr val="4F81BD"/>
            </a:solidFill>
            <a:prstDash val="sysDot"/>
          </a:ln>
          <a:effectLst/>
        </p:spPr>
        <p:txBody>
          <a:bodyPr lIns="0" tIns="0" rIns="0" bIns="0" spcCol="1270" rtlCol="0" anchor="b" anchorCtr="1"/>
          <a:lstStyle/>
          <a:p>
            <a:pPr algn="ctr" defTabSz="711200">
              <a:lnSpc>
                <a:spcPct val="90000"/>
              </a:lnSpc>
              <a:spcAft>
                <a:spcPct val="35000"/>
              </a:spcAft>
              <a:defRPr/>
            </a:pPr>
            <a:r>
              <a:rPr lang="zh-CN" altLang="en-US" sz="1200" kern="0" dirty="0" smtClean="0">
                <a:solidFill>
                  <a:srgbClr val="0070C0"/>
                </a:solidFill>
                <a:latin typeface="华文仿宋"/>
                <a:ea typeface="华文仿宋"/>
                <a:cs typeface="华文仿宋"/>
              </a:rPr>
              <a:t>端到端流程监控</a:t>
            </a:r>
            <a:endParaRPr lang="zh-CN" altLang="en-US" sz="1200" kern="0" dirty="0">
              <a:solidFill>
                <a:srgbClr val="0070C0"/>
              </a:solidFill>
              <a:latin typeface="华文仿宋"/>
              <a:ea typeface="华文仿宋"/>
              <a:cs typeface="华文仿宋"/>
            </a:endParaRPr>
          </a:p>
        </p:txBody>
      </p:sp>
      <p:sp>
        <p:nvSpPr>
          <p:cNvPr id="78" name="圆角矩形 77"/>
          <p:cNvSpPr/>
          <p:nvPr/>
        </p:nvSpPr>
        <p:spPr>
          <a:xfrm>
            <a:off x="8391007" y="4343010"/>
            <a:ext cx="3228024" cy="738620"/>
          </a:xfrm>
          <a:prstGeom prst="roundRect">
            <a:avLst/>
          </a:prstGeom>
          <a:solidFill>
            <a:sysClr val="window" lastClr="FFFFFF"/>
          </a:solidFill>
          <a:ln w="19050">
            <a:solidFill>
              <a:srgbClr val="4F81BD"/>
            </a:solidFill>
            <a:prstDash val="sysDot"/>
          </a:ln>
          <a:effectLst/>
        </p:spPr>
        <p:txBody>
          <a:bodyPr lIns="0" tIns="0" rIns="0" bIns="0" spcCol="1270" rtlCol="0" anchor="b" anchorCtr="1"/>
          <a:lstStyle/>
          <a:p>
            <a:pPr algn="ctr" defTabSz="711200">
              <a:lnSpc>
                <a:spcPct val="90000"/>
              </a:lnSpc>
              <a:spcAft>
                <a:spcPct val="35000"/>
              </a:spcAft>
              <a:defRPr/>
            </a:pPr>
            <a:r>
              <a:rPr lang="zh-CN" altLang="en-US" sz="1200" kern="0" dirty="0" smtClean="0">
                <a:solidFill>
                  <a:srgbClr val="0070C0"/>
                </a:solidFill>
                <a:latin typeface="华文仿宋"/>
                <a:ea typeface="华文仿宋"/>
                <a:cs typeface="华文仿宋"/>
              </a:rPr>
              <a:t>实时仪表板</a:t>
            </a:r>
            <a:r>
              <a:rPr lang="en-US" altLang="zh-CN" sz="1200" kern="0" dirty="0" smtClean="0">
                <a:solidFill>
                  <a:srgbClr val="0070C0"/>
                </a:solidFill>
                <a:latin typeface="华文仿宋"/>
                <a:ea typeface="华文仿宋"/>
                <a:cs typeface="华文仿宋"/>
              </a:rPr>
              <a:t>/</a:t>
            </a:r>
            <a:r>
              <a:rPr lang="zh-CN" altLang="en-US" sz="1200" kern="0" dirty="0" smtClean="0">
                <a:solidFill>
                  <a:srgbClr val="0070C0"/>
                </a:solidFill>
                <a:latin typeface="华文仿宋"/>
                <a:ea typeface="华文仿宋"/>
                <a:cs typeface="华文仿宋"/>
              </a:rPr>
              <a:t>报表</a:t>
            </a:r>
            <a:endParaRPr lang="zh-CN" altLang="en-US" sz="1200" kern="0" dirty="0">
              <a:solidFill>
                <a:srgbClr val="0070C0"/>
              </a:solidFill>
              <a:latin typeface="华文仿宋"/>
              <a:ea typeface="华文仿宋"/>
              <a:cs typeface="华文仿宋"/>
            </a:endParaRPr>
          </a:p>
        </p:txBody>
      </p:sp>
      <p:sp>
        <p:nvSpPr>
          <p:cNvPr id="79" name="圆角矩形 78"/>
          <p:cNvSpPr/>
          <p:nvPr/>
        </p:nvSpPr>
        <p:spPr>
          <a:xfrm>
            <a:off x="8391007" y="5175897"/>
            <a:ext cx="3228024" cy="738620"/>
          </a:xfrm>
          <a:prstGeom prst="roundRect">
            <a:avLst/>
          </a:prstGeom>
          <a:solidFill>
            <a:sysClr val="window" lastClr="FFFFFF"/>
          </a:solidFill>
          <a:ln w="19050">
            <a:solidFill>
              <a:srgbClr val="4F81BD"/>
            </a:solidFill>
            <a:prstDash val="sysDot"/>
          </a:ln>
          <a:effectLst/>
        </p:spPr>
        <p:txBody>
          <a:bodyPr lIns="0" tIns="0" rIns="0" bIns="0" spcCol="1270" rtlCol="0" anchor="b" anchorCtr="1"/>
          <a:lstStyle/>
          <a:p>
            <a:pPr algn="ctr" defTabSz="711200">
              <a:lnSpc>
                <a:spcPct val="90000"/>
              </a:lnSpc>
              <a:spcAft>
                <a:spcPct val="35000"/>
              </a:spcAft>
              <a:defRPr/>
            </a:pPr>
            <a:r>
              <a:rPr lang="en-US" altLang="zh-CN" sz="1200" kern="0" dirty="0" smtClean="0">
                <a:solidFill>
                  <a:srgbClr val="0070C0"/>
                </a:solidFill>
                <a:latin typeface="华文仿宋"/>
                <a:ea typeface="华文仿宋"/>
                <a:cs typeface="华文仿宋"/>
              </a:rPr>
              <a:t>WS</a:t>
            </a:r>
            <a:r>
              <a:rPr lang="zh-CN" altLang="en-US" sz="1200" kern="0" dirty="0" smtClean="0">
                <a:solidFill>
                  <a:srgbClr val="0070C0"/>
                </a:solidFill>
                <a:latin typeface="华文仿宋"/>
                <a:ea typeface="华文仿宋"/>
                <a:cs typeface="华文仿宋"/>
              </a:rPr>
              <a:t>服务调用与流程优化</a:t>
            </a:r>
            <a:endParaRPr lang="zh-CN" altLang="en-US" sz="1200" kern="0" dirty="0">
              <a:solidFill>
                <a:srgbClr val="0070C0"/>
              </a:solidFill>
              <a:latin typeface="华文仿宋"/>
              <a:ea typeface="华文仿宋"/>
              <a:cs typeface="华文仿宋"/>
            </a:endParaRPr>
          </a:p>
        </p:txBody>
      </p:sp>
      <p:pic>
        <p:nvPicPr>
          <p:cNvPr id="80" name="Picture 7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88232" y="4367048"/>
            <a:ext cx="1011917" cy="53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1" name="Picture 7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79193" y="4384862"/>
            <a:ext cx="1059407" cy="526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2" name="Picture 73" descr="j0283604"/>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9577748" y="4367048"/>
            <a:ext cx="8128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93960" y="5341825"/>
            <a:ext cx="24130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33060" y="5220763"/>
            <a:ext cx="419125" cy="56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 name="Rectangle 29"/>
          <p:cNvSpPr>
            <a:spLocks noChangeArrowheads="1"/>
          </p:cNvSpPr>
          <p:nvPr/>
        </p:nvSpPr>
        <p:spPr bwMode="auto">
          <a:xfrm>
            <a:off x="822248" y="3966598"/>
            <a:ext cx="1800448" cy="477999"/>
          </a:xfrm>
          <a:prstGeom prst="rect">
            <a:avLst/>
          </a:prstGeom>
          <a:gradFill rotWithShape="1">
            <a:gsLst>
              <a:gs pos="0">
                <a:srgbClr val="C7CDFD"/>
              </a:gs>
              <a:gs pos="100000">
                <a:srgbClr val="C7CDFD">
                  <a:gamma/>
                  <a:tint val="0"/>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defRPr/>
            </a:pPr>
            <a:r>
              <a:rPr lang="en-US" altLang="zh-CN" sz="1200" kern="0" dirty="0" smtClean="0">
                <a:solidFill>
                  <a:sysClr val="windowText" lastClr="000000"/>
                </a:solidFill>
                <a:latin typeface="华文仿宋"/>
                <a:ea typeface="华文仿宋"/>
                <a:cs typeface="华文仿宋"/>
              </a:rPr>
              <a:t>BPM</a:t>
            </a:r>
            <a:r>
              <a:rPr lang="zh-CN" altLang="en-US" sz="1200" kern="0" dirty="0" smtClean="0">
                <a:solidFill>
                  <a:sysClr val="windowText" lastClr="000000"/>
                </a:solidFill>
                <a:latin typeface="华文仿宋"/>
                <a:ea typeface="华文仿宋"/>
                <a:cs typeface="华文仿宋"/>
              </a:rPr>
              <a:t>系统</a:t>
            </a:r>
            <a:endParaRPr lang="en-US" altLang="zh-CN" sz="1200" kern="0" dirty="0" smtClean="0">
              <a:solidFill>
                <a:sysClr val="windowText" lastClr="000000"/>
              </a:solidFill>
              <a:latin typeface="华文仿宋"/>
              <a:ea typeface="华文仿宋"/>
              <a:cs typeface="华文仿宋"/>
            </a:endParaRPr>
          </a:p>
          <a:p>
            <a:pPr algn="ctr">
              <a:defRPr/>
            </a:pPr>
            <a:r>
              <a:rPr lang="zh-CN" altLang="en-US" sz="1200" kern="0" dirty="0" smtClean="0">
                <a:solidFill>
                  <a:sysClr val="windowText" lastClr="000000"/>
                </a:solidFill>
                <a:latin typeface="华文仿宋"/>
                <a:ea typeface="华文仿宋"/>
                <a:cs typeface="华文仿宋"/>
              </a:rPr>
              <a:t>数据源</a:t>
            </a:r>
            <a:endParaRPr lang="en-US" altLang="zh-CN" sz="1200" kern="0" baseline="30000" dirty="0" smtClean="0">
              <a:solidFill>
                <a:sysClr val="windowText" lastClr="000000"/>
              </a:solidFill>
              <a:latin typeface="华文仿宋"/>
              <a:ea typeface="华文仿宋"/>
              <a:cs typeface="华文仿宋"/>
            </a:endParaRPr>
          </a:p>
        </p:txBody>
      </p:sp>
      <p:sp>
        <p:nvSpPr>
          <p:cNvPr id="86" name="圆角矩形 85"/>
          <p:cNvSpPr/>
          <p:nvPr/>
        </p:nvSpPr>
        <p:spPr>
          <a:xfrm>
            <a:off x="4361692" y="2388153"/>
            <a:ext cx="3070597" cy="570577"/>
          </a:xfrm>
          <a:prstGeom prst="roundRect">
            <a:avLst/>
          </a:prstGeom>
          <a:solidFill>
            <a:srgbClr val="92D050">
              <a:alpha val="39999"/>
            </a:srgbClr>
          </a:solidFill>
          <a:ln w="15875">
            <a:solidFill>
              <a:srgbClr val="4F81BD"/>
            </a:solidFill>
            <a:round/>
            <a:headEnd/>
            <a:tailEnd/>
          </a:ln>
        </p:spPr>
        <p:txBody>
          <a:bodyPr lIns="125218" tIns="62611" rIns="125218" bIns="62611" anchor="ctr">
            <a:noAutofit/>
          </a:bodyPr>
          <a:lstStyle/>
          <a:p>
            <a:pPr algn="ctr" defTabSz="912813">
              <a:tabLst>
                <a:tab pos="2293938" algn="l"/>
              </a:tabLst>
              <a:defRPr/>
            </a:pPr>
            <a:r>
              <a:rPr lang="en-US" altLang="zh-CN" sz="1200" kern="0" dirty="0" smtClean="0">
                <a:solidFill>
                  <a:srgbClr val="AC000F"/>
                </a:solidFill>
                <a:latin typeface="华文仿宋"/>
                <a:ea typeface="华文仿宋"/>
                <a:cs typeface="华文仿宋"/>
              </a:rPr>
              <a:t>CEP</a:t>
            </a:r>
            <a:r>
              <a:rPr lang="zh-CN" altLang="en-US" sz="1200" kern="0" dirty="0" smtClean="0">
                <a:solidFill>
                  <a:srgbClr val="AC000F"/>
                </a:solidFill>
                <a:latin typeface="华文仿宋"/>
                <a:ea typeface="华文仿宋"/>
                <a:cs typeface="华文仿宋"/>
              </a:rPr>
              <a:t>引擎</a:t>
            </a:r>
            <a:endParaRPr lang="zh-CN" altLang="en-US" sz="1200" kern="0" dirty="0">
              <a:solidFill>
                <a:srgbClr val="AC000F"/>
              </a:solidFill>
              <a:latin typeface="华文仿宋"/>
              <a:ea typeface="华文仿宋"/>
              <a:cs typeface="华文仿宋"/>
            </a:endParaRPr>
          </a:p>
        </p:txBody>
      </p:sp>
      <p:sp>
        <p:nvSpPr>
          <p:cNvPr id="87" name="AutoShape 53"/>
          <p:cNvSpPr>
            <a:spLocks noChangeArrowheads="1"/>
          </p:cNvSpPr>
          <p:nvPr/>
        </p:nvSpPr>
        <p:spPr bwMode="auto">
          <a:xfrm>
            <a:off x="4080640" y="4762715"/>
            <a:ext cx="1689413" cy="941063"/>
          </a:xfrm>
          <a:prstGeom prst="can">
            <a:avLst>
              <a:gd name="adj" fmla="val 25000"/>
            </a:avLst>
          </a:prstGeom>
          <a:solidFill>
            <a:srgbClr val="4BACC6">
              <a:lumMod val="20000"/>
              <a:lumOff val="80000"/>
              <a:alpha val="39999"/>
            </a:srgbClr>
          </a:solidFill>
          <a:ln w="15875">
            <a:solidFill>
              <a:srgbClr val="4F81BD"/>
            </a:solidFill>
            <a:round/>
            <a:headEnd/>
            <a:tailEnd/>
          </a:ln>
        </p:spPr>
        <p:txBody>
          <a:bodyPr wrap="square" lIns="91307" tIns="45655" rIns="91307" bIns="45655" anchor="ctr">
            <a:noAutofit/>
          </a:bodyPr>
          <a:lstStyle/>
          <a:p>
            <a:pPr>
              <a:defRPr/>
            </a:pPr>
            <a:endParaRPr lang="zh-CN" altLang="en-US" sz="1500" kern="0">
              <a:solidFill>
                <a:sysClr val="windowText" lastClr="000000"/>
              </a:solidFill>
              <a:latin typeface="华文仿宋"/>
              <a:ea typeface="华文仿宋"/>
              <a:cs typeface="华文仿宋"/>
            </a:endParaRPr>
          </a:p>
        </p:txBody>
      </p:sp>
      <p:sp>
        <p:nvSpPr>
          <p:cNvPr id="88" name="Text Box 54"/>
          <p:cNvSpPr txBox="1">
            <a:spLocks noChangeArrowheads="1"/>
          </p:cNvSpPr>
          <p:nvPr/>
        </p:nvSpPr>
        <p:spPr bwMode="auto">
          <a:xfrm>
            <a:off x="4059225" y="4752082"/>
            <a:ext cx="1327602" cy="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1425" tIns="45713" rIns="91425" bIns="45713">
            <a:spAutoFit/>
          </a:bodyPr>
          <a:lstStyle>
            <a:lvl1pPr defTabSz="1827213" eaLnBrk="0" hangingPunct="0">
              <a:defRPr>
                <a:solidFill>
                  <a:schemeClr val="tx1"/>
                </a:solidFill>
                <a:latin typeface="Arial" pitchFamily="34" charset="0"/>
                <a:ea typeface="宋体" pitchFamily="2" charset="-122"/>
              </a:defRPr>
            </a:lvl1pPr>
            <a:lvl2pPr marL="742950" indent="-285750" defTabSz="1827213" eaLnBrk="0" hangingPunct="0">
              <a:defRPr>
                <a:solidFill>
                  <a:schemeClr val="tx1"/>
                </a:solidFill>
                <a:latin typeface="Arial" pitchFamily="34" charset="0"/>
                <a:ea typeface="宋体" pitchFamily="2" charset="-122"/>
              </a:defRPr>
            </a:lvl2pPr>
            <a:lvl3pPr marL="1143000" indent="-228600" defTabSz="1827213" eaLnBrk="0" hangingPunct="0">
              <a:defRPr>
                <a:solidFill>
                  <a:schemeClr val="tx1"/>
                </a:solidFill>
                <a:latin typeface="Arial" pitchFamily="34" charset="0"/>
                <a:ea typeface="宋体" pitchFamily="2" charset="-122"/>
              </a:defRPr>
            </a:lvl3pPr>
            <a:lvl4pPr marL="1600200" indent="-228600" defTabSz="1827213" eaLnBrk="0" hangingPunct="0">
              <a:defRPr>
                <a:solidFill>
                  <a:schemeClr val="tx1"/>
                </a:solidFill>
                <a:latin typeface="Arial" pitchFamily="34" charset="0"/>
                <a:ea typeface="宋体" pitchFamily="2" charset="-122"/>
              </a:defRPr>
            </a:lvl4pPr>
            <a:lvl5pPr marL="2057400" indent="-228600" defTabSz="1827213" eaLnBrk="0" hangingPunct="0">
              <a:defRPr>
                <a:solidFill>
                  <a:schemeClr val="tx1"/>
                </a:solidFill>
                <a:latin typeface="Arial" pitchFamily="34" charset="0"/>
                <a:ea typeface="宋体" pitchFamily="2" charset="-122"/>
              </a:defRPr>
            </a:lvl5pPr>
            <a:lvl6pPr marL="2514600" indent="-228600" defTabSz="1827213"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1827213"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1827213"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1827213"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r>
              <a:rPr lang="zh-CN" altLang="en-US" sz="1200" kern="0" dirty="0" smtClean="0">
                <a:solidFill>
                  <a:srgbClr val="1F497D"/>
                </a:solidFill>
                <a:latin typeface="华文仿宋"/>
                <a:ea typeface="华文仿宋"/>
                <a:cs typeface="华文仿宋"/>
              </a:rPr>
              <a:t>元数据</a:t>
            </a:r>
            <a:r>
              <a:rPr lang="en-US" altLang="zh-CN" sz="1200" kern="0" dirty="0" smtClean="0">
                <a:solidFill>
                  <a:srgbClr val="1F497D"/>
                </a:solidFill>
                <a:latin typeface="华文仿宋"/>
                <a:ea typeface="华文仿宋"/>
                <a:cs typeface="华文仿宋"/>
              </a:rPr>
              <a:t>/</a:t>
            </a:r>
            <a:r>
              <a:rPr lang="zh-CN" altLang="en-US" sz="1200" kern="0" dirty="0" smtClean="0">
                <a:solidFill>
                  <a:srgbClr val="1F497D"/>
                </a:solidFill>
                <a:latin typeface="华文仿宋"/>
                <a:ea typeface="华文仿宋"/>
                <a:cs typeface="华文仿宋"/>
              </a:rPr>
              <a:t>元模型库</a:t>
            </a:r>
            <a:endParaRPr lang="en-US" altLang="zh-CN" sz="1200" kern="0" dirty="0">
              <a:solidFill>
                <a:srgbClr val="1F497D"/>
              </a:solidFill>
              <a:latin typeface="华文仿宋"/>
              <a:ea typeface="华文仿宋"/>
              <a:cs typeface="华文仿宋"/>
            </a:endParaRPr>
          </a:p>
        </p:txBody>
      </p:sp>
      <p:pic>
        <p:nvPicPr>
          <p:cNvPr id="89"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9255" y="5082681"/>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0"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281" y="5169514"/>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1"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5304" y="5245714"/>
            <a:ext cx="5080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 name="上下箭头 91"/>
          <p:cNvSpPr/>
          <p:nvPr/>
        </p:nvSpPr>
        <p:spPr>
          <a:xfrm>
            <a:off x="4710193" y="4204508"/>
            <a:ext cx="409951" cy="558207"/>
          </a:xfrm>
          <a:prstGeom prst="upDownArrow">
            <a:avLst/>
          </a:prstGeom>
          <a:solidFill>
            <a:srgbClr val="1F497D">
              <a:lumMod val="60000"/>
              <a:lumOff val="40000"/>
            </a:srgbClr>
          </a:solidFill>
          <a:ln>
            <a:noFill/>
          </a:ln>
          <a:effectLst/>
          <a:scene3d>
            <a:camera prst="orthographicFront"/>
            <a:lightRig rig="flat" dir="t"/>
          </a:scene3d>
          <a:sp3d>
            <a:bevelT/>
          </a:sp3d>
        </p:spPr>
        <p:txBody>
          <a:bodyPr lIns="60960" tIns="60960" rIns="60960" bIns="60960" spcCol="1270" rtlCol="0" anchor="ctr"/>
          <a:lstStyle/>
          <a:p>
            <a:pPr algn="ctr" defTabSz="711200">
              <a:lnSpc>
                <a:spcPct val="90000"/>
              </a:lnSpc>
              <a:spcAft>
                <a:spcPct val="35000"/>
              </a:spcAft>
              <a:defRPr/>
            </a:pPr>
            <a:endParaRPr lang="zh-CN" altLang="en-US" kern="0" dirty="0">
              <a:solidFill>
                <a:sysClr val="window" lastClr="FFFFFF"/>
              </a:solidFill>
              <a:latin typeface="华文仿宋"/>
              <a:ea typeface="华文仿宋"/>
              <a:cs typeface="华文仿宋"/>
            </a:endParaRPr>
          </a:p>
        </p:txBody>
      </p:sp>
      <p:sp>
        <p:nvSpPr>
          <p:cNvPr id="93" name="圆角矩形 92"/>
          <p:cNvSpPr/>
          <p:nvPr/>
        </p:nvSpPr>
        <p:spPr>
          <a:xfrm>
            <a:off x="4361692" y="3018426"/>
            <a:ext cx="3070597" cy="392399"/>
          </a:xfrm>
          <a:prstGeom prst="roundRect">
            <a:avLst/>
          </a:prstGeom>
          <a:solidFill>
            <a:srgbClr val="92D050">
              <a:alpha val="39999"/>
            </a:srgbClr>
          </a:solidFill>
          <a:ln w="15875">
            <a:solidFill>
              <a:srgbClr val="4F81BD"/>
            </a:solidFill>
            <a:round/>
            <a:headEnd/>
            <a:tailEnd/>
          </a:ln>
        </p:spPr>
        <p:txBody>
          <a:bodyPr lIns="125218" tIns="62611" rIns="125218" bIns="62611" anchor="ctr">
            <a:noAutofit/>
          </a:bodyPr>
          <a:lstStyle/>
          <a:p>
            <a:pPr algn="ctr" defTabSz="912813">
              <a:tabLst>
                <a:tab pos="2293938" algn="l"/>
              </a:tabLst>
              <a:defRPr/>
            </a:pPr>
            <a:r>
              <a:rPr lang="zh-CN" altLang="en-US" sz="1200" kern="0" dirty="0" smtClean="0">
                <a:solidFill>
                  <a:srgbClr val="AC000F"/>
                </a:solidFill>
                <a:latin typeface="华文仿宋"/>
                <a:ea typeface="华文仿宋"/>
                <a:cs typeface="华文仿宋"/>
              </a:rPr>
              <a:t>人工智能引擎</a:t>
            </a:r>
            <a:endParaRPr lang="zh-CN" altLang="en-US" sz="1200" kern="0" dirty="0">
              <a:solidFill>
                <a:srgbClr val="AC000F"/>
              </a:solidFill>
              <a:latin typeface="华文仿宋"/>
              <a:ea typeface="华文仿宋"/>
              <a:cs typeface="华文仿宋"/>
            </a:endParaRPr>
          </a:p>
        </p:txBody>
      </p:sp>
      <p:pic>
        <p:nvPicPr>
          <p:cNvPr id="94" name="Picture 2"/>
          <p:cNvPicPr>
            <a:picLocks noChangeAspect="1" noChangeArrowheads="1"/>
          </p:cNvPicPr>
          <p:nvPr/>
        </p:nvPicPr>
        <p:blipFill>
          <a:blip r:embed="rId11"/>
          <a:srcRect/>
          <a:stretch>
            <a:fillRect/>
          </a:stretch>
        </p:blipFill>
        <p:spPr bwMode="auto">
          <a:xfrm>
            <a:off x="8493856" y="3579966"/>
            <a:ext cx="3006293" cy="433164"/>
          </a:xfrm>
          <a:prstGeom prst="rect">
            <a:avLst/>
          </a:prstGeom>
          <a:noFill/>
          <a:ln w="9525">
            <a:noFill/>
            <a:miter lim="800000"/>
            <a:headEnd/>
            <a:tailEnd/>
          </a:ln>
          <a:effectLst/>
        </p:spPr>
      </p:pic>
      <p:sp>
        <p:nvSpPr>
          <p:cNvPr id="95" name="圆角矩形 94"/>
          <p:cNvSpPr/>
          <p:nvPr/>
        </p:nvSpPr>
        <p:spPr>
          <a:xfrm>
            <a:off x="9622552" y="3596214"/>
            <a:ext cx="644235" cy="381014"/>
          </a:xfrm>
          <a:prstGeom prst="roundRect">
            <a:avLst/>
          </a:prstGeom>
          <a:solidFill>
            <a:srgbClr val="FF0000">
              <a:alpha val="50196"/>
            </a:srgbClr>
          </a:solidFill>
          <a:ln>
            <a:noFill/>
          </a:ln>
          <a:effectLst/>
        </p:spPr>
        <p:txBody>
          <a:bodyPr wrap="square" anchor="ctr" anchorCtr="1">
            <a:noAutofit/>
          </a:bodyPr>
          <a:lstStyle/>
          <a:p>
            <a:pPr algn="ctr">
              <a:lnSpc>
                <a:spcPct val="150000"/>
              </a:lnSpc>
            </a:pPr>
            <a:endParaRPr lang="zh-CN" altLang="en-US" sz="1400" kern="0">
              <a:solidFill>
                <a:sysClr val="windowText" lastClr="000000"/>
              </a:solidFill>
              <a:latin typeface="华文仿宋"/>
              <a:ea typeface="华文仿宋"/>
              <a:cs typeface="华文仿宋"/>
            </a:endParaRPr>
          </a:p>
        </p:txBody>
      </p:sp>
      <p:sp>
        <p:nvSpPr>
          <p:cNvPr id="96" name="圆角矩形 95"/>
          <p:cNvSpPr/>
          <p:nvPr/>
        </p:nvSpPr>
        <p:spPr>
          <a:xfrm>
            <a:off x="8894024" y="3615789"/>
            <a:ext cx="644573" cy="350807"/>
          </a:xfrm>
          <a:prstGeom prst="roundRect">
            <a:avLst/>
          </a:prstGeom>
          <a:solidFill>
            <a:srgbClr val="00FF00">
              <a:alpha val="50196"/>
            </a:srgbClr>
          </a:solidFill>
          <a:ln>
            <a:noFill/>
          </a:ln>
          <a:effectLst/>
        </p:spPr>
        <p:txBody>
          <a:bodyPr wrap="square" anchor="ctr" anchorCtr="1">
            <a:noAutofit/>
          </a:bodyPr>
          <a:lstStyle/>
          <a:p>
            <a:pPr algn="ctr">
              <a:lnSpc>
                <a:spcPct val="150000"/>
              </a:lnSpc>
            </a:pPr>
            <a:endParaRPr lang="zh-CN" altLang="en-US" sz="1400" kern="0">
              <a:solidFill>
                <a:sysClr val="windowText" lastClr="000000"/>
              </a:solidFill>
              <a:latin typeface="华文仿宋"/>
              <a:ea typeface="华文仿宋"/>
              <a:cs typeface="华文仿宋"/>
            </a:endParaRPr>
          </a:p>
        </p:txBody>
      </p:sp>
    </p:spTree>
    <p:extLst>
      <p:ext uri="{BB962C8B-B14F-4D97-AF65-F5344CB8AC3E}">
        <p14:creationId xmlns:p14="http://schemas.microsoft.com/office/powerpoint/2010/main" val="1399337385"/>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3575720" y="947617"/>
            <a:ext cx="7920534" cy="5688632"/>
          </a:xfrm>
        </p:spPr>
        <p:txBody>
          <a:bodyPr anchor="ctr"/>
          <a:lstStyle/>
          <a:p>
            <a:pPr marL="571500" indent="-571500">
              <a:lnSpc>
                <a:spcPct val="150000"/>
              </a:lnSpc>
              <a:buFont typeface="Wingdings" charset="2"/>
              <a:buAutoNum type="circleNumWdBlackPlain"/>
            </a:pPr>
            <a:r>
              <a:rPr lang="zh-CN" altLang="en-US" sz="3600" dirty="0" smtClean="0">
                <a:solidFill>
                  <a:srgbClr val="000000"/>
                </a:solidFill>
              </a:rPr>
              <a:t>统一流程平台建设方法</a:t>
            </a:r>
            <a:endParaRPr lang="en-US" altLang="zh-CN" sz="3600" dirty="0">
              <a:solidFill>
                <a:srgbClr val="000000"/>
              </a:solidFill>
            </a:endParaRPr>
          </a:p>
          <a:p>
            <a:pPr marL="571500" indent="-571500">
              <a:lnSpc>
                <a:spcPct val="150000"/>
              </a:lnSpc>
              <a:buFont typeface="Wingdings" charset="2"/>
              <a:buAutoNum type="circleNumWdBlackPlain"/>
            </a:pPr>
            <a:r>
              <a:rPr lang="zh-CN" altLang="en-US" sz="3600" dirty="0" smtClean="0">
                <a:solidFill>
                  <a:srgbClr val="FF6601"/>
                </a:solidFill>
              </a:rPr>
              <a:t>案例：浦发银行统一流程平台</a:t>
            </a:r>
            <a:endParaRPr lang="en-US" altLang="zh-CN" sz="3600" dirty="0" smtClean="0">
              <a:solidFill>
                <a:srgbClr val="FF6601"/>
              </a:solidFill>
            </a:endParaRPr>
          </a:p>
          <a:p>
            <a:pPr marL="571500" indent="-571500">
              <a:lnSpc>
                <a:spcPct val="150000"/>
              </a:lnSpc>
              <a:buFont typeface="Wingdings" charset="2"/>
              <a:buAutoNum type="circleNumWdBlackPlain"/>
            </a:pPr>
            <a:r>
              <a:rPr lang="zh-CN" altLang="en-US" sz="3600" dirty="0" smtClean="0"/>
              <a:t>邮储统一流程平台实施建议 </a:t>
            </a:r>
            <a:endParaRPr lang="en-US" altLang="zh-CN" sz="3600" dirty="0" smtClean="0"/>
          </a:p>
        </p:txBody>
      </p:sp>
    </p:spTree>
    <p:extLst>
      <p:ext uri="{BB962C8B-B14F-4D97-AF65-F5344CB8AC3E}">
        <p14:creationId xmlns:p14="http://schemas.microsoft.com/office/powerpoint/2010/main" val="367714514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浦发银行平台建设</a:t>
            </a:r>
            <a:r>
              <a:rPr kumimoji="1" lang="en-US" altLang="en-US" dirty="0" smtClean="0"/>
              <a:t>概况</a:t>
            </a:r>
            <a:endParaRPr kumimoji="1" lang="zh-CN" altLang="en-US" dirty="0"/>
          </a:p>
        </p:txBody>
      </p:sp>
      <p:sp>
        <p:nvSpPr>
          <p:cNvPr id="5" name="文本框 4"/>
          <p:cNvSpPr txBox="1"/>
          <p:nvPr/>
        </p:nvSpPr>
        <p:spPr>
          <a:xfrm>
            <a:off x="407368" y="1844824"/>
            <a:ext cx="2492990" cy="1231106"/>
          </a:xfrm>
          <a:prstGeom prst="rect">
            <a:avLst/>
          </a:prstGeom>
          <a:noFill/>
        </p:spPr>
        <p:txBody>
          <a:bodyPr wrap="none" rtlCol="0">
            <a:spAutoFit/>
          </a:bodyPr>
          <a:lstStyle/>
          <a:p>
            <a:r>
              <a:rPr kumimoji="1" lang="en-US" altLang="zh-CN" sz="5400" b="1" dirty="0" smtClean="0">
                <a:solidFill>
                  <a:srgbClr val="FF0000"/>
                </a:solidFill>
                <a:latin typeface="华文仿宋"/>
                <a:ea typeface="华文仿宋"/>
                <a:cs typeface="华文仿宋"/>
              </a:rPr>
              <a:t>1</a:t>
            </a:r>
            <a:r>
              <a:rPr kumimoji="1" lang="zh-CN" altLang="en-US" sz="2800" dirty="0" smtClean="0">
                <a:latin typeface="华文仿宋"/>
                <a:ea typeface="华文仿宋"/>
                <a:cs typeface="华文仿宋"/>
              </a:rPr>
              <a:t>年前期准备</a:t>
            </a:r>
            <a:endParaRPr kumimoji="1" lang="en-US" altLang="zh-CN" sz="2800" dirty="0" smtClean="0">
              <a:latin typeface="华文仿宋"/>
              <a:ea typeface="华文仿宋"/>
              <a:cs typeface="华文仿宋"/>
            </a:endParaRPr>
          </a:p>
          <a:p>
            <a:r>
              <a:rPr kumimoji="1" lang="zh-CN" altLang="en-US" sz="2000" dirty="0" smtClean="0">
                <a:latin typeface="华文仿宋"/>
                <a:ea typeface="华文仿宋"/>
                <a:cs typeface="华文仿宋"/>
              </a:rPr>
              <a:t>行方规划、同业考察</a:t>
            </a:r>
            <a:endParaRPr kumimoji="1" lang="en-US" altLang="zh-CN" sz="2800" dirty="0" smtClean="0">
              <a:latin typeface="华文仿宋"/>
              <a:ea typeface="华文仿宋"/>
              <a:cs typeface="华文仿宋"/>
            </a:endParaRPr>
          </a:p>
        </p:txBody>
      </p:sp>
      <p:sp>
        <p:nvSpPr>
          <p:cNvPr id="97" name="文本框 96"/>
          <p:cNvSpPr txBox="1"/>
          <p:nvPr/>
        </p:nvSpPr>
        <p:spPr>
          <a:xfrm>
            <a:off x="3365793" y="1844824"/>
            <a:ext cx="4100170" cy="1231106"/>
          </a:xfrm>
          <a:prstGeom prst="rect">
            <a:avLst/>
          </a:prstGeom>
          <a:noFill/>
        </p:spPr>
        <p:txBody>
          <a:bodyPr wrap="none" rtlCol="0">
            <a:spAutoFit/>
          </a:bodyPr>
          <a:lstStyle/>
          <a:p>
            <a:r>
              <a:rPr kumimoji="1" lang="en-US" altLang="zh-CN" sz="5400" b="1" dirty="0" smtClean="0">
                <a:solidFill>
                  <a:srgbClr val="FF0000"/>
                </a:solidFill>
                <a:latin typeface="华文仿宋"/>
                <a:ea typeface="华文仿宋"/>
                <a:cs typeface="华文仿宋"/>
              </a:rPr>
              <a:t>7</a:t>
            </a:r>
            <a:r>
              <a:rPr kumimoji="1" lang="zh-CN" altLang="en-US" sz="2800" dirty="0" smtClean="0">
                <a:latin typeface="华文仿宋"/>
                <a:ea typeface="华文仿宋"/>
                <a:cs typeface="华文仿宋"/>
              </a:rPr>
              <a:t>个月完成一期产品改造</a:t>
            </a:r>
            <a:endParaRPr kumimoji="1" lang="en-US" altLang="zh-CN" sz="2800" dirty="0" smtClean="0">
              <a:latin typeface="华文仿宋"/>
              <a:ea typeface="华文仿宋"/>
              <a:cs typeface="华文仿宋"/>
            </a:endParaRPr>
          </a:p>
          <a:p>
            <a:r>
              <a:rPr kumimoji="1" lang="zh-CN" altLang="en-US" sz="2000" dirty="0" smtClean="0">
                <a:latin typeface="华文仿宋"/>
                <a:ea typeface="华文仿宋"/>
                <a:cs typeface="华文仿宋"/>
              </a:rPr>
              <a:t>需求、设计、开发、测试、投产</a:t>
            </a:r>
            <a:endParaRPr kumimoji="1" lang="en-US" altLang="zh-CN" sz="2800" dirty="0" smtClean="0">
              <a:latin typeface="华文仿宋"/>
              <a:ea typeface="华文仿宋"/>
              <a:cs typeface="华文仿宋"/>
            </a:endParaRPr>
          </a:p>
        </p:txBody>
      </p:sp>
      <p:sp>
        <p:nvSpPr>
          <p:cNvPr id="98" name="文本框 97"/>
          <p:cNvSpPr txBox="1"/>
          <p:nvPr/>
        </p:nvSpPr>
        <p:spPr>
          <a:xfrm>
            <a:off x="7536160" y="1844824"/>
            <a:ext cx="4801314" cy="1231106"/>
          </a:xfrm>
          <a:prstGeom prst="rect">
            <a:avLst/>
          </a:prstGeom>
          <a:noFill/>
        </p:spPr>
        <p:txBody>
          <a:bodyPr wrap="none" rtlCol="0">
            <a:spAutoFit/>
          </a:bodyPr>
          <a:lstStyle/>
          <a:p>
            <a:r>
              <a:rPr kumimoji="1" lang="en-US" altLang="zh-CN" sz="5400" b="1" dirty="0" smtClean="0">
                <a:solidFill>
                  <a:srgbClr val="FF0000"/>
                </a:solidFill>
                <a:latin typeface="华文仿宋"/>
                <a:ea typeface="华文仿宋"/>
                <a:cs typeface="华文仿宋"/>
              </a:rPr>
              <a:t>6</a:t>
            </a:r>
            <a:r>
              <a:rPr kumimoji="1" lang="zh-CN" altLang="en-US" sz="2800" dirty="0" smtClean="0">
                <a:latin typeface="华文仿宋"/>
                <a:ea typeface="华文仿宋"/>
                <a:cs typeface="华文仿宋"/>
              </a:rPr>
              <a:t>个业务系统迁移</a:t>
            </a:r>
            <a:endParaRPr kumimoji="1" lang="en-US" altLang="zh-CN" sz="2800" dirty="0" smtClean="0">
              <a:latin typeface="华文仿宋"/>
              <a:ea typeface="华文仿宋"/>
              <a:cs typeface="华文仿宋"/>
            </a:endParaRPr>
          </a:p>
          <a:p>
            <a:r>
              <a:rPr kumimoji="1" lang="zh-CN" altLang="en-US" sz="2000" dirty="0" smtClean="0">
                <a:latin typeface="华文仿宋"/>
                <a:ea typeface="华文仿宋"/>
                <a:cs typeface="华文仿宋"/>
              </a:rPr>
              <a:t>企业信贷、零售信贷、客户资产管理等等</a:t>
            </a:r>
            <a:endParaRPr kumimoji="1" lang="en-US" altLang="zh-CN" sz="2800" dirty="0" smtClean="0">
              <a:latin typeface="华文仿宋"/>
              <a:ea typeface="华文仿宋"/>
              <a:cs typeface="华文仿宋"/>
            </a:endParaRPr>
          </a:p>
        </p:txBody>
      </p:sp>
      <p:sp>
        <p:nvSpPr>
          <p:cNvPr id="99" name="文本框 98"/>
          <p:cNvSpPr txBox="1"/>
          <p:nvPr/>
        </p:nvSpPr>
        <p:spPr>
          <a:xfrm>
            <a:off x="407368" y="3919121"/>
            <a:ext cx="3313728" cy="1231106"/>
          </a:xfrm>
          <a:prstGeom prst="rect">
            <a:avLst/>
          </a:prstGeom>
          <a:noFill/>
        </p:spPr>
        <p:txBody>
          <a:bodyPr wrap="none" rtlCol="0">
            <a:spAutoFit/>
          </a:bodyPr>
          <a:lstStyle/>
          <a:p>
            <a:r>
              <a:rPr kumimoji="1" lang="en-US" altLang="zh-CN" sz="5400" b="1" dirty="0" smtClean="0">
                <a:solidFill>
                  <a:srgbClr val="FF0000"/>
                </a:solidFill>
                <a:latin typeface="华文仿宋"/>
                <a:ea typeface="华文仿宋"/>
                <a:cs typeface="华文仿宋"/>
              </a:rPr>
              <a:t>140</a:t>
            </a:r>
            <a:r>
              <a:rPr kumimoji="1" lang="zh-CN" altLang="en-US" sz="2800" dirty="0" smtClean="0">
                <a:latin typeface="华文仿宋"/>
                <a:ea typeface="华文仿宋"/>
                <a:cs typeface="华文仿宋"/>
              </a:rPr>
              <a:t>多支业务流程</a:t>
            </a:r>
          </a:p>
          <a:p>
            <a:r>
              <a:rPr kumimoji="1" lang="en-US" altLang="zh-CN" sz="2000" dirty="0" smtClean="0">
                <a:latin typeface="华文仿宋"/>
                <a:ea typeface="华文仿宋"/>
                <a:cs typeface="华文仿宋"/>
              </a:rPr>
              <a:t>5</a:t>
            </a:r>
            <a:r>
              <a:rPr kumimoji="1" lang="en-US" altLang="zh-CN" sz="2000" dirty="0">
                <a:latin typeface="华文仿宋"/>
                <a:ea typeface="华文仿宋"/>
                <a:cs typeface="华文仿宋"/>
              </a:rPr>
              <a:t>6</a:t>
            </a:r>
            <a:r>
              <a:rPr kumimoji="1" lang="en-US" altLang="zh-CN" sz="2000" dirty="0" smtClean="0">
                <a:latin typeface="华文仿宋"/>
                <a:ea typeface="华文仿宋"/>
                <a:cs typeface="华文仿宋"/>
              </a:rPr>
              <a:t>00</a:t>
            </a:r>
            <a:r>
              <a:rPr kumimoji="1" lang="zh-CN" altLang="en-US" sz="2000" dirty="0" smtClean="0">
                <a:latin typeface="华文仿宋"/>
                <a:ea typeface="华文仿宋"/>
                <a:cs typeface="华文仿宋"/>
              </a:rPr>
              <a:t>多活动环节</a:t>
            </a:r>
            <a:endParaRPr kumimoji="1" lang="zh-CN" altLang="en-US" sz="2800" dirty="0" smtClean="0">
              <a:latin typeface="华文仿宋"/>
              <a:ea typeface="华文仿宋"/>
              <a:cs typeface="华文仿宋"/>
            </a:endParaRPr>
          </a:p>
        </p:txBody>
      </p:sp>
      <p:sp>
        <p:nvSpPr>
          <p:cNvPr id="100" name="文本框 99"/>
          <p:cNvSpPr txBox="1"/>
          <p:nvPr/>
        </p:nvSpPr>
        <p:spPr>
          <a:xfrm>
            <a:off x="4272335" y="3919121"/>
            <a:ext cx="3407841" cy="1231106"/>
          </a:xfrm>
          <a:prstGeom prst="rect">
            <a:avLst/>
          </a:prstGeom>
          <a:noFill/>
        </p:spPr>
        <p:txBody>
          <a:bodyPr wrap="none" rtlCol="0">
            <a:spAutoFit/>
          </a:bodyPr>
          <a:lstStyle/>
          <a:p>
            <a:r>
              <a:rPr kumimoji="1" lang="zh-CN" altLang="zh-CN" sz="5400" b="1" dirty="0" smtClean="0">
                <a:solidFill>
                  <a:srgbClr val="FF0000"/>
                </a:solidFill>
                <a:latin typeface="华文仿宋"/>
                <a:ea typeface="华文仿宋"/>
                <a:cs typeface="华文仿宋"/>
              </a:rPr>
              <a:t>2</a:t>
            </a:r>
            <a:r>
              <a:rPr kumimoji="1" lang="zh-CN" altLang="en-US" sz="2800" dirty="0" smtClean="0">
                <a:latin typeface="华文仿宋"/>
                <a:ea typeface="华文仿宋"/>
                <a:cs typeface="华文仿宋"/>
              </a:rPr>
              <a:t>期已上线</a:t>
            </a:r>
          </a:p>
          <a:p>
            <a:r>
              <a:rPr kumimoji="1" lang="zh-CN" altLang="en-US" sz="2000" dirty="0" smtClean="0">
                <a:latin typeface="华文仿宋"/>
                <a:ea typeface="华文仿宋"/>
                <a:cs typeface="华文仿宋"/>
              </a:rPr>
              <a:t>持续业务流程开发迁移中</a:t>
            </a:r>
            <a:r>
              <a:rPr kumimoji="1" lang="en-US" altLang="zh-CN" sz="2000" dirty="0" smtClean="0">
                <a:latin typeface="华文仿宋"/>
                <a:ea typeface="华文仿宋"/>
                <a:cs typeface="华文仿宋"/>
              </a:rPr>
              <a:t>…..</a:t>
            </a:r>
            <a:endParaRPr kumimoji="1" lang="zh-CN" altLang="en-US" sz="2800" dirty="0" smtClean="0">
              <a:latin typeface="华文仿宋"/>
              <a:ea typeface="华文仿宋"/>
              <a:cs typeface="华文仿宋"/>
            </a:endParaRPr>
          </a:p>
        </p:txBody>
      </p:sp>
    </p:spTree>
    <p:extLst>
      <p:ext uri="{BB962C8B-B14F-4D97-AF65-F5344CB8AC3E}">
        <p14:creationId xmlns:p14="http://schemas.microsoft.com/office/powerpoint/2010/main" val="192798181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浦发银行新一代业务架构</a:t>
            </a:r>
            <a:endParaRPr kumimoji="1" lang="zh-CN" altLang="en-US" dirty="0"/>
          </a:p>
        </p:txBody>
      </p:sp>
      <p:pic>
        <p:nvPicPr>
          <p:cNvPr id="2" name="图片 1" descr="屏幕快照 2016-04-14 下午11.38.0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2266"/>
            <a:ext cx="12192000" cy="6225734"/>
          </a:xfrm>
          <a:prstGeom prst="rect">
            <a:avLst/>
          </a:prstGeom>
        </p:spPr>
      </p:pic>
    </p:spTree>
    <p:extLst>
      <p:ext uri="{BB962C8B-B14F-4D97-AF65-F5344CB8AC3E}">
        <p14:creationId xmlns:p14="http://schemas.microsoft.com/office/powerpoint/2010/main" val="27909942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浦发银行新一代公共平台架构</a:t>
            </a:r>
            <a:endParaRPr kumimoji="1" lang="zh-CN" altLang="en-US" dirty="0"/>
          </a:p>
        </p:txBody>
      </p:sp>
      <p:pic>
        <p:nvPicPr>
          <p:cNvPr id="4" name="图片 3" descr="17.png"/>
          <p:cNvPicPr>
            <a:picLocks noChangeAspect="1"/>
          </p:cNvPicPr>
          <p:nvPr/>
        </p:nvPicPr>
        <p:blipFill rotWithShape="1">
          <a:blip r:embed="rId3">
            <a:extLst>
              <a:ext uri="{28A0092B-C50C-407E-A947-70E740481C1C}">
                <a14:useLocalDpi xmlns:a14="http://schemas.microsoft.com/office/drawing/2010/main" val="0"/>
              </a:ext>
            </a:extLst>
          </a:blip>
          <a:srcRect l="1225" t="27986" r="2543" b="14924"/>
          <a:stretch/>
        </p:blipFill>
        <p:spPr>
          <a:xfrm>
            <a:off x="-384720" y="1412776"/>
            <a:ext cx="9937104" cy="4614473"/>
          </a:xfrm>
          <a:prstGeom prst="rect">
            <a:avLst/>
          </a:prstGeom>
        </p:spPr>
      </p:pic>
      <p:sp>
        <p:nvSpPr>
          <p:cNvPr id="5" name="文本框 4"/>
          <p:cNvSpPr txBox="1"/>
          <p:nvPr/>
        </p:nvSpPr>
        <p:spPr>
          <a:xfrm>
            <a:off x="9840416" y="3645024"/>
            <a:ext cx="877163" cy="369332"/>
          </a:xfrm>
          <a:prstGeom prst="rect">
            <a:avLst/>
          </a:prstGeom>
          <a:noFill/>
        </p:spPr>
        <p:txBody>
          <a:bodyPr wrap="none" rtlCol="0">
            <a:spAutoFit/>
          </a:bodyPr>
          <a:lstStyle/>
          <a:p>
            <a:r>
              <a:rPr kumimoji="1" lang="zh-CN" altLang="en-US" b="1" dirty="0" smtClean="0">
                <a:latin typeface="华文仿宋"/>
                <a:ea typeface="华文仿宋"/>
                <a:cs typeface="华文仿宋"/>
              </a:rPr>
              <a:t>短流程</a:t>
            </a:r>
          </a:p>
        </p:txBody>
      </p:sp>
      <p:sp>
        <p:nvSpPr>
          <p:cNvPr id="6" name="文本框 5"/>
          <p:cNvSpPr txBox="1"/>
          <p:nvPr/>
        </p:nvSpPr>
        <p:spPr>
          <a:xfrm>
            <a:off x="9840416" y="2996952"/>
            <a:ext cx="877163" cy="369332"/>
          </a:xfrm>
          <a:prstGeom prst="rect">
            <a:avLst/>
          </a:prstGeom>
          <a:noFill/>
        </p:spPr>
        <p:txBody>
          <a:bodyPr wrap="none" rtlCol="0">
            <a:spAutoFit/>
          </a:bodyPr>
          <a:lstStyle/>
          <a:p>
            <a:r>
              <a:rPr kumimoji="1" lang="zh-CN" altLang="en-US" b="1" dirty="0" smtClean="0">
                <a:latin typeface="华文仿宋"/>
                <a:ea typeface="华文仿宋"/>
                <a:cs typeface="华文仿宋"/>
              </a:rPr>
              <a:t>长流程</a:t>
            </a:r>
          </a:p>
        </p:txBody>
      </p:sp>
      <p:sp>
        <p:nvSpPr>
          <p:cNvPr id="7" name="文本框 6"/>
          <p:cNvSpPr txBox="1"/>
          <p:nvPr/>
        </p:nvSpPr>
        <p:spPr>
          <a:xfrm>
            <a:off x="9840416" y="4293096"/>
            <a:ext cx="1107996" cy="369332"/>
          </a:xfrm>
          <a:prstGeom prst="rect">
            <a:avLst/>
          </a:prstGeom>
          <a:noFill/>
        </p:spPr>
        <p:txBody>
          <a:bodyPr wrap="none" rtlCol="0">
            <a:spAutoFit/>
          </a:bodyPr>
          <a:lstStyle/>
          <a:p>
            <a:r>
              <a:rPr kumimoji="1" lang="zh-CN" altLang="en-US" b="1" dirty="0" smtClean="0">
                <a:latin typeface="华文仿宋"/>
                <a:ea typeface="华文仿宋"/>
                <a:cs typeface="华文仿宋"/>
              </a:rPr>
              <a:t>能力开放</a:t>
            </a:r>
          </a:p>
        </p:txBody>
      </p:sp>
      <p:cxnSp>
        <p:nvCxnSpPr>
          <p:cNvPr id="9" name="直线连接符 8"/>
          <p:cNvCxnSpPr/>
          <p:nvPr/>
        </p:nvCxnSpPr>
        <p:spPr>
          <a:xfrm>
            <a:off x="1703512" y="3446161"/>
            <a:ext cx="9793088" cy="0"/>
          </a:xfrm>
          <a:prstGeom prst="line">
            <a:avLst/>
          </a:prstGeom>
          <a:ln w="158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a:off x="1703512" y="4097597"/>
            <a:ext cx="9793088" cy="0"/>
          </a:xfrm>
          <a:prstGeom prst="line">
            <a:avLst/>
          </a:prstGeom>
          <a:ln w="158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1703512" y="4745669"/>
            <a:ext cx="9793088" cy="0"/>
          </a:xfrm>
          <a:prstGeom prst="line">
            <a:avLst/>
          </a:prstGeom>
          <a:ln w="158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96896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平台位置</a:t>
            </a:r>
            <a:endParaRPr kumimoji="1" lang="zh-CN" altLang="en-US" dirty="0"/>
          </a:p>
        </p:txBody>
      </p:sp>
      <p:grpSp>
        <p:nvGrpSpPr>
          <p:cNvPr id="4" name="组合 108"/>
          <p:cNvGrpSpPr/>
          <p:nvPr/>
        </p:nvGrpSpPr>
        <p:grpSpPr>
          <a:xfrm>
            <a:off x="583428" y="1461340"/>
            <a:ext cx="10937175" cy="4487940"/>
            <a:chOff x="54000" y="1154582"/>
            <a:chExt cx="9040569" cy="5607109"/>
          </a:xfrm>
        </p:grpSpPr>
        <p:sp>
          <p:nvSpPr>
            <p:cNvPr id="5" name="Rectangle 56"/>
            <p:cNvSpPr txBox="1">
              <a:spLocks noChangeArrowheads="1"/>
            </p:cNvSpPr>
            <p:nvPr/>
          </p:nvSpPr>
          <p:spPr>
            <a:xfrm>
              <a:off x="8609936" y="6491816"/>
              <a:ext cx="288681" cy="269875"/>
            </a:xfrm>
            <a:prstGeom prst="rect">
              <a:avLst/>
            </a:prstGeom>
            <a:noFill/>
            <a:ln>
              <a:miter lim="800000"/>
              <a:headEnd/>
              <a:tailEnd/>
            </a:ln>
          </p:spPr>
          <p:txBody>
            <a:bodyPr vert="horz" wrap="square" lIns="90000" tIns="90000" rIns="90000" bIns="90000" numCol="1" rtlCol="0" anchor="ctr" anchorCtr="0" compatLnSpc="1">
              <a:prstTxWarp prst="textNoShape">
                <a:avLst/>
              </a:prstTxWarp>
            </a:bodyPr>
            <a:lstStyle>
              <a:defPPr>
                <a:defRPr lang="zh-CN"/>
              </a:defPPr>
              <a:lvl1pPr marL="0" algn="ctr" defTabSz="914400" rtl="0" eaLnBrk="1" latinLnBrk="0" hangingPunct="1">
                <a:defRPr sz="1200" kern="1200">
                  <a:solidFill>
                    <a:schemeClr val="bg1"/>
                  </a:solidFill>
                  <a:latin typeface="黑体" pitchFamily="49" charset="-122"/>
                  <a:ea typeface="黑体"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943BA-F24C-4D6C-9EA6-088350E34AEC}" type="slidenum">
                <a:rPr lang="en-US" sz="1100" smtClean="0">
                  <a:solidFill>
                    <a:srgbClr val="FFFFFF"/>
                  </a:solidFill>
                  <a:latin typeface="微软雅黑" pitchFamily="34" charset="-122"/>
                  <a:ea typeface="微软雅黑" pitchFamily="34" charset="-122"/>
                </a:rPr>
                <a:pPr/>
                <a:t>15</a:t>
              </a:fld>
              <a:endParaRPr lang="en-US" sz="1100">
                <a:solidFill>
                  <a:srgbClr val="FFFFFF"/>
                </a:solidFill>
                <a:latin typeface="微软雅黑" pitchFamily="34" charset="-122"/>
                <a:ea typeface="微软雅黑" pitchFamily="34" charset="-122"/>
              </a:endParaRPr>
            </a:p>
          </p:txBody>
        </p:sp>
        <p:sp>
          <p:nvSpPr>
            <p:cNvPr id="6" name="Rectangle 111"/>
            <p:cNvSpPr>
              <a:spLocks noChangeArrowheads="1"/>
            </p:cNvSpPr>
            <p:nvPr/>
          </p:nvSpPr>
          <p:spPr bwMode="gray">
            <a:xfrm>
              <a:off x="1800948" y="6192688"/>
              <a:ext cx="7262786" cy="566688"/>
            </a:xfrm>
            <a:prstGeom prst="rect">
              <a:avLst/>
            </a:prstGeom>
            <a:solidFill>
              <a:srgbClr val="CCCCFF"/>
            </a:solidFill>
            <a:ln w="9525" algn="ctr">
              <a:solidFill>
                <a:schemeClr val="tx1"/>
              </a:solidFill>
              <a:miter lim="800000"/>
              <a:headEnd/>
              <a:tailEnd/>
            </a:ln>
            <a:effectLst/>
          </p:spPr>
          <p:txBody>
            <a:bodyPr wrap="square" lIns="91440" tIns="91440" rIns="91440" bIns="91440" anchor="ctr" anchorCtr="0"/>
            <a:lstStyle/>
            <a:p>
              <a:pPr indent="-88192">
                <a:lnSpc>
                  <a:spcPct val="80000"/>
                </a:lnSpc>
                <a:defRPr/>
              </a:pPr>
              <a:r>
                <a:rPr lang="zh-CN" altLang="en-US" sz="1400" dirty="0" smtClean="0">
                  <a:solidFill>
                    <a:srgbClr val="000000"/>
                  </a:solidFill>
                  <a:latin typeface="微软雅黑" pitchFamily="34" charset="-122"/>
                  <a:ea typeface="微软雅黑" pitchFamily="34" charset="-122"/>
                </a:rPr>
                <a:t>公共平台</a:t>
              </a:r>
              <a:endParaRPr lang="en-US" altLang="zh-CN" sz="1400" dirty="0" smtClean="0">
                <a:solidFill>
                  <a:srgbClr val="000000"/>
                </a:solidFill>
                <a:latin typeface="微软雅黑" pitchFamily="34" charset="-122"/>
                <a:ea typeface="微软雅黑" pitchFamily="34" charset="-122"/>
              </a:endParaRPr>
            </a:p>
          </p:txBody>
        </p:sp>
        <p:sp>
          <p:nvSpPr>
            <p:cNvPr id="7" name="Rectangle 59"/>
            <p:cNvSpPr>
              <a:spLocks noChangeArrowheads="1"/>
            </p:cNvSpPr>
            <p:nvPr/>
          </p:nvSpPr>
          <p:spPr bwMode="gray">
            <a:xfrm>
              <a:off x="54000" y="1154582"/>
              <a:ext cx="1692000" cy="5598000"/>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渠道</a:t>
              </a:r>
              <a:endParaRPr lang="en-US" altLang="en-US" sz="1400" dirty="0">
                <a:solidFill>
                  <a:srgbClr val="000000"/>
                </a:solidFill>
                <a:latin typeface="微软雅黑" pitchFamily="34" charset="-122"/>
                <a:ea typeface="微软雅黑" pitchFamily="34" charset="-122"/>
              </a:endParaRPr>
            </a:p>
          </p:txBody>
        </p:sp>
        <p:sp>
          <p:nvSpPr>
            <p:cNvPr id="8" name="矩形 7"/>
            <p:cNvSpPr/>
            <p:nvPr/>
          </p:nvSpPr>
          <p:spPr bwMode="auto">
            <a:xfrm>
              <a:off x="144000" y="2488776"/>
              <a:ext cx="1512000" cy="2117980"/>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smtClean="0">
                <a:solidFill>
                  <a:srgbClr val="17365E"/>
                </a:solidFill>
                <a:latin typeface="Arial" charset="0"/>
                <a:ea typeface="宋体"/>
              </a:endParaRPr>
            </a:p>
          </p:txBody>
        </p:sp>
        <p:sp>
          <p:nvSpPr>
            <p:cNvPr id="9" name="矩形 8"/>
            <p:cNvSpPr/>
            <p:nvPr/>
          </p:nvSpPr>
          <p:spPr bwMode="auto">
            <a:xfrm>
              <a:off x="144000" y="4679776"/>
              <a:ext cx="1512000" cy="1281662"/>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smtClean="0">
                <a:solidFill>
                  <a:srgbClr val="17365E"/>
                </a:solidFill>
                <a:latin typeface="Arial" charset="0"/>
                <a:ea typeface="宋体"/>
              </a:endParaRPr>
            </a:p>
          </p:txBody>
        </p:sp>
        <p:sp>
          <p:nvSpPr>
            <p:cNvPr id="10" name="矩形 9"/>
            <p:cNvSpPr/>
            <p:nvPr/>
          </p:nvSpPr>
          <p:spPr bwMode="auto">
            <a:xfrm>
              <a:off x="144000" y="1462220"/>
              <a:ext cx="1512000" cy="931556"/>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dirty="0" smtClean="0">
                <a:solidFill>
                  <a:srgbClr val="17365E"/>
                </a:solidFill>
                <a:latin typeface="Arial" charset="0"/>
                <a:ea typeface="宋体"/>
              </a:endParaRPr>
            </a:p>
          </p:txBody>
        </p:sp>
        <p:sp>
          <p:nvSpPr>
            <p:cNvPr id="11" name="矩形 77"/>
            <p:cNvSpPr/>
            <p:nvPr/>
          </p:nvSpPr>
          <p:spPr bwMode="auto">
            <a:xfrm>
              <a:off x="144000" y="6051376"/>
              <a:ext cx="1512000" cy="645368"/>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smtClean="0">
                <a:solidFill>
                  <a:srgbClr val="17365E"/>
                </a:solidFill>
                <a:latin typeface="Arial" charset="0"/>
                <a:ea typeface="宋体"/>
              </a:endParaRPr>
            </a:p>
          </p:txBody>
        </p:sp>
        <p:sp>
          <p:nvSpPr>
            <p:cNvPr id="13" name="矩形 12"/>
            <p:cNvSpPr/>
            <p:nvPr/>
          </p:nvSpPr>
          <p:spPr bwMode="auto">
            <a:xfrm>
              <a:off x="277093" y="1678132"/>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网点柜面</a:t>
              </a:r>
            </a:p>
          </p:txBody>
        </p:sp>
        <p:sp>
          <p:nvSpPr>
            <p:cNvPr id="14" name="矩形 13"/>
            <p:cNvSpPr/>
            <p:nvPr/>
          </p:nvSpPr>
          <p:spPr bwMode="auto">
            <a:xfrm>
              <a:off x="277093" y="6318640"/>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第三方渠道</a:t>
              </a:r>
            </a:p>
          </p:txBody>
        </p:sp>
        <p:sp>
          <p:nvSpPr>
            <p:cNvPr id="15" name="矩形 14"/>
            <p:cNvSpPr/>
            <p:nvPr/>
          </p:nvSpPr>
          <p:spPr bwMode="auto">
            <a:xfrm>
              <a:off x="2866848" y="6350032"/>
              <a:ext cx="1080000"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企业应用集成</a:t>
              </a:r>
            </a:p>
          </p:txBody>
        </p:sp>
        <p:sp>
          <p:nvSpPr>
            <p:cNvPr id="16" name="矩形 15"/>
            <p:cNvSpPr/>
            <p:nvPr/>
          </p:nvSpPr>
          <p:spPr bwMode="auto">
            <a:xfrm>
              <a:off x="4125623" y="6350032"/>
              <a:ext cx="1080000"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企业数据管理</a:t>
              </a:r>
            </a:p>
          </p:txBody>
        </p:sp>
        <p:sp>
          <p:nvSpPr>
            <p:cNvPr id="17" name="矩形 16"/>
            <p:cNvSpPr/>
            <p:nvPr/>
          </p:nvSpPr>
          <p:spPr bwMode="auto">
            <a:xfrm>
              <a:off x="5384398" y="6350032"/>
              <a:ext cx="1080000"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影像处理</a:t>
              </a:r>
            </a:p>
          </p:txBody>
        </p:sp>
        <p:sp>
          <p:nvSpPr>
            <p:cNvPr id="18" name="矩形 17"/>
            <p:cNvSpPr/>
            <p:nvPr/>
          </p:nvSpPr>
          <p:spPr bwMode="auto">
            <a:xfrm>
              <a:off x="6643173" y="6350032"/>
              <a:ext cx="1080000"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安全认证</a:t>
              </a:r>
            </a:p>
          </p:txBody>
        </p:sp>
        <p:pic>
          <p:nvPicPr>
            <p:cNvPr id="19" name="Picture 2"/>
            <p:cNvPicPr>
              <a:picLocks noChangeAspect="1" noChangeArrowheads="1"/>
            </p:cNvPicPr>
            <p:nvPr>
              <p:custDataLst>
                <p:tags r:id="rId1"/>
              </p:custDataLst>
            </p:nvPr>
          </p:nvPicPr>
          <p:blipFill>
            <a:blip r:embed="rId7" cstate="print">
              <a:clrChange>
                <a:clrFrom>
                  <a:srgbClr val="FFFFFF"/>
                </a:clrFrom>
                <a:clrTo>
                  <a:srgbClr val="FFFFFF">
                    <a:alpha val="0"/>
                  </a:srgbClr>
                </a:clrTo>
              </a:clrChange>
            </a:blip>
            <a:srcRect/>
            <a:stretch>
              <a:fillRect/>
            </a:stretch>
          </p:blipFill>
          <p:spPr bwMode="gray">
            <a:xfrm>
              <a:off x="1259632" y="1678243"/>
              <a:ext cx="313469" cy="288033"/>
            </a:xfrm>
            <a:prstGeom prst="rect">
              <a:avLst/>
            </a:prstGeom>
            <a:noFill/>
            <a:ln w="9525">
              <a:noFill/>
              <a:miter lim="800000"/>
              <a:headEnd/>
              <a:tailEnd/>
            </a:ln>
          </p:spPr>
        </p:pic>
        <p:sp>
          <p:nvSpPr>
            <p:cNvPr id="20" name="矩形 19"/>
            <p:cNvSpPr/>
            <p:nvPr/>
          </p:nvSpPr>
          <p:spPr bwMode="auto">
            <a:xfrm>
              <a:off x="277093" y="5272613"/>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en-US" altLang="zh-CN" sz="1100" dirty="0" smtClean="0">
                  <a:solidFill>
                    <a:srgbClr val="17365E"/>
                  </a:solidFill>
                  <a:latin typeface="微软雅黑" pitchFamily="34" charset="-122"/>
                  <a:ea typeface="微软雅黑" pitchFamily="34" charset="-122"/>
                </a:rPr>
                <a:t>ATM</a:t>
              </a:r>
              <a:endParaRPr lang="zh-CN" altLang="en-US" sz="1100" dirty="0" smtClean="0">
                <a:solidFill>
                  <a:srgbClr val="17365E"/>
                </a:solidFill>
                <a:latin typeface="微软雅黑" pitchFamily="34" charset="-122"/>
                <a:ea typeface="微软雅黑" pitchFamily="34" charset="-122"/>
              </a:endParaRPr>
            </a:p>
          </p:txBody>
        </p:sp>
        <p:pic>
          <p:nvPicPr>
            <p:cNvPr id="21" name="Picture 5"/>
            <p:cNvPicPr>
              <a:picLocks noChangeAspect="1" noChangeArrowheads="1"/>
            </p:cNvPicPr>
            <p:nvPr>
              <p:custDataLst>
                <p:tags r:id="rId2"/>
              </p:custDataLst>
            </p:nvPr>
          </p:nvPicPr>
          <p:blipFill>
            <a:blip r:embed="rId8" cstate="print"/>
            <a:srcRect/>
            <a:stretch>
              <a:fillRect/>
            </a:stretch>
          </p:blipFill>
          <p:spPr bwMode="gray">
            <a:xfrm>
              <a:off x="1267200" y="5284034"/>
              <a:ext cx="288032" cy="231907"/>
            </a:xfrm>
            <a:prstGeom prst="rect">
              <a:avLst/>
            </a:prstGeom>
            <a:noFill/>
            <a:ln w="9525">
              <a:noFill/>
              <a:miter lim="800000"/>
              <a:headEnd/>
              <a:tailEnd/>
            </a:ln>
          </p:spPr>
        </p:pic>
        <p:grpSp>
          <p:nvGrpSpPr>
            <p:cNvPr id="22" name="组合 101"/>
            <p:cNvGrpSpPr/>
            <p:nvPr/>
          </p:nvGrpSpPr>
          <p:grpSpPr>
            <a:xfrm>
              <a:off x="277093" y="3883013"/>
              <a:ext cx="1258996" cy="315344"/>
              <a:chOff x="277093" y="3785137"/>
              <a:chExt cx="1258996" cy="315344"/>
            </a:xfrm>
          </p:grpSpPr>
          <p:sp>
            <p:nvSpPr>
              <p:cNvPr id="98" name="矩形 97"/>
              <p:cNvSpPr/>
              <p:nvPr/>
            </p:nvSpPr>
            <p:spPr bwMode="auto">
              <a:xfrm>
                <a:off x="277093" y="3785137"/>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通知平台</a:t>
                </a:r>
              </a:p>
            </p:txBody>
          </p:sp>
          <p:pic>
            <p:nvPicPr>
              <p:cNvPr id="99" name="Picture 85" descr="j0432599"/>
              <p:cNvPicPr>
                <a:picLocks noChangeAspect="1" noChangeArrowheads="1"/>
              </p:cNvPicPr>
              <p:nvPr/>
            </p:nvPicPr>
            <p:blipFill>
              <a:blip r:embed="rId9" cstate="print"/>
              <a:srcRect/>
              <a:stretch>
                <a:fillRect/>
              </a:stretch>
            </p:blipFill>
            <p:spPr bwMode="gray">
              <a:xfrm>
                <a:off x="1259632" y="3804224"/>
                <a:ext cx="276457" cy="296257"/>
              </a:xfrm>
              <a:prstGeom prst="rect">
                <a:avLst/>
              </a:prstGeom>
              <a:noFill/>
              <a:ln w="9525">
                <a:noFill/>
                <a:miter lim="800000"/>
                <a:headEnd/>
                <a:tailEnd/>
              </a:ln>
            </p:spPr>
          </p:pic>
        </p:grpSp>
        <p:grpSp>
          <p:nvGrpSpPr>
            <p:cNvPr id="23" name="组合 91"/>
            <p:cNvGrpSpPr/>
            <p:nvPr/>
          </p:nvGrpSpPr>
          <p:grpSpPr>
            <a:xfrm>
              <a:off x="277093" y="3469241"/>
              <a:ext cx="1231867" cy="325566"/>
              <a:chOff x="277093" y="3271617"/>
              <a:chExt cx="1231867" cy="325566"/>
            </a:xfrm>
          </p:grpSpPr>
          <p:sp>
            <p:nvSpPr>
              <p:cNvPr id="96" name="矩形 95"/>
              <p:cNvSpPr/>
              <p:nvPr/>
            </p:nvSpPr>
            <p:spPr bwMode="auto">
              <a:xfrm>
                <a:off x="277093" y="3281847"/>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移动银行</a:t>
                </a:r>
              </a:p>
            </p:txBody>
          </p:sp>
          <p:pic>
            <p:nvPicPr>
              <p:cNvPr id="97" name="Picture 3"/>
              <p:cNvPicPr>
                <a:picLocks noChangeAspect="1" noChangeArrowheads="1"/>
              </p:cNvPicPr>
              <p:nvPr>
                <p:custDataLst>
                  <p:tags r:id="rId4"/>
                </p:custDataLst>
              </p:nvPr>
            </p:nvPicPr>
            <p:blipFill>
              <a:blip r:embed="rId10" cstate="print">
                <a:clrChange>
                  <a:clrFrom>
                    <a:srgbClr val="FFFFFF"/>
                  </a:clrFrom>
                  <a:clrTo>
                    <a:srgbClr val="FFFFFF">
                      <a:alpha val="0"/>
                    </a:srgbClr>
                  </a:clrTo>
                </a:clrChange>
              </a:blip>
              <a:srcRect/>
              <a:stretch>
                <a:fillRect/>
              </a:stretch>
            </p:blipFill>
            <p:spPr bwMode="gray">
              <a:xfrm>
                <a:off x="1331640" y="3271617"/>
                <a:ext cx="177320" cy="325566"/>
              </a:xfrm>
              <a:prstGeom prst="rect">
                <a:avLst/>
              </a:prstGeom>
              <a:solidFill>
                <a:schemeClr val="bg1"/>
              </a:solidFill>
              <a:ln w="9525">
                <a:noFill/>
                <a:miter lim="800000"/>
                <a:headEnd/>
                <a:tailEnd/>
              </a:ln>
            </p:spPr>
          </p:pic>
        </p:grpSp>
        <p:grpSp>
          <p:nvGrpSpPr>
            <p:cNvPr id="24" name="组合 100"/>
            <p:cNvGrpSpPr/>
            <p:nvPr/>
          </p:nvGrpSpPr>
          <p:grpSpPr>
            <a:xfrm>
              <a:off x="277093" y="2671980"/>
              <a:ext cx="1289187" cy="321496"/>
              <a:chOff x="277093" y="2366271"/>
              <a:chExt cx="1289187" cy="321496"/>
            </a:xfrm>
          </p:grpSpPr>
          <p:sp>
            <p:nvSpPr>
              <p:cNvPr id="94" name="矩形 93"/>
              <p:cNvSpPr/>
              <p:nvPr/>
            </p:nvSpPr>
            <p:spPr bwMode="auto">
              <a:xfrm>
                <a:off x="277093" y="2417767"/>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网上银行</a:t>
                </a:r>
              </a:p>
            </p:txBody>
          </p:sp>
          <p:pic>
            <p:nvPicPr>
              <p:cNvPr id="95" name="Picture 170" descr="j0287375"/>
              <p:cNvPicPr>
                <a:picLocks noChangeAspect="1" noChangeArrowheads="1"/>
              </p:cNvPicPr>
              <p:nvPr/>
            </p:nvPicPr>
            <p:blipFill>
              <a:blip r:embed="rId11" cstate="print"/>
              <a:srcRect/>
              <a:stretch>
                <a:fillRect/>
              </a:stretch>
            </p:blipFill>
            <p:spPr bwMode="gray">
              <a:xfrm>
                <a:off x="1331640" y="2366271"/>
                <a:ext cx="234640" cy="294808"/>
              </a:xfrm>
              <a:prstGeom prst="rect">
                <a:avLst/>
              </a:prstGeom>
              <a:noFill/>
            </p:spPr>
          </p:pic>
        </p:grpSp>
        <p:sp>
          <p:nvSpPr>
            <p:cNvPr id="25" name="矩形 24"/>
            <p:cNvSpPr/>
            <p:nvPr/>
          </p:nvSpPr>
          <p:spPr bwMode="auto">
            <a:xfrm>
              <a:off x="277093" y="3111036"/>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空中银行</a:t>
              </a:r>
            </a:p>
          </p:txBody>
        </p:sp>
        <p:pic>
          <p:nvPicPr>
            <p:cNvPr id="26" name="Picture 162" descr="PE03120_"/>
            <p:cNvPicPr>
              <a:picLocks noChangeAspect="1" noChangeArrowheads="1"/>
            </p:cNvPicPr>
            <p:nvPr/>
          </p:nvPicPr>
          <p:blipFill>
            <a:blip r:embed="rId12" cstate="print"/>
            <a:srcRect/>
            <a:stretch>
              <a:fillRect/>
            </a:stretch>
          </p:blipFill>
          <p:spPr bwMode="gray">
            <a:xfrm>
              <a:off x="1350522" y="3081681"/>
              <a:ext cx="197142" cy="272675"/>
            </a:xfrm>
            <a:prstGeom prst="rect">
              <a:avLst/>
            </a:prstGeom>
            <a:noFill/>
          </p:spPr>
        </p:pic>
        <p:grpSp>
          <p:nvGrpSpPr>
            <p:cNvPr id="27" name="组合 102"/>
            <p:cNvGrpSpPr/>
            <p:nvPr/>
          </p:nvGrpSpPr>
          <p:grpSpPr>
            <a:xfrm>
              <a:off x="277093" y="4243803"/>
              <a:ext cx="1229405" cy="270000"/>
              <a:chOff x="277093" y="4145927"/>
              <a:chExt cx="1229405" cy="270000"/>
            </a:xfrm>
          </p:grpSpPr>
          <p:sp>
            <p:nvSpPr>
              <p:cNvPr id="92" name="矩形 91"/>
              <p:cNvSpPr/>
              <p:nvPr/>
            </p:nvSpPr>
            <p:spPr bwMode="auto">
              <a:xfrm>
                <a:off x="277093" y="4145927"/>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电视银行</a:t>
                </a:r>
              </a:p>
            </p:txBody>
          </p:sp>
          <p:pic>
            <p:nvPicPr>
              <p:cNvPr id="93" name="Picture 2"/>
              <p:cNvPicPr>
                <a:picLocks noChangeAspect="1" noChangeArrowheads="1"/>
              </p:cNvPicPr>
              <p:nvPr/>
            </p:nvPicPr>
            <p:blipFill>
              <a:blip r:embed="rId13" cstate="print"/>
              <a:srcRect/>
              <a:stretch>
                <a:fillRect/>
              </a:stretch>
            </p:blipFill>
            <p:spPr bwMode="auto">
              <a:xfrm>
                <a:off x="1331640" y="4173247"/>
                <a:ext cx="174858" cy="215606"/>
              </a:xfrm>
              <a:prstGeom prst="rect">
                <a:avLst/>
              </a:prstGeom>
              <a:noFill/>
              <a:ln w="9525">
                <a:noFill/>
                <a:miter lim="800000"/>
                <a:headEnd/>
                <a:tailEnd/>
              </a:ln>
            </p:spPr>
          </p:pic>
        </p:grpSp>
        <p:grpSp>
          <p:nvGrpSpPr>
            <p:cNvPr id="28" name="组合 105"/>
            <p:cNvGrpSpPr/>
            <p:nvPr/>
          </p:nvGrpSpPr>
          <p:grpSpPr>
            <a:xfrm>
              <a:off x="277093" y="4922476"/>
              <a:ext cx="1342579" cy="270000"/>
              <a:chOff x="277093" y="4895850"/>
              <a:chExt cx="1342579" cy="270000"/>
            </a:xfrm>
          </p:grpSpPr>
          <p:sp>
            <p:nvSpPr>
              <p:cNvPr id="90" name="矩形 89"/>
              <p:cNvSpPr/>
              <p:nvPr/>
            </p:nvSpPr>
            <p:spPr bwMode="auto">
              <a:xfrm>
                <a:off x="277093" y="4895850"/>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en-US" altLang="zh-CN" sz="1100" dirty="0" smtClean="0">
                    <a:solidFill>
                      <a:srgbClr val="17365E"/>
                    </a:solidFill>
                    <a:latin typeface="微软雅黑" pitchFamily="34" charset="-122"/>
                    <a:ea typeface="微软雅黑" pitchFamily="34" charset="-122"/>
                  </a:rPr>
                  <a:t>POS</a:t>
                </a:r>
                <a:endParaRPr lang="zh-CN" altLang="en-US" sz="1100" dirty="0" smtClean="0">
                  <a:solidFill>
                    <a:srgbClr val="17365E"/>
                  </a:solidFill>
                  <a:latin typeface="微软雅黑" pitchFamily="34" charset="-122"/>
                  <a:ea typeface="微软雅黑" pitchFamily="34" charset="-122"/>
                </a:endParaRPr>
              </a:p>
            </p:txBody>
          </p:sp>
          <p:pic>
            <p:nvPicPr>
              <p:cNvPr id="91" name="Picture 5"/>
              <p:cNvPicPr>
                <a:picLocks noChangeAspect="1" noChangeArrowheads="1"/>
              </p:cNvPicPr>
              <p:nvPr/>
            </p:nvPicPr>
            <p:blipFill>
              <a:blip r:embed="rId14" cstate="print"/>
              <a:srcRect/>
              <a:stretch>
                <a:fillRect/>
              </a:stretch>
            </p:blipFill>
            <p:spPr bwMode="auto">
              <a:xfrm>
                <a:off x="1301189" y="4929612"/>
                <a:ext cx="318483" cy="209550"/>
              </a:xfrm>
              <a:prstGeom prst="rect">
                <a:avLst/>
              </a:prstGeom>
              <a:noFill/>
              <a:ln w="9525">
                <a:noFill/>
                <a:miter lim="800000"/>
                <a:headEnd/>
                <a:tailEnd/>
              </a:ln>
            </p:spPr>
          </p:pic>
        </p:grpSp>
        <p:pic>
          <p:nvPicPr>
            <p:cNvPr id="29" name="Picture 161" descr="pe02709_"/>
            <p:cNvPicPr>
              <a:picLocks noChangeAspect="1" noChangeArrowheads="1"/>
            </p:cNvPicPr>
            <p:nvPr/>
          </p:nvPicPr>
          <p:blipFill>
            <a:blip r:embed="rId15" cstate="print"/>
            <a:srcRect/>
            <a:stretch>
              <a:fillRect/>
            </a:stretch>
          </p:blipFill>
          <p:spPr bwMode="gray">
            <a:xfrm>
              <a:off x="1259632" y="6273920"/>
              <a:ext cx="274457" cy="386818"/>
            </a:xfrm>
            <a:prstGeom prst="rect">
              <a:avLst/>
            </a:prstGeom>
            <a:noFill/>
          </p:spPr>
        </p:pic>
        <p:sp>
          <p:nvSpPr>
            <p:cNvPr id="30" name="TextBox 297"/>
            <p:cNvSpPr txBox="1"/>
            <p:nvPr/>
          </p:nvSpPr>
          <p:spPr>
            <a:xfrm>
              <a:off x="93524" y="1464296"/>
              <a:ext cx="899592" cy="307622"/>
            </a:xfrm>
            <a:prstGeom prst="rect">
              <a:avLst/>
            </a:prstGeom>
            <a:noFill/>
          </p:spPr>
          <p:txBody>
            <a:bodyPr wrap="square" rtlCol="0">
              <a:spAutoFit/>
            </a:bodyPr>
            <a:lstStyle/>
            <a:p>
              <a:r>
                <a:rPr lang="zh-CN" altLang="en-US" sz="1000" dirty="0" smtClean="0">
                  <a:solidFill>
                    <a:srgbClr val="17365E"/>
                  </a:solidFill>
                  <a:latin typeface="微软雅黑" pitchFamily="34" charset="-122"/>
                  <a:ea typeface="微软雅黑" pitchFamily="34" charset="-122"/>
                </a:rPr>
                <a:t>人工渠道</a:t>
              </a:r>
              <a:endParaRPr lang="zh-CN" altLang="en-US" sz="1000" dirty="0">
                <a:solidFill>
                  <a:srgbClr val="17365E"/>
                </a:solidFill>
                <a:latin typeface="微软雅黑" pitchFamily="34" charset="-122"/>
                <a:ea typeface="微软雅黑" pitchFamily="34" charset="-122"/>
              </a:endParaRPr>
            </a:p>
          </p:txBody>
        </p:sp>
        <p:sp>
          <p:nvSpPr>
            <p:cNvPr id="31" name="TextBox 298"/>
            <p:cNvSpPr txBox="1"/>
            <p:nvPr/>
          </p:nvSpPr>
          <p:spPr>
            <a:xfrm>
              <a:off x="81649" y="2501830"/>
              <a:ext cx="899592" cy="307622"/>
            </a:xfrm>
            <a:prstGeom prst="rect">
              <a:avLst/>
            </a:prstGeom>
            <a:noFill/>
          </p:spPr>
          <p:txBody>
            <a:bodyPr wrap="square" rtlCol="0">
              <a:spAutoFit/>
            </a:bodyPr>
            <a:lstStyle/>
            <a:p>
              <a:r>
                <a:rPr lang="zh-CN" altLang="en-US" sz="1000" dirty="0" smtClean="0">
                  <a:solidFill>
                    <a:srgbClr val="17365E"/>
                  </a:solidFill>
                  <a:latin typeface="微软雅黑" pitchFamily="34" charset="-122"/>
                  <a:ea typeface="微软雅黑" pitchFamily="34" charset="-122"/>
                </a:rPr>
                <a:t>电子渠道</a:t>
              </a:r>
              <a:endParaRPr lang="zh-CN" altLang="en-US" sz="1000" dirty="0">
                <a:solidFill>
                  <a:srgbClr val="17365E"/>
                </a:solidFill>
                <a:latin typeface="微软雅黑" pitchFamily="34" charset="-122"/>
                <a:ea typeface="微软雅黑" pitchFamily="34" charset="-122"/>
              </a:endParaRPr>
            </a:p>
          </p:txBody>
        </p:sp>
        <p:sp>
          <p:nvSpPr>
            <p:cNvPr id="32" name="TextBox 299"/>
            <p:cNvSpPr txBox="1"/>
            <p:nvPr/>
          </p:nvSpPr>
          <p:spPr>
            <a:xfrm>
              <a:off x="78528" y="4686701"/>
              <a:ext cx="899592" cy="307622"/>
            </a:xfrm>
            <a:prstGeom prst="rect">
              <a:avLst/>
            </a:prstGeom>
            <a:noFill/>
          </p:spPr>
          <p:txBody>
            <a:bodyPr wrap="square" rtlCol="0">
              <a:spAutoFit/>
            </a:bodyPr>
            <a:lstStyle/>
            <a:p>
              <a:r>
                <a:rPr lang="zh-CN" altLang="en-US" sz="1000" dirty="0" smtClean="0">
                  <a:solidFill>
                    <a:srgbClr val="17365E"/>
                  </a:solidFill>
                  <a:latin typeface="微软雅黑" pitchFamily="34" charset="-122"/>
                  <a:ea typeface="微软雅黑" pitchFamily="34" charset="-122"/>
                </a:rPr>
                <a:t>自助渠道</a:t>
              </a:r>
              <a:endParaRPr lang="zh-CN" altLang="en-US" sz="1000" dirty="0">
                <a:solidFill>
                  <a:srgbClr val="17365E"/>
                </a:solidFill>
                <a:latin typeface="微软雅黑" pitchFamily="34" charset="-122"/>
                <a:ea typeface="微软雅黑" pitchFamily="34" charset="-122"/>
              </a:endParaRPr>
            </a:p>
          </p:txBody>
        </p:sp>
        <p:sp>
          <p:nvSpPr>
            <p:cNvPr id="33" name="TextBox 300"/>
            <p:cNvSpPr txBox="1"/>
            <p:nvPr/>
          </p:nvSpPr>
          <p:spPr>
            <a:xfrm>
              <a:off x="104282" y="6064961"/>
              <a:ext cx="899592" cy="307622"/>
            </a:xfrm>
            <a:prstGeom prst="rect">
              <a:avLst/>
            </a:prstGeom>
            <a:noFill/>
          </p:spPr>
          <p:txBody>
            <a:bodyPr wrap="square" rtlCol="0">
              <a:spAutoFit/>
            </a:bodyPr>
            <a:lstStyle/>
            <a:p>
              <a:r>
                <a:rPr lang="zh-CN" altLang="en-US" sz="1000" dirty="0" smtClean="0">
                  <a:solidFill>
                    <a:srgbClr val="17365E"/>
                  </a:solidFill>
                  <a:latin typeface="微软雅黑" pitchFamily="34" charset="-122"/>
                  <a:ea typeface="微软雅黑" pitchFamily="34" charset="-122"/>
                </a:rPr>
                <a:t>第三方</a:t>
              </a:r>
              <a:endParaRPr lang="zh-CN" altLang="en-US" sz="1000" dirty="0">
                <a:solidFill>
                  <a:srgbClr val="17365E"/>
                </a:solidFill>
                <a:latin typeface="微软雅黑" pitchFamily="34" charset="-122"/>
                <a:ea typeface="微软雅黑" pitchFamily="34" charset="-122"/>
              </a:endParaRPr>
            </a:p>
          </p:txBody>
        </p:sp>
        <p:sp>
          <p:nvSpPr>
            <p:cNvPr id="34" name="Rectangle 111"/>
            <p:cNvSpPr>
              <a:spLocks noChangeArrowheads="1"/>
            </p:cNvSpPr>
            <p:nvPr/>
          </p:nvSpPr>
          <p:spPr bwMode="gray">
            <a:xfrm>
              <a:off x="1810298" y="5238901"/>
              <a:ext cx="7261200" cy="900000"/>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企业管理</a:t>
              </a:r>
              <a:endParaRPr lang="en-US" altLang="en-US" sz="1400" dirty="0">
                <a:solidFill>
                  <a:srgbClr val="000000"/>
                </a:solidFill>
                <a:latin typeface="微软雅黑" pitchFamily="34" charset="-122"/>
                <a:ea typeface="微软雅黑" pitchFamily="34" charset="-122"/>
              </a:endParaRPr>
            </a:p>
          </p:txBody>
        </p:sp>
        <p:sp>
          <p:nvSpPr>
            <p:cNvPr id="35" name="矩形 34"/>
            <p:cNvSpPr/>
            <p:nvPr/>
          </p:nvSpPr>
          <p:spPr bwMode="auto">
            <a:xfrm>
              <a:off x="1833522" y="5494501"/>
              <a:ext cx="1908000" cy="540000"/>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smtClean="0">
                <a:solidFill>
                  <a:srgbClr val="17365E"/>
                </a:solidFill>
                <a:latin typeface="Arial" charset="0"/>
                <a:ea typeface="宋体"/>
              </a:endParaRPr>
            </a:p>
          </p:txBody>
        </p:sp>
        <p:sp>
          <p:nvSpPr>
            <p:cNvPr id="36" name="矩形 35"/>
            <p:cNvSpPr/>
            <p:nvPr/>
          </p:nvSpPr>
          <p:spPr bwMode="auto">
            <a:xfrm>
              <a:off x="3816000" y="5494501"/>
              <a:ext cx="5220000" cy="540000"/>
            </a:xfrm>
            <a:prstGeom prst="rect">
              <a:avLst/>
            </a:prstGeom>
            <a:noFill/>
            <a:ln w="12700" cap="flat" cmpd="sng" algn="ctr">
              <a:solidFill>
                <a:schemeClr val="tx1"/>
              </a:solidFill>
              <a:prstDash val="dash"/>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endParaRPr lang="zh-CN" altLang="en-US" sz="1100" smtClean="0">
                <a:solidFill>
                  <a:srgbClr val="17365E"/>
                </a:solidFill>
                <a:latin typeface="Arial" charset="0"/>
                <a:ea typeface="宋体"/>
              </a:endParaRPr>
            </a:p>
          </p:txBody>
        </p:sp>
        <p:sp>
          <p:nvSpPr>
            <p:cNvPr id="37" name="矩形 36"/>
            <p:cNvSpPr/>
            <p:nvPr/>
          </p:nvSpPr>
          <p:spPr bwMode="auto">
            <a:xfrm>
              <a:off x="1869449" y="5706901"/>
              <a:ext cx="790991"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人力资源</a:t>
              </a:r>
            </a:p>
          </p:txBody>
        </p:sp>
        <p:sp>
          <p:nvSpPr>
            <p:cNvPr id="38" name="矩形 37"/>
            <p:cNvSpPr/>
            <p:nvPr/>
          </p:nvSpPr>
          <p:spPr bwMode="auto">
            <a:xfrm>
              <a:off x="2732548" y="5706901"/>
              <a:ext cx="952679"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办公及行政</a:t>
              </a:r>
            </a:p>
          </p:txBody>
        </p:sp>
        <p:sp>
          <p:nvSpPr>
            <p:cNvPr id="39" name="矩形 38"/>
            <p:cNvSpPr/>
            <p:nvPr/>
          </p:nvSpPr>
          <p:spPr bwMode="auto">
            <a:xfrm>
              <a:off x="3863903" y="5706900"/>
              <a:ext cx="915952" cy="268275"/>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财务管理</a:t>
              </a:r>
            </a:p>
          </p:txBody>
        </p:sp>
        <p:sp>
          <p:nvSpPr>
            <p:cNvPr id="40" name="矩形 39"/>
            <p:cNvSpPr/>
            <p:nvPr/>
          </p:nvSpPr>
          <p:spPr bwMode="auto">
            <a:xfrm>
              <a:off x="4826644" y="5706900"/>
              <a:ext cx="915953" cy="268275"/>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风险计量</a:t>
              </a:r>
            </a:p>
          </p:txBody>
        </p:sp>
        <p:sp>
          <p:nvSpPr>
            <p:cNvPr id="41" name="矩形 40"/>
            <p:cNvSpPr/>
            <p:nvPr/>
          </p:nvSpPr>
          <p:spPr bwMode="auto">
            <a:xfrm>
              <a:off x="5789386" y="5706900"/>
              <a:ext cx="915952" cy="268275"/>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资产负债管理</a:t>
              </a:r>
            </a:p>
          </p:txBody>
        </p:sp>
        <p:sp>
          <p:nvSpPr>
            <p:cNvPr id="42" name="矩形 41"/>
            <p:cNvSpPr/>
            <p:nvPr/>
          </p:nvSpPr>
          <p:spPr bwMode="auto">
            <a:xfrm>
              <a:off x="6752126" y="5706900"/>
              <a:ext cx="915952" cy="268275"/>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内部审计</a:t>
              </a:r>
            </a:p>
          </p:txBody>
        </p:sp>
        <p:sp>
          <p:nvSpPr>
            <p:cNvPr id="43" name="矩形 42"/>
            <p:cNvSpPr/>
            <p:nvPr/>
          </p:nvSpPr>
          <p:spPr bwMode="auto">
            <a:xfrm>
              <a:off x="7714866" y="5706901"/>
              <a:ext cx="1258255"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信息服务及决策支持</a:t>
              </a:r>
            </a:p>
          </p:txBody>
        </p:sp>
        <p:sp>
          <p:nvSpPr>
            <p:cNvPr id="44" name="TextBox 301"/>
            <p:cNvSpPr txBox="1"/>
            <p:nvPr/>
          </p:nvSpPr>
          <p:spPr>
            <a:xfrm>
              <a:off x="1795962" y="5494970"/>
              <a:ext cx="1902022" cy="307622"/>
            </a:xfrm>
            <a:prstGeom prst="rect">
              <a:avLst/>
            </a:prstGeom>
            <a:noFill/>
          </p:spPr>
          <p:txBody>
            <a:bodyPr wrap="square" rtlCol="0">
              <a:spAutoFit/>
            </a:bodyPr>
            <a:lstStyle/>
            <a:p>
              <a:pPr algn="ctr"/>
              <a:r>
                <a:rPr lang="zh-CN" altLang="en-US" sz="1000" dirty="0" smtClean="0">
                  <a:solidFill>
                    <a:srgbClr val="17365E"/>
                  </a:solidFill>
                  <a:latin typeface="微软雅黑" pitchFamily="34" charset="-122"/>
                  <a:ea typeface="微软雅黑" pitchFamily="34" charset="-122"/>
                </a:rPr>
                <a:t>行政性企业管理</a:t>
              </a:r>
              <a:endParaRPr lang="zh-CN" altLang="en-US" sz="1000" dirty="0">
                <a:solidFill>
                  <a:srgbClr val="17365E"/>
                </a:solidFill>
                <a:latin typeface="微软雅黑" pitchFamily="34" charset="-122"/>
                <a:ea typeface="微软雅黑" pitchFamily="34" charset="-122"/>
              </a:endParaRPr>
            </a:p>
          </p:txBody>
        </p:sp>
        <p:sp>
          <p:nvSpPr>
            <p:cNvPr id="45" name="TextBox 302"/>
            <p:cNvSpPr txBox="1"/>
            <p:nvPr/>
          </p:nvSpPr>
          <p:spPr>
            <a:xfrm>
              <a:off x="3777165" y="5482135"/>
              <a:ext cx="5317404" cy="307622"/>
            </a:xfrm>
            <a:prstGeom prst="rect">
              <a:avLst/>
            </a:prstGeom>
            <a:noFill/>
          </p:spPr>
          <p:txBody>
            <a:bodyPr wrap="square" rtlCol="0">
              <a:spAutoFit/>
            </a:bodyPr>
            <a:lstStyle/>
            <a:p>
              <a:pPr algn="ctr"/>
              <a:r>
                <a:rPr lang="zh-CN" altLang="zh-CN" sz="1000" dirty="0" smtClean="0">
                  <a:solidFill>
                    <a:srgbClr val="17365E"/>
                  </a:solidFill>
                  <a:latin typeface="微软雅黑" pitchFamily="34" charset="-122"/>
                  <a:ea typeface="微软雅黑" pitchFamily="34" charset="-122"/>
                </a:rPr>
                <a:t>业务管理及决策支持</a:t>
              </a:r>
              <a:endParaRPr lang="zh-CN" altLang="en-US" sz="1000" dirty="0">
                <a:solidFill>
                  <a:srgbClr val="17365E"/>
                </a:solidFill>
                <a:latin typeface="微软雅黑" pitchFamily="34" charset="-122"/>
                <a:ea typeface="微软雅黑" pitchFamily="34" charset="-122"/>
              </a:endParaRPr>
            </a:p>
          </p:txBody>
        </p:sp>
        <p:sp>
          <p:nvSpPr>
            <p:cNvPr id="46" name="Rectangle 111"/>
            <p:cNvSpPr>
              <a:spLocks noChangeArrowheads="1"/>
            </p:cNvSpPr>
            <p:nvPr/>
          </p:nvSpPr>
          <p:spPr bwMode="gray">
            <a:xfrm>
              <a:off x="1808710" y="4068576"/>
              <a:ext cx="2657017" cy="1116000"/>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组合服务</a:t>
              </a:r>
              <a:endParaRPr lang="en-US" altLang="en-US" sz="1400" dirty="0" smtClean="0">
                <a:solidFill>
                  <a:srgbClr val="000000"/>
                </a:solidFill>
                <a:latin typeface="微软雅黑" pitchFamily="34" charset="-122"/>
                <a:ea typeface="微软雅黑" pitchFamily="34" charset="-122"/>
              </a:endParaRPr>
            </a:p>
          </p:txBody>
        </p:sp>
        <p:sp>
          <p:nvSpPr>
            <p:cNvPr id="47" name="Rectangle 48"/>
            <p:cNvSpPr>
              <a:spLocks noChangeArrowheads="1"/>
            </p:cNvSpPr>
            <p:nvPr/>
          </p:nvSpPr>
          <p:spPr bwMode="gray">
            <a:xfrm>
              <a:off x="8172400" y="1155526"/>
              <a:ext cx="899098" cy="4029993"/>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外部</a:t>
              </a:r>
              <a:endParaRPr lang="en-US" altLang="zh-CN" sz="1400" dirty="0" smtClean="0">
                <a:solidFill>
                  <a:srgbClr val="000000"/>
                </a:solidFill>
                <a:latin typeface="微软雅黑" pitchFamily="34" charset="-122"/>
                <a:ea typeface="微软雅黑" pitchFamily="34" charset="-122"/>
              </a:endParaRPr>
            </a:p>
            <a:p>
              <a:pPr indent="-88192" algn="ctr">
                <a:lnSpc>
                  <a:spcPct val="80000"/>
                </a:lnSpc>
                <a:defRPr/>
              </a:pPr>
              <a:r>
                <a:rPr lang="zh-CN" altLang="en-US" sz="1400" dirty="0" smtClean="0">
                  <a:solidFill>
                    <a:srgbClr val="000000"/>
                  </a:solidFill>
                  <a:latin typeface="微软雅黑" pitchFamily="34" charset="-122"/>
                  <a:ea typeface="微软雅黑" pitchFamily="34" charset="-122"/>
                </a:rPr>
                <a:t>交换</a:t>
              </a:r>
              <a:endParaRPr lang="en-US" altLang="en-US" sz="1400" dirty="0">
                <a:solidFill>
                  <a:srgbClr val="000000"/>
                </a:solidFill>
                <a:latin typeface="微软雅黑" pitchFamily="34" charset="-122"/>
                <a:ea typeface="微软雅黑" pitchFamily="34" charset="-122"/>
              </a:endParaRPr>
            </a:p>
          </p:txBody>
        </p:sp>
        <p:sp>
          <p:nvSpPr>
            <p:cNvPr id="48" name="矩形 47"/>
            <p:cNvSpPr/>
            <p:nvPr/>
          </p:nvSpPr>
          <p:spPr bwMode="auto">
            <a:xfrm>
              <a:off x="8261950" y="2604301"/>
              <a:ext cx="720000" cy="430554"/>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合作方网关</a:t>
              </a:r>
            </a:p>
          </p:txBody>
        </p:sp>
        <p:sp>
          <p:nvSpPr>
            <p:cNvPr id="49" name="矩形 48"/>
            <p:cNvSpPr/>
            <p:nvPr/>
          </p:nvSpPr>
          <p:spPr bwMode="auto">
            <a:xfrm>
              <a:off x="8261950" y="1782063"/>
              <a:ext cx="720000" cy="443107"/>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支付网关</a:t>
              </a:r>
            </a:p>
          </p:txBody>
        </p:sp>
        <p:sp>
          <p:nvSpPr>
            <p:cNvPr id="50" name="矩形 49"/>
            <p:cNvSpPr/>
            <p:nvPr/>
          </p:nvSpPr>
          <p:spPr bwMode="auto">
            <a:xfrm>
              <a:off x="8261950" y="3696434"/>
              <a:ext cx="720000" cy="417998"/>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监管交换</a:t>
              </a:r>
            </a:p>
          </p:txBody>
        </p:sp>
        <p:sp>
          <p:nvSpPr>
            <p:cNvPr id="51" name="矩形 50"/>
            <p:cNvSpPr/>
            <p:nvPr/>
          </p:nvSpPr>
          <p:spPr bwMode="auto">
            <a:xfrm>
              <a:off x="8261949" y="4788568"/>
              <a:ext cx="720000" cy="288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t"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企业网关</a:t>
              </a:r>
            </a:p>
          </p:txBody>
        </p:sp>
        <p:sp>
          <p:nvSpPr>
            <p:cNvPr id="52" name="Rectangle 111"/>
            <p:cNvSpPr>
              <a:spLocks noChangeArrowheads="1"/>
            </p:cNvSpPr>
            <p:nvPr/>
          </p:nvSpPr>
          <p:spPr bwMode="gray">
            <a:xfrm>
              <a:off x="1808710" y="2331376"/>
              <a:ext cx="2657017" cy="1674000"/>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业务枢纽</a:t>
              </a:r>
              <a:endParaRPr lang="en-US" altLang="en-US" sz="1400" dirty="0" smtClean="0">
                <a:solidFill>
                  <a:srgbClr val="000000"/>
                </a:solidFill>
                <a:latin typeface="微软雅黑" pitchFamily="34" charset="-122"/>
                <a:ea typeface="微软雅黑" pitchFamily="34" charset="-122"/>
              </a:endParaRPr>
            </a:p>
          </p:txBody>
        </p:sp>
        <p:sp>
          <p:nvSpPr>
            <p:cNvPr id="53" name="Rectangle 111"/>
            <p:cNvSpPr>
              <a:spLocks noChangeArrowheads="1"/>
            </p:cNvSpPr>
            <p:nvPr/>
          </p:nvSpPr>
          <p:spPr bwMode="gray">
            <a:xfrm>
              <a:off x="1811653" y="1155526"/>
              <a:ext cx="2657017" cy="1109208"/>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客户关系管理</a:t>
              </a:r>
              <a:endParaRPr lang="en-US" altLang="en-US" sz="1400" dirty="0" smtClean="0">
                <a:solidFill>
                  <a:srgbClr val="000000"/>
                </a:solidFill>
                <a:latin typeface="微软雅黑" pitchFamily="34" charset="-122"/>
                <a:ea typeface="微软雅黑" pitchFamily="34" charset="-122"/>
              </a:endParaRPr>
            </a:p>
          </p:txBody>
        </p:sp>
        <p:sp>
          <p:nvSpPr>
            <p:cNvPr id="54" name="矩形 53"/>
            <p:cNvSpPr/>
            <p:nvPr/>
          </p:nvSpPr>
          <p:spPr bwMode="auto">
            <a:xfrm>
              <a:off x="2646715" y="1509074"/>
              <a:ext cx="986892"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营销活动管理</a:t>
              </a:r>
            </a:p>
          </p:txBody>
        </p:sp>
        <p:sp>
          <p:nvSpPr>
            <p:cNvPr id="55" name="矩形 54"/>
            <p:cNvSpPr/>
            <p:nvPr/>
          </p:nvSpPr>
          <p:spPr bwMode="auto">
            <a:xfrm>
              <a:off x="2058380" y="1872208"/>
              <a:ext cx="986892"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分析型</a:t>
              </a:r>
              <a:r>
                <a:rPr lang="en-US" altLang="zh-CN" sz="1100" dirty="0" smtClean="0">
                  <a:solidFill>
                    <a:srgbClr val="17365E"/>
                  </a:solidFill>
                  <a:latin typeface="微软雅黑" pitchFamily="34" charset="-122"/>
                  <a:ea typeface="微软雅黑" pitchFamily="34" charset="-122"/>
                </a:rPr>
                <a:t>CRM</a:t>
              </a:r>
              <a:endParaRPr lang="zh-CN" altLang="en-US" sz="1100" dirty="0" smtClean="0">
                <a:solidFill>
                  <a:srgbClr val="17365E"/>
                </a:solidFill>
                <a:latin typeface="微软雅黑" pitchFamily="34" charset="-122"/>
                <a:ea typeface="微软雅黑" pitchFamily="34" charset="-122"/>
              </a:endParaRPr>
            </a:p>
          </p:txBody>
        </p:sp>
        <p:sp>
          <p:nvSpPr>
            <p:cNvPr id="56" name="矩形 55"/>
            <p:cNvSpPr/>
            <p:nvPr/>
          </p:nvSpPr>
          <p:spPr bwMode="auto">
            <a:xfrm>
              <a:off x="3235051" y="1872208"/>
              <a:ext cx="986892"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操作型</a:t>
              </a:r>
              <a:r>
                <a:rPr lang="en-US" altLang="zh-CN" sz="1100" dirty="0" smtClean="0">
                  <a:solidFill>
                    <a:srgbClr val="17365E"/>
                  </a:solidFill>
                  <a:latin typeface="微软雅黑" pitchFamily="34" charset="-122"/>
                  <a:ea typeface="微软雅黑" pitchFamily="34" charset="-122"/>
                </a:rPr>
                <a:t>CRM</a:t>
              </a:r>
              <a:endParaRPr lang="zh-CN" altLang="en-US" sz="1100" dirty="0" smtClean="0">
                <a:solidFill>
                  <a:srgbClr val="17365E"/>
                </a:solidFill>
                <a:latin typeface="微软雅黑" pitchFamily="34" charset="-122"/>
                <a:ea typeface="微软雅黑" pitchFamily="34" charset="-122"/>
              </a:endParaRPr>
            </a:p>
          </p:txBody>
        </p:sp>
        <p:sp>
          <p:nvSpPr>
            <p:cNvPr id="57" name="矩形 56"/>
            <p:cNvSpPr/>
            <p:nvPr/>
          </p:nvSpPr>
          <p:spPr bwMode="auto">
            <a:xfrm>
              <a:off x="1945507" y="3182982"/>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产品目录管理</a:t>
              </a:r>
            </a:p>
          </p:txBody>
        </p:sp>
        <p:sp>
          <p:nvSpPr>
            <p:cNvPr id="58" name="矩形 166"/>
            <p:cNvSpPr/>
            <p:nvPr/>
          </p:nvSpPr>
          <p:spPr bwMode="auto">
            <a:xfrm>
              <a:off x="1945507" y="3456384"/>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销售与服务流程管理</a:t>
              </a:r>
            </a:p>
          </p:txBody>
        </p:sp>
        <p:sp>
          <p:nvSpPr>
            <p:cNvPr id="59" name="矩形 166"/>
            <p:cNvSpPr/>
            <p:nvPr/>
          </p:nvSpPr>
          <p:spPr bwMode="auto">
            <a:xfrm>
              <a:off x="1945507" y="3726440"/>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服务请求管理</a:t>
              </a:r>
            </a:p>
          </p:txBody>
        </p:sp>
        <p:sp>
          <p:nvSpPr>
            <p:cNvPr id="60" name="矩形 166"/>
            <p:cNvSpPr/>
            <p:nvPr/>
          </p:nvSpPr>
          <p:spPr bwMode="auto">
            <a:xfrm>
              <a:off x="1945507" y="2624375"/>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企业级客户信息管理</a:t>
              </a:r>
            </a:p>
          </p:txBody>
        </p:sp>
        <p:sp>
          <p:nvSpPr>
            <p:cNvPr id="61" name="矩形 166"/>
            <p:cNvSpPr/>
            <p:nvPr/>
          </p:nvSpPr>
          <p:spPr bwMode="auto">
            <a:xfrm>
              <a:off x="1945507" y="4354388"/>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基本产品组合</a:t>
              </a:r>
            </a:p>
          </p:txBody>
        </p:sp>
        <p:sp>
          <p:nvSpPr>
            <p:cNvPr id="62" name="矩形 166"/>
            <p:cNvSpPr/>
            <p:nvPr/>
          </p:nvSpPr>
          <p:spPr bwMode="auto">
            <a:xfrm>
              <a:off x="1945507" y="2905092"/>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客户特别定价</a:t>
              </a:r>
            </a:p>
          </p:txBody>
        </p:sp>
        <p:sp>
          <p:nvSpPr>
            <p:cNvPr id="63" name="矩形 62"/>
            <p:cNvSpPr/>
            <p:nvPr/>
          </p:nvSpPr>
          <p:spPr bwMode="auto">
            <a:xfrm>
              <a:off x="1945507" y="4640096"/>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财富管理</a:t>
              </a:r>
            </a:p>
          </p:txBody>
        </p:sp>
        <p:sp>
          <p:nvSpPr>
            <p:cNvPr id="64" name="矩形 166"/>
            <p:cNvSpPr/>
            <p:nvPr/>
          </p:nvSpPr>
          <p:spPr bwMode="auto">
            <a:xfrm>
              <a:off x="1945507" y="4925804"/>
              <a:ext cx="2383423" cy="234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交易银行</a:t>
              </a:r>
            </a:p>
          </p:txBody>
        </p:sp>
        <p:sp>
          <p:nvSpPr>
            <p:cNvPr id="65" name="AutoShape 94"/>
            <p:cNvSpPr>
              <a:spLocks noChangeArrowheads="1"/>
            </p:cNvSpPr>
            <p:nvPr/>
          </p:nvSpPr>
          <p:spPr bwMode="gray">
            <a:xfrm>
              <a:off x="7678240" y="3147131"/>
              <a:ext cx="220721" cy="185025"/>
            </a:xfrm>
            <a:prstGeom prst="leftRightArrow">
              <a:avLst>
                <a:gd name="adj1" fmla="val 50000"/>
                <a:gd name="adj2" fmla="val 22925"/>
              </a:avLst>
            </a:prstGeom>
            <a:solidFill>
              <a:schemeClr val="accent1"/>
            </a:solidFill>
            <a:ln w="9525" algn="ctr">
              <a:solidFill>
                <a:schemeClr val="accent1"/>
              </a:solidFill>
              <a:miter lim="800000"/>
              <a:headEnd/>
              <a:tailEnd/>
            </a:ln>
          </p:spPr>
          <p:txBody>
            <a:bodyPr wrap="none" lIns="90000" tIns="90000" rIns="90000" bIns="90000" anchor="t" anchorCtr="0"/>
            <a:lstStyle/>
            <a:p>
              <a:pPr marL="87313" indent="-87313" algn="ctr" defTabSz="871538"/>
              <a:endParaRPr lang="it-IT" sz="1100" b="1">
                <a:solidFill>
                  <a:srgbClr val="E60028"/>
                </a:solidFill>
                <a:latin typeface="微软雅黑" pitchFamily="34" charset="-122"/>
                <a:ea typeface="微软雅黑" pitchFamily="34" charset="-122"/>
              </a:endParaRPr>
            </a:p>
          </p:txBody>
        </p:sp>
        <p:sp>
          <p:nvSpPr>
            <p:cNvPr id="66" name="Rectangle 111"/>
            <p:cNvSpPr>
              <a:spLocks noChangeArrowheads="1"/>
            </p:cNvSpPr>
            <p:nvPr/>
          </p:nvSpPr>
          <p:spPr bwMode="gray">
            <a:xfrm>
              <a:off x="4544118" y="2328979"/>
              <a:ext cx="3556274" cy="2855597"/>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金融工厂</a:t>
              </a:r>
              <a:endParaRPr lang="en-US" altLang="en-US" sz="1400" dirty="0" smtClean="0">
                <a:solidFill>
                  <a:srgbClr val="000000"/>
                </a:solidFill>
                <a:latin typeface="微软雅黑" pitchFamily="34" charset="-122"/>
                <a:ea typeface="微软雅黑" pitchFamily="34" charset="-122"/>
              </a:endParaRPr>
            </a:p>
          </p:txBody>
        </p:sp>
        <p:sp>
          <p:nvSpPr>
            <p:cNvPr id="67" name="Rectangle 111"/>
            <p:cNvSpPr>
              <a:spLocks noChangeArrowheads="1"/>
            </p:cNvSpPr>
            <p:nvPr/>
          </p:nvSpPr>
          <p:spPr bwMode="gray">
            <a:xfrm>
              <a:off x="4544118" y="1154582"/>
              <a:ext cx="3556274" cy="1110152"/>
            </a:xfrm>
            <a:prstGeom prst="rect">
              <a:avLst/>
            </a:prstGeom>
            <a:solidFill>
              <a:srgbClr val="CCCCFF"/>
            </a:solidFill>
            <a:ln w="9525" algn="ctr">
              <a:solidFill>
                <a:schemeClr val="tx1"/>
              </a:solidFill>
              <a:miter lim="800000"/>
              <a:headEnd/>
              <a:tailEnd/>
            </a:ln>
            <a:effectLst/>
          </p:spPr>
          <p:txBody>
            <a:bodyPr wrap="square" lIns="91440" tIns="91440" rIns="91440" bIns="91440" anchor="t" anchorCtr="0"/>
            <a:lstStyle/>
            <a:p>
              <a:pPr indent="-88192" algn="ctr">
                <a:lnSpc>
                  <a:spcPct val="80000"/>
                </a:lnSpc>
                <a:defRPr/>
              </a:pPr>
              <a:r>
                <a:rPr lang="zh-CN" altLang="en-US" sz="1400" dirty="0" smtClean="0">
                  <a:solidFill>
                    <a:srgbClr val="000000"/>
                  </a:solidFill>
                  <a:latin typeface="微软雅黑" pitchFamily="34" charset="-122"/>
                  <a:ea typeface="微软雅黑" pitchFamily="34" charset="-122"/>
                </a:rPr>
                <a:t>客户信用管理</a:t>
              </a:r>
              <a:endParaRPr lang="en-US" altLang="en-US" sz="1400" dirty="0">
                <a:solidFill>
                  <a:srgbClr val="000000"/>
                </a:solidFill>
                <a:latin typeface="微软雅黑" pitchFamily="34" charset="-122"/>
                <a:ea typeface="微软雅黑" pitchFamily="34" charset="-122"/>
              </a:endParaRPr>
            </a:p>
          </p:txBody>
        </p:sp>
        <p:sp>
          <p:nvSpPr>
            <p:cNvPr id="68" name="矩形 67"/>
            <p:cNvSpPr/>
            <p:nvPr/>
          </p:nvSpPr>
          <p:spPr bwMode="auto">
            <a:xfrm>
              <a:off x="7320723" y="2612412"/>
              <a:ext cx="242501" cy="25416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支</a:t>
              </a:r>
              <a:endParaRPr lang="en-US" altLang="zh-CN" sz="1100" dirty="0" smtClean="0">
                <a:solidFill>
                  <a:srgbClr val="17365E"/>
                </a:solidFill>
                <a:latin typeface="微软雅黑" pitchFamily="34" charset="-122"/>
                <a:ea typeface="微软雅黑" pitchFamily="34" charset="-122"/>
              </a:endParaRPr>
            </a:p>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付</a:t>
              </a:r>
            </a:p>
          </p:txBody>
        </p:sp>
        <p:sp>
          <p:nvSpPr>
            <p:cNvPr id="69" name="矩形 68"/>
            <p:cNvSpPr/>
            <p:nvPr/>
          </p:nvSpPr>
          <p:spPr bwMode="auto">
            <a:xfrm>
              <a:off x="7644057" y="2612412"/>
              <a:ext cx="242501" cy="25416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基</a:t>
              </a:r>
              <a:endParaRPr lang="en-US" altLang="zh-CN" sz="1100" dirty="0" smtClean="0">
                <a:solidFill>
                  <a:srgbClr val="17365E"/>
                </a:solidFill>
                <a:latin typeface="微软雅黑" pitchFamily="34" charset="-122"/>
                <a:ea typeface="微软雅黑" pitchFamily="34" charset="-122"/>
              </a:endParaRPr>
            </a:p>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础</a:t>
              </a:r>
              <a:endParaRPr lang="en-US" altLang="zh-CN" sz="1100" dirty="0" smtClean="0">
                <a:solidFill>
                  <a:srgbClr val="17365E"/>
                </a:solidFill>
                <a:latin typeface="微软雅黑" pitchFamily="34" charset="-122"/>
                <a:ea typeface="微软雅黑" pitchFamily="34" charset="-122"/>
              </a:endParaRPr>
            </a:p>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服</a:t>
              </a:r>
              <a:endParaRPr lang="en-US" altLang="zh-CN" sz="1100" dirty="0" smtClean="0">
                <a:solidFill>
                  <a:srgbClr val="17365E"/>
                </a:solidFill>
                <a:latin typeface="微软雅黑" pitchFamily="34" charset="-122"/>
                <a:ea typeface="微软雅黑" pitchFamily="34" charset="-122"/>
              </a:endParaRPr>
            </a:p>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务</a:t>
              </a:r>
            </a:p>
          </p:txBody>
        </p:sp>
        <p:sp>
          <p:nvSpPr>
            <p:cNvPr id="70" name="矩形 69"/>
            <p:cNvSpPr/>
            <p:nvPr/>
          </p:nvSpPr>
          <p:spPr bwMode="auto">
            <a:xfrm>
              <a:off x="4716016" y="2612412"/>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存款</a:t>
              </a:r>
            </a:p>
          </p:txBody>
        </p:sp>
        <p:sp>
          <p:nvSpPr>
            <p:cNvPr id="71" name="矩形 70"/>
            <p:cNvSpPr/>
            <p:nvPr/>
          </p:nvSpPr>
          <p:spPr bwMode="auto">
            <a:xfrm>
              <a:off x="4716016" y="2871114"/>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贷款</a:t>
              </a:r>
            </a:p>
          </p:txBody>
        </p:sp>
        <p:sp>
          <p:nvSpPr>
            <p:cNvPr id="72" name="矩形 71"/>
            <p:cNvSpPr/>
            <p:nvPr/>
          </p:nvSpPr>
          <p:spPr bwMode="auto">
            <a:xfrm>
              <a:off x="4716016" y="3129816"/>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银行卡</a:t>
              </a:r>
            </a:p>
          </p:txBody>
        </p:sp>
        <p:sp>
          <p:nvSpPr>
            <p:cNvPr id="73" name="矩形 72"/>
            <p:cNvSpPr/>
            <p:nvPr/>
          </p:nvSpPr>
          <p:spPr bwMode="auto">
            <a:xfrm>
              <a:off x="4716016" y="3388518"/>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票据处理</a:t>
              </a:r>
            </a:p>
          </p:txBody>
        </p:sp>
        <p:sp>
          <p:nvSpPr>
            <p:cNvPr id="74" name="矩形 73"/>
            <p:cNvSpPr/>
            <p:nvPr/>
          </p:nvSpPr>
          <p:spPr bwMode="auto">
            <a:xfrm>
              <a:off x="4716016" y="3647220"/>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贸易融资</a:t>
              </a:r>
            </a:p>
          </p:txBody>
        </p:sp>
        <p:sp>
          <p:nvSpPr>
            <p:cNvPr id="75" name="矩形 74"/>
            <p:cNvSpPr/>
            <p:nvPr/>
          </p:nvSpPr>
          <p:spPr bwMode="auto">
            <a:xfrm>
              <a:off x="4716016" y="4164624"/>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金融市场</a:t>
              </a:r>
            </a:p>
          </p:txBody>
        </p:sp>
        <p:sp>
          <p:nvSpPr>
            <p:cNvPr id="76" name="矩形 75"/>
            <p:cNvSpPr/>
            <p:nvPr/>
          </p:nvSpPr>
          <p:spPr bwMode="auto">
            <a:xfrm>
              <a:off x="4716016" y="4423326"/>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资产管理</a:t>
              </a:r>
            </a:p>
          </p:txBody>
        </p:sp>
        <p:sp>
          <p:nvSpPr>
            <p:cNvPr id="77" name="矩形 76"/>
            <p:cNvSpPr/>
            <p:nvPr/>
          </p:nvSpPr>
          <p:spPr bwMode="auto">
            <a:xfrm>
              <a:off x="4716016" y="4682028"/>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代理类业务</a:t>
              </a:r>
            </a:p>
          </p:txBody>
        </p:sp>
        <p:sp>
          <p:nvSpPr>
            <p:cNvPr id="78" name="矩形 77"/>
            <p:cNvSpPr/>
            <p:nvPr/>
          </p:nvSpPr>
          <p:spPr bwMode="auto">
            <a:xfrm>
              <a:off x="4716016" y="4940731"/>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托管</a:t>
              </a:r>
              <a:r>
                <a:rPr lang="en-US" altLang="zh-CN" sz="1100" dirty="0" smtClean="0">
                  <a:solidFill>
                    <a:srgbClr val="17365E"/>
                  </a:solidFill>
                  <a:latin typeface="微软雅黑" pitchFamily="34" charset="-122"/>
                  <a:ea typeface="微软雅黑" pitchFamily="34" charset="-122"/>
                </a:rPr>
                <a:t>/</a:t>
              </a:r>
              <a:r>
                <a:rPr lang="zh-CN" altLang="en-US" sz="1100" dirty="0" smtClean="0">
                  <a:solidFill>
                    <a:srgbClr val="17365E"/>
                  </a:solidFill>
                  <a:latin typeface="微软雅黑" pitchFamily="34" charset="-122"/>
                  <a:ea typeface="微软雅黑" pitchFamily="34" charset="-122"/>
                </a:rPr>
                <a:t>账管</a:t>
              </a:r>
              <a:r>
                <a:rPr lang="en-US" altLang="zh-CN" sz="1100" dirty="0" smtClean="0">
                  <a:solidFill>
                    <a:srgbClr val="17365E"/>
                  </a:solidFill>
                  <a:latin typeface="微软雅黑" pitchFamily="34" charset="-122"/>
                  <a:ea typeface="微软雅黑" pitchFamily="34" charset="-122"/>
                </a:rPr>
                <a:t>/</a:t>
              </a:r>
              <a:r>
                <a:rPr lang="zh-CN" altLang="en-US" sz="1100" dirty="0" smtClean="0">
                  <a:solidFill>
                    <a:srgbClr val="17365E"/>
                  </a:solidFill>
                  <a:latin typeface="微软雅黑" pitchFamily="34" charset="-122"/>
                  <a:ea typeface="微软雅黑" pitchFamily="34" charset="-122"/>
                </a:rPr>
                <a:t>受托</a:t>
              </a:r>
            </a:p>
          </p:txBody>
        </p:sp>
        <p:sp>
          <p:nvSpPr>
            <p:cNvPr id="79" name="矩形 78"/>
            <p:cNvSpPr/>
            <p:nvPr/>
          </p:nvSpPr>
          <p:spPr bwMode="auto">
            <a:xfrm>
              <a:off x="5074341" y="1509074"/>
              <a:ext cx="986891"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额度管理</a:t>
              </a:r>
            </a:p>
          </p:txBody>
        </p:sp>
        <p:sp>
          <p:nvSpPr>
            <p:cNvPr id="80" name="矩形 79"/>
            <p:cNvSpPr/>
            <p:nvPr/>
          </p:nvSpPr>
          <p:spPr bwMode="auto">
            <a:xfrm>
              <a:off x="6564238" y="1872208"/>
              <a:ext cx="986891"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信贷服务</a:t>
              </a:r>
            </a:p>
          </p:txBody>
        </p:sp>
        <p:sp>
          <p:nvSpPr>
            <p:cNvPr id="81" name="矩形 80"/>
            <p:cNvSpPr/>
            <p:nvPr/>
          </p:nvSpPr>
          <p:spPr bwMode="auto">
            <a:xfrm>
              <a:off x="5074341" y="1872208"/>
              <a:ext cx="986891"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抵质押品管理</a:t>
              </a:r>
            </a:p>
          </p:txBody>
        </p:sp>
        <p:sp>
          <p:nvSpPr>
            <p:cNvPr id="82" name="矩形 140"/>
            <p:cNvSpPr/>
            <p:nvPr/>
          </p:nvSpPr>
          <p:spPr bwMode="auto">
            <a:xfrm>
              <a:off x="6564238" y="1509074"/>
              <a:ext cx="986891"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反欺诈</a:t>
              </a:r>
            </a:p>
          </p:txBody>
        </p:sp>
        <p:sp>
          <p:nvSpPr>
            <p:cNvPr id="83" name="矩形 181"/>
            <p:cNvSpPr/>
            <p:nvPr/>
          </p:nvSpPr>
          <p:spPr bwMode="auto">
            <a:xfrm>
              <a:off x="4716016" y="3905922"/>
              <a:ext cx="2430232" cy="216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投行及主动性负债业务</a:t>
              </a:r>
            </a:p>
          </p:txBody>
        </p:sp>
        <p:grpSp>
          <p:nvGrpSpPr>
            <p:cNvPr id="84" name="组合 107"/>
            <p:cNvGrpSpPr/>
            <p:nvPr/>
          </p:nvGrpSpPr>
          <p:grpSpPr>
            <a:xfrm>
              <a:off x="274436" y="5622751"/>
              <a:ext cx="1277283" cy="288033"/>
              <a:chOff x="274436" y="5667375"/>
              <a:chExt cx="1277283" cy="288033"/>
            </a:xfrm>
          </p:grpSpPr>
          <p:sp>
            <p:nvSpPr>
              <p:cNvPr id="88" name="矩形 87"/>
              <p:cNvSpPr/>
              <p:nvPr/>
            </p:nvSpPr>
            <p:spPr bwMode="auto">
              <a:xfrm>
                <a:off x="274436" y="5675950"/>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多媒体终端</a:t>
                </a:r>
              </a:p>
            </p:txBody>
          </p:sp>
          <p:pic>
            <p:nvPicPr>
              <p:cNvPr id="89" name="Picture 2"/>
              <p:cNvPicPr>
                <a:picLocks noChangeAspect="1" noChangeArrowheads="1"/>
              </p:cNvPicPr>
              <p:nvPr>
                <p:custDataLst>
                  <p:tags r:id="rId3"/>
                </p:custDataLst>
              </p:nvPr>
            </p:nvPicPr>
            <p:blipFill>
              <a:blip r:embed="rId7" cstate="print">
                <a:clrChange>
                  <a:clrFrom>
                    <a:srgbClr val="FFFFFF"/>
                  </a:clrFrom>
                  <a:clrTo>
                    <a:srgbClr val="FFFFFF">
                      <a:alpha val="0"/>
                    </a:srgbClr>
                  </a:clrTo>
                </a:clrChange>
              </a:blip>
              <a:srcRect/>
              <a:stretch>
                <a:fillRect/>
              </a:stretch>
            </p:blipFill>
            <p:spPr bwMode="gray">
              <a:xfrm>
                <a:off x="1238250" y="5667375"/>
                <a:ext cx="313469" cy="288033"/>
              </a:xfrm>
              <a:prstGeom prst="rect">
                <a:avLst/>
              </a:prstGeom>
              <a:noFill/>
              <a:ln w="9525">
                <a:noFill/>
                <a:miter lim="800000"/>
                <a:headEnd/>
                <a:tailEnd/>
              </a:ln>
            </p:spPr>
          </p:pic>
        </p:grpSp>
        <p:sp>
          <p:nvSpPr>
            <p:cNvPr id="85" name="矩形 84"/>
            <p:cNvSpPr/>
            <p:nvPr/>
          </p:nvSpPr>
          <p:spPr bwMode="auto">
            <a:xfrm>
              <a:off x="7901949" y="6350032"/>
              <a:ext cx="1080000" cy="252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内容管理</a:t>
              </a:r>
            </a:p>
          </p:txBody>
        </p:sp>
        <p:sp>
          <p:nvSpPr>
            <p:cNvPr id="86" name="矩形 85"/>
            <p:cNvSpPr/>
            <p:nvPr/>
          </p:nvSpPr>
          <p:spPr bwMode="auto">
            <a:xfrm>
              <a:off x="276100" y="2050376"/>
              <a:ext cx="1224000" cy="27000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none" lIns="90000" tIns="90000" rIns="90000" bIns="9000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solidFill>
                    <a:srgbClr val="17365E"/>
                  </a:solidFill>
                  <a:latin typeface="微软雅黑" pitchFamily="34" charset="-122"/>
                  <a:ea typeface="微软雅黑" pitchFamily="34" charset="-122"/>
                </a:rPr>
                <a:t>移动柜面</a:t>
              </a:r>
            </a:p>
          </p:txBody>
        </p:sp>
        <p:pic>
          <p:nvPicPr>
            <p:cNvPr id="87" name="Picture 161" descr="pe02709_"/>
            <p:cNvPicPr>
              <a:picLocks noChangeAspect="1" noChangeArrowheads="1"/>
            </p:cNvPicPr>
            <p:nvPr/>
          </p:nvPicPr>
          <p:blipFill>
            <a:blip r:embed="rId15" cstate="print"/>
            <a:srcRect/>
            <a:stretch>
              <a:fillRect/>
            </a:stretch>
          </p:blipFill>
          <p:spPr bwMode="gray">
            <a:xfrm>
              <a:off x="1273293" y="2036526"/>
              <a:ext cx="274457" cy="386818"/>
            </a:xfrm>
            <a:prstGeom prst="rect">
              <a:avLst/>
            </a:prstGeom>
            <a:noFill/>
          </p:spPr>
        </p:pic>
      </p:grpSp>
      <p:sp>
        <p:nvSpPr>
          <p:cNvPr id="100" name="矩形 99"/>
          <p:cNvSpPr/>
          <p:nvPr/>
        </p:nvSpPr>
        <p:spPr bwMode="auto">
          <a:xfrm>
            <a:off x="3899560" y="5560331"/>
            <a:ext cx="1508857" cy="315297"/>
          </a:xfrm>
          <a:prstGeom prst="rect">
            <a:avLst/>
          </a:prstGeom>
          <a:solidFill>
            <a:schemeClr val="bg1">
              <a:alpha val="0"/>
            </a:schemeClr>
          </a:solidFill>
          <a:ln w="38100">
            <a:solidFill>
              <a:srgbClr val="FF0000"/>
            </a:solidFill>
            <a:miter lim="800000"/>
            <a:headEnd/>
            <a:tailEnd/>
          </a:ln>
        </p:spPr>
        <p:txBody>
          <a:bodyPr wrap="none" rtlCol="0" anchor="ctr"/>
          <a:lstStyle/>
          <a:p>
            <a:pPr algn="ctr"/>
            <a:endParaRPr lang="zh-CN" altLang="en-US" sz="1200">
              <a:solidFill>
                <a:srgbClr val="FEFFFF"/>
              </a:solidFill>
              <a:latin typeface="华文楷体" pitchFamily="2" charset="-122"/>
              <a:ea typeface="华文楷体" pitchFamily="2" charset="-122"/>
            </a:endParaRPr>
          </a:p>
        </p:txBody>
      </p:sp>
      <p:grpSp>
        <p:nvGrpSpPr>
          <p:cNvPr id="101" name="组合 114"/>
          <p:cNvGrpSpPr/>
          <p:nvPr/>
        </p:nvGrpSpPr>
        <p:grpSpPr>
          <a:xfrm>
            <a:off x="3572992" y="3414106"/>
            <a:ext cx="2564041" cy="1657011"/>
            <a:chOff x="2715748" y="4092816"/>
            <a:chExt cx="1923031" cy="1657011"/>
          </a:xfrm>
        </p:grpSpPr>
        <p:sp>
          <p:nvSpPr>
            <p:cNvPr id="102" name="矩形标注 101"/>
            <p:cNvSpPr/>
            <p:nvPr/>
          </p:nvSpPr>
          <p:spPr bwMode="auto">
            <a:xfrm>
              <a:off x="2715748" y="4092816"/>
              <a:ext cx="1923031" cy="1657011"/>
            </a:xfrm>
            <a:prstGeom prst="wedgeRectCallout">
              <a:avLst>
                <a:gd name="adj1" fmla="val -23366"/>
                <a:gd name="adj2" fmla="val 82757"/>
              </a:avLst>
            </a:prstGeom>
            <a:ln>
              <a:headEnd/>
              <a:tailEnd/>
            </a:ln>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lang="zh-CN" altLang="en-US" sz="1200">
                <a:solidFill>
                  <a:srgbClr val="FEFFFF"/>
                </a:solidFill>
                <a:latin typeface="华文楷体" pitchFamily="2" charset="-122"/>
                <a:ea typeface="华文楷体" pitchFamily="2" charset="-122"/>
              </a:endParaRPr>
            </a:p>
          </p:txBody>
        </p:sp>
        <p:sp>
          <p:nvSpPr>
            <p:cNvPr id="103" name="文本框 142"/>
            <p:cNvSpPr txBox="1"/>
            <p:nvPr/>
          </p:nvSpPr>
          <p:spPr>
            <a:xfrm>
              <a:off x="2832892" y="4199621"/>
              <a:ext cx="1727708"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1400" dirty="0" smtClean="0">
                  <a:solidFill>
                    <a:srgbClr val="17365E"/>
                  </a:solidFill>
                  <a:latin typeface="微软雅黑" panose="020B0503020204020204" pitchFamily="34" charset="-122"/>
                  <a:ea typeface="微软雅黑" panose="020B0503020204020204" pitchFamily="34" charset="-122"/>
                </a:rPr>
                <a:t>企业服务总线</a:t>
              </a:r>
              <a:endParaRPr lang="zh-CN" altLang="en-US" sz="1400" dirty="0">
                <a:solidFill>
                  <a:srgbClr val="17365E"/>
                </a:solidFill>
                <a:latin typeface="微软雅黑" panose="020B0503020204020204" pitchFamily="34" charset="-122"/>
                <a:ea typeface="微软雅黑" panose="020B0503020204020204" pitchFamily="34" charset="-122"/>
              </a:endParaRPr>
            </a:p>
          </p:txBody>
        </p:sp>
        <p:sp>
          <p:nvSpPr>
            <p:cNvPr id="104" name="文本框 143"/>
            <p:cNvSpPr txBox="1"/>
            <p:nvPr/>
          </p:nvSpPr>
          <p:spPr>
            <a:xfrm>
              <a:off x="2832892" y="4559661"/>
              <a:ext cx="1727708"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1400" dirty="0" smtClean="0">
                  <a:solidFill>
                    <a:srgbClr val="17365E"/>
                  </a:solidFill>
                  <a:latin typeface="微软雅黑" panose="020B0503020204020204" pitchFamily="34" charset="-122"/>
                  <a:ea typeface="微软雅黑" panose="020B0503020204020204" pitchFamily="34" charset="-122"/>
                </a:rPr>
                <a:t>数据交换平台</a:t>
              </a:r>
              <a:endParaRPr lang="zh-CN" altLang="en-US" sz="1400" dirty="0">
                <a:solidFill>
                  <a:srgbClr val="17365E"/>
                </a:solidFill>
                <a:latin typeface="微软雅黑" panose="020B0503020204020204" pitchFamily="34" charset="-122"/>
                <a:ea typeface="微软雅黑" panose="020B0503020204020204" pitchFamily="34" charset="-122"/>
              </a:endParaRPr>
            </a:p>
          </p:txBody>
        </p:sp>
        <p:sp>
          <p:nvSpPr>
            <p:cNvPr id="105" name="文本框 144"/>
            <p:cNvSpPr txBox="1"/>
            <p:nvPr/>
          </p:nvSpPr>
          <p:spPr>
            <a:xfrm>
              <a:off x="2832892" y="4919701"/>
              <a:ext cx="1727708" cy="30777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zh-CN" altLang="en-US" sz="1400" b="1" dirty="0" smtClean="0">
                  <a:solidFill>
                    <a:srgbClr val="FEFFFF"/>
                  </a:solidFill>
                  <a:latin typeface="微软雅黑" panose="020B0503020204020204" pitchFamily="34" charset="-122"/>
                  <a:ea typeface="微软雅黑" panose="020B0503020204020204" pitchFamily="34" charset="-122"/>
                </a:rPr>
                <a:t>业务流程管理平台</a:t>
              </a:r>
              <a:endParaRPr lang="zh-CN" altLang="en-US" sz="1400" b="1" dirty="0">
                <a:solidFill>
                  <a:srgbClr val="FEFFFF"/>
                </a:solidFill>
                <a:latin typeface="微软雅黑" panose="020B0503020204020204" pitchFamily="34" charset="-122"/>
                <a:ea typeface="微软雅黑" panose="020B0503020204020204" pitchFamily="34" charset="-122"/>
              </a:endParaRPr>
            </a:p>
          </p:txBody>
        </p:sp>
        <p:sp>
          <p:nvSpPr>
            <p:cNvPr id="106" name="文本框 145"/>
            <p:cNvSpPr txBox="1"/>
            <p:nvPr/>
          </p:nvSpPr>
          <p:spPr>
            <a:xfrm>
              <a:off x="2832892" y="5279741"/>
              <a:ext cx="1727708"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1400" dirty="0" smtClean="0">
                  <a:solidFill>
                    <a:srgbClr val="17365E"/>
                  </a:solidFill>
                  <a:latin typeface="微软雅黑" panose="020B0503020204020204" pitchFamily="34" charset="-122"/>
                  <a:ea typeface="微软雅黑" panose="020B0503020204020204" pitchFamily="34" charset="-122"/>
                </a:rPr>
                <a:t>服务周期管理系统</a:t>
              </a:r>
              <a:endParaRPr lang="zh-CN" altLang="en-US" sz="1400" dirty="0">
                <a:solidFill>
                  <a:srgbClr val="17365E"/>
                </a:solidFill>
                <a:latin typeface="微软雅黑" panose="020B0503020204020204" pitchFamily="34" charset="-122"/>
                <a:ea typeface="微软雅黑" panose="020B0503020204020204" pitchFamily="34" charset="-122"/>
              </a:endParaRPr>
            </a:p>
          </p:txBody>
        </p:sp>
      </p:grpSp>
      <p:sp>
        <p:nvSpPr>
          <p:cNvPr id="107" name="矩形标注 106"/>
          <p:cNvSpPr/>
          <p:nvPr/>
        </p:nvSpPr>
        <p:spPr bwMode="auto">
          <a:xfrm>
            <a:off x="6809596" y="3971959"/>
            <a:ext cx="4903028" cy="1155883"/>
          </a:xfrm>
          <a:prstGeom prst="wedgeRectCallout">
            <a:avLst>
              <a:gd name="adj1" fmla="val -68075"/>
              <a:gd name="adj2" fmla="val -10389"/>
            </a:avLst>
          </a:prstGeom>
          <a:ln>
            <a:headEnd/>
            <a:tailEnd/>
          </a:ln>
        </p:spPr>
        <p:style>
          <a:lnRef idx="3">
            <a:schemeClr val="lt1"/>
          </a:lnRef>
          <a:fillRef idx="1">
            <a:schemeClr val="accent2"/>
          </a:fillRef>
          <a:effectRef idx="1">
            <a:schemeClr val="accent2"/>
          </a:effectRef>
          <a:fontRef idx="minor">
            <a:schemeClr val="lt1"/>
          </a:fontRef>
        </p:style>
        <p:txBody>
          <a:bodyPr wrap="none" rtlCol="0" anchor="ctr"/>
          <a:lstStyle/>
          <a:p>
            <a:pPr marL="171450" indent="-171450">
              <a:lnSpc>
                <a:spcPct val="150000"/>
              </a:lnSpc>
              <a:buFont typeface="Arial" panose="020B0604020202020204" pitchFamily="34" charset="0"/>
              <a:buChar char="•"/>
            </a:pPr>
            <a:r>
              <a:rPr lang="zh-CN" altLang="en-US" sz="1200" dirty="0" smtClean="0">
                <a:solidFill>
                  <a:srgbClr val="FEFFFF"/>
                </a:solidFill>
                <a:latin typeface="微软雅黑" panose="020B0503020204020204" pitchFamily="34" charset="-122"/>
                <a:ea typeface="微软雅黑" panose="020B0503020204020204" pitchFamily="34" charset="-122"/>
              </a:rPr>
              <a:t>新一代跨应用</a:t>
            </a:r>
            <a:r>
              <a:rPr lang="en-US" altLang="zh-CN" sz="1200" dirty="0" smtClean="0">
                <a:solidFill>
                  <a:srgbClr val="FEFFFF"/>
                </a:solidFill>
                <a:latin typeface="微软雅黑" panose="020B0503020204020204" pitchFamily="34" charset="-122"/>
                <a:ea typeface="微软雅黑" panose="020B0503020204020204" pitchFamily="34" charset="-122"/>
              </a:rPr>
              <a:t>/</a:t>
            </a:r>
            <a:r>
              <a:rPr lang="zh-CN" altLang="en-US" sz="1200" dirty="0" smtClean="0">
                <a:solidFill>
                  <a:srgbClr val="FEFFFF"/>
                </a:solidFill>
                <a:latin typeface="微软雅黑" panose="020B0503020204020204" pitchFamily="34" charset="-122"/>
                <a:ea typeface="微软雅黑" panose="020B0503020204020204" pitchFamily="34" charset="-122"/>
              </a:rPr>
              <a:t>流程的流程集成和统一管理</a:t>
            </a:r>
            <a:endParaRPr lang="en-US" altLang="zh-CN" sz="1200" dirty="0" smtClean="0">
              <a:solidFill>
                <a:srgbClr val="FEFFFF"/>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rgbClr val="FEFFFF"/>
                </a:solidFill>
                <a:latin typeface="微软雅黑" panose="020B0503020204020204" pitchFamily="34" charset="-122"/>
                <a:ea typeface="微软雅黑" panose="020B0503020204020204" pitchFamily="34" charset="-122"/>
              </a:rPr>
              <a:t>新一代应用系统内的流程功能支撑和统一管理</a:t>
            </a:r>
            <a:endParaRPr lang="en-US" altLang="zh-CN" sz="1200" dirty="0" smtClean="0">
              <a:solidFill>
                <a:srgbClr val="FEFFFF"/>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rgbClr val="FEFFFF"/>
                </a:solidFill>
                <a:latin typeface="微软雅黑" panose="020B0503020204020204" pitchFamily="34" charset="-122"/>
                <a:ea typeface="微软雅黑" panose="020B0503020204020204" pitchFamily="34" charset="-122"/>
              </a:rPr>
              <a:t>流程平台的相关技术和管理规范制定和推广</a:t>
            </a:r>
            <a:endParaRPr lang="zh-CN" altLang="en-US" sz="1200" dirty="0">
              <a:solidFill>
                <a:srgbClr val="FE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35893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2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建设目标</a:t>
            </a:r>
            <a:endParaRPr kumimoji="1" lang="zh-CN" altLang="en-US" dirty="0"/>
          </a:p>
        </p:txBody>
      </p:sp>
      <p:sp>
        <p:nvSpPr>
          <p:cNvPr id="4" name="内容占位符 2"/>
          <p:cNvSpPr>
            <a:spLocks noGrp="1"/>
          </p:cNvSpPr>
          <p:nvPr>
            <p:ph idx="4294967295"/>
          </p:nvPr>
        </p:nvSpPr>
        <p:spPr>
          <a:xfrm>
            <a:off x="142594" y="1124744"/>
            <a:ext cx="11714045" cy="5733256"/>
          </a:xfrm>
          <a:prstGeom prst="rect">
            <a:avLst/>
          </a:prstGeom>
        </p:spPr>
        <p:txBody>
          <a:bodyPr>
            <a:normAutofit fontScale="47500" lnSpcReduction="20000"/>
          </a:bodyPr>
          <a:lstStyle/>
          <a:p>
            <a:pPr marL="0" indent="0">
              <a:buNone/>
            </a:pPr>
            <a:r>
              <a:rPr lang="zh-CN" altLang="en-US" sz="4500" dirty="0" smtClean="0">
                <a:latin typeface="华文仿宋"/>
                <a:ea typeface="华文仿宋"/>
                <a:cs typeface="华文仿宋"/>
              </a:rPr>
              <a:t> </a:t>
            </a:r>
            <a:r>
              <a:rPr lang="zh-CN" altLang="zh-CN" sz="4500" dirty="0" smtClean="0">
                <a:latin typeface="华文仿宋"/>
                <a:ea typeface="华文仿宋"/>
                <a:cs typeface="华文仿宋"/>
              </a:rPr>
              <a:t>根据新一代总体蓝图和应用架构规划</a:t>
            </a:r>
            <a:r>
              <a:rPr lang="zh-CN" altLang="zh-CN" sz="4500" dirty="0">
                <a:latin typeface="华文仿宋"/>
                <a:ea typeface="华文仿宋"/>
                <a:cs typeface="华文仿宋"/>
              </a:rPr>
              <a:t>，业务流程管理平台与业务集成平台、企业服务总线共同构成我行未来松耦合架构的中间件支撑体系。随着新一代信息系统建设的开展，基础设施类平台需先行进行建设，并首先满足新一代同期相关业务应用的流程集成和管理需要。作为我行整个服务化架构体系的顶层，业务流程管理平台需要为全行业务流程提供完整的运行保障和管理能力。业务流程管理平台将为新一代信息系统规划的核心战略之一，“实现高效的运营效率”提供强劲的驱动力。总体上有以下两个主要目标：</a:t>
            </a:r>
          </a:p>
          <a:p>
            <a:pPr lvl="0"/>
            <a:r>
              <a:rPr lang="zh-CN" altLang="en-US" sz="4500" dirty="0" smtClean="0">
                <a:latin typeface="华文仿宋"/>
                <a:ea typeface="华文仿宋"/>
                <a:cs typeface="华文仿宋"/>
              </a:rPr>
              <a:t>  </a:t>
            </a:r>
            <a:r>
              <a:rPr lang="en-US" altLang="zh-CN" sz="4500" dirty="0" smtClean="0">
                <a:solidFill>
                  <a:srgbClr val="FF0000"/>
                </a:solidFill>
                <a:latin typeface="华文仿宋"/>
                <a:ea typeface="华文仿宋"/>
                <a:cs typeface="华文仿宋"/>
              </a:rPr>
              <a:t>1.</a:t>
            </a:r>
            <a:r>
              <a:rPr lang="zh-CN" altLang="en-US" sz="4500" dirty="0" smtClean="0">
                <a:solidFill>
                  <a:srgbClr val="FF0000"/>
                </a:solidFill>
                <a:latin typeface="华文仿宋"/>
                <a:ea typeface="华文仿宋"/>
                <a:cs typeface="华文仿宋"/>
              </a:rPr>
              <a:t> </a:t>
            </a:r>
            <a:r>
              <a:rPr lang="zh-CN" altLang="zh-CN" sz="4500" dirty="0" smtClean="0">
                <a:solidFill>
                  <a:srgbClr val="FF0000"/>
                </a:solidFill>
                <a:latin typeface="华文仿宋"/>
                <a:ea typeface="华文仿宋"/>
                <a:cs typeface="华文仿宋"/>
              </a:rPr>
              <a:t>建设业务流</a:t>
            </a:r>
            <a:r>
              <a:rPr lang="zh-CN" altLang="zh-CN" sz="4500" dirty="0">
                <a:solidFill>
                  <a:srgbClr val="FF0000"/>
                </a:solidFill>
                <a:latin typeface="华文仿宋"/>
                <a:ea typeface="华文仿宋"/>
                <a:cs typeface="华文仿宋"/>
              </a:rPr>
              <a:t>程管理平台，实现企业级跨系统流程的支撑能力和接入，以及实现独立应用系统</a:t>
            </a:r>
            <a:r>
              <a:rPr lang="zh-CN" altLang="zh-CN" sz="4500" dirty="0" smtClean="0">
                <a:solidFill>
                  <a:srgbClr val="FF0000"/>
                </a:solidFill>
                <a:latin typeface="华文仿宋"/>
                <a:ea typeface="华文仿宋"/>
                <a:cs typeface="华文仿宋"/>
              </a:rPr>
              <a:t>的</a:t>
            </a:r>
            <a:r>
              <a:rPr lang="zh-CN" altLang="en-US" sz="4500" dirty="0" smtClean="0">
                <a:solidFill>
                  <a:srgbClr val="FF0000"/>
                </a:solidFill>
                <a:latin typeface="华文仿宋"/>
                <a:ea typeface="华文仿宋"/>
                <a:cs typeface="华文仿宋"/>
              </a:rPr>
              <a:t> </a:t>
            </a:r>
            <a:r>
              <a:rPr lang="zh-CN" altLang="zh-CN" sz="4500" dirty="0" smtClean="0">
                <a:solidFill>
                  <a:srgbClr val="FF0000"/>
                </a:solidFill>
                <a:latin typeface="华文仿宋"/>
                <a:ea typeface="华文仿宋"/>
                <a:cs typeface="华文仿宋"/>
              </a:rPr>
              <a:t>流程支撑</a:t>
            </a:r>
            <a:r>
              <a:rPr lang="zh-CN" altLang="zh-CN" sz="4500" dirty="0">
                <a:solidFill>
                  <a:srgbClr val="FF0000"/>
                </a:solidFill>
                <a:latin typeface="华文仿宋"/>
                <a:ea typeface="华文仿宋"/>
                <a:cs typeface="华文仿宋"/>
              </a:rPr>
              <a:t>能力和集成：</a:t>
            </a:r>
          </a:p>
          <a:p>
            <a:r>
              <a:rPr lang="zh-CN" altLang="en-US" sz="4500" dirty="0" smtClean="0">
                <a:solidFill>
                  <a:srgbClr val="FF0000"/>
                </a:solidFill>
                <a:latin typeface="华文仿宋"/>
                <a:ea typeface="华文仿宋"/>
                <a:cs typeface="华文仿宋"/>
              </a:rPr>
              <a:t>  </a:t>
            </a:r>
            <a:r>
              <a:rPr lang="en-US" altLang="zh-CN" sz="4500" dirty="0" smtClean="0">
                <a:solidFill>
                  <a:srgbClr val="FF0000"/>
                </a:solidFill>
                <a:latin typeface="华文仿宋"/>
                <a:ea typeface="华文仿宋"/>
                <a:cs typeface="华文仿宋"/>
              </a:rPr>
              <a:t>2.</a:t>
            </a:r>
            <a:r>
              <a:rPr lang="zh-CN" altLang="en-US" sz="4500" dirty="0" smtClean="0">
                <a:solidFill>
                  <a:srgbClr val="FF0000"/>
                </a:solidFill>
                <a:latin typeface="华文仿宋"/>
                <a:ea typeface="华文仿宋"/>
                <a:cs typeface="华文仿宋"/>
              </a:rPr>
              <a:t> </a:t>
            </a:r>
            <a:r>
              <a:rPr lang="zh-CN" altLang="zh-CN" sz="4500" dirty="0" smtClean="0">
                <a:solidFill>
                  <a:srgbClr val="FF0000"/>
                </a:solidFill>
                <a:latin typeface="华文仿宋"/>
                <a:ea typeface="华文仿宋"/>
                <a:cs typeface="华文仿宋"/>
              </a:rPr>
              <a:t>为业务人员和</a:t>
            </a:r>
            <a:r>
              <a:rPr lang="en-US" altLang="zh-CN" sz="4500" dirty="0" smtClean="0">
                <a:solidFill>
                  <a:srgbClr val="FF0000"/>
                </a:solidFill>
                <a:latin typeface="华文仿宋"/>
                <a:ea typeface="华文仿宋"/>
                <a:cs typeface="华文仿宋"/>
              </a:rPr>
              <a:t> </a:t>
            </a:r>
            <a:r>
              <a:rPr lang="en-US" altLang="zh-CN" sz="4500" dirty="0">
                <a:solidFill>
                  <a:srgbClr val="FF0000"/>
                </a:solidFill>
                <a:latin typeface="华文仿宋"/>
                <a:ea typeface="华文仿宋"/>
                <a:cs typeface="华文仿宋"/>
              </a:rPr>
              <a:t>IT </a:t>
            </a:r>
            <a:r>
              <a:rPr lang="zh-CN" altLang="zh-CN" sz="4500" dirty="0">
                <a:solidFill>
                  <a:srgbClr val="FF0000"/>
                </a:solidFill>
                <a:latin typeface="华文仿宋"/>
                <a:ea typeface="华文仿宋"/>
                <a:cs typeface="华文仿宋"/>
              </a:rPr>
              <a:t>人员提供业务分析和设计的手段，支持简便、可视化和图形化的业务流程建模和规则构建，为业务流程快速实施提供支撑，并且让业务人员更多的投入到流程设计环节中来；</a:t>
            </a:r>
          </a:p>
          <a:p>
            <a:pPr marL="1428750" lvl="1" indent="-685800">
              <a:buFont typeface="Arial"/>
              <a:buChar char="•"/>
            </a:pPr>
            <a:r>
              <a:rPr lang="zh-CN" altLang="zh-CN" sz="4900" dirty="0">
                <a:latin typeface="华文仿宋"/>
                <a:ea typeface="华文仿宋"/>
                <a:cs typeface="华文仿宋"/>
              </a:rPr>
              <a:t>提供运行时的流程执行引擎，实现业务流程统一管理和灵活设置；</a:t>
            </a:r>
          </a:p>
          <a:p>
            <a:pPr marL="1428750" lvl="1" indent="-685800">
              <a:buFont typeface="Arial"/>
              <a:buChar char="•"/>
            </a:pPr>
            <a:r>
              <a:rPr lang="zh-CN" altLang="zh-CN" sz="4900" dirty="0">
                <a:latin typeface="华文仿宋"/>
                <a:ea typeface="华文仿宋"/>
                <a:cs typeface="华文仿宋"/>
              </a:rPr>
              <a:t>提供企业级的统一业务流程监控管理和分析优化，支撑流程持续改进；</a:t>
            </a:r>
          </a:p>
          <a:p>
            <a:pPr marL="1428750" lvl="1" indent="-685800">
              <a:buFont typeface="Arial"/>
              <a:buChar char="•"/>
            </a:pPr>
            <a:r>
              <a:rPr lang="zh-CN" altLang="zh-CN" sz="4900" dirty="0">
                <a:latin typeface="华文仿宋"/>
                <a:ea typeface="华文仿宋"/>
                <a:cs typeface="华文仿宋"/>
              </a:rPr>
              <a:t>制定企业级流程设计、运行、管理、分析优化的统一技术和管理规范，并进行推广</a:t>
            </a:r>
            <a:r>
              <a:rPr lang="zh-CN" altLang="zh-CN" sz="4900" dirty="0" smtClean="0">
                <a:latin typeface="华文仿宋"/>
                <a:ea typeface="华文仿宋"/>
                <a:cs typeface="华文仿宋"/>
              </a:rPr>
              <a:t>。</a:t>
            </a:r>
            <a:endParaRPr lang="en-US" altLang="zh-CN" sz="4900" dirty="0" smtClean="0">
              <a:latin typeface="华文仿宋"/>
              <a:ea typeface="华文仿宋"/>
              <a:cs typeface="华文仿宋"/>
            </a:endParaRPr>
          </a:p>
        </p:txBody>
      </p:sp>
    </p:spTree>
    <p:extLst>
      <p:ext uri="{BB962C8B-B14F-4D97-AF65-F5344CB8AC3E}">
        <p14:creationId xmlns:p14="http://schemas.microsoft.com/office/powerpoint/2010/main" val="15567921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两大目标</a:t>
            </a:r>
            <a:endParaRPr kumimoji="1" lang="zh-CN" altLang="en-US" dirty="0"/>
          </a:p>
        </p:txBody>
      </p:sp>
      <p:pic>
        <p:nvPicPr>
          <p:cNvPr id="5" name="图片 4" descr="21.png"/>
          <p:cNvPicPr>
            <a:picLocks noChangeAspect="1"/>
          </p:cNvPicPr>
          <p:nvPr/>
        </p:nvPicPr>
        <p:blipFill rotWithShape="1">
          <a:blip r:embed="rId3">
            <a:extLst>
              <a:ext uri="{28A0092B-C50C-407E-A947-70E740481C1C}">
                <a14:useLocalDpi xmlns:a14="http://schemas.microsoft.com/office/drawing/2010/main" val="0"/>
              </a:ext>
            </a:extLst>
          </a:blip>
          <a:srcRect l="15192" t="26762" r="10146" b="14935"/>
          <a:stretch/>
        </p:blipFill>
        <p:spPr>
          <a:xfrm>
            <a:off x="1559496" y="1340768"/>
            <a:ext cx="8424936" cy="4176464"/>
          </a:xfrm>
          <a:prstGeom prst="rect">
            <a:avLst/>
          </a:prstGeom>
        </p:spPr>
      </p:pic>
    </p:spTree>
    <p:extLst>
      <p:ext uri="{BB962C8B-B14F-4D97-AF65-F5344CB8AC3E}">
        <p14:creationId xmlns:p14="http://schemas.microsoft.com/office/powerpoint/2010/main" val="1201337517"/>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关键系统</a:t>
            </a:r>
            <a:r>
              <a:rPr kumimoji="1" lang="zh-CN" altLang="en-US" dirty="0" smtClean="0"/>
              <a:t>需求</a:t>
            </a:r>
            <a:endParaRPr kumimoji="1" lang="zh-CN" altLang="en-US" dirty="0"/>
          </a:p>
        </p:txBody>
      </p:sp>
      <p:pic>
        <p:nvPicPr>
          <p:cNvPr id="4" name="图片 3" descr="43.png"/>
          <p:cNvPicPr>
            <a:picLocks noChangeAspect="1"/>
          </p:cNvPicPr>
          <p:nvPr/>
        </p:nvPicPr>
        <p:blipFill rotWithShape="1">
          <a:blip r:embed="rId3">
            <a:extLst>
              <a:ext uri="{28A0092B-C50C-407E-A947-70E740481C1C}">
                <a14:useLocalDpi xmlns:a14="http://schemas.microsoft.com/office/drawing/2010/main" val="0"/>
              </a:ext>
            </a:extLst>
          </a:blip>
          <a:srcRect l="18231" t="25461" r="9713" b="13490"/>
          <a:stretch/>
        </p:blipFill>
        <p:spPr>
          <a:xfrm>
            <a:off x="142595" y="836712"/>
            <a:ext cx="11642037" cy="5472608"/>
          </a:xfrm>
          <a:prstGeom prst="rect">
            <a:avLst/>
          </a:prstGeom>
        </p:spPr>
      </p:pic>
    </p:spTree>
    <p:extLst>
      <p:ext uri="{BB962C8B-B14F-4D97-AF65-F5344CB8AC3E}">
        <p14:creationId xmlns:p14="http://schemas.microsoft.com/office/powerpoint/2010/main" val="565310822"/>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err="1" smtClean="0"/>
              <a:t>围绕BAPO</a:t>
            </a:r>
            <a:r>
              <a:rPr kumimoji="1" lang="zh-CN" altLang="en-US" dirty="0" smtClean="0"/>
              <a:t>思考</a:t>
            </a:r>
            <a:r>
              <a:rPr kumimoji="1" lang="en-US" altLang="en-US" dirty="0" smtClean="0"/>
              <a:t>关键策略，保证项目有效推进</a:t>
            </a:r>
            <a:endParaRPr kumimoji="1" lang="zh-CN" altLang="en-US" dirty="0"/>
          </a:p>
        </p:txBody>
      </p:sp>
      <p:sp>
        <p:nvSpPr>
          <p:cNvPr id="15" name="等腰三角形 14"/>
          <p:cNvSpPr/>
          <p:nvPr/>
        </p:nvSpPr>
        <p:spPr>
          <a:xfrm>
            <a:off x="3431704" y="1844824"/>
            <a:ext cx="4032448" cy="3476249"/>
          </a:xfrm>
          <a:prstGeom prst="triangl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4" name="椭圆 13"/>
          <p:cNvSpPr/>
          <p:nvPr/>
        </p:nvSpPr>
        <p:spPr>
          <a:xfrm>
            <a:off x="2711624" y="4604070"/>
            <a:ext cx="1440160" cy="144016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6" name="椭圆 15"/>
          <p:cNvSpPr/>
          <p:nvPr/>
        </p:nvSpPr>
        <p:spPr>
          <a:xfrm>
            <a:off x="4737868" y="1124744"/>
            <a:ext cx="1440160" cy="144016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7" name="椭圆 16"/>
          <p:cNvSpPr/>
          <p:nvPr/>
        </p:nvSpPr>
        <p:spPr>
          <a:xfrm>
            <a:off x="6744072" y="4600993"/>
            <a:ext cx="1440160" cy="144016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8" name="文本框 17"/>
          <p:cNvSpPr txBox="1"/>
          <p:nvPr/>
        </p:nvSpPr>
        <p:spPr>
          <a:xfrm>
            <a:off x="4871864" y="3717032"/>
            <a:ext cx="1133844" cy="461665"/>
          </a:xfrm>
          <a:prstGeom prst="rect">
            <a:avLst/>
          </a:prstGeom>
          <a:noFill/>
        </p:spPr>
        <p:txBody>
          <a:bodyPr wrap="none" rtlCol="0">
            <a:spAutoFit/>
          </a:bodyPr>
          <a:lstStyle/>
          <a:p>
            <a:r>
              <a:rPr kumimoji="1" lang="en-US" altLang="zh-CN" sz="2400" dirty="0" smtClean="0">
                <a:latin typeface="华文仿宋"/>
                <a:ea typeface="华文仿宋"/>
                <a:cs typeface="华文仿宋"/>
              </a:rPr>
              <a:t>B:</a:t>
            </a:r>
            <a:r>
              <a:rPr kumimoji="1" lang="zh-CN" altLang="en-US" sz="2400" dirty="0" smtClean="0">
                <a:latin typeface="华文仿宋"/>
                <a:ea typeface="华文仿宋"/>
                <a:cs typeface="华文仿宋"/>
              </a:rPr>
              <a:t> 业务</a:t>
            </a:r>
          </a:p>
        </p:txBody>
      </p:sp>
      <p:sp>
        <p:nvSpPr>
          <p:cNvPr id="19" name="文本框 18"/>
          <p:cNvSpPr txBox="1"/>
          <p:nvPr/>
        </p:nvSpPr>
        <p:spPr>
          <a:xfrm>
            <a:off x="4871864" y="1613991"/>
            <a:ext cx="1152925" cy="461665"/>
          </a:xfrm>
          <a:prstGeom prst="rect">
            <a:avLst/>
          </a:prstGeom>
          <a:noFill/>
        </p:spPr>
        <p:txBody>
          <a:bodyPr wrap="none" rtlCol="0">
            <a:spAutoFit/>
          </a:bodyPr>
          <a:lstStyle/>
          <a:p>
            <a:r>
              <a:rPr kumimoji="1" lang="en-US" altLang="zh-CN" sz="2400" dirty="0" smtClean="0">
                <a:latin typeface="华文仿宋"/>
                <a:ea typeface="华文仿宋"/>
                <a:cs typeface="华文仿宋"/>
              </a:rPr>
              <a:t>A:</a:t>
            </a:r>
            <a:r>
              <a:rPr kumimoji="1" lang="zh-CN" altLang="en-US" sz="2400" dirty="0" smtClean="0">
                <a:latin typeface="华文仿宋"/>
                <a:ea typeface="华文仿宋"/>
                <a:cs typeface="华文仿宋"/>
              </a:rPr>
              <a:t> 架构</a:t>
            </a:r>
          </a:p>
        </p:txBody>
      </p:sp>
      <p:sp>
        <p:nvSpPr>
          <p:cNvPr id="20" name="文本框 19"/>
          <p:cNvSpPr txBox="1"/>
          <p:nvPr/>
        </p:nvSpPr>
        <p:spPr>
          <a:xfrm>
            <a:off x="2855241" y="5090240"/>
            <a:ext cx="1117839" cy="461665"/>
          </a:xfrm>
          <a:prstGeom prst="rect">
            <a:avLst/>
          </a:prstGeom>
          <a:noFill/>
        </p:spPr>
        <p:txBody>
          <a:bodyPr wrap="none" rtlCol="0">
            <a:spAutoFit/>
          </a:bodyPr>
          <a:lstStyle/>
          <a:p>
            <a:r>
              <a:rPr kumimoji="1" lang="en-US" altLang="zh-CN" sz="2400" dirty="0" smtClean="0">
                <a:latin typeface="华文仿宋"/>
                <a:ea typeface="华文仿宋"/>
                <a:cs typeface="华文仿宋"/>
              </a:rPr>
              <a:t>P:</a:t>
            </a:r>
            <a:r>
              <a:rPr kumimoji="1" lang="zh-CN" altLang="en-US" sz="2400" dirty="0" smtClean="0">
                <a:latin typeface="华文仿宋"/>
                <a:ea typeface="华文仿宋"/>
                <a:cs typeface="华文仿宋"/>
              </a:rPr>
              <a:t> 流程</a:t>
            </a:r>
          </a:p>
        </p:txBody>
      </p:sp>
      <p:sp>
        <p:nvSpPr>
          <p:cNvPr id="21" name="文本框 20"/>
          <p:cNvSpPr txBox="1"/>
          <p:nvPr/>
        </p:nvSpPr>
        <p:spPr>
          <a:xfrm>
            <a:off x="6905232" y="5090240"/>
            <a:ext cx="1184935" cy="461665"/>
          </a:xfrm>
          <a:prstGeom prst="rect">
            <a:avLst/>
          </a:prstGeom>
          <a:noFill/>
        </p:spPr>
        <p:txBody>
          <a:bodyPr wrap="none" rtlCol="0">
            <a:spAutoFit/>
          </a:bodyPr>
          <a:lstStyle/>
          <a:p>
            <a:r>
              <a:rPr kumimoji="1" lang="en-US" altLang="zh-CN" sz="2400" dirty="0" smtClean="0">
                <a:latin typeface="华文仿宋"/>
                <a:ea typeface="华文仿宋"/>
                <a:cs typeface="华文仿宋"/>
              </a:rPr>
              <a:t>O:</a:t>
            </a:r>
            <a:r>
              <a:rPr kumimoji="1" lang="zh-CN" altLang="en-US" sz="2400" dirty="0" smtClean="0">
                <a:latin typeface="华文仿宋"/>
                <a:ea typeface="华文仿宋"/>
                <a:cs typeface="华文仿宋"/>
              </a:rPr>
              <a:t> 组织</a:t>
            </a:r>
          </a:p>
        </p:txBody>
      </p:sp>
    </p:spTree>
    <p:extLst>
      <p:ext uri="{BB962C8B-B14F-4D97-AF65-F5344CB8AC3E}">
        <p14:creationId xmlns:p14="http://schemas.microsoft.com/office/powerpoint/2010/main" val="1730086409"/>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线箭头连接符 11"/>
          <p:cNvCxnSpPr/>
          <p:nvPr/>
        </p:nvCxnSpPr>
        <p:spPr>
          <a:xfrm flipV="1">
            <a:off x="1415480" y="1628800"/>
            <a:ext cx="9433048" cy="4426263"/>
          </a:xfrm>
          <a:prstGeom prst="straightConnector1">
            <a:avLst/>
          </a:prstGeom>
          <a:ln w="76200" cmpd="sng">
            <a:solidFill>
              <a:srgbClr val="8064A2"/>
            </a:solidFill>
            <a:tailEnd type="arrow"/>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p:txBody>
          <a:bodyPr/>
          <a:lstStyle/>
          <a:p>
            <a:r>
              <a:rPr kumimoji="1" lang="zh-CN" altLang="en-US" dirty="0" smtClean="0"/>
              <a:t>关键策略一（业务范围）：分期建设，快速验证</a:t>
            </a:r>
            <a:endParaRPr kumimoji="1" lang="zh-CN" altLang="en-US" dirty="0"/>
          </a:p>
        </p:txBody>
      </p:sp>
      <p:graphicFrame>
        <p:nvGraphicFramePr>
          <p:cNvPr id="5" name="内容占位符 7"/>
          <p:cNvGraphicFramePr>
            <a:graphicFrameLocks noGrp="1"/>
          </p:cNvGraphicFramePr>
          <p:nvPr>
            <p:ph idx="4294967295"/>
            <p:extLst>
              <p:ext uri="{D42A27DB-BD31-4B8C-83A1-F6EECF244321}">
                <p14:modId xmlns:p14="http://schemas.microsoft.com/office/powerpoint/2010/main" val="1081265677"/>
              </p:ext>
            </p:extLst>
          </p:nvPr>
        </p:nvGraphicFramePr>
        <p:xfrm>
          <a:off x="1657711" y="3861048"/>
          <a:ext cx="4320480" cy="1872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内容占位符 7"/>
          <p:cNvGraphicFramePr>
            <a:graphicFrameLocks/>
          </p:cNvGraphicFramePr>
          <p:nvPr>
            <p:extLst>
              <p:ext uri="{D42A27DB-BD31-4B8C-83A1-F6EECF244321}">
                <p14:modId xmlns:p14="http://schemas.microsoft.com/office/powerpoint/2010/main" val="3959484458"/>
              </p:ext>
            </p:extLst>
          </p:nvPr>
        </p:nvGraphicFramePr>
        <p:xfrm>
          <a:off x="6024512" y="1988840"/>
          <a:ext cx="3815904" cy="1800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7" name="直接箭头连接符 5"/>
          <p:cNvCxnSpPr/>
          <p:nvPr/>
        </p:nvCxnSpPr>
        <p:spPr>
          <a:xfrm flipV="1">
            <a:off x="1415480" y="1124744"/>
            <a:ext cx="0" cy="4930319"/>
          </a:xfrm>
          <a:prstGeom prst="straightConnector1">
            <a:avLst/>
          </a:prstGeom>
          <a:ln w="15875">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415480" y="6055063"/>
            <a:ext cx="9433048" cy="0"/>
          </a:xfrm>
          <a:prstGeom prst="straightConnector1">
            <a:avLst/>
          </a:prstGeom>
          <a:ln w="158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9" name="TextBox 12"/>
          <p:cNvSpPr txBox="1"/>
          <p:nvPr/>
        </p:nvSpPr>
        <p:spPr>
          <a:xfrm>
            <a:off x="1529369" y="1196752"/>
            <a:ext cx="833562" cy="246221"/>
          </a:xfrm>
          <a:prstGeom prst="rect">
            <a:avLst/>
          </a:prstGeom>
          <a:noFill/>
        </p:spPr>
        <p:txBody>
          <a:bodyPr wrap="none" lIns="0" tIns="0" rIns="0" bIns="0" rtlCol="0">
            <a:spAutoFit/>
          </a:bodyPr>
          <a:lstStyle/>
          <a:p>
            <a:r>
              <a:rPr lang="zh-CN" altLang="en-US" sz="1600" b="1" dirty="0" smtClean="0">
                <a:solidFill>
                  <a:schemeClr val="accent1"/>
                </a:solidFill>
                <a:latin typeface="华文仿宋"/>
                <a:ea typeface="华文仿宋"/>
                <a:cs typeface="华文仿宋"/>
              </a:rPr>
              <a:t>能力提升</a:t>
            </a:r>
          </a:p>
        </p:txBody>
      </p:sp>
      <p:sp>
        <p:nvSpPr>
          <p:cNvPr id="10" name="TextBox 14"/>
          <p:cNvSpPr txBox="1"/>
          <p:nvPr/>
        </p:nvSpPr>
        <p:spPr>
          <a:xfrm>
            <a:off x="7819614" y="5733256"/>
            <a:ext cx="1846659" cy="246221"/>
          </a:xfrm>
          <a:prstGeom prst="rect">
            <a:avLst/>
          </a:prstGeom>
          <a:noFill/>
        </p:spPr>
        <p:txBody>
          <a:bodyPr wrap="none" lIns="0" tIns="0" rIns="0" bIns="0" rtlCol="0">
            <a:spAutoFit/>
          </a:bodyPr>
          <a:lstStyle/>
          <a:p>
            <a:r>
              <a:rPr lang="zh-CN" altLang="en-US" sz="1600" b="1" dirty="0" smtClean="0">
                <a:solidFill>
                  <a:schemeClr val="accent1"/>
                </a:solidFill>
                <a:latin typeface="华文仿宋"/>
                <a:ea typeface="华文仿宋"/>
                <a:cs typeface="华文仿宋"/>
              </a:rPr>
              <a:t>新一代建设阶段推进</a:t>
            </a:r>
          </a:p>
        </p:txBody>
      </p:sp>
    </p:spTree>
    <p:extLst>
      <p:ext uri="{BB962C8B-B14F-4D97-AF65-F5344CB8AC3E}">
        <p14:creationId xmlns:p14="http://schemas.microsoft.com/office/powerpoint/2010/main" val="245997157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关键策略二（组织）：</a:t>
            </a:r>
            <a:r>
              <a:rPr kumimoji="1" lang="zh-CN" altLang="en-US" dirty="0" smtClean="0"/>
              <a:t>规范及标准对接方式，明确接口人</a:t>
            </a:r>
            <a:endParaRPr kumimoji="1" lang="zh-CN" altLang="en-US" dirty="0"/>
          </a:p>
        </p:txBody>
      </p:sp>
      <p:sp>
        <p:nvSpPr>
          <p:cNvPr id="4" name="矩形 3"/>
          <p:cNvSpPr/>
          <p:nvPr/>
        </p:nvSpPr>
        <p:spPr bwMode="auto">
          <a:xfrm>
            <a:off x="119336" y="4126143"/>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rPr>
              <a:t>运行平台</a:t>
            </a:r>
          </a:p>
        </p:txBody>
      </p:sp>
      <p:cxnSp>
        <p:nvCxnSpPr>
          <p:cNvPr id="5" name="肘形连接符 4"/>
          <p:cNvCxnSpPr>
            <a:stCxn id="22" idx="2"/>
            <a:endCxn id="4" idx="0"/>
          </p:cNvCxnSpPr>
          <p:nvPr/>
        </p:nvCxnSpPr>
        <p:spPr bwMode="auto">
          <a:xfrm rot="5400000">
            <a:off x="1993629" y="2449429"/>
            <a:ext cx="563042" cy="2790387"/>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6" name="矩形 5"/>
          <p:cNvSpPr/>
          <p:nvPr/>
        </p:nvSpPr>
        <p:spPr bwMode="auto">
          <a:xfrm>
            <a:off x="119336" y="4606035"/>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行方</a:t>
            </a:r>
          </a:p>
        </p:txBody>
      </p:sp>
      <p:sp>
        <p:nvSpPr>
          <p:cNvPr id="7" name="矩形 6"/>
          <p:cNvSpPr/>
          <p:nvPr/>
        </p:nvSpPr>
        <p:spPr bwMode="auto">
          <a:xfrm>
            <a:off x="992576" y="4609153"/>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8" name="矩形 7"/>
          <p:cNvSpPr/>
          <p:nvPr/>
        </p:nvSpPr>
        <p:spPr bwMode="auto">
          <a:xfrm>
            <a:off x="992575" y="4998199"/>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9" name="矩形 8"/>
          <p:cNvSpPr/>
          <p:nvPr/>
        </p:nvSpPr>
        <p:spPr bwMode="auto">
          <a:xfrm>
            <a:off x="992576" y="5387245"/>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10" name="肘形连接符 31"/>
          <p:cNvCxnSpPr>
            <a:stCxn id="4" idx="2"/>
            <a:endCxn id="7" idx="1"/>
          </p:cNvCxnSpPr>
          <p:nvPr/>
        </p:nvCxnSpPr>
        <p:spPr bwMode="auto">
          <a:xfrm rot="16200000" flipH="1">
            <a:off x="802761" y="4563338"/>
            <a:ext cx="267010"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11" name="肘形连接符 33"/>
          <p:cNvCxnSpPr>
            <a:stCxn id="9" idx="1"/>
            <a:endCxn id="4" idx="2"/>
          </p:cNvCxnSpPr>
          <p:nvPr/>
        </p:nvCxnSpPr>
        <p:spPr bwMode="auto">
          <a:xfrm rot="10800000">
            <a:off x="879956" y="4486143"/>
            <a:ext cx="112620" cy="1045102"/>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12" name="肘形连接符 35"/>
          <p:cNvCxnSpPr>
            <a:stCxn id="4" idx="2"/>
            <a:endCxn id="20" idx="1"/>
          </p:cNvCxnSpPr>
          <p:nvPr/>
        </p:nvCxnSpPr>
        <p:spPr bwMode="auto">
          <a:xfrm rot="16200000" flipH="1">
            <a:off x="219191" y="5146907"/>
            <a:ext cx="1434148"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13" name="肘形连接符 37"/>
          <p:cNvCxnSpPr>
            <a:stCxn id="4" idx="2"/>
            <a:endCxn id="21" idx="1"/>
          </p:cNvCxnSpPr>
          <p:nvPr/>
        </p:nvCxnSpPr>
        <p:spPr bwMode="auto">
          <a:xfrm rot="16200000" flipH="1">
            <a:off x="24669" y="5341429"/>
            <a:ext cx="1823193"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14" name="矩形 13"/>
          <p:cNvSpPr/>
          <p:nvPr/>
        </p:nvSpPr>
        <p:spPr bwMode="auto">
          <a:xfrm>
            <a:off x="2738447" y="1898315"/>
            <a:ext cx="1863789" cy="684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项目领导小组</a:t>
            </a:r>
          </a:p>
        </p:txBody>
      </p:sp>
      <p:sp>
        <p:nvSpPr>
          <p:cNvPr id="15" name="矩形 14"/>
          <p:cNvSpPr/>
          <p:nvPr/>
        </p:nvSpPr>
        <p:spPr bwMode="auto">
          <a:xfrm>
            <a:off x="3784417" y="2205632"/>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厂商</a:t>
            </a:r>
            <a:endParaRPr lang="zh-CN" altLang="en-US" sz="1100" b="1" dirty="0">
              <a:solidFill>
                <a:schemeClr val="bg1"/>
              </a:solidFill>
              <a:latin typeface="华文仿宋"/>
              <a:ea typeface="华文仿宋"/>
              <a:cs typeface="华文仿宋"/>
            </a:endParaRPr>
          </a:p>
        </p:txBody>
      </p:sp>
      <p:sp>
        <p:nvSpPr>
          <p:cNvPr id="16" name="矩形 15"/>
          <p:cNvSpPr/>
          <p:nvPr/>
        </p:nvSpPr>
        <p:spPr bwMode="auto">
          <a:xfrm>
            <a:off x="2992249" y="2205267"/>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行方</a:t>
            </a:r>
          </a:p>
        </p:txBody>
      </p:sp>
      <p:sp>
        <p:nvSpPr>
          <p:cNvPr id="17" name="矩形 16"/>
          <p:cNvSpPr/>
          <p:nvPr/>
        </p:nvSpPr>
        <p:spPr bwMode="auto">
          <a:xfrm>
            <a:off x="5226284" y="2349632"/>
            <a:ext cx="1728000" cy="742955"/>
          </a:xfrm>
          <a:prstGeom prst="rect">
            <a:avLst/>
          </a:prstGeom>
          <a:solidFill>
            <a:schemeClr val="tx2">
              <a:lumMod val="40000"/>
              <a:lumOff val="60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项目顾问小组</a:t>
            </a:r>
          </a:p>
        </p:txBody>
      </p:sp>
      <p:sp>
        <p:nvSpPr>
          <p:cNvPr id="18" name="矩形 17"/>
          <p:cNvSpPr/>
          <p:nvPr/>
        </p:nvSpPr>
        <p:spPr bwMode="auto">
          <a:xfrm>
            <a:off x="6168080" y="2709285"/>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厂商</a:t>
            </a:r>
            <a:endParaRPr lang="zh-CN" altLang="en-US" sz="1100" b="1" dirty="0">
              <a:solidFill>
                <a:schemeClr val="bg1"/>
              </a:solidFill>
              <a:latin typeface="华文仿宋"/>
              <a:ea typeface="华文仿宋"/>
              <a:cs typeface="华文仿宋"/>
            </a:endParaRPr>
          </a:p>
        </p:txBody>
      </p:sp>
      <p:sp>
        <p:nvSpPr>
          <p:cNvPr id="19" name="矩形 18"/>
          <p:cNvSpPr/>
          <p:nvPr/>
        </p:nvSpPr>
        <p:spPr bwMode="auto">
          <a:xfrm>
            <a:off x="5389560" y="2708920"/>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行方</a:t>
            </a:r>
          </a:p>
        </p:txBody>
      </p:sp>
      <p:sp>
        <p:nvSpPr>
          <p:cNvPr id="20" name="矩形 19"/>
          <p:cNvSpPr/>
          <p:nvPr/>
        </p:nvSpPr>
        <p:spPr bwMode="auto">
          <a:xfrm>
            <a:off x="992575" y="5776291"/>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21" name="矩形 20"/>
          <p:cNvSpPr/>
          <p:nvPr/>
        </p:nvSpPr>
        <p:spPr bwMode="auto">
          <a:xfrm>
            <a:off x="992575" y="6165336"/>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22" name="矩形 21"/>
          <p:cNvSpPr/>
          <p:nvPr/>
        </p:nvSpPr>
        <p:spPr bwMode="auto">
          <a:xfrm>
            <a:off x="2738449" y="2879101"/>
            <a:ext cx="1863787" cy="684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项目经理</a:t>
            </a:r>
          </a:p>
        </p:txBody>
      </p:sp>
      <p:sp>
        <p:nvSpPr>
          <p:cNvPr id="23" name="矩形 22"/>
          <p:cNvSpPr/>
          <p:nvPr/>
        </p:nvSpPr>
        <p:spPr bwMode="auto">
          <a:xfrm>
            <a:off x="3750235" y="3184268"/>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24" name="矩形 23"/>
          <p:cNvSpPr/>
          <p:nvPr/>
        </p:nvSpPr>
        <p:spPr bwMode="auto">
          <a:xfrm>
            <a:off x="2999342" y="3183903"/>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cxnSp>
        <p:nvCxnSpPr>
          <p:cNvPr id="25" name="肘形连接符 125"/>
          <p:cNvCxnSpPr>
            <a:stCxn id="14" idx="2"/>
            <a:endCxn id="22" idx="0"/>
          </p:cNvCxnSpPr>
          <p:nvPr/>
        </p:nvCxnSpPr>
        <p:spPr bwMode="auto">
          <a:xfrm rot="16200000" flipH="1">
            <a:off x="3521949" y="2730707"/>
            <a:ext cx="296786" cy="1"/>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26" name="肘形连接符 125"/>
          <p:cNvCxnSpPr>
            <a:stCxn id="17" idx="1"/>
          </p:cNvCxnSpPr>
          <p:nvPr/>
        </p:nvCxnSpPr>
        <p:spPr bwMode="auto">
          <a:xfrm rot="10800000" flipV="1">
            <a:off x="3670342" y="2721109"/>
            <a:ext cx="1555943" cy="3"/>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27" name="肘形连接符 31"/>
          <p:cNvCxnSpPr>
            <a:stCxn id="4" idx="2"/>
            <a:endCxn id="8" idx="1"/>
          </p:cNvCxnSpPr>
          <p:nvPr/>
        </p:nvCxnSpPr>
        <p:spPr bwMode="auto">
          <a:xfrm rot="16200000" flipH="1">
            <a:off x="608237" y="4757861"/>
            <a:ext cx="656056"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28" name="肘形连接符 31"/>
          <p:cNvCxnSpPr>
            <a:stCxn id="4" idx="2"/>
            <a:endCxn id="6" idx="3"/>
          </p:cNvCxnSpPr>
          <p:nvPr/>
        </p:nvCxnSpPr>
        <p:spPr bwMode="auto">
          <a:xfrm rot="5400000">
            <a:off x="691700" y="4561779"/>
            <a:ext cx="263892"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29" name="矩形 28"/>
          <p:cNvSpPr/>
          <p:nvPr/>
        </p:nvSpPr>
        <p:spPr bwMode="auto">
          <a:xfrm>
            <a:off x="119336" y="4998198"/>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cxnSp>
        <p:nvCxnSpPr>
          <p:cNvPr id="30" name="肘形连接符 31"/>
          <p:cNvCxnSpPr>
            <a:stCxn id="4" idx="2"/>
            <a:endCxn id="29" idx="3"/>
          </p:cNvCxnSpPr>
          <p:nvPr/>
        </p:nvCxnSpPr>
        <p:spPr bwMode="auto">
          <a:xfrm rot="5400000">
            <a:off x="495619" y="4757860"/>
            <a:ext cx="656055"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31" name="矩形 30"/>
          <p:cNvSpPr/>
          <p:nvPr/>
        </p:nvSpPr>
        <p:spPr bwMode="auto">
          <a:xfrm>
            <a:off x="1977828" y="4126144"/>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rPr>
              <a:t>流程门户</a:t>
            </a:r>
          </a:p>
        </p:txBody>
      </p:sp>
      <p:sp>
        <p:nvSpPr>
          <p:cNvPr id="32" name="矩形 31"/>
          <p:cNvSpPr/>
          <p:nvPr/>
        </p:nvSpPr>
        <p:spPr bwMode="auto">
          <a:xfrm>
            <a:off x="1977828" y="4606036"/>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sp>
        <p:nvSpPr>
          <p:cNvPr id="33" name="矩形 32"/>
          <p:cNvSpPr/>
          <p:nvPr/>
        </p:nvSpPr>
        <p:spPr bwMode="auto">
          <a:xfrm>
            <a:off x="2851068" y="4609154"/>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34" name="矩形 33"/>
          <p:cNvSpPr/>
          <p:nvPr/>
        </p:nvSpPr>
        <p:spPr bwMode="auto">
          <a:xfrm>
            <a:off x="2851067" y="4998200"/>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35" name="矩形 34"/>
          <p:cNvSpPr/>
          <p:nvPr/>
        </p:nvSpPr>
        <p:spPr bwMode="auto">
          <a:xfrm>
            <a:off x="2851068" y="5387246"/>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36" name="肘形连接符 31"/>
          <p:cNvCxnSpPr>
            <a:stCxn id="31" idx="2"/>
            <a:endCxn id="33" idx="1"/>
          </p:cNvCxnSpPr>
          <p:nvPr/>
        </p:nvCxnSpPr>
        <p:spPr bwMode="auto">
          <a:xfrm rot="16200000" flipH="1">
            <a:off x="2661253" y="4563339"/>
            <a:ext cx="267010"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37" name="肘形连接符 33"/>
          <p:cNvCxnSpPr>
            <a:stCxn id="35" idx="1"/>
            <a:endCxn id="31" idx="2"/>
          </p:cNvCxnSpPr>
          <p:nvPr/>
        </p:nvCxnSpPr>
        <p:spPr bwMode="auto">
          <a:xfrm rot="10800000">
            <a:off x="2738448" y="4486144"/>
            <a:ext cx="112620" cy="1045102"/>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38" name="肘形连接符 35"/>
          <p:cNvCxnSpPr>
            <a:stCxn id="31" idx="2"/>
            <a:endCxn id="39" idx="1"/>
          </p:cNvCxnSpPr>
          <p:nvPr/>
        </p:nvCxnSpPr>
        <p:spPr bwMode="auto">
          <a:xfrm rot="16200000" flipH="1">
            <a:off x="2077683" y="5146908"/>
            <a:ext cx="1434148"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39" name="矩形 38"/>
          <p:cNvSpPr/>
          <p:nvPr/>
        </p:nvSpPr>
        <p:spPr bwMode="auto">
          <a:xfrm>
            <a:off x="2851067" y="5776292"/>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40" name="肘形连接符 31"/>
          <p:cNvCxnSpPr>
            <a:stCxn id="31" idx="2"/>
            <a:endCxn id="34" idx="1"/>
          </p:cNvCxnSpPr>
          <p:nvPr/>
        </p:nvCxnSpPr>
        <p:spPr bwMode="auto">
          <a:xfrm rot="16200000" flipH="1">
            <a:off x="2466729" y="4757862"/>
            <a:ext cx="656056"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41" name="肘形连接符 31"/>
          <p:cNvCxnSpPr>
            <a:stCxn id="31" idx="2"/>
            <a:endCxn id="32" idx="3"/>
          </p:cNvCxnSpPr>
          <p:nvPr/>
        </p:nvCxnSpPr>
        <p:spPr bwMode="auto">
          <a:xfrm rot="5400000">
            <a:off x="2550192" y="4561780"/>
            <a:ext cx="263892"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42" name="矩形 41"/>
          <p:cNvSpPr/>
          <p:nvPr/>
        </p:nvSpPr>
        <p:spPr bwMode="auto">
          <a:xfrm>
            <a:off x="1977828" y="4998199"/>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cxnSp>
        <p:nvCxnSpPr>
          <p:cNvPr id="43" name="肘形连接符 31"/>
          <p:cNvCxnSpPr>
            <a:stCxn id="31" idx="2"/>
            <a:endCxn id="42" idx="3"/>
          </p:cNvCxnSpPr>
          <p:nvPr/>
        </p:nvCxnSpPr>
        <p:spPr bwMode="auto">
          <a:xfrm rot="5400000">
            <a:off x="2354111" y="4757861"/>
            <a:ext cx="656055"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44" name="矩形 43"/>
          <p:cNvSpPr/>
          <p:nvPr/>
        </p:nvSpPr>
        <p:spPr bwMode="auto">
          <a:xfrm>
            <a:off x="3841615" y="4126141"/>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rPr>
              <a:t>设计开发环境</a:t>
            </a:r>
          </a:p>
        </p:txBody>
      </p:sp>
      <p:sp>
        <p:nvSpPr>
          <p:cNvPr id="45" name="矩形 44"/>
          <p:cNvSpPr/>
          <p:nvPr/>
        </p:nvSpPr>
        <p:spPr bwMode="auto">
          <a:xfrm>
            <a:off x="3841615" y="4606033"/>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sp>
        <p:nvSpPr>
          <p:cNvPr id="46" name="矩形 45"/>
          <p:cNvSpPr/>
          <p:nvPr/>
        </p:nvSpPr>
        <p:spPr bwMode="auto">
          <a:xfrm>
            <a:off x="4714855" y="4609151"/>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47" name="矩形 46"/>
          <p:cNvSpPr/>
          <p:nvPr/>
        </p:nvSpPr>
        <p:spPr bwMode="auto">
          <a:xfrm>
            <a:off x="4714854" y="4998197"/>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48" name="矩形 47"/>
          <p:cNvSpPr/>
          <p:nvPr/>
        </p:nvSpPr>
        <p:spPr bwMode="auto">
          <a:xfrm>
            <a:off x="4714855" y="5387243"/>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49" name="肘形连接符 31"/>
          <p:cNvCxnSpPr>
            <a:stCxn id="44" idx="2"/>
            <a:endCxn id="46" idx="1"/>
          </p:cNvCxnSpPr>
          <p:nvPr/>
        </p:nvCxnSpPr>
        <p:spPr bwMode="auto">
          <a:xfrm rot="16200000" flipH="1">
            <a:off x="4525040" y="4563336"/>
            <a:ext cx="267010"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50" name="肘形连接符 33"/>
          <p:cNvCxnSpPr>
            <a:stCxn id="48" idx="1"/>
            <a:endCxn id="44" idx="2"/>
          </p:cNvCxnSpPr>
          <p:nvPr/>
        </p:nvCxnSpPr>
        <p:spPr bwMode="auto">
          <a:xfrm rot="10800000">
            <a:off x="4602235" y="4486141"/>
            <a:ext cx="112620" cy="1045102"/>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51" name="肘形连接符 31"/>
          <p:cNvCxnSpPr>
            <a:stCxn id="44" idx="2"/>
            <a:endCxn id="47" idx="1"/>
          </p:cNvCxnSpPr>
          <p:nvPr/>
        </p:nvCxnSpPr>
        <p:spPr bwMode="auto">
          <a:xfrm rot="16200000" flipH="1">
            <a:off x="4330516" y="4757859"/>
            <a:ext cx="656056"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52" name="肘形连接符 31"/>
          <p:cNvCxnSpPr>
            <a:stCxn id="44" idx="2"/>
            <a:endCxn id="45" idx="3"/>
          </p:cNvCxnSpPr>
          <p:nvPr/>
        </p:nvCxnSpPr>
        <p:spPr bwMode="auto">
          <a:xfrm rot="5400000">
            <a:off x="4413979" y="4561777"/>
            <a:ext cx="263892"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53" name="矩形 52"/>
          <p:cNvSpPr/>
          <p:nvPr/>
        </p:nvSpPr>
        <p:spPr bwMode="auto">
          <a:xfrm>
            <a:off x="3841615" y="4998196"/>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cxnSp>
        <p:nvCxnSpPr>
          <p:cNvPr id="54" name="肘形连接符 31"/>
          <p:cNvCxnSpPr>
            <a:stCxn id="44" idx="2"/>
            <a:endCxn id="53" idx="3"/>
          </p:cNvCxnSpPr>
          <p:nvPr/>
        </p:nvCxnSpPr>
        <p:spPr bwMode="auto">
          <a:xfrm rot="5400000">
            <a:off x="4217898" y="4757858"/>
            <a:ext cx="656055"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55" name="矩形 54"/>
          <p:cNvSpPr/>
          <p:nvPr/>
        </p:nvSpPr>
        <p:spPr bwMode="auto">
          <a:xfrm>
            <a:off x="5726888" y="4126142"/>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000" b="1" baseline="-25000" dirty="0" smtClean="0">
                <a:solidFill>
                  <a:schemeClr val="tx1">
                    <a:lumMod val="50000"/>
                  </a:schemeClr>
                </a:solidFill>
                <a:latin typeface="华文仿宋"/>
                <a:ea typeface="华文仿宋"/>
                <a:cs typeface="华文仿宋"/>
              </a:rPr>
              <a:t>流程集成及规范</a:t>
            </a:r>
            <a:endPar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endParaRPr>
          </a:p>
        </p:txBody>
      </p:sp>
      <p:sp>
        <p:nvSpPr>
          <p:cNvPr id="56" name="矩形 55"/>
          <p:cNvSpPr/>
          <p:nvPr/>
        </p:nvSpPr>
        <p:spPr bwMode="auto">
          <a:xfrm>
            <a:off x="5726888" y="4606034"/>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sp>
        <p:nvSpPr>
          <p:cNvPr id="57" name="矩形 56"/>
          <p:cNvSpPr/>
          <p:nvPr/>
        </p:nvSpPr>
        <p:spPr bwMode="auto">
          <a:xfrm>
            <a:off x="6600128" y="4609152"/>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58" name="矩形 57"/>
          <p:cNvSpPr/>
          <p:nvPr/>
        </p:nvSpPr>
        <p:spPr bwMode="auto">
          <a:xfrm>
            <a:off x="6600127" y="4998198"/>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59" name="矩形 58"/>
          <p:cNvSpPr/>
          <p:nvPr/>
        </p:nvSpPr>
        <p:spPr bwMode="auto">
          <a:xfrm>
            <a:off x="6600128" y="5387244"/>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厂商</a:t>
            </a:r>
            <a:endParaRPr lang="zh-CN" altLang="en-US" sz="1100" b="1" dirty="0">
              <a:solidFill>
                <a:schemeClr val="bg1"/>
              </a:solidFill>
              <a:latin typeface="华文仿宋"/>
              <a:ea typeface="华文仿宋"/>
              <a:cs typeface="华文仿宋"/>
            </a:endParaRPr>
          </a:p>
        </p:txBody>
      </p:sp>
      <p:cxnSp>
        <p:nvCxnSpPr>
          <p:cNvPr id="60" name="肘形连接符 31"/>
          <p:cNvCxnSpPr>
            <a:stCxn id="55" idx="2"/>
            <a:endCxn id="57" idx="1"/>
          </p:cNvCxnSpPr>
          <p:nvPr/>
        </p:nvCxnSpPr>
        <p:spPr bwMode="auto">
          <a:xfrm rot="16200000" flipH="1">
            <a:off x="6410313" y="4563337"/>
            <a:ext cx="267010"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61" name="肘形连接符 33"/>
          <p:cNvCxnSpPr>
            <a:stCxn id="59" idx="1"/>
            <a:endCxn id="55" idx="2"/>
          </p:cNvCxnSpPr>
          <p:nvPr/>
        </p:nvCxnSpPr>
        <p:spPr bwMode="auto">
          <a:xfrm rot="10800000">
            <a:off x="6487508" y="4486142"/>
            <a:ext cx="112620" cy="1045102"/>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62" name="肘形连接符 35"/>
          <p:cNvCxnSpPr>
            <a:stCxn id="55" idx="2"/>
            <a:endCxn id="64" idx="1"/>
          </p:cNvCxnSpPr>
          <p:nvPr/>
        </p:nvCxnSpPr>
        <p:spPr bwMode="auto">
          <a:xfrm rot="16200000" flipH="1">
            <a:off x="5826743" y="5146906"/>
            <a:ext cx="1434148"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63" name="肘形连接符 37"/>
          <p:cNvCxnSpPr>
            <a:stCxn id="55" idx="2"/>
            <a:endCxn id="65" idx="1"/>
          </p:cNvCxnSpPr>
          <p:nvPr/>
        </p:nvCxnSpPr>
        <p:spPr bwMode="auto">
          <a:xfrm rot="16200000" flipH="1">
            <a:off x="5632221" y="5341428"/>
            <a:ext cx="1823193"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64" name="矩形 63"/>
          <p:cNvSpPr/>
          <p:nvPr/>
        </p:nvSpPr>
        <p:spPr bwMode="auto">
          <a:xfrm>
            <a:off x="6600127" y="5776290"/>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sp>
        <p:nvSpPr>
          <p:cNvPr id="65" name="矩形 64"/>
          <p:cNvSpPr/>
          <p:nvPr/>
        </p:nvSpPr>
        <p:spPr bwMode="auto">
          <a:xfrm>
            <a:off x="6600127" y="6165335"/>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66" name="肘形连接符 31"/>
          <p:cNvCxnSpPr>
            <a:stCxn id="55" idx="2"/>
            <a:endCxn id="58" idx="1"/>
          </p:cNvCxnSpPr>
          <p:nvPr/>
        </p:nvCxnSpPr>
        <p:spPr bwMode="auto">
          <a:xfrm rot="16200000" flipH="1">
            <a:off x="6215789" y="4757860"/>
            <a:ext cx="656056" cy="112619"/>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67" name="肘形连接符 31"/>
          <p:cNvCxnSpPr>
            <a:stCxn id="55" idx="2"/>
            <a:endCxn id="56" idx="3"/>
          </p:cNvCxnSpPr>
          <p:nvPr/>
        </p:nvCxnSpPr>
        <p:spPr bwMode="auto">
          <a:xfrm rot="5400000">
            <a:off x="6299252" y="4561778"/>
            <a:ext cx="263892"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68" name="矩形 67"/>
          <p:cNvSpPr/>
          <p:nvPr/>
        </p:nvSpPr>
        <p:spPr bwMode="auto">
          <a:xfrm>
            <a:off x="5726888" y="4998197"/>
            <a:ext cx="648000"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cxnSp>
        <p:nvCxnSpPr>
          <p:cNvPr id="69" name="肘形连接符 31"/>
          <p:cNvCxnSpPr>
            <a:stCxn id="55" idx="2"/>
            <a:endCxn id="68" idx="3"/>
          </p:cNvCxnSpPr>
          <p:nvPr/>
        </p:nvCxnSpPr>
        <p:spPr bwMode="auto">
          <a:xfrm rot="5400000">
            <a:off x="6103171" y="4757859"/>
            <a:ext cx="656055" cy="112620"/>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70" name="肘形连接符 69"/>
          <p:cNvCxnSpPr>
            <a:stCxn id="22" idx="2"/>
            <a:endCxn id="31" idx="0"/>
          </p:cNvCxnSpPr>
          <p:nvPr/>
        </p:nvCxnSpPr>
        <p:spPr bwMode="auto">
          <a:xfrm rot="5400000">
            <a:off x="2922875" y="3378675"/>
            <a:ext cx="563043" cy="931895"/>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71" name="肘形连接符 70"/>
          <p:cNvCxnSpPr>
            <a:stCxn id="22" idx="2"/>
            <a:endCxn id="44" idx="0"/>
          </p:cNvCxnSpPr>
          <p:nvPr/>
        </p:nvCxnSpPr>
        <p:spPr bwMode="auto">
          <a:xfrm rot="16200000" flipH="1">
            <a:off x="3854769" y="3378675"/>
            <a:ext cx="563040" cy="931892"/>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72" name="肘形连接符 71"/>
          <p:cNvCxnSpPr>
            <a:stCxn id="22" idx="2"/>
            <a:endCxn id="55" idx="0"/>
          </p:cNvCxnSpPr>
          <p:nvPr/>
        </p:nvCxnSpPr>
        <p:spPr bwMode="auto">
          <a:xfrm rot="16200000" flipH="1">
            <a:off x="4797405" y="2436038"/>
            <a:ext cx="563041" cy="2817165"/>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73" name="矩形 72"/>
          <p:cNvSpPr/>
          <p:nvPr/>
        </p:nvSpPr>
        <p:spPr bwMode="auto">
          <a:xfrm>
            <a:off x="2851069" y="6165336"/>
            <a:ext cx="648000" cy="28800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厂商</a:t>
            </a:r>
          </a:p>
        </p:txBody>
      </p:sp>
      <p:cxnSp>
        <p:nvCxnSpPr>
          <p:cNvPr id="74" name="肘形连接符 35"/>
          <p:cNvCxnSpPr>
            <a:stCxn id="31" idx="2"/>
            <a:endCxn id="73" idx="1"/>
          </p:cNvCxnSpPr>
          <p:nvPr/>
        </p:nvCxnSpPr>
        <p:spPr bwMode="auto">
          <a:xfrm rot="16200000" flipH="1">
            <a:off x="1883162" y="5341429"/>
            <a:ext cx="1823192" cy="112621"/>
          </a:xfrm>
          <a:prstGeom prst="bentConnector2">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2" name="文本框 1"/>
          <p:cNvSpPr txBox="1"/>
          <p:nvPr/>
        </p:nvSpPr>
        <p:spPr>
          <a:xfrm>
            <a:off x="3220095" y="1124744"/>
            <a:ext cx="1363737" cy="369332"/>
          </a:xfrm>
          <a:prstGeom prst="rect">
            <a:avLst/>
          </a:prstGeom>
          <a:noFill/>
        </p:spPr>
        <p:txBody>
          <a:bodyPr wrap="none" rtlCol="0">
            <a:spAutoFit/>
          </a:bodyPr>
          <a:lstStyle/>
          <a:p>
            <a:r>
              <a:rPr kumimoji="1" lang="zh-CN" altLang="en-US" b="1" dirty="0" smtClean="0">
                <a:latin typeface="华文仿宋"/>
                <a:ea typeface="华文仿宋"/>
                <a:cs typeface="华文仿宋"/>
              </a:rPr>
              <a:t>平台项目组</a:t>
            </a:r>
          </a:p>
        </p:txBody>
      </p:sp>
      <p:sp>
        <p:nvSpPr>
          <p:cNvPr id="75" name="圆角矩形 74"/>
          <p:cNvSpPr/>
          <p:nvPr/>
        </p:nvSpPr>
        <p:spPr>
          <a:xfrm>
            <a:off x="5519936" y="3563101"/>
            <a:ext cx="2160240" cy="3034251"/>
          </a:xfrm>
          <a:prstGeom prst="roundRect">
            <a:avLst>
              <a:gd name="adj" fmla="val 10703"/>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76" name="文本框 75"/>
          <p:cNvSpPr txBox="1"/>
          <p:nvPr/>
        </p:nvSpPr>
        <p:spPr>
          <a:xfrm>
            <a:off x="5933511" y="3563101"/>
            <a:ext cx="1107996" cy="369332"/>
          </a:xfrm>
          <a:prstGeom prst="rect">
            <a:avLst/>
          </a:prstGeom>
          <a:noFill/>
        </p:spPr>
        <p:txBody>
          <a:bodyPr wrap="none" rtlCol="0">
            <a:spAutoFit/>
          </a:bodyPr>
          <a:lstStyle/>
          <a:p>
            <a:r>
              <a:rPr kumimoji="1" lang="zh-CN" altLang="en-US" dirty="0" smtClean="0">
                <a:solidFill>
                  <a:srgbClr val="FF0000"/>
                </a:solidFill>
                <a:latin typeface="华文仿宋"/>
                <a:ea typeface="华文仿宋"/>
                <a:cs typeface="华文仿宋"/>
              </a:rPr>
              <a:t>非常关键</a:t>
            </a:r>
          </a:p>
        </p:txBody>
      </p:sp>
      <p:cxnSp>
        <p:nvCxnSpPr>
          <p:cNvPr id="80" name="直线连接符 79"/>
          <p:cNvCxnSpPr/>
          <p:nvPr/>
        </p:nvCxnSpPr>
        <p:spPr>
          <a:xfrm>
            <a:off x="8040216" y="1124744"/>
            <a:ext cx="0" cy="5472608"/>
          </a:xfrm>
          <a:prstGeom prst="line">
            <a:avLst/>
          </a:prstGeom>
          <a:ln w="158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9048328" y="1124744"/>
            <a:ext cx="1800493" cy="369332"/>
          </a:xfrm>
          <a:prstGeom prst="rect">
            <a:avLst/>
          </a:prstGeom>
          <a:noFill/>
        </p:spPr>
        <p:txBody>
          <a:bodyPr wrap="none" rtlCol="0">
            <a:spAutoFit/>
          </a:bodyPr>
          <a:lstStyle/>
          <a:p>
            <a:r>
              <a:rPr kumimoji="1" lang="zh-CN" altLang="en-US" b="1" dirty="0" smtClean="0">
                <a:latin typeface="华文仿宋"/>
                <a:ea typeface="华文仿宋"/>
                <a:cs typeface="华文仿宋"/>
              </a:rPr>
              <a:t>业务系统项目组</a:t>
            </a:r>
          </a:p>
        </p:txBody>
      </p:sp>
      <p:sp>
        <p:nvSpPr>
          <p:cNvPr id="83" name="矩形 82"/>
          <p:cNvSpPr/>
          <p:nvPr/>
        </p:nvSpPr>
        <p:spPr bwMode="auto">
          <a:xfrm>
            <a:off x="8688360" y="4221088"/>
            <a:ext cx="1800128"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项目经理</a:t>
            </a:r>
            <a:r>
              <a:rPr lang="zh-CN" altLang="zh-CN" sz="1100" b="1" dirty="0" smtClean="0">
                <a:solidFill>
                  <a:schemeClr val="bg1"/>
                </a:solidFill>
                <a:latin typeface="华文仿宋"/>
                <a:ea typeface="华文仿宋"/>
                <a:cs typeface="华文仿宋"/>
              </a:rPr>
              <a:t>（</a:t>
            </a:r>
            <a:r>
              <a:rPr lang="zh-CN" altLang="en-US" sz="1100" b="1" dirty="0" smtClean="0">
                <a:solidFill>
                  <a:schemeClr val="bg1"/>
                </a:solidFill>
                <a:latin typeface="华文仿宋"/>
                <a:ea typeface="华文仿宋"/>
                <a:cs typeface="华文仿宋"/>
              </a:rPr>
              <a:t>行方）</a:t>
            </a:r>
            <a:endParaRPr lang="zh-CN" altLang="en-US" sz="1100" b="1" dirty="0">
              <a:solidFill>
                <a:schemeClr val="bg1"/>
              </a:solidFill>
              <a:latin typeface="华文仿宋"/>
              <a:ea typeface="华文仿宋"/>
              <a:cs typeface="华文仿宋"/>
            </a:endParaRPr>
          </a:p>
        </p:txBody>
      </p:sp>
      <p:sp>
        <p:nvSpPr>
          <p:cNvPr id="84" name="矩形 83"/>
          <p:cNvSpPr/>
          <p:nvPr/>
        </p:nvSpPr>
        <p:spPr bwMode="auto">
          <a:xfrm>
            <a:off x="8693238" y="4710166"/>
            <a:ext cx="1800128" cy="576030"/>
          </a:xfrm>
          <a:prstGeom prst="rect">
            <a:avLst/>
          </a:prstGeom>
        </p:spPr>
        <p:style>
          <a:lnRef idx="1">
            <a:schemeClr val="accent5"/>
          </a:lnRef>
          <a:fillRef idx="3">
            <a:schemeClr val="accent5"/>
          </a:fillRef>
          <a:effectRef idx="2">
            <a:schemeClr val="accent5"/>
          </a:effectRef>
          <a:fontRef idx="minor">
            <a:schemeClr val="lt1"/>
          </a:fontRef>
        </p:style>
        <p:txBody>
          <a:bodyPr wrap="square" lIns="0" tIns="0" rIns="0" bIns="0" rtlCol="0" anchor="ctr" anchorCtr="0">
            <a:noAutofit/>
          </a:bodyPr>
          <a:lstStyle/>
          <a:p>
            <a:pPr algn="ctr"/>
            <a:r>
              <a:rPr lang="zh-CN" altLang="en-US" sz="1100" b="1" dirty="0">
                <a:solidFill>
                  <a:schemeClr val="bg1"/>
                </a:solidFill>
                <a:latin typeface="华文仿宋"/>
                <a:ea typeface="华文仿宋"/>
                <a:cs typeface="华文仿宋"/>
              </a:rPr>
              <a:t>架构师</a:t>
            </a:r>
            <a:r>
              <a:rPr lang="en-US" altLang="zh-CN" sz="1100" b="1" dirty="0">
                <a:solidFill>
                  <a:schemeClr val="bg1"/>
                </a:solidFill>
                <a:latin typeface="华文仿宋"/>
                <a:ea typeface="华文仿宋"/>
                <a:cs typeface="华文仿宋"/>
              </a:rPr>
              <a:t>/</a:t>
            </a:r>
            <a:r>
              <a:rPr lang="zh-CN" altLang="en-US" sz="1100" b="1" dirty="0">
                <a:solidFill>
                  <a:schemeClr val="bg1"/>
                </a:solidFill>
                <a:latin typeface="华文仿宋"/>
                <a:ea typeface="华文仿宋"/>
                <a:cs typeface="华文仿宋"/>
              </a:rPr>
              <a:t>开发经理</a:t>
            </a:r>
            <a:endParaRPr lang="en-US" altLang="zh-CN" sz="1100" b="1" dirty="0">
              <a:solidFill>
                <a:schemeClr val="bg1"/>
              </a:solidFill>
              <a:latin typeface="华文仿宋"/>
              <a:ea typeface="华文仿宋"/>
              <a:cs typeface="华文仿宋"/>
            </a:endParaRPr>
          </a:p>
          <a:p>
            <a:pPr algn="ctr"/>
            <a:r>
              <a:rPr lang="zh-CN" altLang="zh-CN" sz="1100" b="1" dirty="0">
                <a:solidFill>
                  <a:schemeClr val="bg1"/>
                </a:solidFill>
                <a:latin typeface="华文仿宋"/>
                <a:ea typeface="华文仿宋"/>
                <a:cs typeface="华文仿宋"/>
              </a:rPr>
              <a:t>（</a:t>
            </a:r>
            <a:r>
              <a:rPr lang="zh-CN" altLang="en-US" sz="1100" b="1" dirty="0">
                <a:solidFill>
                  <a:schemeClr val="bg1"/>
                </a:solidFill>
                <a:latin typeface="华文仿宋"/>
                <a:ea typeface="华文仿宋"/>
                <a:cs typeface="华文仿宋"/>
              </a:rPr>
              <a:t>厂商</a:t>
            </a:r>
            <a:r>
              <a:rPr lang="en-US" altLang="zh-CN" sz="1100" b="1" dirty="0">
                <a:solidFill>
                  <a:schemeClr val="bg1"/>
                </a:solidFill>
                <a:latin typeface="华文仿宋"/>
                <a:ea typeface="华文仿宋"/>
                <a:cs typeface="华文仿宋"/>
              </a:rPr>
              <a:t>/</a:t>
            </a:r>
            <a:r>
              <a:rPr lang="zh-CN" altLang="en-US" sz="1100" b="1" dirty="0">
                <a:solidFill>
                  <a:schemeClr val="bg1"/>
                </a:solidFill>
                <a:latin typeface="华文仿宋"/>
                <a:ea typeface="华文仿宋"/>
                <a:cs typeface="华文仿宋"/>
              </a:rPr>
              <a:t>行方）</a:t>
            </a:r>
          </a:p>
        </p:txBody>
      </p:sp>
      <p:sp>
        <p:nvSpPr>
          <p:cNvPr id="85" name="圆角矩形 84"/>
          <p:cNvSpPr/>
          <p:nvPr/>
        </p:nvSpPr>
        <p:spPr>
          <a:xfrm>
            <a:off x="8472264" y="3563101"/>
            <a:ext cx="2160240" cy="3034251"/>
          </a:xfrm>
          <a:prstGeom prst="roundRect">
            <a:avLst>
              <a:gd name="adj" fmla="val 10703"/>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86" name="文本框 85"/>
          <p:cNvSpPr txBox="1"/>
          <p:nvPr/>
        </p:nvSpPr>
        <p:spPr>
          <a:xfrm>
            <a:off x="8948444" y="3635732"/>
            <a:ext cx="1107996" cy="369332"/>
          </a:xfrm>
          <a:prstGeom prst="rect">
            <a:avLst/>
          </a:prstGeom>
          <a:noFill/>
        </p:spPr>
        <p:txBody>
          <a:bodyPr wrap="none" rtlCol="0">
            <a:spAutoFit/>
          </a:bodyPr>
          <a:lstStyle/>
          <a:p>
            <a:r>
              <a:rPr kumimoji="1" lang="zh-CN" altLang="en-US" dirty="0" smtClean="0">
                <a:solidFill>
                  <a:srgbClr val="FF0000"/>
                </a:solidFill>
                <a:latin typeface="华文仿宋"/>
                <a:ea typeface="华文仿宋"/>
                <a:cs typeface="华文仿宋"/>
              </a:rPr>
              <a:t>非常关键</a:t>
            </a:r>
          </a:p>
        </p:txBody>
      </p:sp>
      <p:cxnSp>
        <p:nvCxnSpPr>
          <p:cNvPr id="88" name="直线连接符 87"/>
          <p:cNvCxnSpPr>
            <a:stCxn id="75" idx="3"/>
            <a:endCxn id="85" idx="1"/>
          </p:cNvCxnSpPr>
          <p:nvPr/>
        </p:nvCxnSpPr>
        <p:spPr>
          <a:xfrm>
            <a:off x="7680176" y="5080227"/>
            <a:ext cx="792088" cy="0"/>
          </a:xfrm>
          <a:prstGeom prst="line">
            <a:avLst/>
          </a:prstGeom>
          <a:ln w="28575" cmpd="sng">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339641" y="2212940"/>
            <a:ext cx="2031325" cy="369332"/>
          </a:xfrm>
          <a:prstGeom prst="rect">
            <a:avLst/>
          </a:prstGeom>
          <a:noFill/>
        </p:spPr>
        <p:txBody>
          <a:bodyPr wrap="none" rtlCol="0">
            <a:spAutoFit/>
          </a:bodyPr>
          <a:lstStyle/>
          <a:p>
            <a:r>
              <a:rPr kumimoji="1" lang="zh-CN" altLang="en-US" dirty="0" smtClean="0">
                <a:latin typeface="华文仿宋"/>
                <a:ea typeface="华文仿宋"/>
                <a:cs typeface="华文仿宋"/>
              </a:rPr>
              <a:t>新一代架构部牵头</a:t>
            </a:r>
          </a:p>
        </p:txBody>
      </p:sp>
      <p:cxnSp>
        <p:nvCxnSpPr>
          <p:cNvPr id="93" name="肘形连接符 92"/>
          <p:cNvCxnSpPr>
            <a:stCxn id="89" idx="2"/>
            <a:endCxn id="22" idx="1"/>
          </p:cNvCxnSpPr>
          <p:nvPr/>
        </p:nvCxnSpPr>
        <p:spPr>
          <a:xfrm rot="16200000" flipH="1">
            <a:off x="1727462" y="2210113"/>
            <a:ext cx="638829" cy="1383145"/>
          </a:xfrm>
          <a:prstGeom prst="bentConnector2">
            <a:avLst/>
          </a:prstGeom>
          <a:ln w="158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07049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关键策略二（组织）：</a:t>
            </a:r>
            <a:r>
              <a:rPr kumimoji="1" lang="zh-CN" altLang="en-US" dirty="0" smtClean="0"/>
              <a:t>产物示例</a:t>
            </a:r>
            <a:endParaRPr kumimoji="1" lang="zh-CN" altLang="en-US" dirty="0"/>
          </a:p>
        </p:txBody>
      </p:sp>
      <p:pic>
        <p:nvPicPr>
          <p:cNvPr id="77" name="图片 76" descr="屏幕快照 2016-04-15 上午1.50.4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6712"/>
            <a:ext cx="8135076" cy="6072602"/>
          </a:xfrm>
          <a:prstGeom prst="rect">
            <a:avLst/>
          </a:prstGeom>
        </p:spPr>
      </p:pic>
      <p:sp>
        <p:nvSpPr>
          <p:cNvPr id="79" name="文本框 78"/>
          <p:cNvSpPr txBox="1"/>
          <p:nvPr/>
        </p:nvSpPr>
        <p:spPr>
          <a:xfrm>
            <a:off x="2855640" y="4006805"/>
            <a:ext cx="2339102" cy="523220"/>
          </a:xfrm>
          <a:prstGeom prst="rect">
            <a:avLst/>
          </a:prstGeom>
          <a:noFill/>
        </p:spPr>
        <p:txBody>
          <a:bodyPr wrap="none" rtlCol="0">
            <a:spAutoFit/>
          </a:bodyPr>
          <a:lstStyle/>
          <a:p>
            <a:r>
              <a:rPr kumimoji="1" lang="zh-CN" altLang="en-US" sz="2800" b="1" dirty="0" smtClean="0">
                <a:solidFill>
                  <a:srgbClr val="FF0000"/>
                </a:solidFill>
                <a:latin typeface="华文仿宋"/>
                <a:ea typeface="华文仿宋"/>
                <a:cs typeface="华文仿宋"/>
              </a:rPr>
              <a:t>接入配合流程</a:t>
            </a:r>
          </a:p>
        </p:txBody>
      </p:sp>
      <p:cxnSp>
        <p:nvCxnSpPr>
          <p:cNvPr id="87" name="直线箭头连接符 86"/>
          <p:cNvCxnSpPr/>
          <p:nvPr/>
        </p:nvCxnSpPr>
        <p:spPr>
          <a:xfrm>
            <a:off x="2855640" y="1052736"/>
            <a:ext cx="0" cy="5688632"/>
          </a:xfrm>
          <a:prstGeom prst="straightConnector1">
            <a:avLst/>
          </a:prstGeom>
          <a:ln w="5715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89" name="图片 88" descr="屏幕快照 2016-04-15 上午1.55.16.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8248" y="836712"/>
            <a:ext cx="3863752" cy="4608512"/>
          </a:xfrm>
          <a:prstGeom prst="rect">
            <a:avLst/>
          </a:prstGeom>
        </p:spPr>
      </p:pic>
      <p:sp>
        <p:nvSpPr>
          <p:cNvPr id="90" name="文本框 89"/>
          <p:cNvSpPr txBox="1"/>
          <p:nvPr/>
        </p:nvSpPr>
        <p:spPr>
          <a:xfrm>
            <a:off x="8400256" y="5445224"/>
            <a:ext cx="3570208" cy="461665"/>
          </a:xfrm>
          <a:prstGeom prst="rect">
            <a:avLst/>
          </a:prstGeom>
          <a:noFill/>
        </p:spPr>
        <p:txBody>
          <a:bodyPr wrap="none" rtlCol="0">
            <a:spAutoFit/>
          </a:bodyPr>
          <a:lstStyle/>
          <a:p>
            <a:r>
              <a:rPr kumimoji="1" lang="zh-CN" altLang="en-US" sz="2400" b="1" dirty="0" smtClean="0">
                <a:solidFill>
                  <a:srgbClr val="FF0000"/>
                </a:solidFill>
                <a:latin typeface="华文仿宋"/>
                <a:ea typeface="华文仿宋"/>
                <a:cs typeface="华文仿宋"/>
              </a:rPr>
              <a:t>规范：管理、技术、运维</a:t>
            </a:r>
          </a:p>
        </p:txBody>
      </p:sp>
    </p:spTree>
    <p:extLst>
      <p:ext uri="{BB962C8B-B14F-4D97-AF65-F5344CB8AC3E}">
        <p14:creationId xmlns:p14="http://schemas.microsoft.com/office/powerpoint/2010/main" val="2259275133"/>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en-US" dirty="0" smtClean="0"/>
              <a:t>关键策略二（组织）：</a:t>
            </a:r>
            <a:r>
              <a:rPr kumimoji="1" lang="zh-CN" altLang="en-US" dirty="0" smtClean="0"/>
              <a:t>产物示例</a:t>
            </a:r>
            <a:endParaRPr kumimoji="1" lang="zh-CN" altLang="en-US" dirty="0"/>
          </a:p>
        </p:txBody>
      </p:sp>
      <p:pic>
        <p:nvPicPr>
          <p:cNvPr id="2" name="图片 1" descr="屏幕快照 2016-04-15 上午1.59.5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28" y="1196752"/>
            <a:ext cx="5303122" cy="5398284"/>
          </a:xfrm>
          <a:prstGeom prst="rect">
            <a:avLst/>
          </a:prstGeom>
        </p:spPr>
      </p:pic>
      <p:sp>
        <p:nvSpPr>
          <p:cNvPr id="4" name="文本框 3"/>
          <p:cNvSpPr txBox="1"/>
          <p:nvPr/>
        </p:nvSpPr>
        <p:spPr>
          <a:xfrm>
            <a:off x="839416" y="1196752"/>
            <a:ext cx="3121367" cy="276999"/>
          </a:xfrm>
          <a:prstGeom prst="rect">
            <a:avLst/>
          </a:prstGeom>
          <a:noFill/>
        </p:spPr>
        <p:txBody>
          <a:bodyPr wrap="none" rtlCol="0">
            <a:spAutoFit/>
          </a:bodyPr>
          <a:lstStyle/>
          <a:p>
            <a:r>
              <a:rPr lang="en-US" altLang="zh-CN" sz="1200" dirty="0">
                <a:latin typeface="华文仿宋"/>
                <a:ea typeface="华文仿宋"/>
                <a:cs typeface="华文仿宋"/>
              </a:rPr>
              <a:t>PROCESS CLASSIFICATION FRAMEWORK </a:t>
            </a:r>
            <a:endParaRPr lang="en-US" altLang="zh-CN" dirty="0">
              <a:latin typeface="华文仿宋"/>
              <a:ea typeface="华文仿宋"/>
              <a:cs typeface="华文仿宋"/>
            </a:endParaRPr>
          </a:p>
        </p:txBody>
      </p:sp>
      <p:sp>
        <p:nvSpPr>
          <p:cNvPr id="5" name="文本框 4"/>
          <p:cNvSpPr txBox="1"/>
          <p:nvPr/>
        </p:nvSpPr>
        <p:spPr>
          <a:xfrm>
            <a:off x="2232591" y="857302"/>
            <a:ext cx="602937" cy="369332"/>
          </a:xfrm>
          <a:prstGeom prst="rect">
            <a:avLst/>
          </a:prstGeom>
          <a:noFill/>
        </p:spPr>
        <p:txBody>
          <a:bodyPr wrap="none" rtlCol="0">
            <a:spAutoFit/>
          </a:bodyPr>
          <a:lstStyle/>
          <a:p>
            <a:r>
              <a:rPr kumimoji="1" lang="en-US" altLang="zh-CN" dirty="0" smtClean="0">
                <a:latin typeface="华文仿宋"/>
                <a:ea typeface="华文仿宋"/>
                <a:cs typeface="华文仿宋"/>
              </a:rPr>
              <a:t>PCF</a:t>
            </a:r>
            <a:endParaRPr kumimoji="1" lang="zh-CN" altLang="en-US" dirty="0" smtClean="0">
              <a:latin typeface="华文仿宋"/>
              <a:ea typeface="华文仿宋"/>
              <a:cs typeface="华文仿宋"/>
            </a:endParaRPr>
          </a:p>
        </p:txBody>
      </p:sp>
      <p:sp>
        <p:nvSpPr>
          <p:cNvPr id="7" name="右箭头 6"/>
          <p:cNvSpPr/>
          <p:nvPr/>
        </p:nvSpPr>
        <p:spPr>
          <a:xfrm>
            <a:off x="5663952" y="3212976"/>
            <a:ext cx="576064" cy="720080"/>
          </a:xfrm>
          <a:prstGeom prst="rightArrow">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pic>
        <p:nvPicPr>
          <p:cNvPr id="20" name="图片 19" descr="屏幕快照 2016-04-15 上午2.05.5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9092" y="893010"/>
            <a:ext cx="3626576" cy="5776350"/>
          </a:xfrm>
          <a:prstGeom prst="rect">
            <a:avLst/>
          </a:prstGeom>
        </p:spPr>
      </p:pic>
      <p:sp>
        <p:nvSpPr>
          <p:cNvPr id="8" name="圆角矩形 7"/>
          <p:cNvSpPr/>
          <p:nvPr/>
        </p:nvSpPr>
        <p:spPr>
          <a:xfrm>
            <a:off x="5303912" y="1473751"/>
            <a:ext cx="1296144" cy="515089"/>
          </a:xfrm>
          <a:prstGeom prst="roundRect">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9" name="文本框 8"/>
          <p:cNvSpPr txBox="1"/>
          <p:nvPr/>
        </p:nvSpPr>
        <p:spPr>
          <a:xfrm>
            <a:off x="5517239" y="1541851"/>
            <a:ext cx="877164" cy="369332"/>
          </a:xfrm>
          <a:prstGeom prst="rect">
            <a:avLst/>
          </a:prstGeom>
          <a:noFill/>
        </p:spPr>
        <p:txBody>
          <a:bodyPr wrap="square" rtlCol="0">
            <a:spAutoFit/>
          </a:bodyPr>
          <a:lstStyle/>
          <a:p>
            <a:r>
              <a:rPr kumimoji="1" lang="zh-CN" altLang="en-US" dirty="0" smtClean="0">
                <a:latin typeface="华文仿宋"/>
                <a:ea typeface="华文仿宋"/>
                <a:cs typeface="华文仿宋"/>
              </a:rPr>
              <a:t>业务域</a:t>
            </a:r>
          </a:p>
        </p:txBody>
      </p:sp>
      <p:sp>
        <p:nvSpPr>
          <p:cNvPr id="15" name="圆角矩形 14"/>
          <p:cNvSpPr/>
          <p:nvPr/>
        </p:nvSpPr>
        <p:spPr>
          <a:xfrm>
            <a:off x="6164171" y="2280780"/>
            <a:ext cx="1296144" cy="515089"/>
          </a:xfrm>
          <a:prstGeom prst="roundRect">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6" name="文本框 15"/>
          <p:cNvSpPr txBox="1"/>
          <p:nvPr/>
        </p:nvSpPr>
        <p:spPr>
          <a:xfrm>
            <a:off x="6305489" y="2348880"/>
            <a:ext cx="1302679" cy="369332"/>
          </a:xfrm>
          <a:prstGeom prst="rect">
            <a:avLst/>
          </a:prstGeom>
          <a:noFill/>
        </p:spPr>
        <p:txBody>
          <a:bodyPr wrap="square" rtlCol="0">
            <a:spAutoFit/>
          </a:bodyPr>
          <a:lstStyle/>
          <a:p>
            <a:r>
              <a:rPr kumimoji="1" lang="zh-CN" altLang="en-US" dirty="0" smtClean="0">
                <a:latin typeface="华文仿宋"/>
                <a:ea typeface="华文仿宋"/>
                <a:cs typeface="华文仿宋"/>
              </a:rPr>
              <a:t>业务子域</a:t>
            </a:r>
          </a:p>
        </p:txBody>
      </p:sp>
      <p:sp>
        <p:nvSpPr>
          <p:cNvPr id="17" name="圆角矩形 16"/>
          <p:cNvSpPr/>
          <p:nvPr/>
        </p:nvSpPr>
        <p:spPr>
          <a:xfrm>
            <a:off x="7172283" y="3068960"/>
            <a:ext cx="1296144" cy="515089"/>
          </a:xfrm>
          <a:prstGeom prst="roundRect">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8" name="文本框 17"/>
          <p:cNvSpPr txBox="1"/>
          <p:nvPr/>
        </p:nvSpPr>
        <p:spPr>
          <a:xfrm>
            <a:off x="7313601" y="3137060"/>
            <a:ext cx="1302679" cy="369332"/>
          </a:xfrm>
          <a:prstGeom prst="rect">
            <a:avLst/>
          </a:prstGeom>
          <a:noFill/>
        </p:spPr>
        <p:txBody>
          <a:bodyPr wrap="square" rtlCol="0">
            <a:spAutoFit/>
          </a:bodyPr>
          <a:lstStyle/>
          <a:p>
            <a:r>
              <a:rPr kumimoji="1" lang="zh-CN" altLang="en-US" dirty="0" smtClean="0">
                <a:latin typeface="华文仿宋"/>
                <a:ea typeface="华文仿宋"/>
                <a:cs typeface="华文仿宋"/>
              </a:rPr>
              <a:t>业务目录</a:t>
            </a:r>
          </a:p>
        </p:txBody>
      </p:sp>
      <p:cxnSp>
        <p:nvCxnSpPr>
          <p:cNvPr id="13" name="肘形连接符 12"/>
          <p:cNvCxnSpPr>
            <a:stCxn id="8" idx="2"/>
            <a:endCxn id="15" idx="1"/>
          </p:cNvCxnSpPr>
          <p:nvPr/>
        </p:nvCxnSpPr>
        <p:spPr>
          <a:xfrm rot="16200000" flipH="1">
            <a:off x="5783335" y="2157488"/>
            <a:ext cx="549485" cy="212187"/>
          </a:xfrm>
          <a:prstGeom prst="bentConnector2">
            <a:avLst/>
          </a:prstGeom>
          <a:ln w="158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肘形连接符 18"/>
          <p:cNvCxnSpPr>
            <a:stCxn id="15" idx="2"/>
            <a:endCxn id="17" idx="1"/>
          </p:cNvCxnSpPr>
          <p:nvPr/>
        </p:nvCxnSpPr>
        <p:spPr>
          <a:xfrm rot="16200000" flipH="1">
            <a:off x="6726945" y="2881167"/>
            <a:ext cx="530636" cy="360040"/>
          </a:xfrm>
          <a:prstGeom prst="bentConnector2">
            <a:avLst/>
          </a:prstGeom>
          <a:ln w="158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951984" y="5579948"/>
            <a:ext cx="1569660" cy="369332"/>
          </a:xfrm>
          <a:prstGeom prst="rect">
            <a:avLst/>
          </a:prstGeom>
          <a:noFill/>
        </p:spPr>
        <p:txBody>
          <a:bodyPr wrap="none" rtlCol="0">
            <a:spAutoFit/>
          </a:bodyPr>
          <a:lstStyle/>
          <a:p>
            <a:r>
              <a:rPr kumimoji="1" lang="zh-CN" altLang="en-US" dirty="0" smtClean="0">
                <a:latin typeface="华文仿宋"/>
                <a:ea typeface="华文仿宋"/>
                <a:cs typeface="华文仿宋"/>
              </a:rPr>
              <a:t>流程梳理过渡</a:t>
            </a:r>
          </a:p>
        </p:txBody>
      </p:sp>
    </p:spTree>
    <p:extLst>
      <p:ext uri="{BB962C8B-B14F-4D97-AF65-F5344CB8AC3E}">
        <p14:creationId xmlns:p14="http://schemas.microsoft.com/office/powerpoint/2010/main" val="2024969576"/>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关键策略三（流程）：明确的业务系统协同计划</a:t>
            </a:r>
            <a:endParaRPr kumimoji="1" lang="zh-CN" altLang="en-US" dirty="0"/>
          </a:p>
        </p:txBody>
      </p:sp>
      <p:sp>
        <p:nvSpPr>
          <p:cNvPr id="138" name="标题 1"/>
          <p:cNvSpPr txBox="1">
            <a:spLocks/>
          </p:cNvSpPr>
          <p:nvPr/>
        </p:nvSpPr>
        <p:spPr>
          <a:xfrm>
            <a:off x="1487488" y="692696"/>
            <a:ext cx="8229600" cy="864096"/>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1" kern="1200">
                <a:solidFill>
                  <a:schemeClr val="tx1"/>
                </a:solidFill>
                <a:latin typeface="华文中宋" panose="02010600040101010101" pitchFamily="2" charset="-122"/>
                <a:ea typeface="华文中宋" panose="02010600040101010101" pitchFamily="2"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200" b="1" i="0" u="none" strike="noStrike" kern="1200" cap="none" spc="0" normalizeH="0" baseline="0" noProof="0" dirty="0" smtClean="0">
                <a:ln>
                  <a:noFill/>
                </a:ln>
                <a:solidFill>
                  <a:sysClr val="windowText" lastClr="000000"/>
                </a:solidFill>
                <a:effectLst/>
                <a:uLnTx/>
                <a:uFillTx/>
                <a:latin typeface="华文仿宋"/>
                <a:ea typeface="华文仿宋"/>
                <a:cs typeface="华文仿宋"/>
              </a:rPr>
              <a:t>与周边系统计划进度配合计划</a:t>
            </a:r>
            <a:endParaRPr kumimoji="0" lang="zh-CN" altLang="en-US" sz="3200" b="1" i="0" u="none" strike="noStrike" kern="1200" cap="none" spc="0" normalizeH="0" baseline="0" noProof="0" dirty="0">
              <a:ln>
                <a:noFill/>
              </a:ln>
              <a:solidFill>
                <a:sysClr val="windowText" lastClr="000000"/>
              </a:solidFill>
              <a:effectLst/>
              <a:uLnTx/>
              <a:uFillTx/>
              <a:latin typeface="华文仿宋"/>
              <a:ea typeface="华文仿宋"/>
              <a:cs typeface="华文仿宋"/>
            </a:endParaRPr>
          </a:p>
        </p:txBody>
      </p:sp>
      <p:sp>
        <p:nvSpPr>
          <p:cNvPr id="139" name="矩形 138"/>
          <p:cNvSpPr/>
          <p:nvPr/>
        </p:nvSpPr>
        <p:spPr bwMode="auto">
          <a:xfrm>
            <a:off x="1559496" y="3886200"/>
            <a:ext cx="9144003" cy="2971800"/>
          </a:xfrm>
          <a:prstGeom prst="rect">
            <a:avLst/>
          </a:prstGeom>
          <a:solidFill>
            <a:srgbClr val="EEECE1">
              <a:lumMod val="90000"/>
            </a:srgb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Text" lastClr="000000"/>
              </a:solidFill>
              <a:effectLst/>
              <a:uLnTx/>
              <a:uFillTx/>
              <a:latin typeface="华文仿宋"/>
              <a:ea typeface="华文仿宋"/>
              <a:cs typeface="华文仿宋"/>
            </a:endParaRPr>
          </a:p>
        </p:txBody>
      </p:sp>
      <p:cxnSp>
        <p:nvCxnSpPr>
          <p:cNvPr id="140" name="直接连接符 73"/>
          <p:cNvCxnSpPr/>
          <p:nvPr/>
        </p:nvCxnSpPr>
        <p:spPr>
          <a:xfrm>
            <a:off x="2819131" y="2060848"/>
            <a:ext cx="7632848" cy="0"/>
          </a:xfrm>
          <a:prstGeom prst="line">
            <a:avLst/>
          </a:prstGeom>
          <a:noFill/>
          <a:ln w="38100" cap="flat" cmpd="sng" algn="ctr">
            <a:solidFill>
              <a:srgbClr val="4F81BD">
                <a:shade val="95000"/>
                <a:satMod val="105000"/>
              </a:srgbClr>
            </a:solidFill>
            <a:prstDash val="solid"/>
          </a:ln>
          <a:effectLst/>
        </p:spPr>
      </p:cxnSp>
      <p:cxnSp>
        <p:nvCxnSpPr>
          <p:cNvPr id="141" name="直接连接符 76"/>
          <p:cNvCxnSpPr/>
          <p:nvPr/>
        </p:nvCxnSpPr>
        <p:spPr>
          <a:xfrm>
            <a:off x="2099051" y="1700808"/>
            <a:ext cx="0" cy="360040"/>
          </a:xfrm>
          <a:prstGeom prst="line">
            <a:avLst/>
          </a:prstGeom>
          <a:noFill/>
          <a:ln w="12700" cap="flat" cmpd="sng" algn="ctr">
            <a:solidFill>
              <a:srgbClr val="9BBB59"/>
            </a:solidFill>
            <a:prstDash val="solid"/>
          </a:ln>
          <a:effectLst/>
        </p:spPr>
      </p:cxnSp>
      <p:cxnSp>
        <p:nvCxnSpPr>
          <p:cNvPr id="142" name="直接连接符 77"/>
          <p:cNvCxnSpPr/>
          <p:nvPr/>
        </p:nvCxnSpPr>
        <p:spPr>
          <a:xfrm>
            <a:off x="2819131" y="1700808"/>
            <a:ext cx="0" cy="360040"/>
          </a:xfrm>
          <a:prstGeom prst="line">
            <a:avLst/>
          </a:prstGeom>
          <a:noFill/>
          <a:ln w="38100" cap="flat" cmpd="sng" algn="ctr">
            <a:solidFill>
              <a:srgbClr val="4F81BD">
                <a:shade val="95000"/>
                <a:satMod val="105000"/>
              </a:srgbClr>
            </a:solidFill>
            <a:prstDash val="solid"/>
          </a:ln>
          <a:effectLst/>
        </p:spPr>
      </p:cxnSp>
      <p:cxnSp>
        <p:nvCxnSpPr>
          <p:cNvPr id="143" name="直接连接符 78"/>
          <p:cNvCxnSpPr/>
          <p:nvPr/>
        </p:nvCxnSpPr>
        <p:spPr>
          <a:xfrm>
            <a:off x="3477547" y="1700808"/>
            <a:ext cx="0" cy="360040"/>
          </a:xfrm>
          <a:prstGeom prst="line">
            <a:avLst/>
          </a:prstGeom>
          <a:noFill/>
          <a:ln w="12700" cap="flat" cmpd="sng" algn="ctr">
            <a:solidFill>
              <a:srgbClr val="4F81BD">
                <a:shade val="95000"/>
                <a:satMod val="105000"/>
              </a:srgbClr>
            </a:solidFill>
            <a:prstDash val="solid"/>
          </a:ln>
          <a:effectLst/>
        </p:spPr>
      </p:cxnSp>
      <p:cxnSp>
        <p:nvCxnSpPr>
          <p:cNvPr id="144" name="直接连接符 79"/>
          <p:cNvCxnSpPr/>
          <p:nvPr/>
        </p:nvCxnSpPr>
        <p:spPr>
          <a:xfrm>
            <a:off x="4187283" y="1700808"/>
            <a:ext cx="0" cy="360040"/>
          </a:xfrm>
          <a:prstGeom prst="line">
            <a:avLst/>
          </a:prstGeom>
          <a:noFill/>
          <a:ln w="12700" cap="flat" cmpd="sng" algn="ctr">
            <a:solidFill>
              <a:srgbClr val="4F81BD">
                <a:shade val="95000"/>
                <a:satMod val="105000"/>
              </a:srgbClr>
            </a:solidFill>
            <a:prstDash val="solid"/>
          </a:ln>
          <a:effectLst/>
        </p:spPr>
      </p:cxnSp>
      <p:cxnSp>
        <p:nvCxnSpPr>
          <p:cNvPr id="145" name="直接连接符 80"/>
          <p:cNvCxnSpPr/>
          <p:nvPr/>
        </p:nvCxnSpPr>
        <p:spPr>
          <a:xfrm>
            <a:off x="4979371" y="1700808"/>
            <a:ext cx="0" cy="360040"/>
          </a:xfrm>
          <a:prstGeom prst="line">
            <a:avLst/>
          </a:prstGeom>
          <a:noFill/>
          <a:ln w="12700" cap="flat" cmpd="sng" algn="ctr">
            <a:solidFill>
              <a:srgbClr val="4F81BD">
                <a:shade val="95000"/>
                <a:satMod val="105000"/>
              </a:srgbClr>
            </a:solidFill>
            <a:prstDash val="solid"/>
          </a:ln>
          <a:effectLst/>
        </p:spPr>
      </p:cxnSp>
      <p:cxnSp>
        <p:nvCxnSpPr>
          <p:cNvPr id="146" name="直接连接符 81"/>
          <p:cNvCxnSpPr/>
          <p:nvPr/>
        </p:nvCxnSpPr>
        <p:spPr>
          <a:xfrm>
            <a:off x="5699451" y="1700808"/>
            <a:ext cx="0" cy="360040"/>
          </a:xfrm>
          <a:prstGeom prst="line">
            <a:avLst/>
          </a:prstGeom>
          <a:noFill/>
          <a:ln w="12700" cap="flat" cmpd="sng" algn="ctr">
            <a:solidFill>
              <a:srgbClr val="4F81BD">
                <a:shade val="95000"/>
                <a:satMod val="105000"/>
              </a:srgbClr>
            </a:solidFill>
            <a:prstDash val="solid"/>
          </a:ln>
          <a:effectLst/>
        </p:spPr>
      </p:cxnSp>
      <p:cxnSp>
        <p:nvCxnSpPr>
          <p:cNvPr id="147" name="直接连接符 82"/>
          <p:cNvCxnSpPr/>
          <p:nvPr/>
        </p:nvCxnSpPr>
        <p:spPr>
          <a:xfrm>
            <a:off x="6419531" y="1700808"/>
            <a:ext cx="0" cy="360040"/>
          </a:xfrm>
          <a:prstGeom prst="line">
            <a:avLst/>
          </a:prstGeom>
          <a:noFill/>
          <a:ln w="12700" cap="flat" cmpd="sng" algn="ctr">
            <a:solidFill>
              <a:srgbClr val="4F81BD">
                <a:shade val="95000"/>
                <a:satMod val="105000"/>
              </a:srgbClr>
            </a:solidFill>
            <a:prstDash val="solid"/>
          </a:ln>
          <a:effectLst/>
        </p:spPr>
      </p:cxnSp>
      <p:cxnSp>
        <p:nvCxnSpPr>
          <p:cNvPr id="148" name="直接连接符 83"/>
          <p:cNvCxnSpPr/>
          <p:nvPr/>
        </p:nvCxnSpPr>
        <p:spPr>
          <a:xfrm>
            <a:off x="7139611" y="1700808"/>
            <a:ext cx="0" cy="360040"/>
          </a:xfrm>
          <a:prstGeom prst="line">
            <a:avLst/>
          </a:prstGeom>
          <a:noFill/>
          <a:ln w="12700" cap="flat" cmpd="sng" algn="ctr">
            <a:solidFill>
              <a:srgbClr val="4F81BD">
                <a:shade val="95000"/>
                <a:satMod val="105000"/>
              </a:srgbClr>
            </a:solidFill>
            <a:prstDash val="solid"/>
          </a:ln>
          <a:effectLst/>
        </p:spPr>
      </p:cxnSp>
      <p:cxnSp>
        <p:nvCxnSpPr>
          <p:cNvPr id="149" name="直接连接符 84"/>
          <p:cNvCxnSpPr/>
          <p:nvPr/>
        </p:nvCxnSpPr>
        <p:spPr>
          <a:xfrm>
            <a:off x="7859691" y="1700808"/>
            <a:ext cx="0" cy="360040"/>
          </a:xfrm>
          <a:prstGeom prst="line">
            <a:avLst/>
          </a:prstGeom>
          <a:noFill/>
          <a:ln w="12700" cap="flat" cmpd="sng" algn="ctr">
            <a:solidFill>
              <a:srgbClr val="4F81BD">
                <a:shade val="95000"/>
                <a:satMod val="105000"/>
              </a:srgbClr>
            </a:solidFill>
            <a:prstDash val="solid"/>
          </a:ln>
          <a:effectLst/>
        </p:spPr>
      </p:cxnSp>
      <p:cxnSp>
        <p:nvCxnSpPr>
          <p:cNvPr id="150" name="直接连接符 86"/>
          <p:cNvCxnSpPr/>
          <p:nvPr/>
        </p:nvCxnSpPr>
        <p:spPr>
          <a:xfrm>
            <a:off x="8579771" y="1700808"/>
            <a:ext cx="0" cy="360040"/>
          </a:xfrm>
          <a:prstGeom prst="line">
            <a:avLst/>
          </a:prstGeom>
          <a:noFill/>
          <a:ln w="12700" cap="flat" cmpd="sng" algn="ctr">
            <a:solidFill>
              <a:srgbClr val="4F81BD">
                <a:shade val="95000"/>
                <a:satMod val="105000"/>
              </a:srgbClr>
            </a:solidFill>
            <a:prstDash val="solid"/>
          </a:ln>
          <a:effectLst/>
        </p:spPr>
      </p:cxnSp>
      <p:cxnSp>
        <p:nvCxnSpPr>
          <p:cNvPr id="151" name="直接连接符 87"/>
          <p:cNvCxnSpPr/>
          <p:nvPr/>
        </p:nvCxnSpPr>
        <p:spPr>
          <a:xfrm>
            <a:off x="9299851" y="1700808"/>
            <a:ext cx="0" cy="360040"/>
          </a:xfrm>
          <a:prstGeom prst="line">
            <a:avLst/>
          </a:prstGeom>
          <a:noFill/>
          <a:ln w="12700" cap="flat" cmpd="sng" algn="ctr">
            <a:solidFill>
              <a:srgbClr val="4F81BD">
                <a:shade val="95000"/>
                <a:satMod val="105000"/>
              </a:srgbClr>
            </a:solidFill>
            <a:prstDash val="solid"/>
          </a:ln>
          <a:effectLst/>
        </p:spPr>
      </p:cxnSp>
      <p:sp>
        <p:nvSpPr>
          <p:cNvPr id="152" name="文本框 20"/>
          <p:cNvSpPr txBox="1"/>
          <p:nvPr/>
        </p:nvSpPr>
        <p:spPr>
          <a:xfrm>
            <a:off x="2016699" y="1412776"/>
            <a:ext cx="8751522" cy="369332"/>
          </a:xfrm>
          <a:prstGeom prst="rect">
            <a:avLst/>
          </a:prstGeom>
          <a:noFill/>
        </p:spPr>
        <p:txBody>
          <a:bodyPr wrap="square" lIns="0" tIns="0" rIns="0" bIns="0" rtlCol="0">
            <a:spAutoFit/>
          </a:bodyPr>
          <a:lstStyle/>
          <a:p>
            <a:r>
              <a:rPr lang="en-US" altLang="zh-CN" sz="2400" b="1" dirty="0" smtClean="0">
                <a:solidFill>
                  <a:srgbClr val="9BBB59">
                    <a:lumMod val="75000"/>
                  </a:srgbClr>
                </a:solidFill>
                <a:latin typeface="华文仿宋"/>
                <a:ea typeface="华文仿宋"/>
                <a:cs typeface="华文仿宋"/>
              </a:rPr>
              <a:t>04     </a:t>
            </a:r>
            <a:r>
              <a:rPr lang="en-US" altLang="zh-CN" sz="2400" b="1" dirty="0">
                <a:solidFill>
                  <a:srgbClr val="4F81BD"/>
                </a:solidFill>
                <a:latin typeface="华文仿宋"/>
                <a:ea typeface="华文仿宋"/>
                <a:cs typeface="华文仿宋"/>
              </a:rPr>
              <a:t>05     06     </a:t>
            </a:r>
            <a:r>
              <a:rPr lang="en-US" altLang="zh-CN" sz="2400" b="1" dirty="0" smtClean="0">
                <a:solidFill>
                  <a:srgbClr val="4F81BD"/>
                </a:solidFill>
                <a:latin typeface="华文仿宋"/>
                <a:ea typeface="华文仿宋"/>
                <a:cs typeface="华文仿宋"/>
              </a:rPr>
              <a:t>07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08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 09     10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11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12     01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 02    </a:t>
            </a:r>
            <a:r>
              <a:rPr lang="zh-CN" altLang="en-US" sz="2400" b="1" dirty="0" smtClean="0">
                <a:solidFill>
                  <a:srgbClr val="4F81BD"/>
                </a:solidFill>
                <a:latin typeface="华文仿宋"/>
                <a:ea typeface="华文仿宋"/>
                <a:cs typeface="华文仿宋"/>
              </a:rPr>
              <a:t>  </a:t>
            </a:r>
            <a:r>
              <a:rPr lang="en-US" altLang="zh-CN" sz="2400" b="1" dirty="0" smtClean="0">
                <a:solidFill>
                  <a:srgbClr val="4F81BD"/>
                </a:solidFill>
                <a:latin typeface="华文仿宋"/>
                <a:ea typeface="华文仿宋"/>
                <a:cs typeface="华文仿宋"/>
              </a:rPr>
              <a:t>03…</a:t>
            </a:r>
            <a:endParaRPr lang="zh-CN" altLang="en-US" sz="2400" b="1" dirty="0">
              <a:solidFill>
                <a:srgbClr val="4F81BD"/>
              </a:solidFill>
              <a:latin typeface="华文仿宋"/>
              <a:ea typeface="华文仿宋"/>
              <a:cs typeface="华文仿宋"/>
            </a:endParaRPr>
          </a:p>
        </p:txBody>
      </p:sp>
      <p:cxnSp>
        <p:nvCxnSpPr>
          <p:cNvPr id="153" name="直接连接符 93"/>
          <p:cNvCxnSpPr/>
          <p:nvPr/>
        </p:nvCxnSpPr>
        <p:spPr>
          <a:xfrm>
            <a:off x="1883027" y="2060423"/>
            <a:ext cx="936104" cy="0"/>
          </a:xfrm>
          <a:prstGeom prst="line">
            <a:avLst/>
          </a:prstGeom>
          <a:noFill/>
          <a:ln w="38100" cap="flat" cmpd="sng" algn="ctr">
            <a:solidFill>
              <a:srgbClr val="9BBB59"/>
            </a:solidFill>
            <a:prstDash val="solid"/>
          </a:ln>
          <a:effectLst/>
        </p:spPr>
      </p:cxnSp>
      <p:cxnSp>
        <p:nvCxnSpPr>
          <p:cNvPr id="154" name="直接连接符 96"/>
          <p:cNvCxnSpPr/>
          <p:nvPr/>
        </p:nvCxnSpPr>
        <p:spPr>
          <a:xfrm>
            <a:off x="4979371" y="2069347"/>
            <a:ext cx="0" cy="4311981"/>
          </a:xfrm>
          <a:prstGeom prst="line">
            <a:avLst/>
          </a:prstGeom>
          <a:noFill/>
          <a:ln w="12700" cap="flat" cmpd="sng" algn="ctr">
            <a:solidFill>
              <a:srgbClr val="4F81BD"/>
            </a:solidFill>
            <a:prstDash val="dash"/>
          </a:ln>
          <a:effectLst/>
        </p:spPr>
      </p:cxnSp>
      <p:cxnSp>
        <p:nvCxnSpPr>
          <p:cNvPr id="155" name="直接连接符 113"/>
          <p:cNvCxnSpPr/>
          <p:nvPr/>
        </p:nvCxnSpPr>
        <p:spPr>
          <a:xfrm>
            <a:off x="2099051" y="2069347"/>
            <a:ext cx="0" cy="4311981"/>
          </a:xfrm>
          <a:prstGeom prst="line">
            <a:avLst/>
          </a:prstGeom>
          <a:noFill/>
          <a:ln w="12700" cap="flat" cmpd="sng" algn="ctr">
            <a:solidFill>
              <a:srgbClr val="9BBB59"/>
            </a:solidFill>
            <a:prstDash val="dash"/>
          </a:ln>
          <a:effectLst/>
        </p:spPr>
      </p:cxnSp>
      <p:cxnSp>
        <p:nvCxnSpPr>
          <p:cNvPr id="156" name="直接连接符 114"/>
          <p:cNvCxnSpPr/>
          <p:nvPr/>
        </p:nvCxnSpPr>
        <p:spPr>
          <a:xfrm>
            <a:off x="3477547" y="2060848"/>
            <a:ext cx="0" cy="4311981"/>
          </a:xfrm>
          <a:prstGeom prst="line">
            <a:avLst/>
          </a:prstGeom>
          <a:noFill/>
          <a:ln w="12700" cap="flat" cmpd="sng" algn="ctr">
            <a:solidFill>
              <a:srgbClr val="4F81BD"/>
            </a:solidFill>
            <a:prstDash val="dash"/>
          </a:ln>
          <a:effectLst/>
        </p:spPr>
      </p:cxnSp>
      <p:cxnSp>
        <p:nvCxnSpPr>
          <p:cNvPr id="157" name="直接连接符 115"/>
          <p:cNvCxnSpPr/>
          <p:nvPr/>
        </p:nvCxnSpPr>
        <p:spPr>
          <a:xfrm>
            <a:off x="4187283" y="2069347"/>
            <a:ext cx="0" cy="4311981"/>
          </a:xfrm>
          <a:prstGeom prst="line">
            <a:avLst/>
          </a:prstGeom>
          <a:noFill/>
          <a:ln w="12700" cap="flat" cmpd="sng" algn="ctr">
            <a:solidFill>
              <a:srgbClr val="4F81BD"/>
            </a:solidFill>
            <a:prstDash val="dash"/>
          </a:ln>
          <a:effectLst/>
        </p:spPr>
      </p:cxnSp>
      <p:cxnSp>
        <p:nvCxnSpPr>
          <p:cNvPr id="158" name="直接连接符 118"/>
          <p:cNvCxnSpPr/>
          <p:nvPr/>
        </p:nvCxnSpPr>
        <p:spPr>
          <a:xfrm>
            <a:off x="7139610" y="2069347"/>
            <a:ext cx="0" cy="4311981"/>
          </a:xfrm>
          <a:prstGeom prst="line">
            <a:avLst/>
          </a:prstGeom>
          <a:noFill/>
          <a:ln w="12700" cap="flat" cmpd="sng" algn="ctr">
            <a:solidFill>
              <a:srgbClr val="4F81BD"/>
            </a:solidFill>
            <a:prstDash val="dash"/>
          </a:ln>
          <a:effectLst/>
        </p:spPr>
      </p:cxnSp>
      <p:cxnSp>
        <p:nvCxnSpPr>
          <p:cNvPr id="159" name="直接连接符 119"/>
          <p:cNvCxnSpPr/>
          <p:nvPr/>
        </p:nvCxnSpPr>
        <p:spPr>
          <a:xfrm>
            <a:off x="5700235" y="2069347"/>
            <a:ext cx="0" cy="4311981"/>
          </a:xfrm>
          <a:prstGeom prst="line">
            <a:avLst/>
          </a:prstGeom>
          <a:noFill/>
          <a:ln w="12700" cap="flat" cmpd="sng" algn="ctr">
            <a:solidFill>
              <a:srgbClr val="4F81BD"/>
            </a:solidFill>
            <a:prstDash val="dash"/>
          </a:ln>
          <a:effectLst/>
        </p:spPr>
      </p:cxnSp>
      <p:cxnSp>
        <p:nvCxnSpPr>
          <p:cNvPr id="160" name="直接连接符 120"/>
          <p:cNvCxnSpPr/>
          <p:nvPr/>
        </p:nvCxnSpPr>
        <p:spPr>
          <a:xfrm>
            <a:off x="6419531" y="2069347"/>
            <a:ext cx="0" cy="4311981"/>
          </a:xfrm>
          <a:prstGeom prst="line">
            <a:avLst/>
          </a:prstGeom>
          <a:noFill/>
          <a:ln w="12700" cap="flat" cmpd="sng" algn="ctr">
            <a:solidFill>
              <a:srgbClr val="4F81BD"/>
            </a:solidFill>
            <a:prstDash val="dash"/>
          </a:ln>
          <a:effectLst/>
        </p:spPr>
      </p:cxnSp>
      <p:cxnSp>
        <p:nvCxnSpPr>
          <p:cNvPr id="161" name="直接连接符 121"/>
          <p:cNvCxnSpPr/>
          <p:nvPr/>
        </p:nvCxnSpPr>
        <p:spPr>
          <a:xfrm>
            <a:off x="7860475" y="2069347"/>
            <a:ext cx="0" cy="4311981"/>
          </a:xfrm>
          <a:prstGeom prst="line">
            <a:avLst/>
          </a:prstGeom>
          <a:noFill/>
          <a:ln w="12700" cap="flat" cmpd="sng" algn="ctr">
            <a:solidFill>
              <a:srgbClr val="4F81BD"/>
            </a:solidFill>
            <a:prstDash val="dash"/>
          </a:ln>
          <a:effectLst/>
        </p:spPr>
      </p:cxnSp>
      <p:cxnSp>
        <p:nvCxnSpPr>
          <p:cNvPr id="162" name="直接连接符 122"/>
          <p:cNvCxnSpPr/>
          <p:nvPr/>
        </p:nvCxnSpPr>
        <p:spPr>
          <a:xfrm>
            <a:off x="8579771" y="2069347"/>
            <a:ext cx="0" cy="4311981"/>
          </a:xfrm>
          <a:prstGeom prst="line">
            <a:avLst/>
          </a:prstGeom>
          <a:noFill/>
          <a:ln w="12700" cap="flat" cmpd="sng" algn="ctr">
            <a:solidFill>
              <a:srgbClr val="4F81BD"/>
            </a:solidFill>
            <a:prstDash val="dash"/>
          </a:ln>
          <a:effectLst/>
        </p:spPr>
      </p:cxnSp>
      <p:sp>
        <p:nvSpPr>
          <p:cNvPr id="163" name="文本框 45"/>
          <p:cNvSpPr txBox="1"/>
          <p:nvPr/>
        </p:nvSpPr>
        <p:spPr>
          <a:xfrm>
            <a:off x="1605339" y="1844825"/>
            <a:ext cx="421704" cy="169277"/>
          </a:xfrm>
          <a:prstGeom prst="rect">
            <a:avLst/>
          </a:prstGeom>
          <a:noFill/>
        </p:spPr>
        <p:txBody>
          <a:bodyPr wrap="square" lIns="0" tIns="0" rIns="0" bIns="0" rtlCol="0">
            <a:spAutoFit/>
          </a:bodyPr>
          <a:lstStyle/>
          <a:p>
            <a:r>
              <a:rPr lang="en-US" altLang="zh-CN" sz="1100" b="1" dirty="0" smtClean="0">
                <a:solidFill>
                  <a:srgbClr val="9BBB59"/>
                </a:solidFill>
                <a:latin typeface="华文仿宋"/>
                <a:ea typeface="华文仿宋"/>
                <a:cs typeface="华文仿宋"/>
              </a:rPr>
              <a:t>2014</a:t>
            </a:r>
            <a:endParaRPr lang="zh-CN" altLang="en-US" sz="1100" b="1" dirty="0">
              <a:solidFill>
                <a:srgbClr val="9BBB59"/>
              </a:solidFill>
              <a:latin typeface="华文仿宋"/>
              <a:ea typeface="华文仿宋"/>
              <a:cs typeface="华文仿宋"/>
            </a:endParaRPr>
          </a:p>
        </p:txBody>
      </p:sp>
      <p:sp>
        <p:nvSpPr>
          <p:cNvPr id="164" name="文本框 46"/>
          <p:cNvSpPr txBox="1"/>
          <p:nvPr/>
        </p:nvSpPr>
        <p:spPr>
          <a:xfrm>
            <a:off x="10418525" y="1844824"/>
            <a:ext cx="421704" cy="169277"/>
          </a:xfrm>
          <a:prstGeom prst="rect">
            <a:avLst/>
          </a:prstGeom>
          <a:noFill/>
        </p:spPr>
        <p:txBody>
          <a:bodyPr wrap="square" lIns="0" tIns="0" rIns="0" bIns="0" rtlCol="0">
            <a:spAutoFit/>
          </a:bodyPr>
          <a:lstStyle/>
          <a:p>
            <a:r>
              <a:rPr lang="en-US" altLang="zh-CN" sz="1100" b="1" dirty="0" smtClean="0">
                <a:solidFill>
                  <a:srgbClr val="4F81BD"/>
                </a:solidFill>
                <a:latin typeface="华文仿宋"/>
                <a:ea typeface="华文仿宋"/>
                <a:cs typeface="华文仿宋"/>
              </a:rPr>
              <a:t>2015</a:t>
            </a:r>
            <a:endParaRPr lang="zh-CN" altLang="en-US" sz="1100" b="1" dirty="0">
              <a:solidFill>
                <a:srgbClr val="4F81BD"/>
              </a:solidFill>
              <a:latin typeface="华文仿宋"/>
              <a:ea typeface="华文仿宋"/>
              <a:cs typeface="华文仿宋"/>
            </a:endParaRPr>
          </a:p>
        </p:txBody>
      </p:sp>
      <p:cxnSp>
        <p:nvCxnSpPr>
          <p:cNvPr id="165" name="直接连接符 125"/>
          <p:cNvCxnSpPr/>
          <p:nvPr/>
        </p:nvCxnSpPr>
        <p:spPr>
          <a:xfrm>
            <a:off x="2819131" y="2060848"/>
            <a:ext cx="0" cy="4311981"/>
          </a:xfrm>
          <a:prstGeom prst="line">
            <a:avLst/>
          </a:prstGeom>
          <a:noFill/>
          <a:ln w="12700" cap="flat" cmpd="sng" algn="ctr">
            <a:solidFill>
              <a:srgbClr val="4F81BD"/>
            </a:solidFill>
            <a:prstDash val="dash"/>
          </a:ln>
          <a:effectLst/>
        </p:spPr>
      </p:cxnSp>
      <p:cxnSp>
        <p:nvCxnSpPr>
          <p:cNvPr id="166" name="直接连接符 126"/>
          <p:cNvCxnSpPr/>
          <p:nvPr/>
        </p:nvCxnSpPr>
        <p:spPr>
          <a:xfrm>
            <a:off x="9299851" y="2096085"/>
            <a:ext cx="0" cy="4311981"/>
          </a:xfrm>
          <a:prstGeom prst="line">
            <a:avLst/>
          </a:prstGeom>
          <a:noFill/>
          <a:ln w="12700" cap="flat" cmpd="sng" algn="ctr">
            <a:solidFill>
              <a:srgbClr val="4F81BD"/>
            </a:solidFill>
            <a:prstDash val="dash"/>
          </a:ln>
          <a:effectLst/>
        </p:spPr>
      </p:cxnSp>
      <p:cxnSp>
        <p:nvCxnSpPr>
          <p:cNvPr id="167" name="直接连接符 127"/>
          <p:cNvCxnSpPr/>
          <p:nvPr/>
        </p:nvCxnSpPr>
        <p:spPr>
          <a:xfrm>
            <a:off x="10019931" y="1700808"/>
            <a:ext cx="0" cy="360040"/>
          </a:xfrm>
          <a:prstGeom prst="line">
            <a:avLst/>
          </a:prstGeom>
          <a:noFill/>
          <a:ln w="12700" cap="flat" cmpd="sng" algn="ctr">
            <a:solidFill>
              <a:srgbClr val="4F81BD">
                <a:shade val="95000"/>
                <a:satMod val="105000"/>
              </a:srgbClr>
            </a:solidFill>
            <a:prstDash val="solid"/>
          </a:ln>
          <a:effectLst/>
        </p:spPr>
      </p:cxnSp>
      <p:cxnSp>
        <p:nvCxnSpPr>
          <p:cNvPr id="168" name="直接连接符 128"/>
          <p:cNvCxnSpPr/>
          <p:nvPr/>
        </p:nvCxnSpPr>
        <p:spPr>
          <a:xfrm>
            <a:off x="10019931" y="2096085"/>
            <a:ext cx="0" cy="4311981"/>
          </a:xfrm>
          <a:prstGeom prst="line">
            <a:avLst/>
          </a:prstGeom>
          <a:noFill/>
          <a:ln w="12700" cap="flat" cmpd="sng" algn="ctr">
            <a:solidFill>
              <a:srgbClr val="4F81BD"/>
            </a:solidFill>
            <a:prstDash val="dash"/>
          </a:ln>
          <a:effectLst/>
        </p:spPr>
      </p:cxnSp>
      <p:sp>
        <p:nvSpPr>
          <p:cNvPr id="169" name="文本框 29"/>
          <p:cNvSpPr txBox="1"/>
          <p:nvPr/>
        </p:nvSpPr>
        <p:spPr>
          <a:xfrm>
            <a:off x="2088706" y="2096085"/>
            <a:ext cx="2880000" cy="2340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defPPr>
              <a:defRPr lang="zh-CN"/>
            </a:defPPr>
            <a:lvl1pPr eaLnBrk="0" fontAlgn="base" hangingPunct="0">
              <a:spcBef>
                <a:spcPct val="0"/>
              </a:spcBef>
              <a:spcAft>
                <a:spcPct val="0"/>
              </a:spcAft>
              <a:defRPr sz="1100">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需求分析</a:t>
            </a:r>
            <a:r>
              <a:rPr kumimoji="0" lang="en-US" altLang="zh-CN" sz="1100" b="0" i="0" u="none" strike="noStrike" kern="0" cap="none" spc="0" normalizeH="0" baseline="0" noProof="0" dirty="0" smtClean="0">
                <a:ln>
                  <a:noFill/>
                </a:ln>
                <a:solidFill>
                  <a:prstClr val="white"/>
                </a:solidFill>
                <a:effectLst/>
                <a:uLnTx/>
                <a:uFillTx/>
                <a:latin typeface="华文仿宋"/>
                <a:ea typeface="华文仿宋"/>
                <a:cs typeface="华文仿宋"/>
              </a:rPr>
              <a:t>(03/31-07/31)</a:t>
            </a:r>
            <a:endParaRPr kumimoji="0" lang="zh-CN" altLang="en-US" sz="11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0" name="TextBox 130"/>
          <p:cNvSpPr txBox="1"/>
          <p:nvPr/>
        </p:nvSpPr>
        <p:spPr>
          <a:xfrm>
            <a:off x="1559498" y="2276872"/>
            <a:ext cx="529207" cy="1609328"/>
          </a:xfrm>
          <a:prstGeom prst="rect">
            <a:avLst/>
          </a:prstGeom>
          <a:solidFill>
            <a:sysClr val="window" lastClr="FFFFFF"/>
          </a:solidFill>
        </p:spPr>
        <p:txBody>
          <a:bodyPr vert="eaVert"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smtClean="0">
                <a:ln>
                  <a:noFill/>
                </a:ln>
                <a:solidFill>
                  <a:srgbClr val="4F81BD"/>
                </a:solidFill>
                <a:effectLst/>
                <a:uLnTx/>
                <a:uFillTx/>
                <a:latin typeface="华文仿宋"/>
                <a:ea typeface="华文仿宋"/>
                <a:cs typeface="华文仿宋"/>
              </a:rPr>
              <a:t>BPM</a:t>
            </a:r>
            <a:r>
              <a:rPr kumimoji="0" lang="zh-CN" altLang="en-US" sz="1600" b="1" i="0" u="none" strike="noStrike" kern="0" cap="none" spc="0" normalizeH="0" baseline="0" noProof="0" dirty="0" smtClean="0">
                <a:ln>
                  <a:noFill/>
                </a:ln>
                <a:solidFill>
                  <a:srgbClr val="4F81BD"/>
                </a:solidFill>
                <a:effectLst/>
                <a:uLnTx/>
                <a:uFillTx/>
                <a:latin typeface="华文仿宋"/>
                <a:ea typeface="华文仿宋"/>
                <a:cs typeface="华文仿宋"/>
              </a:rPr>
              <a:t>实际进度</a:t>
            </a:r>
          </a:p>
        </p:txBody>
      </p:sp>
      <p:sp>
        <p:nvSpPr>
          <p:cNvPr id="171" name="文本框 29"/>
          <p:cNvSpPr txBox="1"/>
          <p:nvPr/>
        </p:nvSpPr>
        <p:spPr>
          <a:xfrm>
            <a:off x="2466235" y="2381180"/>
            <a:ext cx="2880000" cy="2340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defPPr>
              <a:defRPr lang="zh-CN"/>
            </a:defPPr>
            <a:lvl1pPr eaLnBrk="0" fontAlgn="base" hangingPunct="0">
              <a:spcBef>
                <a:spcPct val="0"/>
              </a:spcBef>
              <a:spcAft>
                <a:spcPct val="0"/>
              </a:spcAft>
              <a:defRPr sz="1100">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概要设计</a:t>
            </a:r>
            <a:r>
              <a:rPr kumimoji="0" lang="en-US" altLang="zh-CN" sz="1100" b="0" i="0" u="none" strike="noStrike" kern="0" cap="none" spc="0" normalizeH="0" baseline="0" noProof="0" dirty="0" smtClean="0">
                <a:ln>
                  <a:noFill/>
                </a:ln>
                <a:solidFill>
                  <a:prstClr val="white"/>
                </a:solidFill>
                <a:effectLst/>
                <a:uLnTx/>
                <a:uFillTx/>
                <a:latin typeface="华文仿宋"/>
                <a:ea typeface="华文仿宋"/>
                <a:cs typeface="华文仿宋"/>
              </a:rPr>
              <a:t>(04/14-08/14)</a:t>
            </a:r>
            <a:endParaRPr kumimoji="0" lang="zh-CN" altLang="en-US" sz="11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2" name="文本框 29"/>
          <p:cNvSpPr txBox="1"/>
          <p:nvPr/>
        </p:nvSpPr>
        <p:spPr>
          <a:xfrm>
            <a:off x="2701126" y="2677980"/>
            <a:ext cx="4428000" cy="2340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defPPr>
              <a:defRPr lang="zh-CN"/>
            </a:defPPr>
            <a:lvl1pPr eaLnBrk="0" fontAlgn="base" hangingPunct="0">
              <a:spcBef>
                <a:spcPct val="0"/>
              </a:spcBef>
              <a:spcAft>
                <a:spcPct val="0"/>
              </a:spcAft>
              <a:defRPr sz="1100">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详细设计</a:t>
            </a:r>
            <a:r>
              <a:rPr kumimoji="0" lang="en-US" altLang="zh-CN" sz="1100" b="0" i="0" u="none" strike="noStrike" kern="0" cap="none" spc="0" normalizeH="0" baseline="0" noProof="0" dirty="0" smtClean="0">
                <a:ln>
                  <a:noFill/>
                </a:ln>
                <a:solidFill>
                  <a:prstClr val="white"/>
                </a:solidFill>
                <a:effectLst/>
                <a:uLnTx/>
                <a:uFillTx/>
                <a:latin typeface="华文仿宋"/>
                <a:ea typeface="华文仿宋"/>
                <a:cs typeface="华文仿宋"/>
              </a:rPr>
              <a:t>(04/24-10/30)</a:t>
            </a:r>
            <a:endParaRPr kumimoji="0" lang="zh-CN" altLang="en-US" sz="11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3" name="文本框 29"/>
          <p:cNvSpPr txBox="1"/>
          <p:nvPr/>
        </p:nvSpPr>
        <p:spPr>
          <a:xfrm>
            <a:off x="2258041" y="2967218"/>
            <a:ext cx="3153378" cy="2340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36000" rIns="72000" bIns="0" numCol="1" rtlCol="0" anchor="t" anchorCtr="0" compatLnSpc="1">
            <a:prstTxWarp prst="textNoShape">
              <a:avLst/>
            </a:prstTxWarp>
          </a:bodyPr>
          <a:lstStyle>
            <a:defPPr>
              <a:defRPr lang="zh-CN"/>
            </a:defPPr>
            <a:lvl1pPr eaLnBrk="0" fontAlgn="base" hangingPunct="0">
              <a:spcBef>
                <a:spcPct val="0"/>
              </a:spcBef>
              <a:spcAft>
                <a:spcPct val="0"/>
              </a:spcAft>
              <a:defRPr sz="1100">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开发及单元测试</a:t>
            </a:r>
            <a:r>
              <a:rPr kumimoji="0" lang="en-US" altLang="zh-CN" sz="1100" b="0" i="0" u="none" strike="noStrike" kern="0" cap="none" spc="0" normalizeH="0" baseline="0" noProof="0" dirty="0" smtClean="0">
                <a:ln>
                  <a:noFill/>
                </a:ln>
                <a:solidFill>
                  <a:prstClr val="white"/>
                </a:solidFill>
                <a:effectLst/>
                <a:uLnTx/>
                <a:uFillTx/>
                <a:latin typeface="华文仿宋"/>
                <a:ea typeface="华文仿宋"/>
                <a:cs typeface="华文仿宋"/>
              </a:rPr>
              <a:t>(04/08-08/20)</a:t>
            </a:r>
            <a:endParaRPr kumimoji="0" lang="zh-CN" altLang="en-US" sz="11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4" name="文本框 29"/>
          <p:cNvSpPr txBox="1"/>
          <p:nvPr/>
        </p:nvSpPr>
        <p:spPr>
          <a:xfrm>
            <a:off x="5987483" y="3547938"/>
            <a:ext cx="1153702" cy="35719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defPPr>
              <a:defRPr lang="zh-CN"/>
            </a:defPPr>
            <a:lvl1pPr eaLnBrk="0" fontAlgn="base" hangingPunct="0">
              <a:spcBef>
                <a:spcPct val="0"/>
              </a:spcBef>
              <a:spcAft>
                <a:spcPct val="0"/>
              </a:spcAft>
              <a:defRPr sz="1100">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投产准备及投产</a:t>
            </a:r>
            <a:r>
              <a:rPr kumimoji="0" lang="en-US" altLang="zh-CN" sz="1100" b="1"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en-US" altLang="zh-CN" sz="1100" b="0" i="0" u="none" strike="noStrike" kern="0" cap="none" spc="0" normalizeH="0" baseline="0" noProof="0" dirty="0" smtClean="0">
                <a:ln>
                  <a:noFill/>
                </a:ln>
                <a:solidFill>
                  <a:prstClr val="white"/>
                </a:solidFill>
                <a:effectLst/>
                <a:uLnTx/>
                <a:uFillTx/>
                <a:latin typeface="华文仿宋"/>
                <a:ea typeface="华文仿宋"/>
                <a:cs typeface="华文仿宋"/>
              </a:rPr>
              <a:t>09/16-10/31)</a:t>
            </a:r>
            <a:endParaRPr kumimoji="0" lang="zh-CN" altLang="en-US" sz="11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5" name="文本框 29"/>
          <p:cNvSpPr txBox="1"/>
          <p:nvPr/>
        </p:nvSpPr>
        <p:spPr>
          <a:xfrm>
            <a:off x="4289689" y="3262876"/>
            <a:ext cx="1769802" cy="2340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36000" rIns="72000" bIns="0" numCol="1" rtlCol="0" anchor="t" anchorCtr="0" compatLnSpc="1">
            <a:prstTxWarp prst="textNoShape">
              <a:avLst/>
            </a:prstTxWarp>
          </a:bodyPr>
          <a:lstStyle>
            <a:defPPr>
              <a:defRPr lang="zh-CN"/>
            </a:defPPr>
            <a:lvl1pPr eaLnBrk="0" fontAlgn="base" hangingPunct="0">
              <a:spcBef>
                <a:spcPct val="0"/>
              </a:spcBef>
              <a:spcAft>
                <a:spcPct val="0"/>
              </a:spcAft>
              <a:defRPr sz="1100" b="1">
                <a:solidFill>
                  <a:prstClr val="white"/>
                </a:solidFill>
                <a:latin typeface="微软雅黑" pitchFamily="34" charset="-122"/>
                <a:ea typeface="微软雅黑" pitchFamily="34" charset="-122"/>
              </a:defRPr>
            </a:lvl1p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uLnTx/>
                <a:uFillTx/>
                <a:latin typeface="华文仿宋"/>
                <a:ea typeface="华文仿宋"/>
                <a:cs typeface="华文仿宋"/>
              </a:rPr>
              <a:t>测试阶段</a:t>
            </a:r>
            <a:r>
              <a:rPr kumimoji="0" lang="en-US" altLang="zh-CN" sz="1000" b="0" i="0" u="none" strike="noStrike" kern="0" cap="none" spc="0" normalizeH="0" baseline="0" noProof="0" dirty="0" smtClean="0">
                <a:ln>
                  <a:noFill/>
                </a:ln>
                <a:solidFill>
                  <a:prstClr val="white"/>
                </a:solidFill>
                <a:effectLst/>
                <a:uLnTx/>
                <a:uFillTx/>
                <a:latin typeface="华文仿宋"/>
                <a:ea typeface="华文仿宋"/>
                <a:cs typeface="华文仿宋"/>
              </a:rPr>
              <a:t>(07/08-09/16)</a:t>
            </a:r>
            <a:endParaRPr kumimoji="0" lang="zh-CN" altLang="en-US" sz="100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6" name="燕尾形 175"/>
          <p:cNvSpPr/>
          <p:nvPr/>
        </p:nvSpPr>
        <p:spPr>
          <a:xfrm>
            <a:off x="2323485" y="4073921"/>
            <a:ext cx="927694"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需求</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演示</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77" name="五边形 176"/>
          <p:cNvSpPr/>
          <p:nvPr/>
        </p:nvSpPr>
        <p:spPr bwMode="auto">
          <a:xfrm>
            <a:off x="1559497" y="4073921"/>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企业信贷</a:t>
            </a:r>
            <a:endPar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endParaRPr>
          </a:p>
        </p:txBody>
      </p:sp>
      <p:sp>
        <p:nvSpPr>
          <p:cNvPr id="178" name="五边形 177"/>
          <p:cNvSpPr/>
          <p:nvPr/>
        </p:nvSpPr>
        <p:spPr bwMode="auto">
          <a:xfrm>
            <a:off x="1559497" y="4537497"/>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零售信贷</a:t>
            </a:r>
          </a:p>
        </p:txBody>
      </p:sp>
      <p:sp>
        <p:nvSpPr>
          <p:cNvPr id="179" name="五边形 178"/>
          <p:cNvSpPr/>
          <p:nvPr/>
        </p:nvSpPr>
        <p:spPr bwMode="auto">
          <a:xfrm>
            <a:off x="1559497" y="5029025"/>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机构管理</a:t>
            </a:r>
          </a:p>
        </p:txBody>
      </p:sp>
      <p:sp>
        <p:nvSpPr>
          <p:cNvPr id="180" name="五边形 179"/>
          <p:cNvSpPr/>
          <p:nvPr/>
        </p:nvSpPr>
        <p:spPr bwMode="auto">
          <a:xfrm>
            <a:off x="1559499" y="5459414"/>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托管</a:t>
            </a:r>
          </a:p>
        </p:txBody>
      </p:sp>
      <p:sp>
        <p:nvSpPr>
          <p:cNvPr id="181" name="五边形 180"/>
          <p:cNvSpPr/>
          <p:nvPr/>
        </p:nvSpPr>
        <p:spPr bwMode="auto">
          <a:xfrm>
            <a:off x="1559498" y="5877272"/>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销售服务</a:t>
            </a:r>
          </a:p>
        </p:txBody>
      </p:sp>
      <p:sp>
        <p:nvSpPr>
          <p:cNvPr id="182" name="五边形 181"/>
          <p:cNvSpPr/>
          <p:nvPr/>
        </p:nvSpPr>
        <p:spPr bwMode="auto">
          <a:xfrm>
            <a:off x="1559496" y="6336926"/>
            <a:ext cx="827585" cy="259655"/>
          </a:xfrm>
          <a:prstGeom prst="homePlat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w="9525" cap="flat" cmpd="sng" algn="ctr">
            <a:solidFill>
              <a:srgbClr val="4BACC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代客代理</a:t>
            </a:r>
          </a:p>
        </p:txBody>
      </p:sp>
      <p:sp>
        <p:nvSpPr>
          <p:cNvPr id="183" name="燕尾形 182"/>
          <p:cNvSpPr/>
          <p:nvPr/>
        </p:nvSpPr>
        <p:spPr>
          <a:xfrm>
            <a:off x="3187581" y="4073921"/>
            <a:ext cx="1071710"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开放基础环境</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84" name="燕尾形 183"/>
          <p:cNvSpPr/>
          <p:nvPr/>
        </p:nvSpPr>
        <p:spPr>
          <a:xfrm>
            <a:off x="4191914" y="4073920"/>
            <a:ext cx="2947695"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基础服务集成测试</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流程设计集成</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85" name="燕尾形 184"/>
          <p:cNvSpPr/>
          <p:nvPr/>
        </p:nvSpPr>
        <p:spPr>
          <a:xfrm>
            <a:off x="7076013" y="4073921"/>
            <a:ext cx="784462"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投产❶</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86" name="燕尾形 185"/>
          <p:cNvSpPr/>
          <p:nvPr/>
        </p:nvSpPr>
        <p:spPr>
          <a:xfrm>
            <a:off x="7796093" y="4073921"/>
            <a:ext cx="2907406"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流程迁移</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投产❷</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[15/05]</a:t>
            </a:r>
          </a:p>
        </p:txBody>
      </p:sp>
      <p:sp>
        <p:nvSpPr>
          <p:cNvPr id="187" name="五角星 186"/>
          <p:cNvSpPr/>
          <p:nvPr/>
        </p:nvSpPr>
        <p:spPr bwMode="auto">
          <a:xfrm>
            <a:off x="7643667" y="4005064"/>
            <a:ext cx="216024" cy="216024"/>
          </a:xfrm>
          <a:prstGeom prst="star5">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 lastClr="FFFFFF"/>
              </a:solidFill>
              <a:effectLst/>
              <a:uLnTx/>
              <a:uFillTx/>
              <a:latin typeface="华文仿宋"/>
              <a:ea typeface="华文仿宋"/>
              <a:cs typeface="华文仿宋"/>
            </a:endParaRPr>
          </a:p>
        </p:txBody>
      </p:sp>
      <p:sp>
        <p:nvSpPr>
          <p:cNvPr id="188" name="燕尾形 187"/>
          <p:cNvSpPr/>
          <p:nvPr/>
        </p:nvSpPr>
        <p:spPr>
          <a:xfrm>
            <a:off x="2321909" y="4537497"/>
            <a:ext cx="2657462"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需求</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演示</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89" name="燕尾形 188"/>
          <p:cNvSpPr/>
          <p:nvPr/>
        </p:nvSpPr>
        <p:spPr>
          <a:xfrm>
            <a:off x="2819131" y="5029025"/>
            <a:ext cx="904305"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需求</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演示</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90" name="燕尾形 189"/>
          <p:cNvSpPr/>
          <p:nvPr/>
        </p:nvSpPr>
        <p:spPr>
          <a:xfrm>
            <a:off x="4924883" y="4537497"/>
            <a:ext cx="5778616"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待定</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视零售信贷的进场时间</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91" name="燕尾形 190"/>
          <p:cNvSpPr/>
          <p:nvPr/>
        </p:nvSpPr>
        <p:spPr>
          <a:xfrm>
            <a:off x="3657827" y="5029024"/>
            <a:ext cx="1071710"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开放基础环境</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92" name="燕尾形 191"/>
          <p:cNvSpPr/>
          <p:nvPr/>
        </p:nvSpPr>
        <p:spPr>
          <a:xfrm>
            <a:off x="4662160" y="5029023"/>
            <a:ext cx="2477449"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基础服务集成测试</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流程设计集成</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93" name="燕尾形 192"/>
          <p:cNvSpPr/>
          <p:nvPr/>
        </p:nvSpPr>
        <p:spPr>
          <a:xfrm>
            <a:off x="7076359" y="5029024"/>
            <a:ext cx="784462"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投产</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94" name="五角星 193"/>
          <p:cNvSpPr/>
          <p:nvPr/>
        </p:nvSpPr>
        <p:spPr bwMode="auto">
          <a:xfrm>
            <a:off x="7643667" y="4941168"/>
            <a:ext cx="216024" cy="216024"/>
          </a:xfrm>
          <a:prstGeom prst="star5">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 lastClr="FFFFFF"/>
              </a:solidFill>
              <a:effectLst/>
              <a:uLnTx/>
              <a:uFillTx/>
              <a:latin typeface="华文仿宋"/>
              <a:ea typeface="华文仿宋"/>
              <a:cs typeface="华文仿宋"/>
            </a:endParaRPr>
          </a:p>
        </p:txBody>
      </p:sp>
      <p:sp>
        <p:nvSpPr>
          <p:cNvPr id="195" name="燕尾形 194"/>
          <p:cNvSpPr/>
          <p:nvPr/>
        </p:nvSpPr>
        <p:spPr>
          <a:xfrm>
            <a:off x="2323485" y="5459414"/>
            <a:ext cx="927694"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需求</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演示</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196" name="燕尾形 195"/>
          <p:cNvSpPr/>
          <p:nvPr/>
        </p:nvSpPr>
        <p:spPr>
          <a:xfrm>
            <a:off x="3187581" y="5459414"/>
            <a:ext cx="2583878"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开放基础环境</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97" name="燕尾形 196"/>
          <p:cNvSpPr/>
          <p:nvPr/>
        </p:nvSpPr>
        <p:spPr>
          <a:xfrm>
            <a:off x="5700235" y="5459413"/>
            <a:ext cx="4103672"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基础服务集成测试</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流程设计集成</a:t>
            </a:r>
            <a:endPar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endParaRPr>
          </a:p>
        </p:txBody>
      </p:sp>
      <p:sp>
        <p:nvSpPr>
          <p:cNvPr id="198" name="燕尾形 197"/>
          <p:cNvSpPr/>
          <p:nvPr/>
        </p:nvSpPr>
        <p:spPr>
          <a:xfrm>
            <a:off x="9731899" y="5459414"/>
            <a:ext cx="971600"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投产</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[15/05]</a:t>
            </a:r>
          </a:p>
        </p:txBody>
      </p:sp>
      <p:sp>
        <p:nvSpPr>
          <p:cNvPr id="199" name="五角星 198"/>
          <p:cNvSpPr/>
          <p:nvPr/>
        </p:nvSpPr>
        <p:spPr bwMode="auto">
          <a:xfrm>
            <a:off x="10523987" y="3987723"/>
            <a:ext cx="216024" cy="216024"/>
          </a:xfrm>
          <a:prstGeom prst="star5">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 lastClr="FFFFFF"/>
              </a:solidFill>
              <a:effectLst/>
              <a:uLnTx/>
              <a:uFillTx/>
              <a:latin typeface="华文仿宋"/>
              <a:ea typeface="华文仿宋"/>
              <a:cs typeface="华文仿宋"/>
            </a:endParaRPr>
          </a:p>
        </p:txBody>
      </p:sp>
      <p:sp>
        <p:nvSpPr>
          <p:cNvPr id="200" name="五角星 199"/>
          <p:cNvSpPr/>
          <p:nvPr/>
        </p:nvSpPr>
        <p:spPr bwMode="auto">
          <a:xfrm>
            <a:off x="10521365" y="5373216"/>
            <a:ext cx="216024" cy="216024"/>
          </a:xfrm>
          <a:prstGeom prst="star5">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 lastClr="FFFFFF"/>
              </a:solidFill>
              <a:effectLst/>
              <a:uLnTx/>
              <a:uFillTx/>
              <a:latin typeface="华文仿宋"/>
              <a:ea typeface="华文仿宋"/>
              <a:cs typeface="华文仿宋"/>
            </a:endParaRPr>
          </a:p>
        </p:txBody>
      </p:sp>
      <p:sp>
        <p:nvSpPr>
          <p:cNvPr id="201" name="燕尾形 200"/>
          <p:cNvSpPr/>
          <p:nvPr/>
        </p:nvSpPr>
        <p:spPr>
          <a:xfrm>
            <a:off x="2330462" y="5877272"/>
            <a:ext cx="8373037"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待定</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视销售及服务流程管理系统的建设计划</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202" name="燕尾形 201"/>
          <p:cNvSpPr/>
          <p:nvPr/>
        </p:nvSpPr>
        <p:spPr>
          <a:xfrm>
            <a:off x="2330461" y="6336926"/>
            <a:ext cx="8373037" cy="259655"/>
          </a:xfrm>
          <a:prstGeom prst="chevron">
            <a:avLst>
              <a:gd name="adj" fmla="val 42409"/>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待定</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r>
              <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rPr>
              <a:t>(</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视代客代理项目群</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02</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项目的流程需求</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—15</a:t>
            </a:r>
            <a:r>
              <a:rPr kumimoji="0" lang="zh-CN" altLang="en-US" sz="1050" b="0" i="0" u="none" strike="noStrike" kern="0" cap="none" spc="0" normalizeH="0" baseline="0" noProof="0" dirty="0" smtClean="0">
                <a:ln>
                  <a:noFill/>
                </a:ln>
                <a:solidFill>
                  <a:prstClr val="white"/>
                </a:solidFill>
                <a:effectLst/>
                <a:uLnTx/>
                <a:uFillTx/>
                <a:latin typeface="华文仿宋"/>
                <a:ea typeface="华文仿宋"/>
                <a:cs typeface="华文仿宋"/>
              </a:rPr>
              <a:t>年启动</a:t>
            </a:r>
            <a:r>
              <a:rPr kumimoji="0" lang="en-US" altLang="zh-CN" sz="1050" b="0" i="0" u="none" strike="noStrike" kern="0" cap="none" spc="0" normalizeH="0" baseline="0" noProof="0" dirty="0" smtClean="0">
                <a:ln>
                  <a:noFill/>
                </a:ln>
                <a:solidFill>
                  <a:prstClr val="white"/>
                </a:solidFill>
                <a:effectLst/>
                <a:uLnTx/>
                <a:uFillTx/>
                <a:latin typeface="华文仿宋"/>
                <a:ea typeface="华文仿宋"/>
                <a:cs typeface="华文仿宋"/>
              </a:rPr>
              <a:t>)</a:t>
            </a:r>
            <a:endParaRPr kumimoji="0" lang="en-US" altLang="zh-CN" sz="1050" b="0" i="0" u="none" strike="noStrike" kern="0" cap="none" spc="0" normalizeH="0" baseline="0" noProof="0" dirty="0">
              <a:ln>
                <a:noFill/>
              </a:ln>
              <a:solidFill>
                <a:prstClr val="white"/>
              </a:solidFill>
              <a:effectLst/>
              <a:uLnTx/>
              <a:uFillTx/>
              <a:latin typeface="华文仿宋"/>
              <a:ea typeface="华文仿宋"/>
              <a:cs typeface="华文仿宋"/>
            </a:endParaRPr>
          </a:p>
        </p:txBody>
      </p:sp>
      <p:sp>
        <p:nvSpPr>
          <p:cNvPr id="203" name="五边形 202"/>
          <p:cNvSpPr/>
          <p:nvPr/>
        </p:nvSpPr>
        <p:spPr bwMode="auto">
          <a:xfrm>
            <a:off x="7171967" y="3547938"/>
            <a:ext cx="3528000" cy="360040"/>
          </a:xfrm>
          <a:prstGeom prst="homePlate">
            <a:avLst>
              <a:gd name="adj" fmla="val 37550"/>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72000" tIns="0" rIns="72000" bIns="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100" b="1" i="0" u="none" strike="noStrike" kern="0" cap="none" spc="0" normalizeH="0" baseline="0" noProof="0" dirty="0" smtClean="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rPr>
              <a:t>流程持续集成与优化</a:t>
            </a:r>
            <a:endParaRPr kumimoji="0" lang="zh-CN" altLang="en-US" sz="11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华文仿宋"/>
              <a:ea typeface="华文仿宋"/>
              <a:cs typeface="华文仿宋"/>
            </a:endParaRPr>
          </a:p>
        </p:txBody>
      </p:sp>
      <p:sp>
        <p:nvSpPr>
          <p:cNvPr id="204" name="五角星 203"/>
          <p:cNvSpPr/>
          <p:nvPr/>
        </p:nvSpPr>
        <p:spPr bwMode="auto">
          <a:xfrm>
            <a:off x="6988755" y="3429000"/>
            <a:ext cx="216024" cy="216024"/>
          </a:xfrm>
          <a:prstGeom prst="star5">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smtClean="0">
              <a:ln>
                <a:noFill/>
              </a:ln>
              <a:solidFill>
                <a:sysClr val="window" lastClr="FFFFFF"/>
              </a:solidFill>
              <a:effectLst/>
              <a:uLnTx/>
              <a:uFillTx/>
              <a:latin typeface="华文仿宋"/>
              <a:ea typeface="华文仿宋"/>
              <a:cs typeface="华文仿宋"/>
            </a:endParaRPr>
          </a:p>
        </p:txBody>
      </p:sp>
    </p:spTree>
    <p:extLst>
      <p:ext uri="{BB962C8B-B14F-4D97-AF65-F5344CB8AC3E}">
        <p14:creationId xmlns:p14="http://schemas.microsoft.com/office/powerpoint/2010/main" val="3261724569"/>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关键策略四（架构）：灵活的平台与业务系统的集成策略</a:t>
            </a:r>
            <a:endParaRPr kumimoji="1" lang="zh-CN" altLang="en-US" dirty="0"/>
          </a:p>
        </p:txBody>
      </p:sp>
      <p:cxnSp>
        <p:nvCxnSpPr>
          <p:cNvPr id="125" name="直接连接符 134"/>
          <p:cNvCxnSpPr/>
          <p:nvPr/>
        </p:nvCxnSpPr>
        <p:spPr>
          <a:xfrm>
            <a:off x="4540176" y="2311306"/>
            <a:ext cx="0" cy="1418560"/>
          </a:xfrm>
          <a:prstGeom prst="line">
            <a:avLst/>
          </a:prstGeom>
          <a:noFill/>
          <a:ln w="38100" cap="flat" cmpd="sng" algn="ctr">
            <a:solidFill>
              <a:schemeClr val="accent1"/>
            </a:solidFill>
            <a:prstDash val="sysDash"/>
            <a:round/>
            <a:headEnd type="triangle" w="med" len="med"/>
            <a:tailEnd type="triangle" w="med" len="med"/>
          </a:ln>
          <a:effectLst/>
        </p:spPr>
      </p:cxnSp>
      <p:sp>
        <p:nvSpPr>
          <p:cNvPr id="126" name="TextBox 54"/>
          <p:cNvSpPr txBox="1"/>
          <p:nvPr/>
        </p:nvSpPr>
        <p:spPr>
          <a:xfrm>
            <a:off x="7132464" y="3505000"/>
            <a:ext cx="2880320" cy="672378"/>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a:p>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流程运行平台</a:t>
            </a:r>
            <a:endPar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cxnSp>
        <p:nvCxnSpPr>
          <p:cNvPr id="127" name="直接连接符 58"/>
          <p:cNvCxnSpPr/>
          <p:nvPr/>
        </p:nvCxnSpPr>
        <p:spPr>
          <a:xfrm>
            <a:off x="3964112" y="1051591"/>
            <a:ext cx="0" cy="331236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28" name="文本框 5"/>
          <p:cNvSpPr txBox="1"/>
          <p:nvPr/>
        </p:nvSpPr>
        <p:spPr>
          <a:xfrm>
            <a:off x="1875880" y="1195607"/>
            <a:ext cx="1771848" cy="360040"/>
          </a:xfrm>
          <a:prstGeom prst="rect">
            <a:avLst/>
          </a:prstGeom>
          <a:solidFill>
            <a:schemeClr val="tx1">
              <a:lumMod val="75000"/>
              <a:lumOff val="25000"/>
              <a:alpha val="50000"/>
            </a:schemeClr>
          </a:solidFill>
          <a:ln>
            <a:noFill/>
          </a:ln>
          <a:effectLst/>
        </p:spPr>
        <p:style>
          <a:lnRef idx="1">
            <a:schemeClr val="accent4"/>
          </a:lnRef>
          <a:fillRef idx="3">
            <a:schemeClr val="accent4"/>
          </a:fillRef>
          <a:effectRef idx="2">
            <a:schemeClr val="accent4"/>
          </a:effectRef>
          <a:fontRef idx="minor">
            <a:schemeClr val="lt1"/>
          </a:fontRef>
        </p:style>
        <p:txBody>
          <a:bodyPr wrap="square" lIns="0" tIns="0" rIns="0" bIns="0" rtlCol="0" anchor="ctr">
            <a:noAutofit/>
          </a:bodyPr>
          <a:lstStyle/>
          <a:p>
            <a:pPr algn="ctr"/>
            <a:r>
              <a:rPr lang="en-US" altLang="zh-CN" sz="1400" b="1" dirty="0" smtClean="0">
                <a:solidFill>
                  <a:srgbClr val="000000"/>
                </a:solidFill>
                <a:latin typeface="华文仿宋"/>
                <a:ea typeface="华文仿宋"/>
                <a:cs typeface="华文仿宋"/>
              </a:rPr>
              <a:t>SOA</a:t>
            </a:r>
            <a:r>
              <a:rPr lang="zh-CN" altLang="en-US" sz="1400" b="1" dirty="0" smtClean="0">
                <a:solidFill>
                  <a:srgbClr val="000000"/>
                </a:solidFill>
                <a:latin typeface="华文仿宋"/>
                <a:ea typeface="华文仿宋"/>
                <a:cs typeface="华文仿宋"/>
              </a:rPr>
              <a:t>集成模式</a:t>
            </a:r>
          </a:p>
        </p:txBody>
      </p:sp>
      <p:sp>
        <p:nvSpPr>
          <p:cNvPr id="129" name="文本框 6"/>
          <p:cNvSpPr txBox="1"/>
          <p:nvPr/>
        </p:nvSpPr>
        <p:spPr>
          <a:xfrm>
            <a:off x="7824192" y="1195607"/>
            <a:ext cx="1512168" cy="360040"/>
          </a:xfrm>
          <a:prstGeom prst="rect">
            <a:avLst/>
          </a:prstGeom>
          <a:solidFill>
            <a:schemeClr val="tx1">
              <a:lumMod val="75000"/>
              <a:lumOff val="25000"/>
              <a:alpha val="50000"/>
            </a:schemeClr>
          </a:solidFill>
          <a:ln>
            <a:noFill/>
          </a:ln>
          <a:effectLst/>
        </p:spPr>
        <p:style>
          <a:lnRef idx="1">
            <a:schemeClr val="accent4"/>
          </a:lnRef>
          <a:fillRef idx="3">
            <a:schemeClr val="accent4"/>
          </a:fillRef>
          <a:effectRef idx="2">
            <a:schemeClr val="accent4"/>
          </a:effectRef>
          <a:fontRef idx="minor">
            <a:schemeClr val="lt1"/>
          </a:fontRef>
        </p:style>
        <p:txBody>
          <a:bodyPr wrap="square" lIns="0" tIns="0" rIns="0" bIns="0" rtlCol="0" anchor="ctr">
            <a:noAutofit/>
          </a:bodyPr>
          <a:lstStyle/>
          <a:p>
            <a:pPr algn="ctr"/>
            <a:r>
              <a:rPr lang="zh-CN" altLang="en-US" sz="1400" b="1" dirty="0" smtClean="0">
                <a:solidFill>
                  <a:srgbClr val="000000"/>
                </a:solidFill>
                <a:latin typeface="华文仿宋"/>
                <a:ea typeface="华文仿宋"/>
                <a:cs typeface="华文仿宋"/>
              </a:rPr>
              <a:t>场景集成模式</a:t>
            </a:r>
          </a:p>
        </p:txBody>
      </p:sp>
      <p:sp>
        <p:nvSpPr>
          <p:cNvPr id="130" name="文本框 7"/>
          <p:cNvSpPr txBox="1"/>
          <p:nvPr/>
        </p:nvSpPr>
        <p:spPr>
          <a:xfrm>
            <a:off x="4439816" y="1178446"/>
            <a:ext cx="1971080" cy="360040"/>
          </a:xfrm>
          <a:prstGeom prst="rect">
            <a:avLst/>
          </a:prstGeom>
          <a:solidFill>
            <a:schemeClr val="tx1">
              <a:lumMod val="75000"/>
              <a:lumOff val="25000"/>
              <a:alpha val="50000"/>
            </a:schemeClr>
          </a:solidFill>
          <a:ln>
            <a:noFill/>
          </a:ln>
          <a:effectLst/>
        </p:spPr>
        <p:style>
          <a:lnRef idx="1">
            <a:schemeClr val="accent4"/>
          </a:lnRef>
          <a:fillRef idx="3">
            <a:schemeClr val="accent4"/>
          </a:fillRef>
          <a:effectRef idx="2">
            <a:schemeClr val="accent4"/>
          </a:effectRef>
          <a:fontRef idx="minor">
            <a:schemeClr val="lt1"/>
          </a:fontRef>
        </p:style>
        <p:txBody>
          <a:bodyPr wrap="square" lIns="0" tIns="0" rIns="0" bIns="0" rtlCol="0" anchor="ctr">
            <a:noAutofit/>
          </a:bodyPr>
          <a:lstStyle/>
          <a:p>
            <a:pPr algn="ctr"/>
            <a:r>
              <a:rPr lang="en-US" altLang="zh-CN" sz="1400" b="1" dirty="0" smtClean="0">
                <a:solidFill>
                  <a:srgbClr val="000000"/>
                </a:solidFill>
                <a:latin typeface="华文仿宋"/>
                <a:ea typeface="华文仿宋"/>
                <a:cs typeface="华文仿宋"/>
              </a:rPr>
              <a:t>WEB+SOA</a:t>
            </a:r>
            <a:r>
              <a:rPr lang="zh-CN" altLang="en-US" sz="1400" b="1" dirty="0" smtClean="0">
                <a:solidFill>
                  <a:srgbClr val="000000"/>
                </a:solidFill>
                <a:latin typeface="华文仿宋"/>
                <a:ea typeface="华文仿宋"/>
                <a:cs typeface="华文仿宋"/>
              </a:rPr>
              <a:t>集成模式</a:t>
            </a:r>
          </a:p>
        </p:txBody>
      </p:sp>
      <p:cxnSp>
        <p:nvCxnSpPr>
          <p:cNvPr id="131" name="直接连接符 62"/>
          <p:cNvCxnSpPr/>
          <p:nvPr/>
        </p:nvCxnSpPr>
        <p:spPr>
          <a:xfrm>
            <a:off x="6988448" y="1051591"/>
            <a:ext cx="0" cy="331236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32" name="TextBox 14"/>
          <p:cNvSpPr txBox="1"/>
          <p:nvPr/>
        </p:nvSpPr>
        <p:spPr>
          <a:xfrm>
            <a:off x="7132464" y="2249420"/>
            <a:ext cx="2880320" cy="1255581"/>
          </a:xfrm>
          <a:prstGeom prst="rect">
            <a:avLst/>
          </a:prstGeom>
          <a:solidFill>
            <a:schemeClr val="accent1">
              <a:lumMod val="60000"/>
              <a:lumOff val="40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endParaRPr lang="en-US" altLang="zh-CN" sz="1200" dirty="0" smtClean="0">
              <a:solidFill>
                <a:schemeClr val="bg1"/>
              </a:solidFill>
              <a:effectLst>
                <a:outerShdw blurRad="38100" dist="38100" dir="2700000" algn="tl">
                  <a:srgbClr val="000000">
                    <a:alpha val="43137"/>
                  </a:srgbClr>
                </a:outerShdw>
              </a:effectLst>
              <a:latin typeface="华文仿宋"/>
              <a:ea typeface="华文仿宋"/>
              <a:cs typeface="华文仿宋"/>
            </a:endParaRPr>
          </a:p>
          <a:p>
            <a:endParaRPr lang="en-US" altLang="zh-CN" sz="1200" dirty="0">
              <a:solidFill>
                <a:schemeClr val="bg1"/>
              </a:solidFill>
              <a:effectLst>
                <a:outerShdw blurRad="38100" dist="38100" dir="2700000" algn="tl">
                  <a:srgbClr val="000000">
                    <a:alpha val="43137"/>
                  </a:srgbClr>
                </a:outerShdw>
              </a:effectLst>
              <a:latin typeface="华文仿宋"/>
              <a:ea typeface="华文仿宋"/>
              <a:cs typeface="华文仿宋"/>
            </a:endParaRPr>
          </a:p>
          <a:p>
            <a:endParaRPr lang="en-US" altLang="zh-CN" sz="1200" dirty="0" smtClean="0">
              <a:solidFill>
                <a:schemeClr val="bg1"/>
              </a:solidFill>
              <a:effectLst>
                <a:outerShdw blurRad="38100" dist="38100" dir="2700000" algn="tl">
                  <a:srgbClr val="000000">
                    <a:alpha val="43137"/>
                  </a:srgbClr>
                </a:outerShdw>
              </a:effectLst>
              <a:latin typeface="华文仿宋"/>
              <a:ea typeface="华文仿宋"/>
              <a:cs typeface="华文仿宋"/>
            </a:endParaRPr>
          </a:p>
          <a:p>
            <a:endParaRPr lang="en-US" altLang="zh-CN" sz="1200" dirty="0">
              <a:solidFill>
                <a:schemeClr val="bg1"/>
              </a:solidFill>
              <a:effectLst>
                <a:outerShdw blurRad="38100" dist="38100" dir="2700000" algn="tl">
                  <a:srgbClr val="000000">
                    <a:alpha val="43137"/>
                  </a:srgbClr>
                </a:outerShdw>
              </a:effectLst>
              <a:latin typeface="华文仿宋"/>
              <a:ea typeface="华文仿宋"/>
              <a:cs typeface="华文仿宋"/>
            </a:endParaRPr>
          </a:p>
          <a:p>
            <a:endParaRPr lang="en-US" altLang="zh-CN" sz="1200" dirty="0" smtClean="0">
              <a:solidFill>
                <a:schemeClr val="bg1"/>
              </a:solidFill>
              <a:effectLst>
                <a:outerShdw blurRad="38100" dist="38100" dir="2700000" algn="tl">
                  <a:srgbClr val="000000">
                    <a:alpha val="43137"/>
                  </a:srgbClr>
                </a:outerShdw>
              </a:effectLst>
              <a:latin typeface="华文仿宋"/>
              <a:ea typeface="华文仿宋"/>
              <a:cs typeface="华文仿宋"/>
            </a:endParaRPr>
          </a:p>
          <a:p>
            <a:endParaRPr lang="en-US" altLang="zh-CN" sz="1200" dirty="0">
              <a:solidFill>
                <a:schemeClr val="bg1"/>
              </a:solidFill>
              <a:effectLst>
                <a:outerShdw blurRad="38100" dist="38100" dir="2700000" algn="tl">
                  <a:srgbClr val="000000">
                    <a:alpha val="43137"/>
                  </a:srgbClr>
                </a:outerShdw>
              </a:effectLst>
              <a:latin typeface="华文仿宋"/>
              <a:ea typeface="华文仿宋"/>
              <a:cs typeface="华文仿宋"/>
            </a:endParaRPr>
          </a:p>
        </p:txBody>
      </p:sp>
      <p:sp>
        <p:nvSpPr>
          <p:cNvPr id="133" name="圆角矩形 132"/>
          <p:cNvSpPr/>
          <p:nvPr/>
        </p:nvSpPr>
        <p:spPr bwMode="auto">
          <a:xfrm>
            <a:off x="7204472" y="2563759"/>
            <a:ext cx="720080" cy="545602"/>
          </a:xfrm>
          <a:prstGeom prst="roundRect">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smtClean="0">
                <a:latin typeface="华文仿宋"/>
                <a:ea typeface="华文仿宋"/>
                <a:cs typeface="华文仿宋"/>
              </a:rPr>
              <a:t>应用场景</a:t>
            </a:r>
          </a:p>
        </p:txBody>
      </p:sp>
      <p:sp>
        <p:nvSpPr>
          <p:cNvPr id="134" name="圆角矩形 133"/>
          <p:cNvSpPr/>
          <p:nvPr/>
        </p:nvSpPr>
        <p:spPr bwMode="auto">
          <a:xfrm>
            <a:off x="8038480" y="2563760"/>
            <a:ext cx="720080" cy="545602"/>
          </a:xfrm>
          <a:prstGeom prst="roundRect">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应用场景</a:t>
            </a:r>
          </a:p>
        </p:txBody>
      </p:sp>
      <p:sp>
        <p:nvSpPr>
          <p:cNvPr id="135" name="圆角矩形 134"/>
          <p:cNvSpPr/>
          <p:nvPr/>
        </p:nvSpPr>
        <p:spPr bwMode="auto">
          <a:xfrm>
            <a:off x="9220696" y="2563759"/>
            <a:ext cx="720080" cy="545603"/>
          </a:xfrm>
          <a:prstGeom prst="roundRect">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应用场景</a:t>
            </a:r>
          </a:p>
        </p:txBody>
      </p:sp>
      <p:sp>
        <p:nvSpPr>
          <p:cNvPr id="136" name="矩形 135"/>
          <p:cNvSpPr/>
          <p:nvPr/>
        </p:nvSpPr>
        <p:spPr bwMode="auto">
          <a:xfrm>
            <a:off x="1659856" y="5012031"/>
            <a:ext cx="8429128" cy="1080120"/>
          </a:xfrm>
          <a:prstGeom prst="rect">
            <a:avLst/>
          </a:prstGeom>
          <a:solidFill>
            <a:schemeClr val="accent1"/>
          </a:solidFill>
          <a:ln w="1270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algn="ctr" eaLnBrk="0" fontAlgn="base" hangingPunct="0">
              <a:spcBef>
                <a:spcPct val="0"/>
              </a:spcBef>
              <a:spcAft>
                <a:spcPct val="0"/>
              </a:spcAft>
            </a:pPr>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a:p>
            <a:pPr algn="ctr" eaLnBrk="0" fontAlgn="base" hangingPunct="0">
              <a:spcBef>
                <a:spcPct val="0"/>
              </a:spcBef>
              <a:spcAft>
                <a:spcPct val="0"/>
              </a:spcAft>
            </a:pPr>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a:p>
            <a:pPr algn="ctr" eaLnBrk="0" fontAlgn="base" hangingPunct="0">
              <a:spcBef>
                <a:spcPct val="0"/>
              </a:spcBef>
              <a:spcAft>
                <a:spcPct val="0"/>
              </a:spcAft>
            </a:pPr>
            <a:endParaRPr lang="en-US" altLang="zh-CN"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a:p>
            <a:pPr algn="ctr" eaLnBrk="0" fontAlgn="base" hangingPunct="0">
              <a:spcBef>
                <a:spcPct val="0"/>
              </a:spcBef>
              <a:spcAft>
                <a:spcPct val="0"/>
              </a:spcAft>
            </a:pPr>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a:p>
            <a:pPr algn="ctr" eaLnBrk="0" fontAlgn="base" hangingPunct="0">
              <a:spcBef>
                <a:spcPct val="0"/>
              </a:spcBef>
              <a:spcAft>
                <a:spcPct val="0"/>
              </a:spcAft>
            </a:pPr>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统一业务流程开发及管理</a:t>
            </a:r>
            <a:endPar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137" name="TextBox 23"/>
          <p:cNvSpPr txBox="1"/>
          <p:nvPr/>
        </p:nvSpPr>
        <p:spPr>
          <a:xfrm>
            <a:off x="1875880" y="5195857"/>
            <a:ext cx="1224136"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流程设计工具</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05" name="TextBox 24"/>
          <p:cNvSpPr txBox="1"/>
          <p:nvPr/>
        </p:nvSpPr>
        <p:spPr>
          <a:xfrm>
            <a:off x="3221246" y="5195857"/>
            <a:ext cx="1224136"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流程仿真工具</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06" name="TextBox 26"/>
          <p:cNvSpPr txBox="1"/>
          <p:nvPr/>
        </p:nvSpPr>
        <p:spPr>
          <a:xfrm>
            <a:off x="5911978" y="5195857"/>
            <a:ext cx="1224136"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平台管理门户</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07" name="TextBox 27"/>
          <p:cNvSpPr txBox="1"/>
          <p:nvPr/>
        </p:nvSpPr>
        <p:spPr>
          <a:xfrm>
            <a:off x="7257344" y="5195857"/>
            <a:ext cx="1554088"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流程监控及统计分析</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08" name="TextBox 28"/>
          <p:cNvSpPr txBox="1"/>
          <p:nvPr/>
        </p:nvSpPr>
        <p:spPr>
          <a:xfrm>
            <a:off x="8932664" y="5195857"/>
            <a:ext cx="936104"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流程归档</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09" name="任意多边形 76"/>
          <p:cNvSpPr/>
          <p:nvPr/>
        </p:nvSpPr>
        <p:spPr bwMode="auto">
          <a:xfrm>
            <a:off x="2736374" y="4168966"/>
            <a:ext cx="2739907" cy="843066"/>
          </a:xfrm>
          <a:custGeom>
            <a:avLst/>
            <a:gdLst>
              <a:gd name="connsiteX0" fmla="*/ 0 w 2571750"/>
              <a:gd name="connsiteY0" fmla="*/ 0 h 1190625"/>
              <a:gd name="connsiteX1" fmla="*/ 647700 w 2571750"/>
              <a:gd name="connsiteY1" fmla="*/ 933450 h 1190625"/>
              <a:gd name="connsiteX2" fmla="*/ 2571750 w 2571750"/>
              <a:gd name="connsiteY2" fmla="*/ 1190625 h 1190625"/>
            </a:gdLst>
            <a:ahLst/>
            <a:cxnLst>
              <a:cxn ang="0">
                <a:pos x="connsiteX0" y="connsiteY0"/>
              </a:cxn>
              <a:cxn ang="0">
                <a:pos x="connsiteX1" y="connsiteY1"/>
              </a:cxn>
              <a:cxn ang="0">
                <a:pos x="connsiteX2" y="connsiteY2"/>
              </a:cxn>
            </a:cxnLst>
            <a:rect l="l" t="t" r="r" b="b"/>
            <a:pathLst>
              <a:path w="2571750" h="1190625">
                <a:moveTo>
                  <a:pt x="0" y="0"/>
                </a:moveTo>
                <a:cubicBezTo>
                  <a:pt x="109537" y="367506"/>
                  <a:pt x="219075" y="735013"/>
                  <a:pt x="647700" y="933450"/>
                </a:cubicBezTo>
                <a:cubicBezTo>
                  <a:pt x="1076325" y="1131887"/>
                  <a:pt x="2239962" y="1154112"/>
                  <a:pt x="2571750" y="1190625"/>
                </a:cubicBezTo>
              </a:path>
            </a:pathLst>
          </a:custGeom>
          <a:noFill/>
          <a:ln w="38100" cap="flat" cmpd="sng" algn="ctr">
            <a:solidFill>
              <a:schemeClr val="accent1"/>
            </a:solidFill>
            <a:prstDash val="sysDash"/>
            <a:round/>
            <a:headEnd type="triangle" w="med" len="med"/>
            <a:tailEnd type="triangle" w="med" len="med"/>
          </a:ln>
          <a:effectLst/>
        </p:spPr>
        <p:txBody>
          <a:bodyPr rtlCol="0" anchor="ctr"/>
          <a:lstStyle/>
          <a:p>
            <a:pPr algn="ctr"/>
            <a:endParaRPr lang="zh-CN" altLang="en-US">
              <a:latin typeface="华文仿宋"/>
              <a:ea typeface="华文仿宋"/>
              <a:cs typeface="华文仿宋"/>
            </a:endParaRPr>
          </a:p>
        </p:txBody>
      </p:sp>
      <p:sp>
        <p:nvSpPr>
          <p:cNvPr id="210" name="任意多边形 77"/>
          <p:cNvSpPr/>
          <p:nvPr/>
        </p:nvSpPr>
        <p:spPr bwMode="auto">
          <a:xfrm flipH="1">
            <a:off x="5476282" y="4177377"/>
            <a:ext cx="3081940" cy="834653"/>
          </a:xfrm>
          <a:custGeom>
            <a:avLst/>
            <a:gdLst>
              <a:gd name="connsiteX0" fmla="*/ 0 w 2571750"/>
              <a:gd name="connsiteY0" fmla="*/ 0 h 1190625"/>
              <a:gd name="connsiteX1" fmla="*/ 647700 w 2571750"/>
              <a:gd name="connsiteY1" fmla="*/ 933450 h 1190625"/>
              <a:gd name="connsiteX2" fmla="*/ 2571750 w 2571750"/>
              <a:gd name="connsiteY2" fmla="*/ 1190625 h 1190625"/>
            </a:gdLst>
            <a:ahLst/>
            <a:cxnLst>
              <a:cxn ang="0">
                <a:pos x="connsiteX0" y="connsiteY0"/>
              </a:cxn>
              <a:cxn ang="0">
                <a:pos x="connsiteX1" y="connsiteY1"/>
              </a:cxn>
              <a:cxn ang="0">
                <a:pos x="connsiteX2" y="connsiteY2"/>
              </a:cxn>
            </a:cxnLst>
            <a:rect l="l" t="t" r="r" b="b"/>
            <a:pathLst>
              <a:path w="2571750" h="1190625">
                <a:moveTo>
                  <a:pt x="0" y="0"/>
                </a:moveTo>
                <a:cubicBezTo>
                  <a:pt x="109537" y="367506"/>
                  <a:pt x="219075" y="735013"/>
                  <a:pt x="647700" y="933450"/>
                </a:cubicBezTo>
                <a:cubicBezTo>
                  <a:pt x="1076325" y="1131887"/>
                  <a:pt x="2239962" y="1154112"/>
                  <a:pt x="2571750" y="1190625"/>
                </a:cubicBezTo>
              </a:path>
            </a:pathLst>
          </a:custGeom>
          <a:noFill/>
          <a:ln w="38100" cap="flat" cmpd="sng" algn="ctr">
            <a:solidFill>
              <a:schemeClr val="accent1"/>
            </a:solidFill>
            <a:prstDash val="sysDash"/>
            <a:round/>
            <a:headEnd type="triangle" w="med" len="med"/>
            <a:tailEnd type="triangle" w="med" len="med"/>
          </a:ln>
          <a:effectLst/>
        </p:spPr>
        <p:txBody>
          <a:bodyPr rtlCol="0" anchor="ctr"/>
          <a:lstStyle/>
          <a:p>
            <a:pPr algn="ctr"/>
            <a:endParaRPr lang="zh-CN" altLang="en-US">
              <a:latin typeface="华文仿宋"/>
              <a:ea typeface="华文仿宋"/>
              <a:cs typeface="华文仿宋"/>
            </a:endParaRPr>
          </a:p>
        </p:txBody>
      </p:sp>
      <p:cxnSp>
        <p:nvCxnSpPr>
          <p:cNvPr id="211" name="直接连接符 78"/>
          <p:cNvCxnSpPr>
            <a:stCxn id="234" idx="2"/>
          </p:cNvCxnSpPr>
          <p:nvPr/>
        </p:nvCxnSpPr>
        <p:spPr>
          <a:xfrm>
            <a:off x="5476282" y="4168965"/>
            <a:ext cx="0" cy="843066"/>
          </a:xfrm>
          <a:prstGeom prst="line">
            <a:avLst/>
          </a:prstGeom>
          <a:noFill/>
          <a:ln w="38100" cap="flat" cmpd="sng" algn="ctr">
            <a:solidFill>
              <a:schemeClr val="accent1"/>
            </a:solidFill>
            <a:prstDash val="sysDash"/>
            <a:round/>
            <a:headEnd type="triangle" w="med" len="med"/>
            <a:tailEnd type="triangle" w="med" len="med"/>
          </a:ln>
          <a:effectLst/>
        </p:spPr>
      </p:cxnSp>
      <p:sp>
        <p:nvSpPr>
          <p:cNvPr id="212" name="圆角矩形 211"/>
          <p:cNvSpPr/>
          <p:nvPr/>
        </p:nvSpPr>
        <p:spPr bwMode="auto">
          <a:xfrm>
            <a:off x="7276480"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sp>
        <p:nvSpPr>
          <p:cNvPr id="213" name="圆角矩形 212"/>
          <p:cNvSpPr/>
          <p:nvPr/>
        </p:nvSpPr>
        <p:spPr bwMode="auto">
          <a:xfrm>
            <a:off x="7737331"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sp>
        <p:nvSpPr>
          <p:cNvPr id="214" name="圆角矩形 213"/>
          <p:cNvSpPr/>
          <p:nvPr/>
        </p:nvSpPr>
        <p:spPr bwMode="auto">
          <a:xfrm>
            <a:off x="8198182"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sp>
        <p:nvSpPr>
          <p:cNvPr id="215" name="圆角矩形 214"/>
          <p:cNvSpPr/>
          <p:nvPr/>
        </p:nvSpPr>
        <p:spPr bwMode="auto">
          <a:xfrm>
            <a:off x="8659033"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sp>
        <p:nvSpPr>
          <p:cNvPr id="216" name="圆角矩形 215"/>
          <p:cNvSpPr/>
          <p:nvPr/>
        </p:nvSpPr>
        <p:spPr bwMode="auto">
          <a:xfrm>
            <a:off x="9119884"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sp>
        <p:nvSpPr>
          <p:cNvPr id="217" name="圆角矩形 216"/>
          <p:cNvSpPr/>
          <p:nvPr/>
        </p:nvSpPr>
        <p:spPr bwMode="auto">
          <a:xfrm>
            <a:off x="9580736" y="3355847"/>
            <a:ext cx="360040" cy="395956"/>
          </a:xfrm>
          <a:prstGeom prst="roundRect">
            <a:avLst/>
          </a:prstGeom>
          <a:solidFill>
            <a:schemeClr val="bg1">
              <a:alpha val="60000"/>
            </a:schemeClr>
          </a:solidFill>
          <a:ln w="25400" cap="flat" cmpd="sng" algn="ctr">
            <a:solidFill>
              <a:schemeClr val="bg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100" dirty="0" smtClean="0">
                <a:latin typeface="华文仿宋"/>
                <a:ea typeface="华文仿宋"/>
                <a:cs typeface="华文仿宋"/>
              </a:rPr>
              <a:t>公共组件</a:t>
            </a:r>
            <a:endParaRPr lang="zh-CN" altLang="en-US" sz="1100" dirty="0">
              <a:latin typeface="华文仿宋"/>
              <a:ea typeface="华文仿宋"/>
              <a:cs typeface="华文仿宋"/>
            </a:endParaRPr>
          </a:p>
        </p:txBody>
      </p:sp>
      <p:cxnSp>
        <p:nvCxnSpPr>
          <p:cNvPr id="218" name="直接连接符 91"/>
          <p:cNvCxnSpPr>
            <a:stCxn id="133" idx="2"/>
            <a:endCxn id="212" idx="0"/>
          </p:cNvCxnSpPr>
          <p:nvPr/>
        </p:nvCxnSpPr>
        <p:spPr>
          <a:xfrm flipH="1">
            <a:off x="7456500" y="3109361"/>
            <a:ext cx="108012" cy="246486"/>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9" name="直接连接符 92"/>
          <p:cNvCxnSpPr>
            <a:stCxn id="133" idx="2"/>
            <a:endCxn id="213" idx="0"/>
          </p:cNvCxnSpPr>
          <p:nvPr/>
        </p:nvCxnSpPr>
        <p:spPr>
          <a:xfrm>
            <a:off x="7564512" y="3109361"/>
            <a:ext cx="352839" cy="246486"/>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0" name="直接连接符 93"/>
          <p:cNvCxnSpPr>
            <a:stCxn id="133" idx="2"/>
            <a:endCxn id="214" idx="0"/>
          </p:cNvCxnSpPr>
          <p:nvPr/>
        </p:nvCxnSpPr>
        <p:spPr>
          <a:xfrm>
            <a:off x="7564512" y="3109361"/>
            <a:ext cx="813690" cy="246486"/>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1" name="直接连接符 94"/>
          <p:cNvCxnSpPr>
            <a:stCxn id="134" idx="2"/>
            <a:endCxn id="215" idx="0"/>
          </p:cNvCxnSpPr>
          <p:nvPr/>
        </p:nvCxnSpPr>
        <p:spPr>
          <a:xfrm>
            <a:off x="8398520" y="3109362"/>
            <a:ext cx="440533" cy="246485"/>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95"/>
          <p:cNvCxnSpPr>
            <a:stCxn id="134" idx="2"/>
            <a:endCxn id="214" idx="0"/>
          </p:cNvCxnSpPr>
          <p:nvPr/>
        </p:nvCxnSpPr>
        <p:spPr>
          <a:xfrm flipH="1">
            <a:off x="8378202" y="3109362"/>
            <a:ext cx="20318" cy="246485"/>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3" name="直接连接符 96"/>
          <p:cNvCxnSpPr>
            <a:stCxn id="135" idx="2"/>
            <a:endCxn id="215" idx="0"/>
          </p:cNvCxnSpPr>
          <p:nvPr/>
        </p:nvCxnSpPr>
        <p:spPr>
          <a:xfrm flipH="1">
            <a:off x="8839053" y="3109362"/>
            <a:ext cx="741683" cy="246485"/>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4" name="直接连接符 97"/>
          <p:cNvCxnSpPr>
            <a:stCxn id="135" idx="2"/>
            <a:endCxn id="216" idx="0"/>
          </p:cNvCxnSpPr>
          <p:nvPr/>
        </p:nvCxnSpPr>
        <p:spPr>
          <a:xfrm flipH="1">
            <a:off x="9299904" y="3109362"/>
            <a:ext cx="280832" cy="246485"/>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5" name="直接连接符 98"/>
          <p:cNvCxnSpPr>
            <a:stCxn id="135" idx="2"/>
            <a:endCxn id="217" idx="0"/>
          </p:cNvCxnSpPr>
          <p:nvPr/>
        </p:nvCxnSpPr>
        <p:spPr>
          <a:xfrm>
            <a:off x="9580736" y="3109362"/>
            <a:ext cx="180020" cy="246485"/>
          </a:xfrm>
          <a:prstGeom prst="line">
            <a:avLst/>
          </a:prstGeom>
          <a:ln w="28575">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6" name="直接连接符 99"/>
          <p:cNvCxnSpPr>
            <a:stCxn id="134" idx="3"/>
            <a:endCxn id="135" idx="1"/>
          </p:cNvCxnSpPr>
          <p:nvPr/>
        </p:nvCxnSpPr>
        <p:spPr>
          <a:xfrm>
            <a:off x="8758560" y="2836561"/>
            <a:ext cx="462136" cy="0"/>
          </a:xfrm>
          <a:prstGeom prst="line">
            <a:avLst/>
          </a:prstGeom>
          <a:noFill/>
          <a:ln w="63500" cap="rnd" cmpd="sng" algn="ctr">
            <a:solidFill>
              <a:schemeClr val="accent2">
                <a:lumMod val="60000"/>
                <a:lumOff val="40000"/>
              </a:schemeClr>
            </a:solidFill>
            <a:prstDash val="sysDot"/>
            <a:round/>
            <a:headEnd type="none" w="med" len="med"/>
            <a:tailEnd type="none" w="med" len="med"/>
          </a:ln>
          <a:effectLst>
            <a:glow rad="25400">
              <a:schemeClr val="bg1">
                <a:alpha val="50000"/>
              </a:schemeClr>
            </a:glow>
          </a:effectLst>
        </p:spPr>
      </p:cxnSp>
      <p:cxnSp>
        <p:nvCxnSpPr>
          <p:cNvPr id="227" name="直接连接符 100"/>
          <p:cNvCxnSpPr/>
          <p:nvPr/>
        </p:nvCxnSpPr>
        <p:spPr>
          <a:xfrm>
            <a:off x="1659856" y="4363959"/>
            <a:ext cx="8429128"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28" name="圆角矩形 227"/>
          <p:cNvSpPr/>
          <p:nvPr/>
        </p:nvSpPr>
        <p:spPr bwMode="auto">
          <a:xfrm>
            <a:off x="1652654" y="2547698"/>
            <a:ext cx="2167442" cy="576064"/>
          </a:xfrm>
          <a:prstGeom prst="roundRect">
            <a:avLst>
              <a:gd name="adj" fmla="val 10744"/>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a:t>
            </a:r>
            <a:r>
              <a:rPr lang="zh-CN" altLang="en-US" sz="1200" dirty="0" smtClean="0">
                <a:latin typeface="华文仿宋"/>
                <a:ea typeface="华文仿宋"/>
                <a:cs typeface="华文仿宋"/>
              </a:rPr>
              <a:t>系统处理层</a:t>
            </a:r>
            <a:endParaRPr lang="zh-CN" altLang="en-US" sz="1200" dirty="0">
              <a:latin typeface="华文仿宋"/>
              <a:ea typeface="华文仿宋"/>
              <a:cs typeface="华文仿宋"/>
            </a:endParaRPr>
          </a:p>
        </p:txBody>
      </p:sp>
      <p:sp>
        <p:nvSpPr>
          <p:cNvPr id="229" name="TextBox 22"/>
          <p:cNvSpPr txBox="1"/>
          <p:nvPr/>
        </p:nvSpPr>
        <p:spPr>
          <a:xfrm>
            <a:off x="1652655" y="3729866"/>
            <a:ext cx="2167441" cy="447512"/>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流程运行平台</a:t>
            </a:r>
            <a:endPar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cxnSp>
        <p:nvCxnSpPr>
          <p:cNvPr id="230" name="直接连接符 105"/>
          <p:cNvCxnSpPr>
            <a:stCxn id="228" idx="2"/>
            <a:endCxn id="229" idx="0"/>
          </p:cNvCxnSpPr>
          <p:nvPr/>
        </p:nvCxnSpPr>
        <p:spPr>
          <a:xfrm>
            <a:off x="2736375" y="3123762"/>
            <a:ext cx="1" cy="606104"/>
          </a:xfrm>
          <a:prstGeom prst="line">
            <a:avLst/>
          </a:prstGeom>
          <a:noFill/>
          <a:ln w="38100" cap="flat" cmpd="sng" algn="ctr">
            <a:solidFill>
              <a:schemeClr val="accent3">
                <a:lumMod val="75000"/>
              </a:schemeClr>
            </a:solidFill>
            <a:prstDash val="sysDash"/>
            <a:round/>
            <a:headEnd type="triangle" w="med" len="med"/>
            <a:tailEnd type="triangle" w="med" len="med"/>
          </a:ln>
          <a:effectLst>
            <a:outerShdw blurRad="63500" sx="102000" sy="102000" algn="ctr" rotWithShape="0">
              <a:prstClr val="black">
                <a:alpha val="40000"/>
              </a:prstClr>
            </a:outerShdw>
          </a:effectLst>
        </p:spPr>
      </p:cxnSp>
      <p:sp>
        <p:nvSpPr>
          <p:cNvPr id="231" name="TextBox 35"/>
          <p:cNvSpPr txBox="1"/>
          <p:nvPr/>
        </p:nvSpPr>
        <p:spPr>
          <a:xfrm>
            <a:off x="1659857" y="3277326"/>
            <a:ext cx="2160240" cy="228032"/>
          </a:xfrm>
          <a:prstGeom prst="rect">
            <a:avLst/>
          </a:prstGeom>
          <a:solidFill>
            <a:schemeClr val="accent3">
              <a:lumMod val="75000"/>
              <a:alpha val="75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企业服务总线</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32" name="圆角矩形 231"/>
          <p:cNvSpPr/>
          <p:nvPr/>
        </p:nvSpPr>
        <p:spPr bwMode="auto">
          <a:xfrm>
            <a:off x="1652654" y="1695271"/>
            <a:ext cx="2167442" cy="554150"/>
          </a:xfrm>
          <a:prstGeom prst="roundRect">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a:t>
            </a:r>
            <a:r>
              <a:rPr lang="zh-CN" altLang="en-US" sz="1200" dirty="0" smtClean="0">
                <a:latin typeface="华文仿宋"/>
                <a:ea typeface="华文仿宋"/>
                <a:cs typeface="华文仿宋"/>
              </a:rPr>
              <a:t>系统</a:t>
            </a:r>
            <a:r>
              <a:rPr lang="en-US" altLang="zh-CN" sz="1200" dirty="0" smtClean="0">
                <a:latin typeface="华文仿宋"/>
                <a:ea typeface="华文仿宋"/>
                <a:cs typeface="华文仿宋"/>
              </a:rPr>
              <a:t>WEB</a:t>
            </a:r>
            <a:r>
              <a:rPr lang="zh-CN" altLang="en-US" sz="1200" dirty="0" smtClean="0">
                <a:latin typeface="华文仿宋"/>
                <a:ea typeface="华文仿宋"/>
                <a:cs typeface="华文仿宋"/>
              </a:rPr>
              <a:t>层</a:t>
            </a:r>
            <a:endParaRPr lang="zh-CN" altLang="en-US" sz="1200" dirty="0">
              <a:latin typeface="华文仿宋"/>
              <a:ea typeface="华文仿宋"/>
              <a:cs typeface="华文仿宋"/>
            </a:endParaRPr>
          </a:p>
        </p:txBody>
      </p:sp>
      <p:sp>
        <p:nvSpPr>
          <p:cNvPr id="233" name="圆角矩形 232"/>
          <p:cNvSpPr/>
          <p:nvPr/>
        </p:nvSpPr>
        <p:spPr bwMode="auto">
          <a:xfrm>
            <a:off x="4972223" y="2547698"/>
            <a:ext cx="1755057" cy="576064"/>
          </a:xfrm>
          <a:prstGeom prst="roundRect">
            <a:avLst>
              <a:gd name="adj" fmla="val 10744"/>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a:t>
            </a:r>
            <a:r>
              <a:rPr lang="zh-CN" altLang="en-US" sz="1200" dirty="0" smtClean="0">
                <a:latin typeface="华文仿宋"/>
                <a:ea typeface="华文仿宋"/>
                <a:cs typeface="华文仿宋"/>
              </a:rPr>
              <a:t>系统处理层</a:t>
            </a:r>
            <a:endParaRPr lang="zh-CN" altLang="en-US" sz="1200" dirty="0">
              <a:latin typeface="华文仿宋"/>
              <a:ea typeface="华文仿宋"/>
              <a:cs typeface="华文仿宋"/>
            </a:endParaRPr>
          </a:p>
        </p:txBody>
      </p:sp>
      <p:sp>
        <p:nvSpPr>
          <p:cNvPr id="234" name="TextBox 22"/>
          <p:cNvSpPr txBox="1"/>
          <p:nvPr/>
        </p:nvSpPr>
        <p:spPr>
          <a:xfrm>
            <a:off x="4108130" y="3729866"/>
            <a:ext cx="2736304" cy="439099"/>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流程运行平台</a:t>
            </a:r>
            <a:endPar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cxnSp>
        <p:nvCxnSpPr>
          <p:cNvPr id="235" name="直接连接符 130"/>
          <p:cNvCxnSpPr>
            <a:stCxn id="233" idx="2"/>
          </p:cNvCxnSpPr>
          <p:nvPr/>
        </p:nvCxnSpPr>
        <p:spPr>
          <a:xfrm>
            <a:off x="5849752" y="3123762"/>
            <a:ext cx="0" cy="606104"/>
          </a:xfrm>
          <a:prstGeom prst="line">
            <a:avLst/>
          </a:prstGeom>
          <a:noFill/>
          <a:ln w="38100" cap="flat" cmpd="sng" algn="ctr">
            <a:solidFill>
              <a:schemeClr val="accent3">
                <a:lumMod val="75000"/>
              </a:schemeClr>
            </a:solidFill>
            <a:prstDash val="sysDash"/>
            <a:round/>
            <a:headEnd type="triangle" w="med" len="med"/>
            <a:tailEnd type="triangle" w="med" len="med"/>
          </a:ln>
          <a:effectLst>
            <a:outerShdw blurRad="63500" sx="102000" sy="102000" algn="ctr" rotWithShape="0">
              <a:prstClr val="black">
                <a:alpha val="40000"/>
              </a:prstClr>
            </a:outerShdw>
          </a:effectLst>
        </p:spPr>
      </p:cxnSp>
      <p:sp>
        <p:nvSpPr>
          <p:cNvPr id="236" name="TextBox 35"/>
          <p:cNvSpPr txBox="1"/>
          <p:nvPr/>
        </p:nvSpPr>
        <p:spPr>
          <a:xfrm>
            <a:off x="4972224" y="3276968"/>
            <a:ext cx="1755056" cy="228032"/>
          </a:xfrm>
          <a:prstGeom prst="rect">
            <a:avLst/>
          </a:prstGeom>
          <a:solidFill>
            <a:schemeClr val="accent3">
              <a:lumMod val="75000"/>
              <a:alpha val="75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企业服务总线</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37" name="圆角矩形 236"/>
          <p:cNvSpPr/>
          <p:nvPr/>
        </p:nvSpPr>
        <p:spPr bwMode="auto">
          <a:xfrm>
            <a:off x="4108131" y="1699663"/>
            <a:ext cx="2736304" cy="618253"/>
          </a:xfrm>
          <a:prstGeom prst="round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eaLnBrk="0" fontAlgn="base" hangingPunct="0">
              <a:spcBef>
                <a:spcPct val="0"/>
              </a:spcBef>
              <a:spcAft>
                <a:spcPct val="0"/>
              </a:spcAft>
            </a:pPr>
            <a:r>
              <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rPr>
              <a:t>统一流程操作</a:t>
            </a:r>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门户</a:t>
            </a:r>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a:p>
            <a:pPr algn="ctr" eaLnBrk="0" fontAlgn="base" hangingPunct="0">
              <a:spcBef>
                <a:spcPct val="0"/>
              </a:spcBef>
              <a:spcAft>
                <a:spcPct val="0"/>
              </a:spcAft>
            </a:pPr>
            <a:endPar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38" name="圆角矩形 237"/>
          <p:cNvSpPr/>
          <p:nvPr/>
        </p:nvSpPr>
        <p:spPr bwMode="auto">
          <a:xfrm>
            <a:off x="4972224" y="1988449"/>
            <a:ext cx="1755056" cy="260971"/>
          </a:xfrm>
          <a:prstGeom prst="roundRect">
            <a:avLst/>
          </a:prstGeom>
          <a:solidFill>
            <a:schemeClr val="accent2">
              <a:lumMod val="60000"/>
              <a:lumOff val="40000"/>
            </a:schemeClr>
          </a:solidFill>
          <a:ln w="19050" cap="flat" cmpd="sng" algn="ctr">
            <a:solidFill>
              <a:schemeClr val="bg1">
                <a:lumMod val="9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0"/>
              </a:spcBef>
              <a:spcAft>
                <a:spcPct val="0"/>
              </a:spcAft>
            </a:pPr>
            <a:r>
              <a:rPr lang="zh-CN" altLang="en-US" sz="1200" dirty="0">
                <a:latin typeface="华文仿宋"/>
                <a:ea typeface="华文仿宋"/>
                <a:cs typeface="华文仿宋"/>
              </a:rPr>
              <a:t>应用</a:t>
            </a:r>
            <a:r>
              <a:rPr lang="zh-CN" altLang="en-US" sz="1200" dirty="0" smtClean="0">
                <a:latin typeface="华文仿宋"/>
                <a:ea typeface="华文仿宋"/>
                <a:cs typeface="华文仿宋"/>
              </a:rPr>
              <a:t>系统流程定制界面</a:t>
            </a:r>
            <a:endParaRPr lang="zh-CN" altLang="en-US" sz="1200" dirty="0">
              <a:latin typeface="华文仿宋"/>
              <a:ea typeface="华文仿宋"/>
              <a:cs typeface="华文仿宋"/>
            </a:endParaRPr>
          </a:p>
        </p:txBody>
      </p:sp>
      <p:cxnSp>
        <p:nvCxnSpPr>
          <p:cNvPr id="239" name="直接连接符 150"/>
          <p:cNvCxnSpPr>
            <a:stCxn id="238" idx="2"/>
            <a:endCxn id="233" idx="0"/>
          </p:cNvCxnSpPr>
          <p:nvPr/>
        </p:nvCxnSpPr>
        <p:spPr>
          <a:xfrm>
            <a:off x="5849752" y="2249420"/>
            <a:ext cx="0" cy="298278"/>
          </a:xfrm>
          <a:prstGeom prst="line">
            <a:avLst/>
          </a:prstGeom>
          <a:noFill/>
          <a:ln w="38100" cap="flat" cmpd="sng" algn="ctr">
            <a:solidFill>
              <a:srgbClr val="D68C8A"/>
            </a:solidFill>
            <a:prstDash val="sysDash"/>
            <a:round/>
            <a:headEnd type="triangle" w="med" len="med"/>
            <a:tailEnd type="triangle" w="med" len="med"/>
          </a:ln>
          <a:effectLst/>
        </p:spPr>
      </p:cxnSp>
      <p:cxnSp>
        <p:nvCxnSpPr>
          <p:cNvPr id="240" name="直接连接符 169"/>
          <p:cNvCxnSpPr>
            <a:stCxn id="232" idx="2"/>
            <a:endCxn id="228" idx="0"/>
          </p:cNvCxnSpPr>
          <p:nvPr/>
        </p:nvCxnSpPr>
        <p:spPr>
          <a:xfrm>
            <a:off x="2736375" y="2249421"/>
            <a:ext cx="0" cy="298277"/>
          </a:xfrm>
          <a:prstGeom prst="line">
            <a:avLst/>
          </a:prstGeom>
          <a:noFill/>
          <a:ln w="38100" cap="flat" cmpd="sng" algn="ctr">
            <a:solidFill>
              <a:srgbClr val="D68C8A"/>
            </a:solidFill>
            <a:prstDash val="sysDash"/>
            <a:round/>
            <a:headEnd type="triangle" w="med" len="med"/>
            <a:tailEnd type="triangle" w="med" len="med"/>
          </a:ln>
          <a:effectLst/>
        </p:spPr>
      </p:cxnSp>
      <p:sp>
        <p:nvSpPr>
          <p:cNvPr id="241" name="圆角矩形 240"/>
          <p:cNvSpPr/>
          <p:nvPr/>
        </p:nvSpPr>
        <p:spPr bwMode="auto">
          <a:xfrm>
            <a:off x="7132464" y="1693053"/>
            <a:ext cx="2880320" cy="618253"/>
          </a:xfrm>
          <a:prstGeom prst="round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0"/>
              </a:spcBef>
              <a:spcAft>
                <a:spcPct val="0"/>
              </a:spcAft>
            </a:pPr>
            <a:r>
              <a:rPr lang="zh-CN" altLang="en-US" sz="1200" b="1" dirty="0">
                <a:solidFill>
                  <a:srgbClr val="000000"/>
                </a:solidFill>
                <a:effectLst>
                  <a:outerShdw blurRad="38100" dist="38100" dir="2700000" algn="tl">
                    <a:srgbClr val="000000">
                      <a:alpha val="43137"/>
                    </a:srgbClr>
                  </a:outerShdw>
                </a:effectLst>
                <a:latin typeface="华文仿宋"/>
                <a:ea typeface="华文仿宋"/>
                <a:cs typeface="华文仿宋"/>
              </a:rPr>
              <a:t>统一流程操作</a:t>
            </a:r>
            <a:r>
              <a:rPr lang="zh-CN" altLang="en-US" sz="1200" b="1" dirty="0" smtClean="0">
                <a:solidFill>
                  <a:srgbClr val="000000"/>
                </a:solidFill>
                <a:effectLst>
                  <a:outerShdw blurRad="38100" dist="38100" dir="2700000" algn="tl">
                    <a:srgbClr val="000000">
                      <a:alpha val="43137"/>
                    </a:srgbClr>
                  </a:outerShdw>
                </a:effectLst>
                <a:latin typeface="华文仿宋"/>
                <a:ea typeface="华文仿宋"/>
                <a:cs typeface="华文仿宋"/>
              </a:rPr>
              <a:t>门户</a:t>
            </a:r>
            <a:endParaRPr lang="en-US" altLang="zh-CN" sz="1200" b="1" dirty="0" smtClean="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
        <p:nvSpPr>
          <p:cNvPr id="242" name="TextBox 26"/>
          <p:cNvSpPr txBox="1"/>
          <p:nvPr/>
        </p:nvSpPr>
        <p:spPr>
          <a:xfrm>
            <a:off x="4566612" y="5195857"/>
            <a:ext cx="1224136" cy="392238"/>
          </a:xfrm>
          <a:prstGeom prst="rect">
            <a:avLst/>
          </a:prstGeom>
          <a:solidFill>
            <a:schemeClr val="bg1">
              <a:lumMod val="95000"/>
              <a:alpha val="30000"/>
            </a:schemeClr>
          </a:solidFill>
          <a:ln w="25400"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zh-CN"/>
            </a:defPPr>
            <a:lvl1pPr algn="ctr" eaLnBrk="0" fontAlgn="base" hangingPunct="0">
              <a:spcBef>
                <a:spcPct val="0"/>
              </a:spcBef>
              <a:spcAft>
                <a:spcPct val="0"/>
              </a:spcAft>
              <a:defRPr sz="1100">
                <a:latin typeface="微软雅黑" pitchFamily="34" charset="-122"/>
                <a:ea typeface="微软雅黑" pitchFamily="34" charset="-122"/>
              </a:defRPr>
            </a:lvl1pPr>
          </a:lstStyle>
          <a:p>
            <a:r>
              <a:rPr lang="zh-CN" altLang="en-US" sz="1200" dirty="0" smtClean="0">
                <a:solidFill>
                  <a:srgbClr val="000000"/>
                </a:solidFill>
                <a:effectLst>
                  <a:outerShdw blurRad="38100" dist="38100" dir="2700000" algn="tl">
                    <a:srgbClr val="000000">
                      <a:alpha val="43137"/>
                    </a:srgbClr>
                  </a:outerShdw>
                </a:effectLst>
                <a:latin typeface="华文仿宋"/>
                <a:ea typeface="华文仿宋"/>
                <a:cs typeface="华文仿宋"/>
              </a:rPr>
              <a:t>流程管理门户</a:t>
            </a:r>
            <a:endParaRPr lang="zh-CN" altLang="en-US" sz="1200" dirty="0">
              <a:solidFill>
                <a:srgbClr val="000000"/>
              </a:solidFill>
              <a:effectLst>
                <a:outerShdw blurRad="38100" dist="38100" dir="2700000" algn="tl">
                  <a:srgbClr val="000000">
                    <a:alpha val="43137"/>
                  </a:srgbClr>
                </a:outerShdw>
              </a:effectLst>
              <a:latin typeface="华文仿宋"/>
              <a:ea typeface="华文仿宋"/>
              <a:cs typeface="华文仿宋"/>
            </a:endParaRPr>
          </a:p>
        </p:txBody>
      </p:sp>
    </p:spTree>
    <p:extLst>
      <p:ext uri="{BB962C8B-B14F-4D97-AF65-F5344CB8AC3E}">
        <p14:creationId xmlns:p14="http://schemas.microsoft.com/office/powerpoint/2010/main" val="4240304760"/>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3575720" y="947617"/>
            <a:ext cx="7920534" cy="5688632"/>
          </a:xfrm>
        </p:spPr>
        <p:txBody>
          <a:bodyPr anchor="ctr"/>
          <a:lstStyle/>
          <a:p>
            <a:pPr marL="571500" indent="-571500">
              <a:lnSpc>
                <a:spcPct val="150000"/>
              </a:lnSpc>
              <a:buFont typeface="Wingdings" charset="2"/>
              <a:buAutoNum type="circleNumWdBlackPlain"/>
            </a:pPr>
            <a:r>
              <a:rPr lang="zh-CN" altLang="en-US" sz="3600" dirty="0" smtClean="0">
                <a:solidFill>
                  <a:srgbClr val="000000"/>
                </a:solidFill>
              </a:rPr>
              <a:t>统一流程平台建设方法</a:t>
            </a:r>
            <a:endParaRPr lang="en-US" altLang="zh-CN" sz="3600" dirty="0">
              <a:solidFill>
                <a:srgbClr val="000000"/>
              </a:solidFill>
            </a:endParaRPr>
          </a:p>
          <a:p>
            <a:pPr marL="571500" indent="-571500">
              <a:lnSpc>
                <a:spcPct val="150000"/>
              </a:lnSpc>
              <a:buFont typeface="Wingdings" charset="2"/>
              <a:buAutoNum type="circleNumWdBlackPlain"/>
            </a:pPr>
            <a:r>
              <a:rPr lang="zh-CN" altLang="en-US" sz="3600" dirty="0" smtClean="0">
                <a:solidFill>
                  <a:srgbClr val="000000"/>
                </a:solidFill>
              </a:rPr>
              <a:t>案例：浦发银行统一流程平台</a:t>
            </a:r>
            <a:endParaRPr lang="en-US" altLang="zh-CN" sz="3600" dirty="0" smtClean="0">
              <a:solidFill>
                <a:srgbClr val="000000"/>
              </a:solidFill>
            </a:endParaRPr>
          </a:p>
          <a:p>
            <a:pPr marL="571500" indent="-571500">
              <a:lnSpc>
                <a:spcPct val="150000"/>
              </a:lnSpc>
              <a:buFont typeface="Wingdings" charset="2"/>
              <a:buAutoNum type="circleNumWdBlackPlain"/>
            </a:pPr>
            <a:r>
              <a:rPr lang="zh-CN" altLang="en-US" sz="3600" dirty="0">
                <a:solidFill>
                  <a:srgbClr val="FF6601"/>
                </a:solidFill>
              </a:rPr>
              <a:t>邮储统一流程平台实施建议 </a:t>
            </a:r>
            <a:endParaRPr lang="en-US" altLang="zh-CN" sz="3600" dirty="0">
              <a:solidFill>
                <a:srgbClr val="FF6601"/>
              </a:solidFill>
            </a:endParaRPr>
          </a:p>
        </p:txBody>
      </p:sp>
    </p:spTree>
    <p:extLst>
      <p:ext uri="{BB962C8B-B14F-4D97-AF65-F5344CB8AC3E}">
        <p14:creationId xmlns:p14="http://schemas.microsoft.com/office/powerpoint/2010/main" val="3012899359"/>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smtClean="0">
                <a:solidFill>
                  <a:srgbClr val="FEFFFF"/>
                </a:solidFill>
                <a:sym typeface="宋体" pitchFamily="2" charset="-122"/>
              </a:rPr>
              <a:t>总体思路：分步实施</a:t>
            </a:r>
            <a:endParaRPr kumimoji="1" lang="zh-CN" altLang="en-US" dirty="0">
              <a:solidFill>
                <a:srgbClr val="FEFFFF"/>
              </a:solidFill>
            </a:endParaRPr>
          </a:p>
        </p:txBody>
      </p:sp>
      <p:graphicFrame>
        <p:nvGraphicFramePr>
          <p:cNvPr id="3" name="Diagram 12"/>
          <p:cNvGraphicFramePr/>
          <p:nvPr>
            <p:extLst>
              <p:ext uri="{D42A27DB-BD31-4B8C-83A1-F6EECF244321}">
                <p14:modId xmlns:p14="http://schemas.microsoft.com/office/powerpoint/2010/main" val="675150077"/>
              </p:ext>
            </p:extLst>
          </p:nvPr>
        </p:nvGraphicFramePr>
        <p:xfrm>
          <a:off x="719403" y="1340768"/>
          <a:ext cx="10763325" cy="4532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3946024"/>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dirty="0" smtClean="0"/>
              <a:t>1.</a:t>
            </a:r>
            <a:r>
              <a:rPr kumimoji="1" lang="zh-CN" altLang="en-US" dirty="0" smtClean="0"/>
              <a:t> 达成共识，建立规范与原则</a:t>
            </a:r>
            <a:endParaRPr kumimoji="1" lang="zh-CN" altLang="en-US" dirty="0"/>
          </a:p>
        </p:txBody>
      </p:sp>
      <p:sp>
        <p:nvSpPr>
          <p:cNvPr id="7" name="椭圆 6"/>
          <p:cNvSpPr/>
          <p:nvPr/>
        </p:nvSpPr>
        <p:spPr>
          <a:xfrm>
            <a:off x="1691680" y="2118485"/>
            <a:ext cx="3096344" cy="30963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华文仿宋"/>
              <a:ea typeface="华文仿宋"/>
              <a:cs typeface="华文仿宋"/>
            </a:endParaRPr>
          </a:p>
        </p:txBody>
      </p:sp>
      <p:sp>
        <p:nvSpPr>
          <p:cNvPr id="8" name="椭圆 7"/>
          <p:cNvSpPr/>
          <p:nvPr/>
        </p:nvSpPr>
        <p:spPr>
          <a:xfrm>
            <a:off x="1979226" y="2406031"/>
            <a:ext cx="2521253" cy="25212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华文仿宋"/>
              <a:ea typeface="华文仿宋"/>
              <a:cs typeface="华文仿宋"/>
            </a:endParaRPr>
          </a:p>
        </p:txBody>
      </p:sp>
      <p:sp>
        <p:nvSpPr>
          <p:cNvPr id="9" name="文本框 8"/>
          <p:cNvSpPr txBox="1"/>
          <p:nvPr/>
        </p:nvSpPr>
        <p:spPr>
          <a:xfrm>
            <a:off x="2608010" y="3461259"/>
            <a:ext cx="1338828" cy="369332"/>
          </a:xfrm>
          <a:prstGeom prst="rect">
            <a:avLst/>
          </a:prstGeom>
          <a:noFill/>
        </p:spPr>
        <p:txBody>
          <a:bodyPr wrap="none" rtlCol="0">
            <a:spAutoFit/>
          </a:bodyPr>
          <a:lstStyle/>
          <a:p>
            <a:r>
              <a:rPr kumimoji="1" lang="zh-CN" altLang="en-US" dirty="0" smtClean="0">
                <a:latin typeface="华文仿宋"/>
                <a:ea typeface="华文仿宋"/>
                <a:cs typeface="华文仿宋"/>
              </a:rPr>
              <a:t>沟通、参与</a:t>
            </a:r>
            <a:endParaRPr kumimoji="1" lang="zh-CN" altLang="en-US" dirty="0">
              <a:latin typeface="华文仿宋"/>
              <a:ea typeface="华文仿宋"/>
              <a:cs typeface="华文仿宋"/>
            </a:endParaRPr>
          </a:p>
        </p:txBody>
      </p:sp>
      <p:sp>
        <p:nvSpPr>
          <p:cNvPr id="16" name="矩形 15"/>
          <p:cNvSpPr/>
          <p:nvPr/>
        </p:nvSpPr>
        <p:spPr>
          <a:xfrm>
            <a:off x="3419872" y="1750828"/>
            <a:ext cx="1120820" cy="369332"/>
          </a:xfrm>
          <a:prstGeom prst="rect">
            <a:avLst/>
          </a:prstGeom>
        </p:spPr>
        <p:txBody>
          <a:bodyPr wrap="none">
            <a:spAutoFit/>
          </a:bodyPr>
          <a:lstStyle/>
          <a:p>
            <a:r>
              <a:rPr lang="zh-CN" altLang="zh-CN" b="1" dirty="0" smtClean="0">
                <a:latin typeface="华文仿宋"/>
                <a:ea typeface="华文仿宋"/>
                <a:cs typeface="华文仿宋"/>
              </a:rPr>
              <a:t>主管领导</a:t>
            </a:r>
            <a:r>
              <a:rPr lang="zh-CN" altLang="zh-CN" dirty="0" smtClean="0">
                <a:latin typeface="华文仿宋"/>
                <a:ea typeface="华文仿宋"/>
                <a:cs typeface="华文仿宋"/>
              </a:rPr>
              <a:t> </a:t>
            </a:r>
            <a:endParaRPr lang="zh-CN" altLang="en-US" dirty="0">
              <a:latin typeface="华文仿宋"/>
              <a:ea typeface="华文仿宋"/>
              <a:cs typeface="华文仿宋"/>
            </a:endParaRPr>
          </a:p>
        </p:txBody>
      </p:sp>
      <p:sp>
        <p:nvSpPr>
          <p:cNvPr id="17" name="矩形 16"/>
          <p:cNvSpPr/>
          <p:nvPr/>
        </p:nvSpPr>
        <p:spPr>
          <a:xfrm>
            <a:off x="335360" y="3140968"/>
            <a:ext cx="1351652" cy="369332"/>
          </a:xfrm>
          <a:prstGeom prst="rect">
            <a:avLst/>
          </a:prstGeom>
        </p:spPr>
        <p:txBody>
          <a:bodyPr wrap="none">
            <a:spAutoFit/>
          </a:bodyPr>
          <a:lstStyle/>
          <a:p>
            <a:r>
              <a:rPr lang="zh-CN" altLang="en-US" b="1" dirty="0" smtClean="0">
                <a:latin typeface="华文仿宋"/>
                <a:ea typeface="华文仿宋"/>
                <a:cs typeface="华文仿宋"/>
              </a:rPr>
              <a:t>流程</a:t>
            </a:r>
            <a:r>
              <a:rPr lang="zh-CN" altLang="zh-CN" b="1" dirty="0" smtClean="0">
                <a:latin typeface="华文仿宋"/>
                <a:ea typeface="华文仿宋"/>
                <a:cs typeface="华文仿宋"/>
              </a:rPr>
              <a:t>平台组</a:t>
            </a:r>
            <a:r>
              <a:rPr lang="zh-CN" altLang="zh-CN" dirty="0" smtClean="0">
                <a:latin typeface="华文仿宋"/>
                <a:ea typeface="华文仿宋"/>
                <a:cs typeface="华文仿宋"/>
              </a:rPr>
              <a:t> </a:t>
            </a:r>
            <a:endParaRPr lang="zh-CN" altLang="en-US" dirty="0">
              <a:latin typeface="华文仿宋"/>
              <a:ea typeface="华文仿宋"/>
              <a:cs typeface="华文仿宋"/>
            </a:endParaRPr>
          </a:p>
        </p:txBody>
      </p:sp>
      <p:sp>
        <p:nvSpPr>
          <p:cNvPr id="18" name="矩形 17"/>
          <p:cNvSpPr/>
          <p:nvPr/>
        </p:nvSpPr>
        <p:spPr>
          <a:xfrm>
            <a:off x="4082873" y="4797152"/>
            <a:ext cx="1813317" cy="369332"/>
          </a:xfrm>
          <a:prstGeom prst="rect">
            <a:avLst/>
          </a:prstGeom>
        </p:spPr>
        <p:txBody>
          <a:bodyPr wrap="none">
            <a:spAutoFit/>
          </a:bodyPr>
          <a:lstStyle/>
          <a:p>
            <a:r>
              <a:rPr lang="zh-CN" altLang="en-US" b="1" dirty="0">
                <a:latin typeface="华文仿宋"/>
                <a:ea typeface="华文仿宋"/>
                <a:cs typeface="华文仿宋"/>
              </a:rPr>
              <a:t>业务应用项目组 </a:t>
            </a:r>
          </a:p>
        </p:txBody>
      </p:sp>
      <p:sp>
        <p:nvSpPr>
          <p:cNvPr id="19" name="椭圆 18"/>
          <p:cNvSpPr/>
          <p:nvPr/>
        </p:nvSpPr>
        <p:spPr>
          <a:xfrm>
            <a:off x="3059832" y="1913313"/>
            <a:ext cx="369332" cy="369332"/>
          </a:xfrm>
          <a:prstGeom prst="ellipse">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ysClr val="window" lastClr="FFFFFF"/>
              </a:solidFill>
              <a:effectLst/>
              <a:uLnTx/>
              <a:uFillTx/>
              <a:latin typeface="华文仿宋"/>
              <a:ea typeface="华文仿宋"/>
              <a:cs typeface="华文仿宋"/>
            </a:endParaRPr>
          </a:p>
        </p:txBody>
      </p:sp>
      <p:sp>
        <p:nvSpPr>
          <p:cNvPr id="20" name="椭圆 19"/>
          <p:cNvSpPr/>
          <p:nvPr/>
        </p:nvSpPr>
        <p:spPr>
          <a:xfrm>
            <a:off x="1507014" y="3481991"/>
            <a:ext cx="369332" cy="369332"/>
          </a:xfrm>
          <a:prstGeom prst="ellipse">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ysClr val="window" lastClr="FFFFFF"/>
              </a:solidFill>
              <a:effectLst/>
              <a:uLnTx/>
              <a:uFillTx/>
              <a:latin typeface="华文仿宋"/>
              <a:ea typeface="华文仿宋"/>
              <a:cs typeface="华文仿宋"/>
            </a:endParaRPr>
          </a:p>
        </p:txBody>
      </p:sp>
      <p:sp>
        <p:nvSpPr>
          <p:cNvPr id="21" name="椭圆 20"/>
          <p:cNvSpPr/>
          <p:nvPr/>
        </p:nvSpPr>
        <p:spPr>
          <a:xfrm>
            <a:off x="4286294" y="4358662"/>
            <a:ext cx="369332" cy="369332"/>
          </a:xfrm>
          <a:prstGeom prst="ellipse">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ysClr val="window" lastClr="FFFFFF"/>
              </a:solidFill>
              <a:effectLst/>
              <a:uLnTx/>
              <a:uFillTx/>
              <a:latin typeface="华文仿宋"/>
              <a:ea typeface="华文仿宋"/>
              <a:cs typeface="华文仿宋"/>
            </a:endParaRPr>
          </a:p>
        </p:txBody>
      </p:sp>
      <p:sp>
        <p:nvSpPr>
          <p:cNvPr id="24" name="文本框 23"/>
          <p:cNvSpPr txBox="1"/>
          <p:nvPr/>
        </p:nvSpPr>
        <p:spPr>
          <a:xfrm>
            <a:off x="7207329" y="1795139"/>
            <a:ext cx="2555620" cy="461665"/>
          </a:xfrm>
          <a:prstGeom prst="rect">
            <a:avLst/>
          </a:prstGeom>
          <a:noFill/>
        </p:spPr>
        <p:txBody>
          <a:bodyPr wrap="none" rtlCol="0" anchor="ctr">
            <a:spAutoFit/>
          </a:bodyPr>
          <a:lstStyle/>
          <a:p>
            <a:r>
              <a:rPr kumimoji="1" lang="en-US" altLang="zh-CN" dirty="0" smtClean="0">
                <a:latin typeface="华文仿宋"/>
                <a:ea typeface="华文仿宋"/>
                <a:cs typeface="华文仿宋"/>
              </a:rPr>
              <a:t>1.</a:t>
            </a:r>
            <a:r>
              <a:rPr kumimoji="1" lang="zh-CN" altLang="en-US" dirty="0" smtClean="0">
                <a:latin typeface="华文仿宋"/>
                <a:ea typeface="华文仿宋"/>
                <a:cs typeface="华文仿宋"/>
              </a:rPr>
              <a:t> 明确总体</a:t>
            </a:r>
            <a:r>
              <a:rPr kumimoji="1" lang="zh-CN" altLang="en-US" sz="2400" b="1" dirty="0" smtClean="0">
                <a:solidFill>
                  <a:srgbClr val="FF6600"/>
                </a:solidFill>
                <a:latin typeface="华文仿宋"/>
                <a:ea typeface="华文仿宋"/>
                <a:cs typeface="华文仿宋"/>
              </a:rPr>
              <a:t>目标方向</a:t>
            </a:r>
            <a:endParaRPr kumimoji="1" lang="zh-CN" altLang="en-US" sz="2400" b="1" dirty="0">
              <a:solidFill>
                <a:srgbClr val="FF6600"/>
              </a:solidFill>
              <a:latin typeface="华文仿宋"/>
              <a:ea typeface="华文仿宋"/>
              <a:cs typeface="华文仿宋"/>
            </a:endParaRPr>
          </a:p>
        </p:txBody>
      </p:sp>
      <p:sp>
        <p:nvSpPr>
          <p:cNvPr id="25" name="文本框 24"/>
          <p:cNvSpPr txBox="1"/>
          <p:nvPr/>
        </p:nvSpPr>
        <p:spPr>
          <a:xfrm>
            <a:off x="7207329" y="2475467"/>
            <a:ext cx="2863396" cy="461665"/>
          </a:xfrm>
          <a:prstGeom prst="rect">
            <a:avLst/>
          </a:prstGeom>
          <a:noFill/>
        </p:spPr>
        <p:txBody>
          <a:bodyPr wrap="none" rtlCol="0" anchor="ctr">
            <a:spAutoFit/>
          </a:bodyPr>
          <a:lstStyle/>
          <a:p>
            <a:r>
              <a:rPr kumimoji="1" lang="en-US" altLang="zh-CN" dirty="0" smtClean="0">
                <a:latin typeface="华文仿宋"/>
                <a:ea typeface="华文仿宋"/>
                <a:cs typeface="华文仿宋"/>
              </a:rPr>
              <a:t>2.</a:t>
            </a:r>
            <a:r>
              <a:rPr kumimoji="1" lang="zh-CN" altLang="en-US" dirty="0" smtClean="0">
                <a:latin typeface="华文仿宋"/>
                <a:ea typeface="华文仿宋"/>
                <a:cs typeface="华文仿宋"/>
              </a:rPr>
              <a:t> 明确平台</a:t>
            </a:r>
            <a:r>
              <a:rPr kumimoji="1" lang="zh-CN" altLang="en-US" sz="2400" b="1" dirty="0" smtClean="0">
                <a:solidFill>
                  <a:srgbClr val="FF6600"/>
                </a:solidFill>
                <a:latin typeface="华文仿宋"/>
                <a:ea typeface="华文仿宋"/>
                <a:cs typeface="华文仿宋"/>
              </a:rPr>
              <a:t>范围与投入</a:t>
            </a:r>
            <a:endParaRPr kumimoji="1" lang="zh-CN" altLang="en-US" b="1" dirty="0">
              <a:solidFill>
                <a:srgbClr val="FF6600"/>
              </a:solidFill>
              <a:latin typeface="华文仿宋"/>
              <a:ea typeface="华文仿宋"/>
              <a:cs typeface="华文仿宋"/>
            </a:endParaRPr>
          </a:p>
        </p:txBody>
      </p:sp>
      <p:sp>
        <p:nvSpPr>
          <p:cNvPr id="26" name="文本框 25"/>
          <p:cNvSpPr txBox="1"/>
          <p:nvPr/>
        </p:nvSpPr>
        <p:spPr>
          <a:xfrm>
            <a:off x="7207329" y="3179151"/>
            <a:ext cx="2093955" cy="461665"/>
          </a:xfrm>
          <a:prstGeom prst="rect">
            <a:avLst/>
          </a:prstGeom>
          <a:noFill/>
        </p:spPr>
        <p:txBody>
          <a:bodyPr wrap="none" rtlCol="0" anchor="ctr">
            <a:spAutoFit/>
          </a:bodyPr>
          <a:lstStyle/>
          <a:p>
            <a:r>
              <a:rPr kumimoji="1" lang="en-US" altLang="zh-CN" dirty="0" smtClean="0">
                <a:latin typeface="华文仿宋"/>
                <a:ea typeface="华文仿宋"/>
                <a:cs typeface="华文仿宋"/>
              </a:rPr>
              <a:t>3.</a:t>
            </a:r>
            <a:r>
              <a:rPr kumimoji="1" lang="zh-CN" altLang="en-US" dirty="0" smtClean="0">
                <a:latin typeface="华文仿宋"/>
                <a:ea typeface="华文仿宋"/>
                <a:cs typeface="华文仿宋"/>
              </a:rPr>
              <a:t> 确定</a:t>
            </a:r>
            <a:r>
              <a:rPr kumimoji="1" lang="zh-CN" altLang="en-US" sz="2400" b="1" dirty="0" smtClean="0">
                <a:solidFill>
                  <a:srgbClr val="FF6600"/>
                </a:solidFill>
                <a:latin typeface="华文仿宋"/>
                <a:ea typeface="华文仿宋"/>
                <a:cs typeface="华文仿宋"/>
              </a:rPr>
              <a:t>接入原则</a:t>
            </a:r>
            <a:endParaRPr kumimoji="1" lang="zh-CN" altLang="en-US" sz="2400" b="1" dirty="0">
              <a:solidFill>
                <a:srgbClr val="FF6600"/>
              </a:solidFill>
              <a:latin typeface="华文仿宋"/>
              <a:ea typeface="华文仿宋"/>
              <a:cs typeface="华文仿宋"/>
            </a:endParaRPr>
          </a:p>
        </p:txBody>
      </p:sp>
      <p:sp>
        <p:nvSpPr>
          <p:cNvPr id="29" name="文本框 28"/>
          <p:cNvSpPr txBox="1"/>
          <p:nvPr/>
        </p:nvSpPr>
        <p:spPr>
          <a:xfrm>
            <a:off x="7207329" y="4983559"/>
            <a:ext cx="2093955" cy="461665"/>
          </a:xfrm>
          <a:prstGeom prst="rect">
            <a:avLst/>
          </a:prstGeom>
          <a:noFill/>
        </p:spPr>
        <p:txBody>
          <a:bodyPr wrap="none" rtlCol="0" anchor="ctr">
            <a:spAutoFit/>
          </a:bodyPr>
          <a:lstStyle/>
          <a:p>
            <a:r>
              <a:rPr kumimoji="1" lang="zh-CN" altLang="zh-CN" dirty="0">
                <a:latin typeface="华文仿宋"/>
                <a:ea typeface="华文仿宋"/>
                <a:cs typeface="华文仿宋"/>
              </a:rPr>
              <a:t>4</a:t>
            </a:r>
            <a:r>
              <a:rPr kumimoji="1" lang="en-US" altLang="zh-CN" dirty="0" smtClean="0">
                <a:latin typeface="华文仿宋"/>
                <a:ea typeface="华文仿宋"/>
                <a:cs typeface="华文仿宋"/>
              </a:rPr>
              <a:t>.</a:t>
            </a:r>
            <a:r>
              <a:rPr kumimoji="1" lang="zh-CN" altLang="en-US" dirty="0" smtClean="0">
                <a:latin typeface="华文仿宋"/>
                <a:ea typeface="华文仿宋"/>
                <a:cs typeface="华文仿宋"/>
              </a:rPr>
              <a:t> 确定</a:t>
            </a:r>
            <a:r>
              <a:rPr kumimoji="1" lang="zh-CN" altLang="en-US" sz="2400" b="1" dirty="0" smtClean="0">
                <a:solidFill>
                  <a:srgbClr val="FF6600"/>
                </a:solidFill>
                <a:latin typeface="华文仿宋"/>
                <a:ea typeface="华文仿宋"/>
                <a:cs typeface="华文仿宋"/>
              </a:rPr>
              <a:t>实施路线</a:t>
            </a:r>
            <a:endParaRPr kumimoji="1" lang="zh-CN" altLang="en-US" b="1" dirty="0">
              <a:solidFill>
                <a:srgbClr val="FF6600"/>
              </a:solidFill>
              <a:latin typeface="华文仿宋"/>
              <a:ea typeface="华文仿宋"/>
              <a:cs typeface="华文仿宋"/>
            </a:endParaRPr>
          </a:p>
        </p:txBody>
      </p:sp>
      <p:sp>
        <p:nvSpPr>
          <p:cNvPr id="30" name="右箭头 29"/>
          <p:cNvSpPr/>
          <p:nvPr/>
        </p:nvSpPr>
        <p:spPr>
          <a:xfrm>
            <a:off x="5692286" y="2962973"/>
            <a:ext cx="1080120" cy="703684"/>
          </a:xfrm>
          <a:prstGeom prst="rightArrow">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华文仿宋"/>
              <a:ea typeface="华文仿宋"/>
              <a:cs typeface="华文仿宋"/>
            </a:endParaRPr>
          </a:p>
        </p:txBody>
      </p:sp>
      <p:sp>
        <p:nvSpPr>
          <p:cNvPr id="31" name="文本框 30"/>
          <p:cNvSpPr txBox="1"/>
          <p:nvPr/>
        </p:nvSpPr>
        <p:spPr>
          <a:xfrm>
            <a:off x="5663952" y="3123580"/>
            <a:ext cx="1005403" cy="338554"/>
          </a:xfrm>
          <a:prstGeom prst="rect">
            <a:avLst/>
          </a:prstGeom>
          <a:noFill/>
        </p:spPr>
        <p:txBody>
          <a:bodyPr wrap="none" rtlCol="0">
            <a:spAutoFit/>
          </a:bodyPr>
          <a:lstStyle/>
          <a:p>
            <a:r>
              <a:rPr kumimoji="1" lang="zh-CN" altLang="en-US" sz="1600" dirty="0" smtClean="0">
                <a:solidFill>
                  <a:schemeClr val="bg1"/>
                </a:solidFill>
                <a:latin typeface="华文仿宋"/>
                <a:ea typeface="华文仿宋"/>
                <a:cs typeface="华文仿宋"/>
              </a:rPr>
              <a:t>达成一致</a:t>
            </a:r>
            <a:endParaRPr kumimoji="1" lang="zh-CN" altLang="en-US" sz="1600" dirty="0">
              <a:solidFill>
                <a:schemeClr val="bg1"/>
              </a:solidFill>
              <a:latin typeface="华文仿宋"/>
              <a:ea typeface="华文仿宋"/>
              <a:cs typeface="华文仿宋"/>
            </a:endParaRPr>
          </a:p>
        </p:txBody>
      </p:sp>
      <p:sp>
        <p:nvSpPr>
          <p:cNvPr id="34" name="文本框 33"/>
          <p:cNvSpPr txBox="1"/>
          <p:nvPr/>
        </p:nvSpPr>
        <p:spPr>
          <a:xfrm>
            <a:off x="8040216" y="3717032"/>
            <a:ext cx="3236784" cy="1200329"/>
          </a:xfrm>
          <a:prstGeom prst="rect">
            <a:avLst/>
          </a:prstGeom>
          <a:noFill/>
        </p:spPr>
        <p:txBody>
          <a:bodyPr wrap="none" rtlCol="0">
            <a:spAutoFit/>
          </a:bodyPr>
          <a:lstStyle/>
          <a:p>
            <a:pPr marL="285750" indent="-285750">
              <a:buFont typeface="Wingdings" charset="2"/>
              <a:buChar char="ü"/>
            </a:pPr>
            <a:r>
              <a:rPr kumimoji="1" lang="zh-CN" altLang="en-US" dirty="0" smtClean="0">
                <a:latin typeface="华文仿宋"/>
                <a:ea typeface="华文仿宋"/>
                <a:cs typeface="华文仿宋"/>
              </a:rPr>
              <a:t>确定试点系统</a:t>
            </a:r>
            <a:endParaRPr kumimoji="1" lang="en-US" altLang="zh-CN" dirty="0" smtClean="0">
              <a:latin typeface="华文仿宋"/>
              <a:ea typeface="华文仿宋"/>
              <a:cs typeface="华文仿宋"/>
            </a:endParaRPr>
          </a:p>
          <a:p>
            <a:pPr marL="285750" indent="-285750">
              <a:buFont typeface="Wingdings" charset="2"/>
              <a:buChar char="ü"/>
            </a:pPr>
            <a:r>
              <a:rPr kumimoji="1" lang="zh-CN" altLang="en-US" dirty="0" smtClean="0">
                <a:latin typeface="华文仿宋"/>
                <a:ea typeface="华文仿宋"/>
                <a:cs typeface="华文仿宋"/>
              </a:rPr>
              <a:t>确定流程梳理方法</a:t>
            </a:r>
            <a:endParaRPr kumimoji="1" lang="en-US" altLang="zh-CN" dirty="0" smtClean="0">
              <a:latin typeface="华文仿宋"/>
              <a:ea typeface="华文仿宋"/>
              <a:cs typeface="华文仿宋"/>
            </a:endParaRPr>
          </a:p>
          <a:p>
            <a:pPr marL="285750" indent="-285750">
              <a:buFont typeface="Wingdings" charset="2"/>
              <a:buChar char="ü"/>
            </a:pPr>
            <a:r>
              <a:rPr kumimoji="1" lang="zh-CN" altLang="en-US" dirty="0" smtClean="0">
                <a:latin typeface="华文仿宋"/>
                <a:ea typeface="华文仿宋"/>
                <a:cs typeface="华文仿宋"/>
              </a:rPr>
              <a:t>明确那类流程优先统一管理</a:t>
            </a:r>
            <a:endParaRPr kumimoji="1" lang="en-US" altLang="zh-CN" dirty="0" smtClean="0">
              <a:latin typeface="华文仿宋"/>
              <a:ea typeface="华文仿宋"/>
              <a:cs typeface="华文仿宋"/>
            </a:endParaRPr>
          </a:p>
          <a:p>
            <a:pPr marL="285750" indent="-285750">
              <a:buFont typeface="Wingdings" charset="2"/>
              <a:buChar char="ü"/>
            </a:pPr>
            <a:r>
              <a:rPr kumimoji="1" lang="zh-CN" altLang="en-US" dirty="0" smtClean="0">
                <a:latin typeface="华文仿宋"/>
                <a:ea typeface="华文仿宋"/>
                <a:cs typeface="华文仿宋"/>
              </a:rPr>
              <a:t>明确系统接入分工与流程</a:t>
            </a:r>
          </a:p>
        </p:txBody>
      </p:sp>
      <p:sp>
        <p:nvSpPr>
          <p:cNvPr id="35" name="文本框 34"/>
          <p:cNvSpPr txBox="1"/>
          <p:nvPr/>
        </p:nvSpPr>
        <p:spPr>
          <a:xfrm>
            <a:off x="335360" y="6140296"/>
            <a:ext cx="6596678" cy="400110"/>
          </a:xfrm>
          <a:prstGeom prst="rect">
            <a:avLst/>
          </a:prstGeom>
          <a:noFill/>
        </p:spPr>
        <p:txBody>
          <a:bodyPr wrap="none" rtlCol="0">
            <a:spAutoFit/>
          </a:bodyPr>
          <a:lstStyle/>
          <a:p>
            <a:r>
              <a:rPr kumimoji="1" lang="zh-CN" altLang="en-US" sz="2000" b="1" dirty="0" smtClean="0">
                <a:latin typeface="华文仿宋"/>
                <a:ea typeface="华文仿宋"/>
                <a:cs typeface="华文仿宋"/>
              </a:rPr>
              <a:t>建平台是多方团队协作的事情，最重要的是明确决策机制</a:t>
            </a:r>
          </a:p>
        </p:txBody>
      </p:sp>
    </p:spTree>
    <p:extLst>
      <p:ext uri="{BB962C8B-B14F-4D97-AF65-F5344CB8AC3E}">
        <p14:creationId xmlns:p14="http://schemas.microsoft.com/office/powerpoint/2010/main" val="3603766637"/>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可以考虑的几点原则</a:t>
            </a:r>
            <a:endParaRPr kumimoji="1" lang="zh-CN" altLang="en-US" dirty="0"/>
          </a:p>
        </p:txBody>
      </p:sp>
      <p:sp>
        <p:nvSpPr>
          <p:cNvPr id="5" name="文本框 4"/>
          <p:cNvSpPr txBox="1"/>
          <p:nvPr/>
        </p:nvSpPr>
        <p:spPr>
          <a:xfrm>
            <a:off x="1968257" y="2204864"/>
            <a:ext cx="7584127" cy="461665"/>
          </a:xfrm>
          <a:prstGeom prst="rect">
            <a:avLst/>
          </a:prstGeom>
          <a:noFill/>
        </p:spPr>
        <p:txBody>
          <a:bodyPr wrap="none" rtlCol="0">
            <a:spAutoFit/>
          </a:bodyPr>
          <a:lstStyle/>
          <a:p>
            <a:pPr marL="342900" indent="-342900">
              <a:buFont typeface="Wingdings" charset="2"/>
              <a:buChar char="ü"/>
            </a:pPr>
            <a:r>
              <a:rPr kumimoji="1" lang="zh-CN" altLang="en-US" sz="2400" dirty="0" smtClean="0">
                <a:latin typeface="华文仿宋"/>
                <a:ea typeface="华文仿宋"/>
                <a:cs typeface="华文仿宋"/>
              </a:rPr>
              <a:t>时间原则：新建设的流程、改造的流程首先考虑统一</a:t>
            </a:r>
          </a:p>
        </p:txBody>
      </p:sp>
      <p:sp>
        <p:nvSpPr>
          <p:cNvPr id="6" name="文本框 5"/>
          <p:cNvSpPr txBox="1"/>
          <p:nvPr/>
        </p:nvSpPr>
        <p:spPr>
          <a:xfrm>
            <a:off x="1968257" y="3210701"/>
            <a:ext cx="7404591" cy="461665"/>
          </a:xfrm>
          <a:prstGeom prst="rect">
            <a:avLst/>
          </a:prstGeom>
          <a:noFill/>
        </p:spPr>
        <p:txBody>
          <a:bodyPr wrap="none" rtlCol="0">
            <a:spAutoFit/>
          </a:bodyPr>
          <a:lstStyle/>
          <a:p>
            <a:pPr marL="342900" indent="-342900">
              <a:buFont typeface="Wingdings" charset="2"/>
              <a:buChar char="ü"/>
            </a:pPr>
            <a:r>
              <a:rPr kumimoji="1" lang="zh-CN" altLang="en-US" sz="2400" dirty="0" smtClean="0">
                <a:latin typeface="华文仿宋"/>
                <a:ea typeface="华文仿宋"/>
                <a:cs typeface="华文仿宋"/>
              </a:rPr>
              <a:t>影响原则：影响度在</a:t>
            </a:r>
            <a:r>
              <a:rPr kumimoji="1" lang="zh-CN" altLang="zh-CN" sz="2400" dirty="0" smtClean="0">
                <a:latin typeface="华文仿宋"/>
                <a:ea typeface="华文仿宋"/>
                <a:cs typeface="华文仿宋"/>
              </a:rPr>
              <a:t>&lt;2</a:t>
            </a:r>
            <a:r>
              <a:rPr kumimoji="1" lang="en-US" altLang="zh-CN" sz="2400" dirty="0" smtClean="0">
                <a:latin typeface="华文仿宋"/>
                <a:ea typeface="华文仿宋"/>
                <a:cs typeface="华文仿宋"/>
              </a:rPr>
              <a:t>0%</a:t>
            </a:r>
            <a:r>
              <a:rPr kumimoji="1" lang="zh-CN" altLang="en-US" sz="2400" dirty="0" smtClean="0">
                <a:latin typeface="华文仿宋"/>
                <a:ea typeface="华文仿宋"/>
                <a:cs typeface="华文仿宋"/>
              </a:rPr>
              <a:t>的情况下</a:t>
            </a:r>
            <a:r>
              <a:rPr kumimoji="1" lang="zh-CN" altLang="zh-CN" sz="2400" dirty="0" smtClean="0">
                <a:latin typeface="华文仿宋"/>
                <a:ea typeface="华文仿宋"/>
                <a:cs typeface="华文仿宋"/>
              </a:rPr>
              <a:t>，</a:t>
            </a:r>
            <a:r>
              <a:rPr kumimoji="1" lang="zh-CN" altLang="en-US" sz="2400" dirty="0" smtClean="0">
                <a:latin typeface="华文仿宋"/>
                <a:ea typeface="华文仿宋"/>
                <a:cs typeface="华文仿宋"/>
              </a:rPr>
              <a:t>优先考虑统一</a:t>
            </a:r>
          </a:p>
        </p:txBody>
      </p:sp>
      <p:sp>
        <p:nvSpPr>
          <p:cNvPr id="7" name="文本框 6"/>
          <p:cNvSpPr txBox="1"/>
          <p:nvPr/>
        </p:nvSpPr>
        <p:spPr>
          <a:xfrm>
            <a:off x="1968257" y="4216538"/>
            <a:ext cx="6365845" cy="461665"/>
          </a:xfrm>
          <a:prstGeom prst="rect">
            <a:avLst/>
          </a:prstGeom>
          <a:noFill/>
        </p:spPr>
        <p:txBody>
          <a:bodyPr wrap="none" rtlCol="0">
            <a:spAutoFit/>
          </a:bodyPr>
          <a:lstStyle/>
          <a:p>
            <a:pPr marL="342900" indent="-342900">
              <a:buFont typeface="Wingdings" charset="2"/>
              <a:buChar char="ü"/>
            </a:pPr>
            <a:r>
              <a:rPr kumimoji="1" lang="zh-CN" altLang="en-US" sz="2400" dirty="0" smtClean="0">
                <a:latin typeface="华文仿宋"/>
                <a:ea typeface="华文仿宋"/>
                <a:cs typeface="华文仿宋"/>
              </a:rPr>
              <a:t>效果原则：复杂业务，简单业务按比例抽取</a:t>
            </a:r>
          </a:p>
        </p:txBody>
      </p:sp>
    </p:spTree>
    <p:extLst>
      <p:ext uri="{BB962C8B-B14F-4D97-AF65-F5344CB8AC3E}">
        <p14:creationId xmlns:p14="http://schemas.microsoft.com/office/powerpoint/2010/main" val="186699894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dirty="0"/>
              <a:t>2</a:t>
            </a:r>
            <a:r>
              <a:rPr kumimoji="1" lang="en-US" altLang="zh-CN" dirty="0" smtClean="0"/>
              <a:t>.</a:t>
            </a:r>
            <a:r>
              <a:rPr kumimoji="1" lang="zh-CN" altLang="en-US" dirty="0" smtClean="0"/>
              <a:t> 建立专职团队，负责接入</a:t>
            </a:r>
            <a:r>
              <a:rPr kumimoji="1" lang="en-US" altLang="zh-CN" dirty="0" smtClean="0"/>
              <a:t>/</a:t>
            </a:r>
            <a:r>
              <a:rPr kumimoji="1" lang="zh-CN" altLang="en-US" dirty="0" smtClean="0"/>
              <a:t>集成</a:t>
            </a:r>
            <a:endParaRPr kumimoji="1" lang="zh-CN" altLang="en-US" dirty="0"/>
          </a:p>
        </p:txBody>
      </p:sp>
      <p:sp>
        <p:nvSpPr>
          <p:cNvPr id="22" name="矩形 21"/>
          <p:cNvSpPr/>
          <p:nvPr/>
        </p:nvSpPr>
        <p:spPr bwMode="auto">
          <a:xfrm>
            <a:off x="767408" y="4126143"/>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rPr>
              <a:t>平台功能</a:t>
            </a:r>
          </a:p>
        </p:txBody>
      </p:sp>
      <p:cxnSp>
        <p:nvCxnSpPr>
          <p:cNvPr id="23" name="肘形连接符 22"/>
          <p:cNvCxnSpPr>
            <a:stCxn id="48" idx="2"/>
            <a:endCxn id="22" idx="0"/>
          </p:cNvCxnSpPr>
          <p:nvPr/>
        </p:nvCxnSpPr>
        <p:spPr bwMode="auto">
          <a:xfrm rot="5400000">
            <a:off x="2425677" y="2665453"/>
            <a:ext cx="563042" cy="2358339"/>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40" name="矩形 39"/>
          <p:cNvSpPr/>
          <p:nvPr/>
        </p:nvSpPr>
        <p:spPr bwMode="auto">
          <a:xfrm>
            <a:off x="2954471" y="1898315"/>
            <a:ext cx="1863789" cy="684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项目领导小组</a:t>
            </a:r>
          </a:p>
        </p:txBody>
      </p:sp>
      <p:sp>
        <p:nvSpPr>
          <p:cNvPr id="43" name="矩形 42"/>
          <p:cNvSpPr/>
          <p:nvPr/>
        </p:nvSpPr>
        <p:spPr bwMode="auto">
          <a:xfrm>
            <a:off x="5442308" y="2349632"/>
            <a:ext cx="1728000" cy="742955"/>
          </a:xfrm>
          <a:prstGeom prst="rect">
            <a:avLst/>
          </a:prstGeom>
          <a:solidFill>
            <a:schemeClr val="tx2">
              <a:lumMod val="40000"/>
              <a:lumOff val="60000"/>
            </a:schemeClr>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项目顾问小组</a:t>
            </a:r>
          </a:p>
        </p:txBody>
      </p:sp>
      <p:sp>
        <p:nvSpPr>
          <p:cNvPr id="48" name="矩形 47"/>
          <p:cNvSpPr/>
          <p:nvPr/>
        </p:nvSpPr>
        <p:spPr bwMode="auto">
          <a:xfrm>
            <a:off x="2954473" y="2879101"/>
            <a:ext cx="1863787" cy="684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zh-CN" altLang="en-US" sz="2000" b="1" baseline="-25000" dirty="0" smtClean="0">
                <a:solidFill>
                  <a:schemeClr val="tx1">
                    <a:lumMod val="50000"/>
                  </a:schemeClr>
                </a:solidFill>
                <a:latin typeface="华文仿宋"/>
                <a:ea typeface="华文仿宋"/>
                <a:cs typeface="华文仿宋"/>
              </a:rPr>
              <a:t>项目经理</a:t>
            </a:r>
          </a:p>
        </p:txBody>
      </p:sp>
      <p:cxnSp>
        <p:nvCxnSpPr>
          <p:cNvPr id="51" name="肘形连接符 125"/>
          <p:cNvCxnSpPr>
            <a:stCxn id="40" idx="2"/>
            <a:endCxn id="48" idx="0"/>
          </p:cNvCxnSpPr>
          <p:nvPr/>
        </p:nvCxnSpPr>
        <p:spPr bwMode="auto">
          <a:xfrm rot="16200000" flipH="1">
            <a:off x="3737973" y="2730707"/>
            <a:ext cx="296786" cy="1"/>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cxnSp>
        <p:nvCxnSpPr>
          <p:cNvPr id="52" name="肘形连接符 125"/>
          <p:cNvCxnSpPr>
            <a:stCxn id="43" idx="1"/>
          </p:cNvCxnSpPr>
          <p:nvPr/>
        </p:nvCxnSpPr>
        <p:spPr bwMode="auto">
          <a:xfrm rot="10800000" flipV="1">
            <a:off x="3886366" y="2721109"/>
            <a:ext cx="1555943" cy="3"/>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81" name="矩形 80"/>
          <p:cNvSpPr/>
          <p:nvPr/>
        </p:nvSpPr>
        <p:spPr bwMode="auto">
          <a:xfrm>
            <a:off x="5942912" y="4126142"/>
            <a:ext cx="1521240" cy="3600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000" b="1" baseline="-25000" dirty="0" smtClean="0">
                <a:solidFill>
                  <a:schemeClr val="tx1">
                    <a:lumMod val="50000"/>
                  </a:schemeClr>
                </a:solidFill>
                <a:latin typeface="华文仿宋"/>
                <a:ea typeface="华文仿宋"/>
                <a:cs typeface="华文仿宋"/>
              </a:rPr>
              <a:t>集成及规范</a:t>
            </a:r>
            <a:endParaRPr kumimoji="0" lang="zh-CN" altLang="en-US" sz="2000" b="1" i="0" u="none" strike="noStrike" cap="none" normalizeH="0" baseline="-25000" dirty="0" smtClean="0">
              <a:ln>
                <a:noFill/>
              </a:ln>
              <a:solidFill>
                <a:schemeClr val="tx1">
                  <a:lumMod val="50000"/>
                </a:schemeClr>
              </a:solidFill>
              <a:effectLst/>
              <a:latin typeface="华文仿宋"/>
              <a:ea typeface="华文仿宋"/>
              <a:cs typeface="华文仿宋"/>
            </a:endParaRPr>
          </a:p>
        </p:txBody>
      </p:sp>
      <p:cxnSp>
        <p:nvCxnSpPr>
          <p:cNvPr id="98" name="肘形连接符 97"/>
          <p:cNvCxnSpPr>
            <a:stCxn id="48" idx="2"/>
            <a:endCxn id="81" idx="0"/>
          </p:cNvCxnSpPr>
          <p:nvPr/>
        </p:nvCxnSpPr>
        <p:spPr bwMode="auto">
          <a:xfrm rot="16200000" flipH="1">
            <a:off x="5013429" y="2436038"/>
            <a:ext cx="563041" cy="2817165"/>
          </a:xfrm>
          <a:prstGeom prst="bentConnector3">
            <a:avLst>
              <a:gd name="adj1" fmla="val 50000"/>
            </a:avLst>
          </a:prstGeom>
          <a:solidFill>
            <a:schemeClr val="accent1"/>
          </a:solidFill>
          <a:ln w="15875" cap="flat" cmpd="sng" algn="ctr">
            <a:solidFill>
              <a:schemeClr val="bg2">
                <a:lumMod val="50000"/>
              </a:schemeClr>
            </a:solidFill>
            <a:prstDash val="solid"/>
            <a:round/>
            <a:headEnd type="none" w="med" len="med"/>
            <a:tailEnd type="none" w="med" len="med"/>
          </a:ln>
          <a:effectLst/>
        </p:spPr>
      </p:cxnSp>
      <p:sp>
        <p:nvSpPr>
          <p:cNvPr id="106" name="矩形 105"/>
          <p:cNvSpPr/>
          <p:nvPr/>
        </p:nvSpPr>
        <p:spPr bwMode="auto">
          <a:xfrm>
            <a:off x="9048400" y="4120252"/>
            <a:ext cx="1800128" cy="288000"/>
          </a:xfrm>
          <a:prstGeom prst="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r>
              <a:rPr lang="zh-CN" altLang="en-US" sz="1100" b="1" dirty="0" smtClean="0">
                <a:solidFill>
                  <a:schemeClr val="bg1"/>
                </a:solidFill>
                <a:latin typeface="华文仿宋"/>
                <a:ea typeface="华文仿宋"/>
                <a:cs typeface="华文仿宋"/>
              </a:rPr>
              <a:t>项目经理</a:t>
            </a:r>
            <a:endParaRPr lang="zh-CN" altLang="en-US" sz="1100" b="1" dirty="0">
              <a:solidFill>
                <a:schemeClr val="bg1"/>
              </a:solidFill>
              <a:latin typeface="华文仿宋"/>
              <a:ea typeface="华文仿宋"/>
              <a:cs typeface="华文仿宋"/>
            </a:endParaRPr>
          </a:p>
        </p:txBody>
      </p:sp>
      <p:sp>
        <p:nvSpPr>
          <p:cNvPr id="2" name="圆角矩形 1"/>
          <p:cNvSpPr/>
          <p:nvPr/>
        </p:nvSpPr>
        <p:spPr>
          <a:xfrm>
            <a:off x="5442309" y="3563101"/>
            <a:ext cx="5910275" cy="1666099"/>
          </a:xfrm>
          <a:prstGeom prst="roundRect">
            <a:avLst/>
          </a:prstGeom>
          <a:no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13" name="文本框 112"/>
          <p:cNvSpPr txBox="1"/>
          <p:nvPr/>
        </p:nvSpPr>
        <p:spPr>
          <a:xfrm>
            <a:off x="3220095" y="1124744"/>
            <a:ext cx="1363737" cy="369332"/>
          </a:xfrm>
          <a:prstGeom prst="rect">
            <a:avLst/>
          </a:prstGeom>
          <a:noFill/>
        </p:spPr>
        <p:txBody>
          <a:bodyPr wrap="none" rtlCol="0">
            <a:spAutoFit/>
          </a:bodyPr>
          <a:lstStyle/>
          <a:p>
            <a:r>
              <a:rPr kumimoji="1" lang="zh-CN" altLang="en-US" b="1" dirty="0" smtClean="0">
                <a:latin typeface="华文仿宋"/>
                <a:ea typeface="华文仿宋"/>
                <a:cs typeface="华文仿宋"/>
              </a:rPr>
              <a:t>平台项目组</a:t>
            </a:r>
          </a:p>
        </p:txBody>
      </p:sp>
      <p:sp>
        <p:nvSpPr>
          <p:cNvPr id="114" name="文本框 113"/>
          <p:cNvSpPr txBox="1"/>
          <p:nvPr/>
        </p:nvSpPr>
        <p:spPr>
          <a:xfrm>
            <a:off x="9048328" y="1124744"/>
            <a:ext cx="1800493" cy="369332"/>
          </a:xfrm>
          <a:prstGeom prst="rect">
            <a:avLst/>
          </a:prstGeom>
          <a:noFill/>
        </p:spPr>
        <p:txBody>
          <a:bodyPr wrap="none" rtlCol="0">
            <a:spAutoFit/>
          </a:bodyPr>
          <a:lstStyle/>
          <a:p>
            <a:r>
              <a:rPr kumimoji="1" lang="zh-CN" altLang="en-US" b="1" dirty="0" smtClean="0">
                <a:latin typeface="华文仿宋"/>
                <a:ea typeface="华文仿宋"/>
                <a:cs typeface="华文仿宋"/>
              </a:rPr>
              <a:t>业务系统项目组</a:t>
            </a:r>
          </a:p>
        </p:txBody>
      </p:sp>
    </p:spTree>
    <p:extLst>
      <p:ext uri="{BB962C8B-B14F-4D97-AF65-F5344CB8AC3E}">
        <p14:creationId xmlns:p14="http://schemas.microsoft.com/office/powerpoint/2010/main" val="190811893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dirty="0" smtClean="0"/>
              <a:t>3.</a:t>
            </a:r>
            <a:r>
              <a:rPr kumimoji="1" lang="zh-CN" altLang="en-US" dirty="0" smtClean="0"/>
              <a:t> 平台快速面世，围绕可见的平台协作</a:t>
            </a:r>
            <a:endParaRPr kumimoji="1" lang="zh-CN" altLang="en-US" dirty="0"/>
          </a:p>
        </p:txBody>
      </p:sp>
      <p:sp>
        <p:nvSpPr>
          <p:cNvPr id="4" name="圆角矩形 3"/>
          <p:cNvSpPr/>
          <p:nvPr/>
        </p:nvSpPr>
        <p:spPr>
          <a:xfrm>
            <a:off x="1631504" y="2132856"/>
            <a:ext cx="3096344" cy="1584176"/>
          </a:xfrm>
          <a:prstGeom prst="roundRect">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5" name="文本框 4"/>
          <p:cNvSpPr txBox="1"/>
          <p:nvPr/>
        </p:nvSpPr>
        <p:spPr>
          <a:xfrm>
            <a:off x="2063552" y="2708920"/>
            <a:ext cx="2202534" cy="369332"/>
          </a:xfrm>
          <a:prstGeom prst="rect">
            <a:avLst/>
          </a:prstGeom>
          <a:noFill/>
        </p:spPr>
        <p:txBody>
          <a:bodyPr wrap="none" rtlCol="0">
            <a:spAutoFit/>
          </a:bodyPr>
          <a:lstStyle/>
          <a:p>
            <a:r>
              <a:rPr kumimoji="1" lang="zh-CN" altLang="en-US" dirty="0" smtClean="0">
                <a:latin typeface="Microsoft YaHei" charset="0"/>
                <a:ea typeface="Microsoft YaHei" charset="0"/>
                <a:cs typeface="Microsoft YaHei" charset="0"/>
              </a:rPr>
              <a:t>引入平台</a:t>
            </a:r>
            <a:r>
              <a:rPr kumimoji="1" lang="en-US" altLang="zh-CN" dirty="0" smtClean="0">
                <a:latin typeface="Microsoft YaHei" charset="0"/>
                <a:ea typeface="Microsoft YaHei" charset="0"/>
                <a:cs typeface="Microsoft YaHei" charset="0"/>
              </a:rPr>
              <a:t>+</a:t>
            </a:r>
            <a:r>
              <a:rPr kumimoji="1" lang="zh-CN" altLang="en-US" dirty="0" smtClean="0">
                <a:latin typeface="Microsoft YaHei" charset="0"/>
                <a:ea typeface="Microsoft YaHei" charset="0"/>
                <a:cs typeface="Microsoft YaHei" charset="0"/>
              </a:rPr>
              <a:t>简单定制</a:t>
            </a:r>
          </a:p>
        </p:txBody>
      </p:sp>
      <p:sp>
        <p:nvSpPr>
          <p:cNvPr id="18" name="圆角矩形 17"/>
          <p:cNvSpPr/>
          <p:nvPr/>
        </p:nvSpPr>
        <p:spPr>
          <a:xfrm>
            <a:off x="6744072" y="2140727"/>
            <a:ext cx="3096344" cy="1584176"/>
          </a:xfrm>
          <a:prstGeom prst="roundRect">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latin typeface="Microsoft YaHei" charset="0"/>
              <a:ea typeface="Microsoft YaHei" charset="0"/>
              <a:cs typeface="Microsoft YaHei" charset="0"/>
            </a:endParaRPr>
          </a:p>
        </p:txBody>
      </p:sp>
      <p:sp>
        <p:nvSpPr>
          <p:cNvPr id="19" name="文本框 18"/>
          <p:cNvSpPr txBox="1"/>
          <p:nvPr/>
        </p:nvSpPr>
        <p:spPr>
          <a:xfrm>
            <a:off x="7176120" y="2716791"/>
            <a:ext cx="2202534" cy="369332"/>
          </a:xfrm>
          <a:prstGeom prst="rect">
            <a:avLst/>
          </a:prstGeom>
          <a:noFill/>
        </p:spPr>
        <p:txBody>
          <a:bodyPr wrap="none" rtlCol="0">
            <a:spAutoFit/>
          </a:bodyPr>
          <a:lstStyle/>
          <a:p>
            <a:r>
              <a:rPr kumimoji="1" lang="zh-CN" altLang="en-US" dirty="0" smtClean="0">
                <a:latin typeface="Microsoft YaHei" charset="0"/>
                <a:ea typeface="Microsoft YaHei" charset="0"/>
                <a:cs typeface="Microsoft YaHei" charset="0"/>
              </a:rPr>
              <a:t>引入平台</a:t>
            </a:r>
            <a:r>
              <a:rPr kumimoji="1" lang="en-US" altLang="zh-CN" dirty="0" smtClean="0">
                <a:latin typeface="Microsoft YaHei" charset="0"/>
                <a:ea typeface="Microsoft YaHei" charset="0"/>
                <a:cs typeface="Microsoft YaHei" charset="0"/>
              </a:rPr>
              <a:t>+</a:t>
            </a:r>
            <a:r>
              <a:rPr kumimoji="1" lang="zh-CN" altLang="en-US" dirty="0" smtClean="0">
                <a:latin typeface="Microsoft YaHei" charset="0"/>
                <a:ea typeface="Microsoft YaHei" charset="0"/>
                <a:cs typeface="Microsoft YaHei" charset="0"/>
              </a:rPr>
              <a:t>深度定制</a:t>
            </a:r>
          </a:p>
        </p:txBody>
      </p:sp>
      <p:sp>
        <p:nvSpPr>
          <p:cNvPr id="6" name="文本框 5"/>
          <p:cNvSpPr txBox="1"/>
          <p:nvPr/>
        </p:nvSpPr>
        <p:spPr>
          <a:xfrm>
            <a:off x="5420817" y="2492896"/>
            <a:ext cx="603175" cy="769441"/>
          </a:xfrm>
          <a:prstGeom prst="rect">
            <a:avLst/>
          </a:prstGeom>
          <a:noFill/>
        </p:spPr>
        <p:txBody>
          <a:bodyPr wrap="none" rtlCol="0">
            <a:spAutoFit/>
          </a:bodyPr>
          <a:lstStyle/>
          <a:p>
            <a:r>
              <a:rPr kumimoji="1" lang="zh-CN" altLang="zh-CN" sz="4400" dirty="0">
                <a:latin typeface="Microsoft YaHei" charset="0"/>
                <a:ea typeface="Microsoft YaHei" charset="0"/>
                <a:cs typeface="Microsoft YaHei" charset="0"/>
              </a:rPr>
              <a:t>&gt;</a:t>
            </a:r>
            <a:endParaRPr kumimoji="1" lang="zh-CN" altLang="en-US" sz="4400" dirty="0" smtClean="0">
              <a:latin typeface="Microsoft YaHei" charset="0"/>
              <a:ea typeface="Microsoft YaHei" charset="0"/>
              <a:cs typeface="Microsoft YaHei" charset="0"/>
            </a:endParaRPr>
          </a:p>
        </p:txBody>
      </p:sp>
      <p:sp>
        <p:nvSpPr>
          <p:cNvPr id="8" name="文本框 7"/>
          <p:cNvSpPr txBox="1"/>
          <p:nvPr/>
        </p:nvSpPr>
        <p:spPr>
          <a:xfrm>
            <a:off x="2351584" y="5301208"/>
            <a:ext cx="6186309" cy="369332"/>
          </a:xfrm>
          <a:prstGeom prst="rect">
            <a:avLst/>
          </a:prstGeom>
          <a:noFill/>
        </p:spPr>
        <p:txBody>
          <a:bodyPr wrap="none" rtlCol="0">
            <a:spAutoFit/>
          </a:bodyPr>
          <a:lstStyle/>
          <a:p>
            <a:r>
              <a:rPr kumimoji="1" lang="zh-CN" altLang="en-US" dirty="0" smtClean="0">
                <a:latin typeface="华文仿宋"/>
                <a:ea typeface="华文仿宋"/>
                <a:cs typeface="华文仿宋"/>
              </a:rPr>
              <a:t>可用的平台比什么都重要</a:t>
            </a:r>
            <a:r>
              <a:rPr kumimoji="1" lang="zh-CN" altLang="zh-CN" dirty="0">
                <a:latin typeface="华文仿宋"/>
                <a:ea typeface="华文仿宋"/>
                <a:cs typeface="华文仿宋"/>
              </a:rPr>
              <a:t>，</a:t>
            </a:r>
            <a:r>
              <a:rPr kumimoji="1" lang="zh-CN" altLang="en-US" dirty="0" smtClean="0">
                <a:latin typeface="华文仿宋"/>
                <a:ea typeface="华文仿宋"/>
                <a:cs typeface="华文仿宋"/>
              </a:rPr>
              <a:t>不建议采用复杂的流程管理方法</a:t>
            </a:r>
          </a:p>
        </p:txBody>
      </p:sp>
    </p:spTree>
    <p:extLst>
      <p:ext uri="{BB962C8B-B14F-4D97-AF65-F5344CB8AC3E}">
        <p14:creationId xmlns:p14="http://schemas.microsoft.com/office/powerpoint/2010/main" val="17671123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EFFFF"/>
                </a:solidFill>
                <a:latin typeface="微软雅黑" pitchFamily="34" charset="-122"/>
                <a:ea typeface="微软雅黑" pitchFamily="34" charset="-122"/>
                <a:sym typeface="宋体" pitchFamily="2" charset="-122"/>
              </a:rPr>
              <a:t>统一流程平台实施路线图</a:t>
            </a:r>
            <a:endParaRPr kumimoji="1" lang="zh-CN" altLang="en-US" dirty="0">
              <a:solidFill>
                <a:srgbClr val="FEFFFF"/>
              </a:solidFill>
            </a:endParaRPr>
          </a:p>
        </p:txBody>
      </p:sp>
      <p:sp>
        <p:nvSpPr>
          <p:cNvPr id="3" name="五边形 15"/>
          <p:cNvSpPr>
            <a:spLocks noChangeArrowheads="1"/>
          </p:cNvSpPr>
          <p:nvPr/>
        </p:nvSpPr>
        <p:spPr bwMode="auto">
          <a:xfrm>
            <a:off x="688040" y="4703106"/>
            <a:ext cx="1925719" cy="1000125"/>
          </a:xfrm>
          <a:prstGeom prst="homePlate">
            <a:avLst>
              <a:gd name="adj" fmla="val 15450"/>
            </a:avLst>
          </a:prstGeom>
          <a:solidFill>
            <a:schemeClr val="tx1"/>
          </a:solidFill>
          <a:ln w="25400" algn="ctr">
            <a:solidFill>
              <a:schemeClr val="bg1">
                <a:lumMod val="75000"/>
              </a:schemeClr>
            </a:solidFill>
            <a:miter lim="800000"/>
            <a:headEnd/>
            <a:tailEnd/>
          </a:ln>
        </p:spPr>
        <p:txBody>
          <a:bodyPr lIns="57607" tIns="28804" rIns="57607" bIns="28804" anchor="ctr"/>
          <a:lstStyle/>
          <a:p>
            <a:pPr defTabSz="873391">
              <a:defRPr/>
            </a:pPr>
            <a:r>
              <a:rPr lang="zh-CN" altLang="en-US" sz="1600">
                <a:solidFill>
                  <a:srgbClr val="FEFFFF"/>
                </a:solidFill>
                <a:latin typeface="华文仿宋"/>
                <a:ea typeface="华文仿宋"/>
                <a:cs typeface="华文仿宋"/>
              </a:rPr>
              <a:t>业务</a:t>
            </a:r>
            <a:r>
              <a:rPr lang="zh-CN" altLang="en-US" sz="1600" smtClean="0">
                <a:solidFill>
                  <a:srgbClr val="FEFFFF"/>
                </a:solidFill>
                <a:latin typeface="华文仿宋"/>
                <a:ea typeface="华文仿宋"/>
                <a:cs typeface="华文仿宋"/>
              </a:rPr>
              <a:t>系统实施</a:t>
            </a:r>
            <a:endParaRPr lang="zh-CN" altLang="en-US" sz="1600">
              <a:solidFill>
                <a:srgbClr val="FEFFFF"/>
              </a:solidFill>
              <a:latin typeface="华文仿宋"/>
              <a:ea typeface="华文仿宋"/>
              <a:cs typeface="华文仿宋"/>
            </a:endParaRPr>
          </a:p>
        </p:txBody>
      </p:sp>
      <p:sp>
        <p:nvSpPr>
          <p:cNvPr id="5" name="AutoShape 7"/>
          <p:cNvSpPr>
            <a:spLocks noChangeAspect="1" noChangeArrowheads="1"/>
          </p:cNvSpPr>
          <p:nvPr/>
        </p:nvSpPr>
        <p:spPr bwMode="auto">
          <a:xfrm>
            <a:off x="1135392" y="980728"/>
            <a:ext cx="10337205" cy="4794250"/>
          </a:xfrm>
          <a:prstGeom prst="rect">
            <a:avLst/>
          </a:prstGeom>
          <a:noFill/>
          <a:ln w="9525">
            <a:noFill/>
            <a:miter lim="800000"/>
            <a:headEnd/>
            <a:tailEnd/>
          </a:ln>
        </p:spPr>
        <p:txBody>
          <a:bodyPr/>
          <a:lstStyle/>
          <a:p>
            <a:endParaRPr lang="zh-CN" altLang="en-US">
              <a:solidFill>
                <a:srgbClr val="17365E"/>
              </a:solidFill>
              <a:latin typeface="微软雅黑" pitchFamily="34" charset="-122"/>
              <a:ea typeface="微软雅黑" pitchFamily="34" charset="-122"/>
            </a:endParaRPr>
          </a:p>
        </p:txBody>
      </p:sp>
      <p:sp>
        <p:nvSpPr>
          <p:cNvPr id="6" name="燕尾形 5"/>
          <p:cNvSpPr>
            <a:spLocks noChangeArrowheads="1"/>
          </p:cNvSpPr>
          <p:nvPr/>
        </p:nvSpPr>
        <p:spPr bwMode="auto">
          <a:xfrm>
            <a:off x="2448022" y="4750606"/>
            <a:ext cx="3064219" cy="904875"/>
          </a:xfrm>
          <a:prstGeom prst="chevron">
            <a:avLst>
              <a:gd name="adj" fmla="val 16751"/>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支持</a:t>
            </a:r>
            <a:r>
              <a:rPr lang="en-US" altLang="zh-CN" sz="1200" dirty="0" smtClean="0">
                <a:solidFill>
                  <a:srgbClr val="17365E"/>
                </a:solidFill>
                <a:latin typeface="华文仿宋"/>
                <a:ea typeface="华文仿宋"/>
                <a:cs typeface="华文仿宋"/>
              </a:rPr>
              <a:t>1~2</a:t>
            </a:r>
            <a:r>
              <a:rPr lang="zh-CN" altLang="en-US" sz="1200" dirty="0" smtClean="0">
                <a:solidFill>
                  <a:srgbClr val="17365E"/>
                </a:solidFill>
                <a:latin typeface="华文仿宋"/>
                <a:ea typeface="华文仿宋"/>
                <a:cs typeface="华文仿宋"/>
              </a:rPr>
              <a:t>个试点应用系统上线运行。</a:t>
            </a:r>
            <a:endParaRPr lang="en-US" altLang="zh-CN" sz="1200" dirty="0">
              <a:solidFill>
                <a:srgbClr val="17365E"/>
              </a:solidFill>
              <a:latin typeface="华文仿宋"/>
              <a:ea typeface="华文仿宋"/>
              <a:cs typeface="华文仿宋"/>
            </a:endParaRPr>
          </a:p>
        </p:txBody>
      </p:sp>
      <p:cxnSp>
        <p:nvCxnSpPr>
          <p:cNvPr id="7" name="直接箭头连接符 22"/>
          <p:cNvCxnSpPr>
            <a:cxnSpLocks noChangeShapeType="1"/>
          </p:cNvCxnSpPr>
          <p:nvPr/>
        </p:nvCxnSpPr>
        <p:spPr bwMode="auto">
          <a:xfrm>
            <a:off x="1701020" y="5890616"/>
            <a:ext cx="9795580" cy="1588"/>
          </a:xfrm>
          <a:prstGeom prst="straightConnector1">
            <a:avLst/>
          </a:prstGeom>
          <a:noFill/>
          <a:ln w="38100" algn="ctr">
            <a:solidFill>
              <a:schemeClr val="tx1">
                <a:lumMod val="85000"/>
                <a:lumOff val="15000"/>
              </a:schemeClr>
            </a:solidFill>
            <a:round/>
            <a:headEnd/>
            <a:tailEnd type="arrow" w="med" len="med"/>
          </a:ln>
        </p:spPr>
      </p:cxnSp>
      <p:sp>
        <p:nvSpPr>
          <p:cNvPr id="8" name="五边形 4"/>
          <p:cNvSpPr>
            <a:spLocks noChangeArrowheads="1"/>
          </p:cNvSpPr>
          <p:nvPr/>
        </p:nvSpPr>
        <p:spPr bwMode="auto">
          <a:xfrm>
            <a:off x="688040" y="3702981"/>
            <a:ext cx="1925719" cy="1000125"/>
          </a:xfrm>
          <a:prstGeom prst="homePlate">
            <a:avLst>
              <a:gd name="adj" fmla="val 15471"/>
            </a:avLst>
          </a:prstGeom>
          <a:solidFill>
            <a:schemeClr val="tx1"/>
          </a:solidFill>
          <a:ln w="25400" algn="ctr">
            <a:solidFill>
              <a:schemeClr val="bg1">
                <a:lumMod val="75000"/>
              </a:schemeClr>
            </a:solidFill>
            <a:miter lim="800000"/>
            <a:headEnd/>
            <a:tailEnd/>
          </a:ln>
        </p:spPr>
        <p:txBody>
          <a:bodyPr lIns="57607" tIns="28804" rIns="57607" bIns="28804" anchor="ctr"/>
          <a:lstStyle/>
          <a:p>
            <a:pPr defTabSz="873391"/>
            <a:r>
              <a:rPr lang="zh-CN" altLang="en-US" sz="1600" dirty="0">
                <a:solidFill>
                  <a:srgbClr val="FEFFFF"/>
                </a:solidFill>
                <a:latin typeface="华文仿宋"/>
                <a:ea typeface="华文仿宋"/>
                <a:cs typeface="华文仿宋"/>
              </a:rPr>
              <a:t>资产与知识</a:t>
            </a:r>
          </a:p>
        </p:txBody>
      </p:sp>
      <p:sp>
        <p:nvSpPr>
          <p:cNvPr id="9" name="燕尾形 8"/>
          <p:cNvSpPr>
            <a:spLocks noChangeArrowheads="1"/>
          </p:cNvSpPr>
          <p:nvPr/>
        </p:nvSpPr>
        <p:spPr bwMode="auto">
          <a:xfrm>
            <a:off x="2463264" y="3751777"/>
            <a:ext cx="3048977" cy="915987"/>
          </a:xfrm>
          <a:prstGeom prst="chevron">
            <a:avLst>
              <a:gd name="adj" fmla="val 16747"/>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积累可</a:t>
            </a:r>
            <a:r>
              <a:rPr lang="zh-CN" altLang="en-US" sz="1200" dirty="0">
                <a:solidFill>
                  <a:srgbClr val="17365E"/>
                </a:solidFill>
                <a:latin typeface="华文仿宋"/>
                <a:ea typeface="华文仿宋"/>
                <a:cs typeface="华文仿宋"/>
              </a:rPr>
              <a:t>复</a:t>
            </a:r>
            <a:r>
              <a:rPr lang="zh-CN" altLang="en-US" sz="1200" dirty="0" smtClean="0">
                <a:solidFill>
                  <a:srgbClr val="17365E"/>
                </a:solidFill>
                <a:latin typeface="华文仿宋"/>
                <a:ea typeface="华文仿宋"/>
                <a:cs typeface="华文仿宋"/>
              </a:rPr>
              <a:t>用流程类组件。</a:t>
            </a:r>
            <a:endParaRPr lang="en-US" altLang="zh-CN" sz="1200" dirty="0" smtClean="0">
              <a:solidFill>
                <a:srgbClr val="17365E"/>
              </a:solidFill>
              <a:latin typeface="华文仿宋"/>
              <a:ea typeface="华文仿宋"/>
              <a:cs typeface="华文仿宋"/>
            </a:endParaRPr>
          </a:p>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积累</a:t>
            </a:r>
            <a:r>
              <a:rPr lang="zh-CN" altLang="en-US" sz="1200" dirty="0">
                <a:solidFill>
                  <a:srgbClr val="17365E"/>
                </a:solidFill>
                <a:latin typeface="华文仿宋"/>
                <a:ea typeface="华文仿宋"/>
                <a:cs typeface="华文仿宋"/>
              </a:rPr>
              <a:t>流程实施相关知识点、解决</a:t>
            </a:r>
            <a:r>
              <a:rPr lang="zh-CN" altLang="en-US" sz="1200" dirty="0" smtClean="0">
                <a:solidFill>
                  <a:srgbClr val="17365E"/>
                </a:solidFill>
                <a:latin typeface="华文仿宋"/>
                <a:ea typeface="华文仿宋"/>
                <a:cs typeface="华文仿宋"/>
              </a:rPr>
              <a:t>方案资料。</a:t>
            </a:r>
            <a:endParaRPr lang="en-US" altLang="zh-CN" sz="1200" dirty="0">
              <a:solidFill>
                <a:srgbClr val="17365E"/>
              </a:solidFill>
              <a:latin typeface="华文仿宋"/>
              <a:ea typeface="华文仿宋"/>
              <a:cs typeface="华文仿宋"/>
            </a:endParaRPr>
          </a:p>
        </p:txBody>
      </p:sp>
      <p:sp>
        <p:nvSpPr>
          <p:cNvPr id="10" name="燕尾形 9"/>
          <p:cNvSpPr>
            <a:spLocks noChangeArrowheads="1"/>
          </p:cNvSpPr>
          <p:nvPr/>
        </p:nvSpPr>
        <p:spPr bwMode="auto">
          <a:xfrm>
            <a:off x="5352280" y="3751777"/>
            <a:ext cx="3103703" cy="915987"/>
          </a:xfrm>
          <a:prstGeom prst="chevron">
            <a:avLst>
              <a:gd name="adj" fmla="val 16745"/>
            </a:avLst>
          </a:prstGeom>
          <a:gradFill flip="none" rotWithShape="1">
            <a:gsLst>
              <a:gs pos="0">
                <a:schemeClr val="accent1">
                  <a:lumMod val="90000"/>
                </a:schemeClr>
              </a:gs>
              <a:gs pos="50000">
                <a:schemeClr val="accent1">
                  <a:shade val="67500"/>
                  <a:satMod val="115000"/>
                </a:schemeClr>
              </a:gs>
              <a:gs pos="100000">
                <a:schemeClr val="accent1">
                  <a:shade val="100000"/>
                  <a:satMod val="115000"/>
                </a:scheme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a:solidFill>
                  <a:srgbClr val="FEFFFF"/>
                </a:solidFill>
                <a:latin typeface="华文仿宋"/>
                <a:ea typeface="华文仿宋"/>
                <a:cs typeface="华文仿宋"/>
              </a:rPr>
              <a:t>收集并</a:t>
            </a:r>
            <a:r>
              <a:rPr lang="zh-CN" altLang="en-US" sz="1200" dirty="0" smtClean="0">
                <a:solidFill>
                  <a:srgbClr val="FEFFFF"/>
                </a:solidFill>
                <a:latin typeface="华文仿宋"/>
                <a:ea typeface="华文仿宋"/>
                <a:cs typeface="华文仿宋"/>
              </a:rPr>
              <a:t>整理试点应用可复用组件</a:t>
            </a:r>
            <a:endParaRPr lang="en-US" altLang="zh-CN" sz="1200" dirty="0">
              <a:solidFill>
                <a:srgbClr val="FEFFFF"/>
              </a:solidFill>
              <a:latin typeface="华文仿宋"/>
              <a:ea typeface="华文仿宋"/>
              <a:cs typeface="华文仿宋"/>
            </a:endParaRPr>
          </a:p>
          <a:p>
            <a:pPr marL="171450" indent="-171450" algn="just" defTabSz="873391">
              <a:buFont typeface="Wingdings" pitchFamily="2" charset="2"/>
              <a:buChar char="Ø"/>
            </a:pPr>
            <a:r>
              <a:rPr lang="zh-CN" altLang="en-US" sz="1200" dirty="0">
                <a:solidFill>
                  <a:srgbClr val="FEFFFF"/>
                </a:solidFill>
                <a:latin typeface="华文仿宋"/>
                <a:ea typeface="华文仿宋"/>
                <a:cs typeface="华文仿宋"/>
              </a:rPr>
              <a:t>完善知识库管理</a:t>
            </a:r>
            <a:r>
              <a:rPr lang="zh-CN" altLang="en-US" sz="1200" dirty="0" smtClean="0">
                <a:solidFill>
                  <a:srgbClr val="FEFFFF"/>
                </a:solidFill>
                <a:latin typeface="华文仿宋"/>
                <a:ea typeface="华文仿宋"/>
                <a:cs typeface="华文仿宋"/>
              </a:rPr>
              <a:t>体系</a:t>
            </a:r>
            <a:endParaRPr lang="en-US" altLang="zh-CN" sz="1200" dirty="0">
              <a:solidFill>
                <a:srgbClr val="FEFFFF"/>
              </a:solidFill>
              <a:latin typeface="华文仿宋"/>
              <a:ea typeface="华文仿宋"/>
              <a:cs typeface="华文仿宋"/>
            </a:endParaRPr>
          </a:p>
        </p:txBody>
      </p:sp>
      <p:sp>
        <p:nvSpPr>
          <p:cNvPr id="11" name="燕尾形 10"/>
          <p:cNvSpPr>
            <a:spLocks noChangeArrowheads="1"/>
          </p:cNvSpPr>
          <p:nvPr/>
        </p:nvSpPr>
        <p:spPr bwMode="auto">
          <a:xfrm>
            <a:off x="8305489" y="3751777"/>
            <a:ext cx="2914119" cy="915987"/>
          </a:xfrm>
          <a:prstGeom prst="chevron">
            <a:avLst>
              <a:gd name="adj" fmla="val 16737"/>
            </a:avLst>
          </a:prstGeom>
          <a:gradFill flip="none" rotWithShape="1">
            <a:gsLst>
              <a:gs pos="0">
                <a:schemeClr val="accent1">
                  <a:lumMod val="90000"/>
                  <a:tint val="66000"/>
                  <a:satMod val="160000"/>
                </a:schemeClr>
              </a:gs>
              <a:gs pos="50000">
                <a:schemeClr val="accent1">
                  <a:lumMod val="90000"/>
                  <a:tint val="44500"/>
                  <a:satMod val="160000"/>
                </a:schemeClr>
              </a:gs>
              <a:gs pos="100000">
                <a:schemeClr val="accent1">
                  <a:lumMod val="90000"/>
                  <a:tint val="23500"/>
                  <a:satMod val="160000"/>
                </a:schemeClr>
              </a:gs>
            </a:gsLst>
            <a:lin ang="10800000" scaled="1"/>
            <a:tileRect/>
          </a:gradFill>
          <a:ln w="9525" algn="ctr">
            <a:solidFill>
              <a:srgbClr val="9460FD"/>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defTabSz="873391">
              <a:buFont typeface="Wingdings" pitchFamily="2" charset="2"/>
              <a:buChar char="Ø"/>
              <a:defRPr/>
            </a:pPr>
            <a:r>
              <a:rPr lang="zh-CN" altLang="en-US" sz="1200" dirty="0" smtClean="0">
                <a:solidFill>
                  <a:srgbClr val="17365E"/>
                </a:solidFill>
                <a:latin typeface="华文仿宋"/>
                <a:ea typeface="华文仿宋"/>
                <a:cs typeface="华文仿宋"/>
              </a:rPr>
              <a:t>持续积累可复用软件资产。</a:t>
            </a:r>
            <a:endParaRPr lang="en-US" altLang="zh-CN" sz="1200" dirty="0" smtClean="0">
              <a:solidFill>
                <a:srgbClr val="17365E"/>
              </a:solidFill>
              <a:latin typeface="华文仿宋"/>
              <a:ea typeface="华文仿宋"/>
              <a:cs typeface="华文仿宋"/>
            </a:endParaRPr>
          </a:p>
          <a:p>
            <a:pPr marL="171450" indent="-171450" defTabSz="873391">
              <a:buFont typeface="Wingdings" pitchFamily="2" charset="2"/>
              <a:buChar char="Ø"/>
              <a:defRPr/>
            </a:pPr>
            <a:r>
              <a:rPr lang="zh-CN" altLang="en-US" sz="1200" dirty="0" smtClean="0">
                <a:solidFill>
                  <a:srgbClr val="17365E"/>
                </a:solidFill>
                <a:latin typeface="华文仿宋"/>
                <a:ea typeface="华文仿宋"/>
                <a:cs typeface="华文仿宋"/>
              </a:rPr>
              <a:t>完善知识库管理体系并搜集知识点。</a:t>
            </a:r>
            <a:endParaRPr lang="en-US" altLang="zh-CN" sz="1200" dirty="0" smtClean="0">
              <a:solidFill>
                <a:srgbClr val="17365E"/>
              </a:solidFill>
              <a:latin typeface="华文仿宋"/>
              <a:ea typeface="华文仿宋"/>
              <a:cs typeface="华文仿宋"/>
            </a:endParaRPr>
          </a:p>
        </p:txBody>
      </p:sp>
      <p:sp>
        <p:nvSpPr>
          <p:cNvPr id="12" name="五边形 10"/>
          <p:cNvSpPr>
            <a:spLocks noChangeArrowheads="1"/>
          </p:cNvSpPr>
          <p:nvPr/>
        </p:nvSpPr>
        <p:spPr bwMode="auto">
          <a:xfrm>
            <a:off x="688040" y="1905745"/>
            <a:ext cx="1925719" cy="965200"/>
          </a:xfrm>
          <a:prstGeom prst="homePlate">
            <a:avLst>
              <a:gd name="adj" fmla="val 15471"/>
            </a:avLst>
          </a:prstGeom>
          <a:solidFill>
            <a:schemeClr val="tx1"/>
          </a:solidFill>
          <a:ln w="25400" algn="ctr">
            <a:solidFill>
              <a:schemeClr val="bg1">
                <a:lumMod val="75000"/>
              </a:schemeClr>
            </a:solidFill>
            <a:miter lim="800000"/>
            <a:headEnd/>
            <a:tailEnd/>
          </a:ln>
        </p:spPr>
        <p:txBody>
          <a:bodyPr lIns="57607" tIns="28804" rIns="57607" bIns="28804" anchor="ctr"/>
          <a:lstStyle/>
          <a:p>
            <a:pPr defTabSz="873391">
              <a:defRPr/>
            </a:pPr>
            <a:r>
              <a:rPr lang="zh-CN" altLang="en-US" sz="1600" dirty="0">
                <a:solidFill>
                  <a:srgbClr val="FEFFFF"/>
                </a:solidFill>
                <a:latin typeface="华文仿宋"/>
                <a:ea typeface="华文仿宋"/>
                <a:cs typeface="华文仿宋"/>
              </a:rPr>
              <a:t>方法</a:t>
            </a:r>
            <a:r>
              <a:rPr lang="zh-CN" altLang="en-US" sz="1600" dirty="0" smtClean="0">
                <a:solidFill>
                  <a:srgbClr val="FEFFFF"/>
                </a:solidFill>
                <a:latin typeface="华文仿宋"/>
                <a:ea typeface="华文仿宋"/>
                <a:cs typeface="华文仿宋"/>
              </a:rPr>
              <a:t>与</a:t>
            </a:r>
            <a:r>
              <a:rPr lang="zh-CN" altLang="en-US" sz="1600" dirty="0">
                <a:solidFill>
                  <a:srgbClr val="FEFFFF"/>
                </a:solidFill>
                <a:latin typeface="华文仿宋"/>
                <a:ea typeface="华文仿宋"/>
                <a:cs typeface="华文仿宋"/>
              </a:rPr>
              <a:t>规范</a:t>
            </a:r>
          </a:p>
        </p:txBody>
      </p:sp>
      <p:sp>
        <p:nvSpPr>
          <p:cNvPr id="13" name="燕尾形 12"/>
          <p:cNvSpPr>
            <a:spLocks noChangeArrowheads="1"/>
          </p:cNvSpPr>
          <p:nvPr/>
        </p:nvSpPr>
        <p:spPr bwMode="auto">
          <a:xfrm>
            <a:off x="2463264" y="1927713"/>
            <a:ext cx="3048977" cy="919163"/>
          </a:xfrm>
          <a:prstGeom prst="chevron">
            <a:avLst>
              <a:gd name="adj" fmla="val 16730"/>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defRPr/>
            </a:pPr>
            <a:r>
              <a:rPr lang="zh-CN" altLang="en-US" sz="1200" dirty="0" smtClean="0">
                <a:solidFill>
                  <a:srgbClr val="17365E"/>
                </a:solidFill>
                <a:latin typeface="华文仿宋"/>
                <a:ea typeface="华文仿宋"/>
                <a:cs typeface="华文仿宋"/>
              </a:rPr>
              <a:t>制订系统接入规范初稿</a:t>
            </a:r>
            <a:endParaRPr lang="en-US" altLang="zh-CN" sz="1200" dirty="0" smtClean="0">
              <a:solidFill>
                <a:srgbClr val="17365E"/>
              </a:solidFill>
              <a:latin typeface="华文仿宋"/>
              <a:ea typeface="华文仿宋"/>
              <a:cs typeface="华文仿宋"/>
            </a:endParaRPr>
          </a:p>
          <a:p>
            <a:pPr marL="171450" indent="-171450" algn="just" defTabSz="873391">
              <a:buFont typeface="Wingdings" pitchFamily="2" charset="2"/>
              <a:buChar char="Ø"/>
              <a:defRPr/>
            </a:pPr>
            <a:r>
              <a:rPr lang="zh-CN" altLang="en-US" sz="1200" dirty="0" smtClean="0">
                <a:solidFill>
                  <a:srgbClr val="17365E"/>
                </a:solidFill>
                <a:latin typeface="华文仿宋"/>
                <a:ea typeface="华文仿宋"/>
                <a:cs typeface="华文仿宋"/>
              </a:rPr>
              <a:t>制订流程实施规范初稿。</a:t>
            </a:r>
            <a:endParaRPr lang="en-US" altLang="zh-CN" sz="1200" dirty="0" smtClean="0">
              <a:solidFill>
                <a:srgbClr val="17365E"/>
              </a:solidFill>
              <a:latin typeface="华文仿宋"/>
              <a:ea typeface="华文仿宋"/>
              <a:cs typeface="华文仿宋"/>
            </a:endParaRPr>
          </a:p>
          <a:p>
            <a:pPr marL="171450" indent="-171450" algn="just" defTabSz="873391">
              <a:buFont typeface="Wingdings" pitchFamily="2" charset="2"/>
              <a:buChar char="Ø"/>
              <a:defRPr/>
            </a:pPr>
            <a:r>
              <a:rPr lang="zh-CN" altLang="en-US" sz="1200" dirty="0" smtClean="0">
                <a:solidFill>
                  <a:srgbClr val="17365E"/>
                </a:solidFill>
                <a:latin typeface="华文仿宋"/>
                <a:ea typeface="华文仿宋"/>
                <a:cs typeface="华文仿宋"/>
              </a:rPr>
              <a:t>制定流程实施方法论初稿。</a:t>
            </a:r>
            <a:endParaRPr lang="en-US" altLang="zh-CN" sz="1200" dirty="0" smtClean="0">
              <a:solidFill>
                <a:srgbClr val="17365E"/>
              </a:solidFill>
              <a:latin typeface="华文仿宋"/>
              <a:ea typeface="华文仿宋"/>
              <a:cs typeface="华文仿宋"/>
            </a:endParaRPr>
          </a:p>
        </p:txBody>
      </p:sp>
      <p:sp>
        <p:nvSpPr>
          <p:cNvPr id="14" name="燕尾形 13"/>
          <p:cNvSpPr>
            <a:spLocks noChangeArrowheads="1"/>
          </p:cNvSpPr>
          <p:nvPr/>
        </p:nvSpPr>
        <p:spPr bwMode="auto">
          <a:xfrm>
            <a:off x="5320702" y="1927713"/>
            <a:ext cx="3142792" cy="919163"/>
          </a:xfrm>
          <a:prstGeom prst="chevron">
            <a:avLst>
              <a:gd name="adj" fmla="val 16729"/>
            </a:avLst>
          </a:prstGeom>
          <a:gradFill flip="none" rotWithShape="1">
            <a:gsLst>
              <a:gs pos="0">
                <a:schemeClr val="accent1">
                  <a:lumMod val="90000"/>
                </a:schemeClr>
              </a:gs>
              <a:gs pos="50000">
                <a:schemeClr val="accent1">
                  <a:shade val="67500"/>
                  <a:satMod val="115000"/>
                </a:schemeClr>
              </a:gs>
              <a:gs pos="100000">
                <a:schemeClr val="accent1">
                  <a:shade val="100000"/>
                  <a:satMod val="115000"/>
                </a:scheme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smtClean="0">
                <a:solidFill>
                  <a:srgbClr val="FEFFFF"/>
                </a:solidFill>
                <a:latin typeface="华文仿宋"/>
                <a:ea typeface="华文仿宋"/>
                <a:cs typeface="华文仿宋"/>
              </a:rPr>
              <a:t>基于试点应用对“统一流程平台”的使用反馈完善规范和方法论，并发布正式稿。</a:t>
            </a:r>
            <a:endParaRPr lang="en-US" altLang="zh-CN" sz="1200" dirty="0">
              <a:solidFill>
                <a:srgbClr val="FEFFFF"/>
              </a:solidFill>
              <a:latin typeface="华文仿宋"/>
              <a:ea typeface="华文仿宋"/>
              <a:cs typeface="华文仿宋"/>
            </a:endParaRPr>
          </a:p>
        </p:txBody>
      </p:sp>
      <p:sp>
        <p:nvSpPr>
          <p:cNvPr id="15" name="燕尾形 14"/>
          <p:cNvSpPr>
            <a:spLocks noChangeArrowheads="1"/>
          </p:cNvSpPr>
          <p:nvPr/>
        </p:nvSpPr>
        <p:spPr bwMode="auto">
          <a:xfrm>
            <a:off x="8273911" y="1927713"/>
            <a:ext cx="2953209" cy="919163"/>
          </a:xfrm>
          <a:prstGeom prst="chevron">
            <a:avLst>
              <a:gd name="adj" fmla="val 19283"/>
            </a:avLst>
          </a:prstGeom>
          <a:gradFill flip="none" rotWithShape="1">
            <a:gsLst>
              <a:gs pos="0">
                <a:schemeClr val="accent1">
                  <a:lumMod val="90000"/>
                  <a:tint val="66000"/>
                  <a:satMod val="160000"/>
                </a:schemeClr>
              </a:gs>
              <a:gs pos="50000">
                <a:schemeClr val="accent1">
                  <a:lumMod val="90000"/>
                  <a:tint val="44500"/>
                  <a:satMod val="160000"/>
                </a:schemeClr>
              </a:gs>
              <a:gs pos="100000">
                <a:schemeClr val="accent1">
                  <a:lumMod val="90000"/>
                  <a:tint val="23500"/>
                  <a:satMod val="160000"/>
                </a:schemeClr>
              </a:gs>
            </a:gsLst>
            <a:lin ang="10800000" scaled="1"/>
            <a:tileRect/>
          </a:gradFill>
          <a:ln w="9525" algn="ctr">
            <a:solidFill>
              <a:srgbClr val="9460FD"/>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defTabSz="873391">
              <a:buFont typeface="Wingdings" pitchFamily="2" charset="2"/>
              <a:buChar char="Ø"/>
            </a:pPr>
            <a:r>
              <a:rPr lang="zh-CN" altLang="en-US" sz="1200">
                <a:solidFill>
                  <a:srgbClr val="17365E"/>
                </a:solidFill>
                <a:latin typeface="华文仿宋"/>
                <a:ea typeface="华文仿宋"/>
                <a:cs typeface="华文仿宋"/>
              </a:rPr>
              <a:t>新标准与规范的吸纳和</a:t>
            </a:r>
            <a:r>
              <a:rPr lang="zh-CN" altLang="en-US" sz="1200" smtClean="0">
                <a:solidFill>
                  <a:srgbClr val="17365E"/>
                </a:solidFill>
                <a:latin typeface="华文仿宋"/>
                <a:ea typeface="华文仿宋"/>
                <a:cs typeface="华文仿宋"/>
              </a:rPr>
              <a:t>优化。</a:t>
            </a:r>
            <a:endParaRPr lang="en-US" altLang="zh-CN" sz="1200">
              <a:solidFill>
                <a:srgbClr val="17365E"/>
              </a:solidFill>
              <a:latin typeface="华文仿宋"/>
              <a:ea typeface="华文仿宋"/>
              <a:cs typeface="华文仿宋"/>
            </a:endParaRPr>
          </a:p>
          <a:p>
            <a:pPr marL="171450" indent="-171450" defTabSz="873391">
              <a:buFont typeface="Wingdings" pitchFamily="2" charset="2"/>
              <a:buChar char="Ø"/>
            </a:pPr>
            <a:r>
              <a:rPr lang="zh-CN" altLang="en-US" sz="1200">
                <a:solidFill>
                  <a:srgbClr val="17365E"/>
                </a:solidFill>
                <a:latin typeface="华文仿宋"/>
                <a:ea typeface="华文仿宋"/>
                <a:cs typeface="华文仿宋"/>
              </a:rPr>
              <a:t>制定统一流程平台推广</a:t>
            </a:r>
            <a:r>
              <a:rPr lang="zh-CN" altLang="en-US" sz="1200" smtClean="0">
                <a:solidFill>
                  <a:srgbClr val="17365E"/>
                </a:solidFill>
                <a:latin typeface="华文仿宋"/>
                <a:ea typeface="华文仿宋"/>
                <a:cs typeface="华文仿宋"/>
              </a:rPr>
              <a:t>方案。</a:t>
            </a:r>
            <a:endParaRPr lang="zh-CN" altLang="en-US" sz="1200">
              <a:solidFill>
                <a:srgbClr val="17365E"/>
              </a:solidFill>
              <a:latin typeface="华文仿宋"/>
              <a:ea typeface="华文仿宋"/>
              <a:cs typeface="华文仿宋"/>
            </a:endParaRPr>
          </a:p>
        </p:txBody>
      </p:sp>
      <p:sp>
        <p:nvSpPr>
          <p:cNvPr id="16" name="燕尾形 15"/>
          <p:cNvSpPr>
            <a:spLocks noChangeArrowheads="1"/>
          </p:cNvSpPr>
          <p:nvPr/>
        </p:nvSpPr>
        <p:spPr bwMode="auto">
          <a:xfrm>
            <a:off x="5336744" y="4750473"/>
            <a:ext cx="3142792" cy="904875"/>
          </a:xfrm>
          <a:prstGeom prst="chevron">
            <a:avLst>
              <a:gd name="adj" fmla="val 16751"/>
            </a:avLst>
          </a:prstGeom>
          <a:gradFill flip="none" rotWithShape="1">
            <a:gsLst>
              <a:gs pos="0">
                <a:schemeClr val="accent1">
                  <a:lumMod val="90000"/>
                </a:schemeClr>
              </a:gs>
              <a:gs pos="50000">
                <a:schemeClr val="accent1">
                  <a:shade val="67500"/>
                  <a:satMod val="115000"/>
                </a:schemeClr>
              </a:gs>
              <a:gs pos="100000">
                <a:schemeClr val="accent1">
                  <a:shade val="100000"/>
                  <a:satMod val="115000"/>
                </a:scheme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smtClean="0">
                <a:solidFill>
                  <a:srgbClr val="FEFFFF"/>
                </a:solidFill>
                <a:latin typeface="华文仿宋"/>
                <a:ea typeface="华文仿宋"/>
                <a:cs typeface="华文仿宋"/>
              </a:rPr>
              <a:t>支持</a:t>
            </a:r>
            <a:r>
              <a:rPr lang="en-US" altLang="zh-CN" sz="1200" dirty="0">
                <a:solidFill>
                  <a:srgbClr val="FEFFFF"/>
                </a:solidFill>
                <a:latin typeface="华文仿宋"/>
                <a:ea typeface="华文仿宋"/>
                <a:cs typeface="华文仿宋"/>
              </a:rPr>
              <a:t>3</a:t>
            </a:r>
            <a:r>
              <a:rPr lang="zh-CN" altLang="en-US" sz="1200" dirty="0" smtClean="0">
                <a:solidFill>
                  <a:srgbClr val="FEFFFF"/>
                </a:solidFill>
                <a:latin typeface="华文仿宋"/>
                <a:ea typeface="华文仿宋"/>
                <a:cs typeface="华文仿宋"/>
              </a:rPr>
              <a:t>～</a:t>
            </a:r>
            <a:r>
              <a:rPr lang="en-US" altLang="zh-CN" sz="1200" dirty="0">
                <a:solidFill>
                  <a:srgbClr val="FEFFFF"/>
                </a:solidFill>
                <a:latin typeface="华文仿宋"/>
                <a:ea typeface="华文仿宋"/>
                <a:cs typeface="华文仿宋"/>
              </a:rPr>
              <a:t>6</a:t>
            </a:r>
            <a:r>
              <a:rPr lang="zh-CN" altLang="en-US" sz="1200" dirty="0" smtClean="0">
                <a:solidFill>
                  <a:srgbClr val="FEFFFF"/>
                </a:solidFill>
                <a:latin typeface="华文仿宋"/>
                <a:ea typeface="华文仿宋"/>
                <a:cs typeface="华文仿宋"/>
              </a:rPr>
              <a:t>个试点应用系统上线运行。</a:t>
            </a:r>
            <a:endParaRPr lang="en-US" altLang="zh-CN" sz="1200" dirty="0">
              <a:solidFill>
                <a:srgbClr val="FEFFFF"/>
              </a:solidFill>
              <a:latin typeface="华文仿宋"/>
              <a:ea typeface="华文仿宋"/>
              <a:cs typeface="华文仿宋"/>
            </a:endParaRPr>
          </a:p>
        </p:txBody>
      </p:sp>
      <p:sp>
        <p:nvSpPr>
          <p:cNvPr id="17" name="燕尾形 16"/>
          <p:cNvSpPr>
            <a:spLocks noChangeArrowheads="1"/>
          </p:cNvSpPr>
          <p:nvPr/>
        </p:nvSpPr>
        <p:spPr bwMode="auto">
          <a:xfrm>
            <a:off x="8289953" y="4750473"/>
            <a:ext cx="2953209" cy="904875"/>
          </a:xfrm>
          <a:prstGeom prst="chevron">
            <a:avLst>
              <a:gd name="adj" fmla="val 19316"/>
            </a:avLst>
          </a:prstGeom>
          <a:gradFill flip="none" rotWithShape="1">
            <a:gsLst>
              <a:gs pos="0">
                <a:schemeClr val="accent1">
                  <a:lumMod val="90000"/>
                  <a:tint val="66000"/>
                  <a:satMod val="160000"/>
                </a:schemeClr>
              </a:gs>
              <a:gs pos="50000">
                <a:schemeClr val="accent1">
                  <a:lumMod val="90000"/>
                  <a:tint val="44500"/>
                  <a:satMod val="160000"/>
                </a:schemeClr>
              </a:gs>
              <a:gs pos="100000">
                <a:schemeClr val="accent1">
                  <a:lumMod val="90000"/>
                  <a:tint val="23500"/>
                  <a:satMod val="160000"/>
                </a:schemeClr>
              </a:gs>
            </a:gsLst>
            <a:lin ang="10800000" scaled="1"/>
            <a:tileRect/>
          </a:gradFill>
          <a:ln w="9525" algn="ctr">
            <a:solidFill>
              <a:srgbClr val="9460FD"/>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defTabSz="873391">
              <a:buFont typeface="Wingdings" pitchFamily="2" charset="2"/>
              <a:buChar char="Ø"/>
            </a:pPr>
            <a:r>
              <a:rPr lang="zh-CN" altLang="en-US" sz="1200" dirty="0" smtClean="0">
                <a:solidFill>
                  <a:srgbClr val="17365E"/>
                </a:solidFill>
                <a:latin typeface="华文仿宋"/>
                <a:ea typeface="华文仿宋"/>
                <a:cs typeface="华文仿宋"/>
              </a:rPr>
              <a:t>支持新的业务系统上线运行，平台收益最大化。</a:t>
            </a:r>
            <a:endParaRPr lang="zh-CN" altLang="en-US" sz="1200" dirty="0">
              <a:solidFill>
                <a:srgbClr val="17365E"/>
              </a:solidFill>
              <a:latin typeface="华文仿宋"/>
              <a:ea typeface="华文仿宋"/>
              <a:cs typeface="华文仿宋"/>
            </a:endParaRPr>
          </a:p>
        </p:txBody>
      </p:sp>
      <p:sp>
        <p:nvSpPr>
          <p:cNvPr id="18" name="等腰三角形 20"/>
          <p:cNvSpPr>
            <a:spLocks noChangeArrowheads="1"/>
          </p:cNvSpPr>
          <p:nvPr/>
        </p:nvSpPr>
        <p:spPr bwMode="auto">
          <a:xfrm>
            <a:off x="5207344" y="5709641"/>
            <a:ext cx="254081" cy="261938"/>
          </a:xfrm>
          <a:prstGeom prst="triangle">
            <a:avLst>
              <a:gd name="adj" fmla="val 50000"/>
            </a:avLst>
          </a:prstGeom>
          <a:solidFill>
            <a:schemeClr val="accent6">
              <a:lumMod val="75000"/>
            </a:schemeClr>
          </a:solidFill>
          <a:ln w="25400" algn="ctr">
            <a:solidFill>
              <a:schemeClr val="tx2">
                <a:lumMod val="20000"/>
                <a:lumOff val="80000"/>
              </a:schemeClr>
            </a:solidFill>
            <a:miter lim="800000"/>
            <a:headEnd/>
            <a:tailEnd/>
          </a:ln>
        </p:spPr>
        <p:txBody>
          <a:bodyPr lIns="57607" tIns="28804" rIns="57607" bIns="28804" anchor="ctr"/>
          <a:lstStyle/>
          <a:p>
            <a:pPr defTabSz="873391">
              <a:defRPr/>
            </a:pPr>
            <a:endParaRPr lang="zh-CN" altLang="en-US">
              <a:solidFill>
                <a:srgbClr val="17365E"/>
              </a:solidFill>
              <a:latin typeface="华文仿宋"/>
              <a:ea typeface="华文仿宋"/>
              <a:cs typeface="华文仿宋"/>
            </a:endParaRPr>
          </a:p>
        </p:txBody>
      </p:sp>
      <p:sp>
        <p:nvSpPr>
          <p:cNvPr id="19" name="等腰三角形 23"/>
          <p:cNvSpPr>
            <a:spLocks noChangeArrowheads="1"/>
          </p:cNvSpPr>
          <p:nvPr/>
        </p:nvSpPr>
        <p:spPr bwMode="auto">
          <a:xfrm>
            <a:off x="8170324" y="5709641"/>
            <a:ext cx="252127" cy="261938"/>
          </a:xfrm>
          <a:prstGeom prst="triangle">
            <a:avLst>
              <a:gd name="adj" fmla="val 50000"/>
            </a:avLst>
          </a:prstGeom>
          <a:solidFill>
            <a:schemeClr val="accent6">
              <a:lumMod val="75000"/>
            </a:schemeClr>
          </a:solidFill>
          <a:ln w="25400" algn="ctr">
            <a:solidFill>
              <a:schemeClr val="tx2">
                <a:lumMod val="20000"/>
                <a:lumOff val="80000"/>
              </a:schemeClr>
            </a:solidFill>
            <a:miter lim="800000"/>
            <a:headEnd/>
            <a:tailEnd/>
          </a:ln>
        </p:spPr>
        <p:txBody>
          <a:bodyPr lIns="57607" tIns="28804" rIns="57607" bIns="28804" anchor="ctr"/>
          <a:lstStyle/>
          <a:p>
            <a:pPr defTabSz="873391">
              <a:defRPr/>
            </a:pPr>
            <a:endParaRPr lang="zh-CN" altLang="en-US">
              <a:solidFill>
                <a:srgbClr val="17365E"/>
              </a:solidFill>
              <a:latin typeface="华文仿宋"/>
              <a:ea typeface="华文仿宋"/>
              <a:cs typeface="华文仿宋"/>
            </a:endParaRPr>
          </a:p>
        </p:txBody>
      </p:sp>
      <p:sp>
        <p:nvSpPr>
          <p:cNvPr id="20" name="等腰三角形 24"/>
          <p:cNvSpPr>
            <a:spLocks noChangeArrowheads="1"/>
          </p:cNvSpPr>
          <p:nvPr/>
        </p:nvSpPr>
        <p:spPr bwMode="auto">
          <a:xfrm>
            <a:off x="10918313" y="5709641"/>
            <a:ext cx="254081" cy="261938"/>
          </a:xfrm>
          <a:prstGeom prst="triangle">
            <a:avLst>
              <a:gd name="adj" fmla="val 50000"/>
            </a:avLst>
          </a:prstGeom>
          <a:solidFill>
            <a:schemeClr val="accent6">
              <a:lumMod val="75000"/>
            </a:schemeClr>
          </a:solidFill>
          <a:ln w="25400" algn="ctr">
            <a:solidFill>
              <a:schemeClr val="tx2">
                <a:lumMod val="20000"/>
                <a:lumOff val="80000"/>
              </a:schemeClr>
            </a:solidFill>
            <a:miter lim="800000"/>
            <a:headEnd/>
            <a:tailEnd/>
          </a:ln>
        </p:spPr>
        <p:txBody>
          <a:bodyPr lIns="57607" tIns="28804" rIns="57607" bIns="28804" anchor="ctr"/>
          <a:lstStyle/>
          <a:p>
            <a:pPr defTabSz="873391">
              <a:defRPr/>
            </a:pPr>
            <a:endParaRPr lang="zh-CN" altLang="en-US">
              <a:solidFill>
                <a:srgbClr val="17365E"/>
              </a:solidFill>
              <a:latin typeface="华文仿宋"/>
              <a:ea typeface="华文仿宋"/>
              <a:cs typeface="华文仿宋"/>
            </a:endParaRPr>
          </a:p>
        </p:txBody>
      </p:sp>
      <p:sp>
        <p:nvSpPr>
          <p:cNvPr id="21" name="TextBox 26"/>
          <p:cNvSpPr txBox="1">
            <a:spLocks noChangeArrowheads="1"/>
          </p:cNvSpPr>
          <p:nvPr/>
        </p:nvSpPr>
        <p:spPr bwMode="auto">
          <a:xfrm>
            <a:off x="4536807" y="5949834"/>
            <a:ext cx="1264544" cy="242837"/>
          </a:xfrm>
          <a:prstGeom prst="rect">
            <a:avLst/>
          </a:prstGeom>
          <a:noFill/>
          <a:ln w="9525">
            <a:noFill/>
            <a:miter lim="800000"/>
            <a:headEnd/>
            <a:tailEnd/>
          </a:ln>
        </p:spPr>
        <p:txBody>
          <a:bodyPr lIns="57607" tIns="28804" rIns="57607" bIns="28804">
            <a:spAutoFit/>
          </a:bodyPr>
          <a:lstStyle/>
          <a:p>
            <a:pPr lvl="1" indent="-246063" defTabSz="873125">
              <a:defRPr/>
            </a:pPr>
            <a:r>
              <a:rPr lang="en-US" altLang="zh-CN" sz="1200" dirty="0" smtClean="0">
                <a:solidFill>
                  <a:srgbClr val="F79646">
                    <a:lumMod val="50000"/>
                  </a:srgbClr>
                </a:solidFill>
                <a:latin typeface="华文仿宋"/>
                <a:ea typeface="华文仿宋"/>
                <a:cs typeface="华文仿宋"/>
              </a:rPr>
              <a:t>T+6</a:t>
            </a:r>
            <a:endParaRPr lang="en-US" altLang="zh-CN" sz="1200" dirty="0">
              <a:solidFill>
                <a:srgbClr val="F79646">
                  <a:lumMod val="50000"/>
                </a:srgbClr>
              </a:solidFill>
              <a:latin typeface="华文仿宋"/>
              <a:ea typeface="华文仿宋"/>
              <a:cs typeface="华文仿宋"/>
            </a:endParaRPr>
          </a:p>
        </p:txBody>
      </p:sp>
      <p:sp>
        <p:nvSpPr>
          <p:cNvPr id="22" name="TextBox 27"/>
          <p:cNvSpPr txBox="1">
            <a:spLocks noChangeArrowheads="1"/>
          </p:cNvSpPr>
          <p:nvPr/>
        </p:nvSpPr>
        <p:spPr bwMode="auto">
          <a:xfrm>
            <a:off x="7523350" y="5971580"/>
            <a:ext cx="1264544" cy="242837"/>
          </a:xfrm>
          <a:prstGeom prst="rect">
            <a:avLst/>
          </a:prstGeom>
          <a:noFill/>
          <a:ln w="9525">
            <a:noFill/>
            <a:miter lim="800000"/>
            <a:headEnd/>
            <a:tailEnd/>
          </a:ln>
        </p:spPr>
        <p:txBody>
          <a:bodyPr lIns="57607" tIns="28804" rIns="57607" bIns="28804">
            <a:spAutoFit/>
          </a:bodyPr>
          <a:lstStyle/>
          <a:p>
            <a:pPr lvl="1" indent="-246063" defTabSz="873125">
              <a:defRPr/>
            </a:pPr>
            <a:r>
              <a:rPr lang="en-US" altLang="zh-CN" sz="1200" dirty="0" smtClean="0">
                <a:solidFill>
                  <a:srgbClr val="F79646">
                    <a:lumMod val="50000"/>
                  </a:srgbClr>
                </a:solidFill>
                <a:latin typeface="华文仿宋"/>
                <a:ea typeface="华文仿宋"/>
                <a:cs typeface="华文仿宋"/>
              </a:rPr>
              <a:t>T+12</a:t>
            </a:r>
          </a:p>
        </p:txBody>
      </p:sp>
      <p:sp>
        <p:nvSpPr>
          <p:cNvPr id="23" name="燕尾形 22"/>
          <p:cNvSpPr>
            <a:spLocks noChangeArrowheads="1"/>
          </p:cNvSpPr>
          <p:nvPr/>
        </p:nvSpPr>
        <p:spPr bwMode="auto">
          <a:xfrm>
            <a:off x="2531670" y="1274081"/>
            <a:ext cx="2845712" cy="592138"/>
          </a:xfrm>
          <a:prstGeom prst="chevron">
            <a:avLst>
              <a:gd name="adj" fmla="val 13001"/>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path path="circle">
              <a:fillToRect l="100000" b="100000"/>
            </a:path>
            <a:tileRect t="-100000" r="-100000"/>
          </a:gradFill>
          <a:ln>
            <a:solidFill>
              <a:schemeClr val="accent3">
                <a:lumMod val="85000"/>
              </a:schemeClr>
            </a:solidFill>
          </a:ln>
        </p:spPr>
        <p:style>
          <a:lnRef idx="1">
            <a:schemeClr val="accent3"/>
          </a:lnRef>
          <a:fillRef idx="2">
            <a:schemeClr val="accent3"/>
          </a:fillRef>
          <a:effectRef idx="1">
            <a:schemeClr val="accent3"/>
          </a:effectRef>
          <a:fontRef idx="minor">
            <a:schemeClr val="dk1"/>
          </a:fontRef>
        </p:style>
        <p:txBody>
          <a:bodyPr anchor="ctr"/>
          <a:lstStyle/>
          <a:p>
            <a:pPr defTabSz="873391">
              <a:defRPr/>
            </a:pPr>
            <a:r>
              <a:rPr lang="zh-CN" altLang="en-US" sz="1200" b="1" dirty="0" smtClean="0">
                <a:solidFill>
                  <a:srgbClr val="17365E"/>
                </a:solidFill>
                <a:latin typeface="华文仿宋"/>
                <a:ea typeface="华文仿宋"/>
                <a:cs typeface="华文仿宋"/>
              </a:rPr>
              <a:t>阶段一：规划与产品引进</a:t>
            </a:r>
            <a:endParaRPr lang="en-US" altLang="zh-CN" sz="1200" dirty="0" smtClean="0">
              <a:solidFill>
                <a:srgbClr val="17365E"/>
              </a:solidFill>
              <a:latin typeface="华文仿宋"/>
              <a:ea typeface="华文仿宋"/>
              <a:cs typeface="华文仿宋"/>
            </a:endParaRPr>
          </a:p>
          <a:p>
            <a:pPr defTabSz="873391">
              <a:defRPr/>
            </a:pPr>
            <a:r>
              <a:rPr lang="en-US" altLang="zh-CN" sz="1200" dirty="0">
                <a:solidFill>
                  <a:srgbClr val="17365E"/>
                </a:solidFill>
                <a:latin typeface="华文仿宋"/>
                <a:ea typeface="华文仿宋"/>
                <a:cs typeface="华文仿宋"/>
              </a:rPr>
              <a:t> </a:t>
            </a:r>
            <a:r>
              <a:rPr lang="en-US" altLang="zh-CN" sz="1200" dirty="0" smtClean="0">
                <a:solidFill>
                  <a:srgbClr val="17365E"/>
                </a:solidFill>
                <a:latin typeface="华文仿宋"/>
                <a:ea typeface="华文仿宋"/>
                <a:cs typeface="华文仿宋"/>
              </a:rPr>
              <a:t>       +1~2</a:t>
            </a:r>
            <a:r>
              <a:rPr lang="zh-CN" altLang="en-US" sz="1200" dirty="0" smtClean="0">
                <a:solidFill>
                  <a:srgbClr val="17365E"/>
                </a:solidFill>
                <a:latin typeface="华文仿宋"/>
                <a:ea typeface="华文仿宋"/>
                <a:cs typeface="华文仿宋"/>
              </a:rPr>
              <a:t>试点应用</a:t>
            </a:r>
            <a:endParaRPr lang="zh-CN" altLang="en-US" sz="1200" dirty="0">
              <a:solidFill>
                <a:srgbClr val="17365E"/>
              </a:solidFill>
              <a:latin typeface="华文仿宋"/>
              <a:ea typeface="华文仿宋"/>
              <a:cs typeface="华文仿宋"/>
            </a:endParaRPr>
          </a:p>
        </p:txBody>
      </p:sp>
      <p:sp>
        <p:nvSpPr>
          <p:cNvPr id="24" name="燕尾形 23"/>
          <p:cNvSpPr>
            <a:spLocks noChangeArrowheads="1"/>
          </p:cNvSpPr>
          <p:nvPr/>
        </p:nvSpPr>
        <p:spPr bwMode="auto">
          <a:xfrm>
            <a:off x="5340248" y="1274081"/>
            <a:ext cx="3021615" cy="592138"/>
          </a:xfrm>
          <a:prstGeom prst="chevron">
            <a:avLst>
              <a:gd name="adj" fmla="val 13006"/>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path path="circle">
              <a:fillToRect l="100000" b="100000"/>
            </a:path>
            <a:tileRect t="-100000" r="-100000"/>
          </a:gradFill>
          <a:ln>
            <a:solidFill>
              <a:schemeClr val="accent3">
                <a:lumMod val="85000"/>
              </a:schemeClr>
            </a:solidFill>
          </a:ln>
        </p:spPr>
        <p:style>
          <a:lnRef idx="1">
            <a:schemeClr val="accent3"/>
          </a:lnRef>
          <a:fillRef idx="2">
            <a:schemeClr val="accent3"/>
          </a:fillRef>
          <a:effectRef idx="1">
            <a:schemeClr val="accent3"/>
          </a:effectRef>
          <a:fontRef idx="minor">
            <a:schemeClr val="dk1"/>
          </a:fontRef>
        </p:style>
        <p:txBody>
          <a:bodyPr anchor="ctr"/>
          <a:lstStyle/>
          <a:p>
            <a:pPr defTabSz="873391">
              <a:defRPr/>
            </a:pPr>
            <a:r>
              <a:rPr lang="zh-CN" altLang="en-US" sz="1400" b="1" dirty="0" smtClean="0">
                <a:solidFill>
                  <a:srgbClr val="17365E"/>
                </a:solidFill>
                <a:latin typeface="华文仿宋"/>
                <a:ea typeface="华文仿宋"/>
                <a:cs typeface="华文仿宋"/>
              </a:rPr>
              <a:t>阶段二：完善与提升</a:t>
            </a:r>
            <a:endParaRPr lang="zh-CN" altLang="en-US" sz="1400" dirty="0">
              <a:solidFill>
                <a:srgbClr val="17365E"/>
              </a:solidFill>
              <a:latin typeface="华文仿宋"/>
              <a:ea typeface="华文仿宋"/>
              <a:cs typeface="华文仿宋"/>
            </a:endParaRPr>
          </a:p>
          <a:p>
            <a:pPr defTabSz="873391">
              <a:defRPr/>
            </a:pPr>
            <a:r>
              <a:rPr lang="en-US" altLang="zh-CN" sz="1400" dirty="0" smtClean="0">
                <a:solidFill>
                  <a:srgbClr val="17365E"/>
                </a:solidFill>
                <a:latin typeface="华文仿宋"/>
                <a:ea typeface="华文仿宋"/>
                <a:cs typeface="华文仿宋"/>
              </a:rPr>
              <a:t>      +3</a:t>
            </a:r>
            <a:r>
              <a:rPr lang="zh-CN" altLang="en-US" sz="1400" dirty="0" smtClean="0">
                <a:solidFill>
                  <a:srgbClr val="17365E"/>
                </a:solidFill>
                <a:latin typeface="华文仿宋"/>
                <a:ea typeface="华文仿宋"/>
                <a:cs typeface="华文仿宋"/>
              </a:rPr>
              <a:t>～</a:t>
            </a:r>
            <a:r>
              <a:rPr lang="zh-CN" altLang="zh-CN" sz="1400" dirty="0">
                <a:solidFill>
                  <a:srgbClr val="17365E"/>
                </a:solidFill>
                <a:latin typeface="华文仿宋"/>
                <a:ea typeface="华文仿宋"/>
                <a:cs typeface="华文仿宋"/>
              </a:rPr>
              <a:t>6</a:t>
            </a:r>
            <a:r>
              <a:rPr lang="zh-CN" altLang="en-US" sz="1400" dirty="0" smtClean="0">
                <a:solidFill>
                  <a:srgbClr val="17365E"/>
                </a:solidFill>
                <a:latin typeface="华文仿宋"/>
                <a:ea typeface="华文仿宋"/>
                <a:cs typeface="华文仿宋"/>
              </a:rPr>
              <a:t>个试点应用</a:t>
            </a:r>
            <a:endParaRPr lang="zh-CN" altLang="en-US" sz="1400" dirty="0">
              <a:solidFill>
                <a:srgbClr val="17365E"/>
              </a:solidFill>
              <a:latin typeface="华文仿宋"/>
              <a:ea typeface="华文仿宋"/>
              <a:cs typeface="华文仿宋"/>
            </a:endParaRPr>
          </a:p>
        </p:txBody>
      </p:sp>
      <p:sp>
        <p:nvSpPr>
          <p:cNvPr id="25" name="燕尾形 24"/>
          <p:cNvSpPr>
            <a:spLocks noChangeArrowheads="1"/>
          </p:cNvSpPr>
          <p:nvPr/>
        </p:nvSpPr>
        <p:spPr bwMode="auto">
          <a:xfrm>
            <a:off x="8312999" y="1274081"/>
            <a:ext cx="2906608" cy="592138"/>
          </a:xfrm>
          <a:prstGeom prst="chevron">
            <a:avLst>
              <a:gd name="adj" fmla="val 13006"/>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path path="circle">
              <a:fillToRect l="100000" b="100000"/>
            </a:path>
            <a:tileRect t="-100000" r="-100000"/>
          </a:gradFill>
          <a:ln>
            <a:solidFill>
              <a:schemeClr val="accent3">
                <a:lumMod val="85000"/>
              </a:schemeClr>
            </a:solidFill>
          </a:ln>
        </p:spPr>
        <p:style>
          <a:lnRef idx="1">
            <a:schemeClr val="accent3"/>
          </a:lnRef>
          <a:fillRef idx="2">
            <a:schemeClr val="accent3"/>
          </a:fillRef>
          <a:effectRef idx="1">
            <a:schemeClr val="accent3"/>
          </a:effectRef>
          <a:fontRef idx="minor">
            <a:schemeClr val="dk1"/>
          </a:fontRef>
        </p:style>
        <p:txBody>
          <a:bodyPr anchor="ctr"/>
          <a:lstStyle/>
          <a:p>
            <a:pPr defTabSz="873391">
              <a:defRPr/>
            </a:pPr>
            <a:r>
              <a:rPr lang="zh-CN" altLang="en-US" sz="1400" b="1" dirty="0" smtClean="0">
                <a:solidFill>
                  <a:srgbClr val="17365E"/>
                </a:solidFill>
                <a:latin typeface="华文仿宋"/>
                <a:ea typeface="华文仿宋"/>
                <a:cs typeface="华文仿宋"/>
              </a:rPr>
              <a:t>阶段三：</a:t>
            </a:r>
            <a:r>
              <a:rPr lang="zh-CN" altLang="en-US" sz="1400" dirty="0" smtClean="0">
                <a:solidFill>
                  <a:srgbClr val="17365E"/>
                </a:solidFill>
                <a:latin typeface="华文仿宋"/>
                <a:ea typeface="华文仿宋"/>
                <a:cs typeface="华文仿宋"/>
              </a:rPr>
              <a:t>平台提升</a:t>
            </a:r>
            <a:endParaRPr lang="zh-CN" altLang="en-US" sz="1400" dirty="0">
              <a:solidFill>
                <a:srgbClr val="17365E"/>
              </a:solidFill>
              <a:latin typeface="华文仿宋"/>
              <a:ea typeface="华文仿宋"/>
              <a:cs typeface="华文仿宋"/>
            </a:endParaRPr>
          </a:p>
          <a:p>
            <a:pPr defTabSz="873391">
              <a:defRPr/>
            </a:pPr>
            <a:r>
              <a:rPr lang="en-US" altLang="zh-CN" sz="1400" dirty="0" smtClean="0">
                <a:solidFill>
                  <a:srgbClr val="17365E"/>
                </a:solidFill>
                <a:latin typeface="华文仿宋"/>
                <a:ea typeface="华文仿宋"/>
                <a:cs typeface="华文仿宋"/>
              </a:rPr>
              <a:t>      +</a:t>
            </a:r>
            <a:r>
              <a:rPr lang="zh-CN" altLang="en-US" sz="1400" dirty="0" smtClean="0">
                <a:solidFill>
                  <a:srgbClr val="17365E"/>
                </a:solidFill>
                <a:latin typeface="华文仿宋"/>
                <a:ea typeface="华文仿宋"/>
                <a:cs typeface="华文仿宋"/>
              </a:rPr>
              <a:t>全面推广</a:t>
            </a:r>
            <a:endParaRPr lang="zh-CN" altLang="en-US" sz="1400" dirty="0">
              <a:solidFill>
                <a:srgbClr val="17365E"/>
              </a:solidFill>
              <a:latin typeface="华文仿宋"/>
              <a:ea typeface="华文仿宋"/>
              <a:cs typeface="华文仿宋"/>
            </a:endParaRPr>
          </a:p>
        </p:txBody>
      </p:sp>
      <p:sp>
        <p:nvSpPr>
          <p:cNvPr id="26" name="TextBox 26"/>
          <p:cNvSpPr txBox="1">
            <a:spLocks noChangeArrowheads="1"/>
          </p:cNvSpPr>
          <p:nvPr/>
        </p:nvSpPr>
        <p:spPr bwMode="auto">
          <a:xfrm>
            <a:off x="2310965" y="5897984"/>
            <a:ext cx="633249" cy="244425"/>
          </a:xfrm>
          <a:prstGeom prst="rect">
            <a:avLst/>
          </a:prstGeom>
          <a:noFill/>
          <a:ln w="9525">
            <a:noFill/>
            <a:miter lim="800000"/>
            <a:headEnd/>
            <a:tailEnd/>
          </a:ln>
        </p:spPr>
        <p:txBody>
          <a:bodyPr wrap="square" lIns="57607" tIns="28804" rIns="57607" bIns="28804">
            <a:spAutoFit/>
          </a:bodyPr>
          <a:lstStyle/>
          <a:p>
            <a:pPr marL="158750" lvl="1" defTabSz="873125">
              <a:defRPr/>
            </a:pPr>
            <a:r>
              <a:rPr lang="en-US" altLang="zh-CN" sz="1200" b="1" dirty="0" smtClean="0">
                <a:solidFill>
                  <a:srgbClr val="FF0000"/>
                </a:solidFill>
                <a:latin typeface="华文仿宋"/>
                <a:ea typeface="华文仿宋"/>
                <a:cs typeface="华文仿宋"/>
              </a:rPr>
              <a:t>T</a:t>
            </a:r>
            <a:endParaRPr lang="en-US" altLang="zh-CN" sz="1200" b="1" dirty="0">
              <a:solidFill>
                <a:srgbClr val="FF0000"/>
              </a:solidFill>
              <a:latin typeface="华文仿宋"/>
              <a:ea typeface="华文仿宋"/>
              <a:cs typeface="华文仿宋"/>
            </a:endParaRPr>
          </a:p>
        </p:txBody>
      </p:sp>
      <p:sp>
        <p:nvSpPr>
          <p:cNvPr id="27" name="等腰三角形 20"/>
          <p:cNvSpPr>
            <a:spLocks noChangeArrowheads="1"/>
          </p:cNvSpPr>
          <p:nvPr/>
        </p:nvSpPr>
        <p:spPr bwMode="auto">
          <a:xfrm>
            <a:off x="2353814" y="5715991"/>
            <a:ext cx="252127" cy="261938"/>
          </a:xfrm>
          <a:prstGeom prst="triangle">
            <a:avLst>
              <a:gd name="adj" fmla="val 50000"/>
            </a:avLst>
          </a:prstGeom>
          <a:solidFill>
            <a:schemeClr val="accent6">
              <a:lumMod val="75000"/>
            </a:schemeClr>
          </a:solidFill>
          <a:ln w="25400" algn="ctr">
            <a:solidFill>
              <a:schemeClr val="tx2">
                <a:lumMod val="20000"/>
                <a:lumOff val="80000"/>
              </a:schemeClr>
            </a:solidFill>
            <a:miter lim="800000"/>
            <a:headEnd/>
            <a:tailEnd/>
          </a:ln>
        </p:spPr>
        <p:txBody>
          <a:bodyPr lIns="57607" tIns="28804" rIns="57607" bIns="28804" anchor="ctr"/>
          <a:lstStyle/>
          <a:p>
            <a:pPr defTabSz="873391">
              <a:defRPr/>
            </a:pPr>
            <a:endParaRPr lang="zh-CN" altLang="en-US">
              <a:solidFill>
                <a:srgbClr val="17365E"/>
              </a:solidFill>
              <a:latin typeface="华文仿宋"/>
              <a:ea typeface="华文仿宋"/>
              <a:cs typeface="华文仿宋"/>
            </a:endParaRPr>
          </a:p>
        </p:txBody>
      </p:sp>
      <p:sp>
        <p:nvSpPr>
          <p:cNvPr id="28" name="五边形 15"/>
          <p:cNvSpPr>
            <a:spLocks noChangeArrowheads="1"/>
          </p:cNvSpPr>
          <p:nvPr/>
        </p:nvSpPr>
        <p:spPr bwMode="auto">
          <a:xfrm>
            <a:off x="686318" y="2905883"/>
            <a:ext cx="1927847" cy="785813"/>
          </a:xfrm>
          <a:prstGeom prst="homePlate">
            <a:avLst>
              <a:gd name="adj" fmla="val 15450"/>
            </a:avLst>
          </a:prstGeom>
          <a:solidFill>
            <a:schemeClr val="tx1"/>
          </a:solidFill>
          <a:ln w="25400" algn="ctr">
            <a:solidFill>
              <a:schemeClr val="bg1">
                <a:lumMod val="75000"/>
              </a:schemeClr>
            </a:solidFill>
            <a:miter lim="800000"/>
            <a:headEnd/>
            <a:tailEnd/>
          </a:ln>
        </p:spPr>
        <p:txBody>
          <a:bodyPr lIns="57607" tIns="28804" rIns="57607" bIns="28804" anchor="ctr"/>
          <a:lstStyle/>
          <a:p>
            <a:pPr defTabSz="873391">
              <a:defRPr/>
            </a:pPr>
            <a:r>
              <a:rPr lang="zh-CN" altLang="en-US" sz="1600" dirty="0">
                <a:solidFill>
                  <a:srgbClr val="FEFFFF"/>
                </a:solidFill>
                <a:latin typeface="华文仿宋"/>
                <a:ea typeface="华文仿宋"/>
                <a:cs typeface="华文仿宋"/>
              </a:rPr>
              <a:t>平台与</a:t>
            </a:r>
            <a:r>
              <a:rPr lang="zh-CN" altLang="en-US" sz="1600" dirty="0" smtClean="0">
                <a:solidFill>
                  <a:srgbClr val="FEFFFF"/>
                </a:solidFill>
                <a:latin typeface="华文仿宋"/>
                <a:ea typeface="华文仿宋"/>
                <a:cs typeface="华文仿宋"/>
              </a:rPr>
              <a:t>工具</a:t>
            </a:r>
            <a:endParaRPr lang="zh-CN" altLang="en-US" sz="1600" dirty="0">
              <a:solidFill>
                <a:srgbClr val="FEFFFF"/>
              </a:solidFill>
              <a:latin typeface="华文仿宋"/>
              <a:ea typeface="华文仿宋"/>
              <a:cs typeface="华文仿宋"/>
            </a:endParaRPr>
          </a:p>
        </p:txBody>
      </p:sp>
      <p:sp>
        <p:nvSpPr>
          <p:cNvPr id="29" name="燕尾形 28"/>
          <p:cNvSpPr>
            <a:spLocks noChangeArrowheads="1"/>
          </p:cNvSpPr>
          <p:nvPr/>
        </p:nvSpPr>
        <p:spPr bwMode="auto">
          <a:xfrm>
            <a:off x="2498852" y="2927189"/>
            <a:ext cx="3011841" cy="714375"/>
          </a:xfrm>
          <a:prstGeom prst="chevron">
            <a:avLst>
              <a:gd name="adj" fmla="val 16770"/>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平台引入及知识转移</a:t>
            </a:r>
            <a:endParaRPr lang="en-US" altLang="zh-CN" sz="1200" dirty="0" smtClean="0">
              <a:solidFill>
                <a:srgbClr val="17365E"/>
              </a:solidFill>
              <a:latin typeface="华文仿宋"/>
              <a:ea typeface="华文仿宋"/>
              <a:cs typeface="华文仿宋"/>
            </a:endParaRPr>
          </a:p>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平台工具定制与完善</a:t>
            </a:r>
            <a:endParaRPr lang="en-US" altLang="zh-CN" sz="1200" dirty="0" smtClean="0">
              <a:solidFill>
                <a:srgbClr val="17365E"/>
              </a:solidFill>
              <a:latin typeface="华文仿宋"/>
              <a:ea typeface="华文仿宋"/>
              <a:cs typeface="华文仿宋"/>
            </a:endParaRPr>
          </a:p>
          <a:p>
            <a:pPr marL="171450" indent="-171450" algn="just" defTabSz="873391">
              <a:buFont typeface="Wingdings" pitchFamily="2" charset="2"/>
              <a:buChar char="Ø"/>
            </a:pPr>
            <a:r>
              <a:rPr lang="zh-CN" altLang="en-US" sz="1200" dirty="0" smtClean="0">
                <a:solidFill>
                  <a:srgbClr val="17365E"/>
                </a:solidFill>
                <a:latin typeface="华文仿宋"/>
                <a:ea typeface="华文仿宋"/>
                <a:cs typeface="华文仿宋"/>
              </a:rPr>
              <a:t>平台通用能力框架开发</a:t>
            </a:r>
            <a:endParaRPr lang="en-US" altLang="zh-CN" sz="1200" dirty="0" smtClean="0">
              <a:solidFill>
                <a:srgbClr val="17365E"/>
              </a:solidFill>
              <a:latin typeface="华文仿宋"/>
              <a:ea typeface="华文仿宋"/>
              <a:cs typeface="华文仿宋"/>
            </a:endParaRPr>
          </a:p>
        </p:txBody>
      </p:sp>
      <p:sp>
        <p:nvSpPr>
          <p:cNvPr id="30" name="燕尾形 29"/>
          <p:cNvSpPr>
            <a:spLocks noChangeArrowheads="1"/>
          </p:cNvSpPr>
          <p:nvPr/>
        </p:nvSpPr>
        <p:spPr bwMode="auto">
          <a:xfrm>
            <a:off x="5336744" y="2927189"/>
            <a:ext cx="3142792" cy="714375"/>
          </a:xfrm>
          <a:prstGeom prst="chevron">
            <a:avLst>
              <a:gd name="adj" fmla="val 16759"/>
            </a:avLst>
          </a:prstGeom>
          <a:gradFill flip="none" rotWithShape="1">
            <a:gsLst>
              <a:gs pos="0">
                <a:schemeClr val="accent1">
                  <a:lumMod val="90000"/>
                </a:schemeClr>
              </a:gs>
              <a:gs pos="50000">
                <a:schemeClr val="accent1">
                  <a:shade val="67500"/>
                  <a:satMod val="115000"/>
                </a:schemeClr>
              </a:gs>
              <a:gs pos="100000">
                <a:schemeClr val="accent1">
                  <a:shade val="100000"/>
                  <a:satMod val="115000"/>
                </a:schemeClr>
              </a:gs>
            </a:gsLst>
            <a:lin ang="10800000" scaled="1"/>
            <a:tileRect/>
          </a:gradFill>
          <a:ln w="9525" algn="ctr">
            <a:solidFill>
              <a:schemeClr val="bg1">
                <a:lumMod val="75000"/>
              </a:schemeClr>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algn="just" defTabSz="873391">
              <a:buFont typeface="Wingdings" pitchFamily="2" charset="2"/>
              <a:buChar char="Ø"/>
              <a:defRPr/>
            </a:pPr>
            <a:r>
              <a:rPr lang="zh-CN" altLang="en-US" sz="1200" dirty="0" smtClean="0">
                <a:solidFill>
                  <a:srgbClr val="FEFFFF"/>
                </a:solidFill>
                <a:latin typeface="华文仿宋"/>
                <a:ea typeface="华文仿宋"/>
                <a:cs typeface="华文仿宋"/>
              </a:rPr>
              <a:t>基于</a:t>
            </a:r>
            <a:r>
              <a:rPr lang="zh-CN" altLang="en-US" sz="1200" dirty="0">
                <a:solidFill>
                  <a:srgbClr val="FEFFFF"/>
                </a:solidFill>
                <a:latin typeface="华文仿宋"/>
                <a:ea typeface="华文仿宋"/>
                <a:cs typeface="华文仿宋"/>
              </a:rPr>
              <a:t>试点应用对“统一流程平台”的使用反馈</a:t>
            </a:r>
            <a:r>
              <a:rPr lang="zh-CN" altLang="en-US" sz="1200" dirty="0" smtClean="0">
                <a:solidFill>
                  <a:srgbClr val="FEFFFF"/>
                </a:solidFill>
                <a:latin typeface="华文仿宋"/>
                <a:ea typeface="华文仿宋"/>
                <a:cs typeface="华文仿宋"/>
              </a:rPr>
              <a:t>完善平台工具。</a:t>
            </a:r>
            <a:endParaRPr lang="zh-CN" altLang="en-US" sz="1200" dirty="0">
              <a:solidFill>
                <a:srgbClr val="FEFFFF"/>
              </a:solidFill>
              <a:latin typeface="华文仿宋"/>
              <a:ea typeface="华文仿宋"/>
              <a:cs typeface="华文仿宋"/>
            </a:endParaRPr>
          </a:p>
        </p:txBody>
      </p:sp>
      <p:sp>
        <p:nvSpPr>
          <p:cNvPr id="31" name="燕尾形 30"/>
          <p:cNvSpPr>
            <a:spLocks noChangeArrowheads="1"/>
          </p:cNvSpPr>
          <p:nvPr/>
        </p:nvSpPr>
        <p:spPr bwMode="auto">
          <a:xfrm>
            <a:off x="8289953" y="2927189"/>
            <a:ext cx="2953209" cy="714375"/>
          </a:xfrm>
          <a:prstGeom prst="chevron">
            <a:avLst>
              <a:gd name="adj" fmla="val 19316"/>
            </a:avLst>
          </a:prstGeom>
          <a:gradFill flip="none" rotWithShape="1">
            <a:gsLst>
              <a:gs pos="0">
                <a:schemeClr val="accent1">
                  <a:lumMod val="90000"/>
                  <a:tint val="66000"/>
                  <a:satMod val="160000"/>
                </a:schemeClr>
              </a:gs>
              <a:gs pos="50000">
                <a:schemeClr val="accent1">
                  <a:lumMod val="90000"/>
                  <a:tint val="44500"/>
                  <a:satMod val="160000"/>
                </a:schemeClr>
              </a:gs>
              <a:gs pos="100000">
                <a:schemeClr val="accent1">
                  <a:lumMod val="90000"/>
                  <a:tint val="23500"/>
                  <a:satMod val="160000"/>
                </a:schemeClr>
              </a:gs>
            </a:gsLst>
            <a:lin ang="10800000" scaled="1"/>
            <a:tileRect/>
          </a:gradFill>
          <a:ln w="9525" algn="ctr">
            <a:solidFill>
              <a:srgbClr val="9460FD"/>
            </a:solidFill>
            <a:miter lim="800000"/>
            <a:headEnd/>
            <a:tailEnd/>
          </a:ln>
          <a:effectLst>
            <a:outerShdw dist="23000" dir="5400000" rotWithShape="0">
              <a:srgbClr val="000000">
                <a:alpha val="34999"/>
              </a:srgbClr>
            </a:outerShdw>
          </a:effectLst>
        </p:spPr>
        <p:txBody>
          <a:bodyPr lIns="57607" tIns="28804" rIns="57607" bIns="28804" anchor="ctr"/>
          <a:lstStyle/>
          <a:p>
            <a:pPr marL="171450" indent="-171450" defTabSz="873391">
              <a:buFont typeface="Wingdings" pitchFamily="2" charset="2"/>
              <a:buChar char="Ø"/>
            </a:pPr>
            <a:r>
              <a:rPr lang="zh-CN" altLang="en-US" sz="1200">
                <a:solidFill>
                  <a:srgbClr val="17365E"/>
                </a:solidFill>
                <a:latin typeface="华文仿宋"/>
                <a:ea typeface="华文仿宋"/>
                <a:cs typeface="华文仿宋"/>
              </a:rPr>
              <a:t>以平台易用</a:t>
            </a:r>
            <a:r>
              <a:rPr lang="zh-CN" altLang="en-US" sz="1200" smtClean="0">
                <a:solidFill>
                  <a:srgbClr val="17365E"/>
                </a:solidFill>
                <a:latin typeface="华文仿宋"/>
                <a:ea typeface="华文仿宋"/>
                <a:cs typeface="华文仿宋"/>
              </a:rPr>
              <a:t>性和实用性为</a:t>
            </a:r>
            <a:r>
              <a:rPr lang="zh-CN" altLang="en-US" sz="1200">
                <a:solidFill>
                  <a:srgbClr val="17365E"/>
                </a:solidFill>
                <a:latin typeface="华文仿宋"/>
                <a:ea typeface="华文仿宋"/>
                <a:cs typeface="华文仿宋"/>
              </a:rPr>
              <a:t>导向</a:t>
            </a:r>
            <a:r>
              <a:rPr lang="zh-CN" altLang="en-US" sz="1200" smtClean="0">
                <a:solidFill>
                  <a:srgbClr val="17365E"/>
                </a:solidFill>
                <a:latin typeface="华文仿宋"/>
                <a:ea typeface="华文仿宋"/>
                <a:cs typeface="华文仿宋"/>
              </a:rPr>
              <a:t>，提升平台工具。</a:t>
            </a:r>
            <a:endParaRPr lang="zh-CN" altLang="en-US" sz="1200">
              <a:solidFill>
                <a:srgbClr val="17365E"/>
              </a:solidFill>
              <a:latin typeface="华文仿宋"/>
              <a:ea typeface="华文仿宋"/>
              <a:cs typeface="华文仿宋"/>
            </a:endParaRPr>
          </a:p>
        </p:txBody>
      </p:sp>
    </p:spTree>
    <p:extLst>
      <p:ext uri="{BB962C8B-B14F-4D97-AF65-F5344CB8AC3E}">
        <p14:creationId xmlns:p14="http://schemas.microsoft.com/office/powerpoint/2010/main" val="156232757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left)">
                                      <p:cBhvr>
                                        <p:cTn id="24" dur="500"/>
                                        <p:tgtEl>
                                          <p:spTgt spid="3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500"/>
                                        <p:tgtEl>
                                          <p:spTgt spid="31"/>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3" grpId="0" animBg="1"/>
      <p:bldP spid="14" grpId="0" animBg="1"/>
      <p:bldP spid="15" grpId="0" animBg="1"/>
      <p:bldP spid="16" grpId="0" animBg="1"/>
      <p:bldP spid="17" grpId="0" animBg="1"/>
      <p:bldP spid="29" grpId="0" animBg="1"/>
      <p:bldP spid="30" grpId="0" animBg="1"/>
      <p:bldP spid="3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19366"/>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SpOTuRqq06AXu_YaW5VR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U6xLK0HqkK0Af.jaBMUs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SpOTuRqq06AXu_YaW5VR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yhNLPo1a0WHoTlkABQNkw"/>
</p:tagLst>
</file>

<file path=ppt/theme/theme1.xml><?xml version="1.0" encoding="utf-8"?>
<a:theme xmlns:a="http://schemas.openxmlformats.org/drawingml/2006/main" name="Office 主题">
  <a:themeElements>
    <a:clrScheme name="Primeton">
      <a:dk1>
        <a:srgbClr val="17365E"/>
      </a:dk1>
      <a:lt1>
        <a:srgbClr val="FE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2">
              <a:lumMod val="75000"/>
            </a:schemeClr>
          </a:solidFill>
        </a:ln>
      </a:spPr>
      <a:bodyPr rtlCol="0" anchor="ctr"/>
      <a:lstStyle>
        <a:defPPr>
          <a:defRPr dirty="0">
            <a:solidFill>
              <a:schemeClr val="tx2"/>
            </a:solidFill>
            <a:latin typeface="Microsoft YaHei" charset="0"/>
            <a:ea typeface="Microsoft YaHei" charset="0"/>
            <a:cs typeface="Microsoft YaHei"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tx2">
              <a:lumMod val="75000"/>
            </a:schemeClr>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dirty="0" smtClean="0">
            <a:latin typeface="Microsoft YaHei" charset="0"/>
            <a:ea typeface="Microsoft YaHei" charset="0"/>
            <a:cs typeface="Microsoft YaHei" charset="0"/>
          </a:defRPr>
        </a:defPPr>
      </a:lstStyle>
    </a:tx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19981</TotalTime>
  <Words>1821</Words>
  <Application>Microsoft Macintosh PowerPoint</Application>
  <PresentationFormat>自定义</PresentationFormat>
  <Paragraphs>538</Paragraphs>
  <Slides>33</Slides>
  <Notes>27</Notes>
  <HiddenSlides>0</HiddenSlides>
  <MMClips>0</MMClips>
  <ScaleCrop>false</ScaleCrop>
  <HeadingPairs>
    <vt:vector size="6" baseType="variant">
      <vt:variant>
        <vt:lpstr>主题</vt:lpstr>
      </vt:variant>
      <vt:variant>
        <vt:i4>1</vt:i4>
      </vt:variant>
      <vt:variant>
        <vt:lpstr>嵌入的 OLE 服务器</vt:lpstr>
      </vt:variant>
      <vt:variant>
        <vt:i4>1</vt:i4>
      </vt:variant>
      <vt:variant>
        <vt:lpstr>幻灯片标题</vt:lpstr>
      </vt:variant>
      <vt:variant>
        <vt:i4>33</vt:i4>
      </vt:variant>
    </vt:vector>
  </HeadingPairs>
  <TitlesOfParts>
    <vt:vector size="35" baseType="lpstr">
      <vt:lpstr>Office 主题</vt:lpstr>
      <vt:lpstr>CorelDRAW</vt:lpstr>
      <vt:lpstr>统一流程平台建设方案</vt:lpstr>
      <vt:lpstr>PowerPoint 演示文稿</vt:lpstr>
      <vt:lpstr>业务流程在银行业的重要性日益凸现</vt:lpstr>
      <vt:lpstr>银行业务流程类应用现状分析</vt:lpstr>
      <vt:lpstr>银行业务流程类应用现状分析</vt:lpstr>
      <vt:lpstr>银行业务流程类应用现状分析</vt:lpstr>
      <vt:lpstr>统一流程平台三步法：共享、整合与优化</vt:lpstr>
      <vt:lpstr>共享平台：统一过程管控、提升交付效率、降低运维成本</vt:lpstr>
      <vt:lpstr>以流程为中心整合：敏捷响应变化</vt:lpstr>
      <vt:lpstr>检测与分析：保障安全，持续优化业务</vt:lpstr>
      <vt:lpstr>PowerPoint 演示文稿</vt:lpstr>
      <vt:lpstr>浦发银行平台建设概况</vt:lpstr>
      <vt:lpstr>浦发银行新一代业务架构</vt:lpstr>
      <vt:lpstr>浦发银行新一代公共平台架构</vt:lpstr>
      <vt:lpstr>平台位置</vt:lpstr>
      <vt:lpstr>建设目标</vt:lpstr>
      <vt:lpstr>两大目标</vt:lpstr>
      <vt:lpstr>关键系统需求</vt:lpstr>
      <vt:lpstr>围绕BAPO思考关键策略，保证项目有效推进</vt:lpstr>
      <vt:lpstr>关键策略一（业务范围）：分期建设，快速验证</vt:lpstr>
      <vt:lpstr>关键策略二（组织）：规范及标准对接方式，明确接口人</vt:lpstr>
      <vt:lpstr>关键策略二（组织）：产物示例</vt:lpstr>
      <vt:lpstr>关键策略二（组织）：产物示例</vt:lpstr>
      <vt:lpstr>关键策略三（流程）：明确的业务系统协同计划</vt:lpstr>
      <vt:lpstr>关键策略四（架构）：灵活的平台与业务系统的集成策略</vt:lpstr>
      <vt:lpstr>PowerPoint 演示文稿</vt:lpstr>
      <vt:lpstr>总体思路：分步实施</vt:lpstr>
      <vt:lpstr>1. 达成共识，建立规范与原则</vt:lpstr>
      <vt:lpstr>可以考虑的几点原则</vt:lpstr>
      <vt:lpstr>2. 建立专职团队，负责接入/集成</vt:lpstr>
      <vt:lpstr>3. 平台快速面世，围绕可见的平台协作</vt:lpstr>
      <vt:lpstr>统一流程平台实施路线图</vt:lpstr>
      <vt:lpstr>PowerPoint 演示文稿</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软件持续交付的企业协作架构</dc:title>
  <dc:creator>Administrator</dc:creator>
  <cp:lastModifiedBy>Wang Scott</cp:lastModifiedBy>
  <cp:revision>3489</cp:revision>
  <dcterms:created xsi:type="dcterms:W3CDTF">2014-11-20T02:29:45Z</dcterms:created>
  <dcterms:modified xsi:type="dcterms:W3CDTF">2016-04-19T04:24:40Z</dcterms:modified>
</cp:coreProperties>
</file>